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media/image1.png" ContentType="image/png"/>
  <Override PartName="/ppt/media/image2.jpeg" ContentType="image/jpe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blipFill rotWithShape="0">
          <a:blip r:embed="rId2"/>
          <a:tile tx="0" ty="0" sx="100000" sy="100000" algn="ctr"/>
        </a:blipFill>
      </p:bgPr>
    </p:bg>
    <p:spTree>
      <p:nvGrpSpPr>
        <p:cNvPr id="1" name=""/>
        <p:cNvGrpSpPr/>
        <p:nvPr/>
      </p:nvGrpSpPr>
      <p:grpSpPr>
        <a:xfrm>
          <a:off x="0" y="0"/>
          <a:ext cx="0" cy="0"/>
          <a:chOff x="0" y="0"/>
          <a:chExt cx="0" cy="0"/>
        </a:xfrm>
      </p:grpSpPr>
      <p:grpSp>
        <p:nvGrpSpPr>
          <p:cNvPr id="0" name=""/>
          <p:cNvGrpSpPr/>
          <p:nvPr/>
        </p:nvGrpSpPr>
        <p:grpSpPr>
          <a:xfrm>
            <a:off x="146160" y="0"/>
            <a:ext cx="8772480" cy="6726240"/>
            <a:chOff x="146160" y="0"/>
            <a:chExt cx="8772480" cy="6726240"/>
          </a:xfrm>
        </p:grpSpPr>
        <p:grpSp>
          <p:nvGrpSpPr>
            <p:cNvPr id="1" name=""/>
            <p:cNvGrpSpPr/>
            <p:nvPr/>
          </p:nvGrpSpPr>
          <p:grpSpPr>
            <a:xfrm>
              <a:off x="146160" y="649440"/>
              <a:ext cx="8772480" cy="6076800"/>
              <a:chOff x="146160" y="649440"/>
              <a:chExt cx="8772480" cy="6076800"/>
            </a:xfrm>
          </p:grpSpPr>
          <p:sp>
            <p:nvSpPr>
              <p:cNvPr id="2" name=""/>
              <p:cNvSpPr/>
              <p:nvPr/>
            </p:nvSpPr>
            <p:spPr>
              <a:xfrm>
                <a:off x="146160" y="649440"/>
                <a:ext cx="8772480" cy="6076800"/>
              </a:xfrm>
              <a:custGeom>
                <a:avLst/>
                <a:gdLst/>
                <a:ahLst/>
                <a:rect l="l" t="t" r="r" b="b"/>
                <a:pathLst>
                  <a:path w="5526" h="3828">
                    <a:moveTo>
                      <a:pt x="684" y="3"/>
                    </a:moveTo>
                    <a:lnTo>
                      <a:pt x="708" y="2"/>
                    </a:lnTo>
                    <a:lnTo>
                      <a:pt x="5523" y="0"/>
                    </a:lnTo>
                    <a:lnTo>
                      <a:pt x="5525" y="3827"/>
                    </a:lnTo>
                    <a:lnTo>
                      <a:pt x="0" y="3827"/>
                    </a:lnTo>
                    <a:lnTo>
                      <a:pt x="7" y="577"/>
                    </a:lnTo>
                    <a:lnTo>
                      <a:pt x="9" y="544"/>
                    </a:lnTo>
                    <a:lnTo>
                      <a:pt x="14" y="516"/>
                    </a:lnTo>
                    <a:lnTo>
                      <a:pt x="22" y="490"/>
                    </a:lnTo>
                    <a:lnTo>
                      <a:pt x="35" y="470"/>
                    </a:lnTo>
                    <a:lnTo>
                      <a:pt x="51" y="456"/>
                    </a:lnTo>
                    <a:lnTo>
                      <a:pt x="64" y="446"/>
                    </a:lnTo>
                    <a:lnTo>
                      <a:pt x="594" y="52"/>
                    </a:lnTo>
                    <a:lnTo>
                      <a:pt x="630" y="26"/>
                    </a:lnTo>
                    <a:lnTo>
                      <a:pt x="654" y="9"/>
                    </a:lnTo>
                    <a:lnTo>
                      <a:pt x="684" y="3"/>
                    </a:lnTo>
                  </a:path>
                </a:pathLst>
              </a:custGeom>
              <a:solidFill>
                <a:srgbClr val="ffff99"/>
              </a:solidFill>
              <a:ln w="0">
                <a:noFill/>
              </a:ln>
              <a:effectLst>
                <a:outerShdw dist="107932" dir="2700000" blurRad="0" rotWithShape="0">
                  <a:srgbClr val="663300"/>
                </a:outerShdw>
              </a:effectLst>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3" name=""/>
              <p:cNvGrpSpPr/>
              <p:nvPr/>
            </p:nvGrpSpPr>
            <p:grpSpPr>
              <a:xfrm>
                <a:off x="189000" y="677880"/>
                <a:ext cx="984240" cy="896760"/>
                <a:chOff x="189000" y="677880"/>
                <a:chExt cx="984240" cy="896760"/>
              </a:xfrm>
            </p:grpSpPr>
            <p:sp>
              <p:nvSpPr>
                <p:cNvPr id="4" name=""/>
                <p:cNvSpPr/>
                <p:nvPr/>
              </p:nvSpPr>
              <p:spPr>
                <a:xfrm>
                  <a:off x="201600" y="728640"/>
                  <a:ext cx="920880" cy="846000"/>
                </a:xfrm>
                <a:custGeom>
                  <a:avLst/>
                  <a:gdLst/>
                  <a:ahLst/>
                  <a:rect l="l" t="t" r="r" b="b"/>
                  <a:pathLst>
                    <a:path w="580" h="533">
                      <a:moveTo>
                        <a:pt x="154" y="440"/>
                      </a:moveTo>
                      <a:lnTo>
                        <a:pt x="323" y="493"/>
                      </a:lnTo>
                      <a:lnTo>
                        <a:pt x="372" y="517"/>
                      </a:lnTo>
                      <a:lnTo>
                        <a:pt x="411" y="532"/>
                      </a:lnTo>
                      <a:lnTo>
                        <a:pt x="411" y="497"/>
                      </a:lnTo>
                      <a:lnTo>
                        <a:pt x="415" y="440"/>
                      </a:lnTo>
                      <a:lnTo>
                        <a:pt x="425" y="395"/>
                      </a:lnTo>
                      <a:lnTo>
                        <a:pt x="441" y="326"/>
                      </a:lnTo>
                      <a:lnTo>
                        <a:pt x="457" y="276"/>
                      </a:lnTo>
                      <a:lnTo>
                        <a:pt x="474" y="240"/>
                      </a:lnTo>
                      <a:lnTo>
                        <a:pt x="488" y="190"/>
                      </a:lnTo>
                      <a:lnTo>
                        <a:pt x="504" y="149"/>
                      </a:lnTo>
                      <a:lnTo>
                        <a:pt x="525" y="102"/>
                      </a:lnTo>
                      <a:lnTo>
                        <a:pt x="579" y="0"/>
                      </a:lnTo>
                      <a:lnTo>
                        <a:pt x="28" y="398"/>
                      </a:lnTo>
                      <a:lnTo>
                        <a:pt x="0" y="420"/>
                      </a:lnTo>
                      <a:lnTo>
                        <a:pt x="90" y="423"/>
                      </a:lnTo>
                      <a:lnTo>
                        <a:pt x="154" y="440"/>
                      </a:lnTo>
                    </a:path>
                  </a:pathLst>
                </a:custGeom>
                <a:solidFill>
                  <a:srgbClr val="663300">
                    <a:alpha val="50000"/>
                  </a:srgbClr>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5" name=""/>
                <p:cNvSpPr/>
                <p:nvPr/>
              </p:nvSpPr>
              <p:spPr>
                <a:xfrm>
                  <a:off x="189000" y="677880"/>
                  <a:ext cx="984240" cy="750960"/>
                </a:xfrm>
                <a:custGeom>
                  <a:avLst/>
                  <a:gdLst/>
                  <a:ahLst/>
                  <a:rect l="l" t="t" r="r" b="b"/>
                  <a:pathLst>
                    <a:path w="620" h="473">
                      <a:moveTo>
                        <a:pt x="0" y="472"/>
                      </a:moveTo>
                      <a:lnTo>
                        <a:pt x="15" y="445"/>
                      </a:lnTo>
                      <a:lnTo>
                        <a:pt x="61" y="411"/>
                      </a:lnTo>
                      <a:lnTo>
                        <a:pt x="619" y="0"/>
                      </a:lnTo>
                      <a:lnTo>
                        <a:pt x="466" y="153"/>
                      </a:lnTo>
                      <a:lnTo>
                        <a:pt x="366" y="315"/>
                      </a:lnTo>
                      <a:lnTo>
                        <a:pt x="301" y="467"/>
                      </a:lnTo>
                      <a:lnTo>
                        <a:pt x="222" y="435"/>
                      </a:lnTo>
                      <a:lnTo>
                        <a:pt x="132" y="413"/>
                      </a:lnTo>
                      <a:lnTo>
                        <a:pt x="76" y="420"/>
                      </a:lnTo>
                      <a:lnTo>
                        <a:pt x="30" y="432"/>
                      </a:lnTo>
                      <a:lnTo>
                        <a:pt x="0" y="472"/>
                      </a:lnTo>
                    </a:path>
                  </a:pathLst>
                </a:custGeom>
                <a:solidFill>
                  <a:srgbClr val="ffffff">
                    <a:alpha val="50000"/>
                  </a:srgbClr>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grpSp>
          <p:nvGrpSpPr>
            <p:cNvPr id="6" name=""/>
            <p:cNvGrpSpPr/>
            <p:nvPr/>
          </p:nvGrpSpPr>
          <p:grpSpPr>
            <a:xfrm>
              <a:off x="3254400" y="0"/>
              <a:ext cx="2603520" cy="988920"/>
              <a:chOff x="3254400" y="0"/>
              <a:chExt cx="2603520" cy="988920"/>
            </a:xfrm>
          </p:grpSpPr>
          <p:sp>
            <p:nvSpPr>
              <p:cNvPr id="7" name=""/>
              <p:cNvSpPr/>
              <p:nvPr/>
            </p:nvSpPr>
            <p:spPr>
              <a:xfrm>
                <a:off x="3254400" y="546120"/>
                <a:ext cx="2603520" cy="114120"/>
              </a:xfrm>
              <a:prstGeom prst="rect">
                <a:avLst/>
              </a:prstGeom>
              <a:gradFill rotWithShape="0">
                <a:gsLst>
                  <a:gs pos="0">
                    <a:srgbClr val="1c1c1c"/>
                  </a:gs>
                  <a:gs pos="100000">
                    <a:srgbClr val="ffffff"/>
                  </a:gs>
                </a:gsLst>
                <a:path path="rect">
                  <a:fillToRect l="50000" t="50000" r="50000" b="50000"/>
                </a:path>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 name=""/>
              <p:cNvSpPr/>
              <p:nvPr/>
            </p:nvSpPr>
            <p:spPr>
              <a:xfrm>
                <a:off x="3736800" y="493560"/>
                <a:ext cx="368640" cy="52560"/>
              </a:xfrm>
              <a:prstGeom prst="rect">
                <a:avLst/>
              </a:prstGeom>
              <a:gradFill rotWithShape="0">
                <a:gsLst>
                  <a:gs pos="0">
                    <a:srgbClr val="ffffff"/>
                  </a:gs>
                  <a:gs pos="50000">
                    <a:srgbClr val="1c1c1c"/>
                  </a:gs>
                  <a:gs pos="100000">
                    <a:srgbClr val="ffffff"/>
                  </a:gs>
                </a:gsLst>
                <a:lin ang="5400000"/>
              </a:gradFill>
              <a:ln w="0">
                <a:noFill/>
              </a:ln>
            </p:spPr>
            <p:style>
              <a:lnRef idx="0"/>
              <a:fillRef idx="0"/>
              <a:effectRef idx="0"/>
              <a:fontRef idx="minor"/>
            </p:style>
            <p:txBody>
              <a:bodyPr lIns="90000" rIns="90000" tIns="5760" bIns="5760" anchor="t">
                <a:noAutofit/>
              </a:bodyPr>
              <a:p>
                <a:endParaRPr b="0" lang="en-IN" sz="1800" strike="noStrike" u="none">
                  <a:solidFill>
                    <a:srgbClr val="000000"/>
                  </a:solidFill>
                  <a:effectLst/>
                  <a:uFillTx/>
                  <a:latin typeface="Arial"/>
                </a:endParaRPr>
              </a:p>
            </p:txBody>
          </p:sp>
          <p:sp>
            <p:nvSpPr>
              <p:cNvPr id="9" name=""/>
              <p:cNvSpPr/>
              <p:nvPr/>
            </p:nvSpPr>
            <p:spPr>
              <a:xfrm>
                <a:off x="4941720" y="485640"/>
                <a:ext cx="368640" cy="57240"/>
              </a:xfrm>
              <a:prstGeom prst="rect">
                <a:avLst/>
              </a:prstGeom>
              <a:gradFill rotWithShape="0">
                <a:gsLst>
                  <a:gs pos="0">
                    <a:srgbClr val="ffffff"/>
                  </a:gs>
                  <a:gs pos="50000">
                    <a:srgbClr val="1c1c1c"/>
                  </a:gs>
                  <a:gs pos="100000">
                    <a:srgbClr val="ffffff"/>
                  </a:gs>
                </a:gsLst>
                <a:lin ang="5400000"/>
              </a:gradFill>
              <a:ln w="0">
                <a:noFill/>
              </a:ln>
            </p:spPr>
            <p:style>
              <a:lnRef idx="0"/>
              <a:fillRef idx="0"/>
              <a:effectRef idx="0"/>
              <a:fontRef idx="minor"/>
            </p:style>
            <p:txBody>
              <a:bodyPr lIns="90000" rIns="90000" tIns="10440" bIns="10440" anchor="t">
                <a:noAutofit/>
              </a:bodyPr>
              <a:p>
                <a:endParaRPr b="0" lang="en-IN" sz="1800" strike="noStrike" u="none">
                  <a:solidFill>
                    <a:srgbClr val="000000"/>
                  </a:solidFill>
                  <a:effectLst/>
                  <a:uFillTx/>
                  <a:latin typeface="Arial"/>
                </a:endParaRPr>
              </a:p>
            </p:txBody>
          </p:sp>
          <p:sp>
            <p:nvSpPr>
              <p:cNvPr id="10" name=""/>
              <p:cNvSpPr/>
              <p:nvPr/>
            </p:nvSpPr>
            <p:spPr>
              <a:xfrm>
                <a:off x="4229280" y="0"/>
                <a:ext cx="601560" cy="587520"/>
              </a:xfrm>
              <a:prstGeom prst="ellipse">
                <a:avLst/>
              </a:prstGeom>
              <a:gradFill rotWithShape="0">
                <a:gsLst>
                  <a:gs pos="0">
                    <a:srgbClr val="1c1c1c"/>
                  </a:gs>
                  <a:gs pos="50000">
                    <a:srgbClr val="ffffff"/>
                  </a:gs>
                  <a:gs pos="100000">
                    <a:srgbClr val="1c1c1c"/>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 name=""/>
              <p:cNvSpPr/>
              <p:nvPr/>
            </p:nvSpPr>
            <p:spPr>
              <a:xfrm>
                <a:off x="4257720" y="20520"/>
                <a:ext cx="546120" cy="551160"/>
              </a:xfrm>
              <a:prstGeom prst="ellipse">
                <a:avLst/>
              </a:prstGeom>
              <a:gradFill rotWithShape="0">
                <a:gsLst>
                  <a:gs pos="0">
                    <a:srgbClr val="1c1c1c"/>
                  </a:gs>
                  <a:gs pos="100000">
                    <a:srgbClr val="ffffff"/>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 name=""/>
              <p:cNvSpPr/>
              <p:nvPr/>
            </p:nvSpPr>
            <p:spPr>
              <a:xfrm>
                <a:off x="4299120" y="15840"/>
                <a:ext cx="442800" cy="130320"/>
              </a:xfrm>
              <a:custGeom>
                <a:avLst/>
                <a:gdLst/>
                <a:ahLst/>
                <a:rect l="l" t="t" r="r" b="b"/>
                <a:pathLst>
                  <a:path w="279" h="82">
                    <a:moveTo>
                      <a:pt x="278" y="65"/>
                    </a:moveTo>
                    <a:lnTo>
                      <a:pt x="271" y="49"/>
                    </a:lnTo>
                    <a:lnTo>
                      <a:pt x="254" y="32"/>
                    </a:lnTo>
                    <a:lnTo>
                      <a:pt x="232" y="20"/>
                    </a:lnTo>
                    <a:lnTo>
                      <a:pt x="203" y="7"/>
                    </a:lnTo>
                    <a:lnTo>
                      <a:pt x="168" y="0"/>
                    </a:lnTo>
                    <a:lnTo>
                      <a:pt x="127" y="0"/>
                    </a:lnTo>
                    <a:lnTo>
                      <a:pt x="95" y="3"/>
                    </a:lnTo>
                    <a:lnTo>
                      <a:pt x="63" y="14"/>
                    </a:lnTo>
                    <a:lnTo>
                      <a:pt x="41" y="29"/>
                    </a:lnTo>
                    <a:lnTo>
                      <a:pt x="21" y="43"/>
                    </a:lnTo>
                    <a:lnTo>
                      <a:pt x="5" y="62"/>
                    </a:lnTo>
                    <a:lnTo>
                      <a:pt x="0" y="71"/>
                    </a:lnTo>
                    <a:lnTo>
                      <a:pt x="1" y="81"/>
                    </a:lnTo>
                    <a:lnTo>
                      <a:pt x="14" y="62"/>
                    </a:lnTo>
                    <a:lnTo>
                      <a:pt x="28" y="51"/>
                    </a:lnTo>
                    <a:lnTo>
                      <a:pt x="55" y="33"/>
                    </a:lnTo>
                    <a:lnTo>
                      <a:pt x="78" y="23"/>
                    </a:lnTo>
                    <a:lnTo>
                      <a:pt x="105" y="14"/>
                    </a:lnTo>
                    <a:lnTo>
                      <a:pt x="131" y="11"/>
                    </a:lnTo>
                    <a:lnTo>
                      <a:pt x="147" y="11"/>
                    </a:lnTo>
                    <a:lnTo>
                      <a:pt x="167" y="13"/>
                    </a:lnTo>
                    <a:lnTo>
                      <a:pt x="186" y="14"/>
                    </a:lnTo>
                    <a:lnTo>
                      <a:pt x="206" y="20"/>
                    </a:lnTo>
                    <a:lnTo>
                      <a:pt x="239" y="35"/>
                    </a:lnTo>
                    <a:lnTo>
                      <a:pt x="255" y="49"/>
                    </a:lnTo>
                    <a:lnTo>
                      <a:pt x="278" y="65"/>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 name=""/>
              <p:cNvSpPr/>
              <p:nvPr/>
            </p:nvSpPr>
            <p:spPr>
              <a:xfrm>
                <a:off x="4300560" y="68400"/>
                <a:ext cx="458640" cy="446040"/>
              </a:xfrm>
              <a:prstGeom prst="ellipse">
                <a:avLst/>
              </a:prstGeom>
              <a:gradFill rotWithShape="0">
                <a:gsLst>
                  <a:gs pos="0">
                    <a:srgbClr val="1c1c1c"/>
                  </a:gs>
                  <a:gs pos="50000">
                    <a:srgbClr val="ffffff"/>
                  </a:gs>
                  <a:gs pos="100000">
                    <a:srgbClr val="1c1c1c"/>
                  </a:gs>
                </a:gsLst>
                <a:lin ang="81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 name=""/>
              <p:cNvSpPr/>
              <p:nvPr/>
            </p:nvSpPr>
            <p:spPr>
              <a:xfrm>
                <a:off x="4332240" y="95400"/>
                <a:ext cx="392040" cy="377640"/>
              </a:xfrm>
              <a:prstGeom prst="ellipse">
                <a:avLst/>
              </a:prstGeom>
              <a:blipFill rotWithShape="0">
                <a:blip r:embed="rId3"/>
                <a:srcRect/>
                <a:tile tx="0" ty="0" sx="100000" sy="100000" algn="ctr"/>
              </a:blip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 name=""/>
              <p:cNvSpPr/>
              <p:nvPr/>
            </p:nvSpPr>
            <p:spPr>
              <a:xfrm>
                <a:off x="3463920" y="423720"/>
                <a:ext cx="2155680" cy="565200"/>
              </a:xfrm>
              <a:custGeom>
                <a:avLst/>
                <a:gdLst/>
                <a:ahLst/>
                <a:rect l="l" t="t" r="r" b="b"/>
                <a:pathLst>
                  <a:path w="1358" h="356">
                    <a:moveTo>
                      <a:pt x="10" y="345"/>
                    </a:moveTo>
                    <a:lnTo>
                      <a:pt x="28" y="351"/>
                    </a:lnTo>
                    <a:lnTo>
                      <a:pt x="1357" y="355"/>
                    </a:lnTo>
                    <a:lnTo>
                      <a:pt x="1357" y="279"/>
                    </a:lnTo>
                    <a:lnTo>
                      <a:pt x="1351" y="248"/>
                    </a:lnTo>
                    <a:lnTo>
                      <a:pt x="1338" y="220"/>
                    </a:lnTo>
                    <a:lnTo>
                      <a:pt x="1324" y="192"/>
                    </a:lnTo>
                    <a:lnTo>
                      <a:pt x="1282" y="147"/>
                    </a:lnTo>
                    <a:lnTo>
                      <a:pt x="1214" y="119"/>
                    </a:lnTo>
                    <a:lnTo>
                      <a:pt x="1141" y="106"/>
                    </a:lnTo>
                    <a:lnTo>
                      <a:pt x="1073" y="96"/>
                    </a:lnTo>
                    <a:lnTo>
                      <a:pt x="996" y="87"/>
                    </a:lnTo>
                    <a:lnTo>
                      <a:pt x="906" y="81"/>
                    </a:lnTo>
                    <a:lnTo>
                      <a:pt x="782" y="69"/>
                    </a:lnTo>
                    <a:lnTo>
                      <a:pt x="817" y="22"/>
                    </a:lnTo>
                    <a:lnTo>
                      <a:pt x="823" y="2"/>
                    </a:lnTo>
                    <a:lnTo>
                      <a:pt x="795" y="28"/>
                    </a:lnTo>
                    <a:lnTo>
                      <a:pt x="779" y="41"/>
                    </a:lnTo>
                    <a:lnTo>
                      <a:pt x="762" y="57"/>
                    </a:lnTo>
                    <a:lnTo>
                      <a:pt x="746" y="62"/>
                    </a:lnTo>
                    <a:lnTo>
                      <a:pt x="714" y="71"/>
                    </a:lnTo>
                    <a:lnTo>
                      <a:pt x="661" y="72"/>
                    </a:lnTo>
                    <a:lnTo>
                      <a:pt x="612" y="70"/>
                    </a:lnTo>
                    <a:lnTo>
                      <a:pt x="587" y="57"/>
                    </a:lnTo>
                    <a:lnTo>
                      <a:pt x="571" y="46"/>
                    </a:lnTo>
                    <a:lnTo>
                      <a:pt x="548" y="28"/>
                    </a:lnTo>
                    <a:lnTo>
                      <a:pt x="519" y="0"/>
                    </a:lnTo>
                    <a:lnTo>
                      <a:pt x="527" y="24"/>
                    </a:lnTo>
                    <a:lnTo>
                      <a:pt x="539" y="64"/>
                    </a:lnTo>
                    <a:lnTo>
                      <a:pt x="525" y="72"/>
                    </a:lnTo>
                    <a:lnTo>
                      <a:pt x="379" y="80"/>
                    </a:lnTo>
                    <a:lnTo>
                      <a:pt x="259" y="96"/>
                    </a:lnTo>
                    <a:lnTo>
                      <a:pt x="190" y="106"/>
                    </a:lnTo>
                    <a:lnTo>
                      <a:pt x="123" y="119"/>
                    </a:lnTo>
                    <a:lnTo>
                      <a:pt x="94" y="129"/>
                    </a:lnTo>
                    <a:lnTo>
                      <a:pt x="72" y="144"/>
                    </a:lnTo>
                    <a:lnTo>
                      <a:pt x="43" y="171"/>
                    </a:lnTo>
                    <a:lnTo>
                      <a:pt x="24" y="202"/>
                    </a:lnTo>
                    <a:lnTo>
                      <a:pt x="11" y="239"/>
                    </a:lnTo>
                    <a:lnTo>
                      <a:pt x="4" y="267"/>
                    </a:lnTo>
                    <a:lnTo>
                      <a:pt x="1" y="299"/>
                    </a:lnTo>
                    <a:lnTo>
                      <a:pt x="0" y="320"/>
                    </a:lnTo>
                    <a:lnTo>
                      <a:pt x="10" y="345"/>
                    </a:lnTo>
                  </a:path>
                </a:pathLst>
              </a:custGeom>
              <a:gradFill rotWithShape="0">
                <a:gsLst>
                  <a:gs pos="0">
                    <a:srgbClr val="ffffff"/>
                  </a:gs>
                  <a:gs pos="100000">
                    <a:srgbClr val="1c1c1c"/>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 name=""/>
              <p:cNvSpPr/>
              <p:nvPr/>
            </p:nvSpPr>
            <p:spPr>
              <a:xfrm>
                <a:off x="3513240" y="488880"/>
                <a:ext cx="850680" cy="292320"/>
              </a:xfrm>
              <a:custGeom>
                <a:avLst/>
                <a:gdLst/>
                <a:ahLst/>
                <a:rect l="l" t="t" r="r" b="b"/>
                <a:pathLst>
                  <a:path w="536" h="184">
                    <a:moveTo>
                      <a:pt x="0" y="183"/>
                    </a:moveTo>
                    <a:lnTo>
                      <a:pt x="7" y="153"/>
                    </a:lnTo>
                    <a:lnTo>
                      <a:pt x="17" y="133"/>
                    </a:lnTo>
                    <a:lnTo>
                      <a:pt x="49" y="110"/>
                    </a:lnTo>
                    <a:lnTo>
                      <a:pt x="105" y="88"/>
                    </a:lnTo>
                    <a:lnTo>
                      <a:pt x="147" y="82"/>
                    </a:lnTo>
                    <a:lnTo>
                      <a:pt x="182" y="74"/>
                    </a:lnTo>
                    <a:lnTo>
                      <a:pt x="237" y="69"/>
                    </a:lnTo>
                    <a:lnTo>
                      <a:pt x="279" y="61"/>
                    </a:lnTo>
                    <a:lnTo>
                      <a:pt x="320" y="54"/>
                    </a:lnTo>
                    <a:lnTo>
                      <a:pt x="359" y="49"/>
                    </a:lnTo>
                    <a:lnTo>
                      <a:pt x="405" y="43"/>
                    </a:lnTo>
                    <a:lnTo>
                      <a:pt x="473" y="42"/>
                    </a:lnTo>
                    <a:lnTo>
                      <a:pt x="470" y="44"/>
                    </a:lnTo>
                    <a:lnTo>
                      <a:pt x="506" y="41"/>
                    </a:lnTo>
                    <a:lnTo>
                      <a:pt x="518" y="27"/>
                    </a:lnTo>
                    <a:lnTo>
                      <a:pt x="513" y="0"/>
                    </a:lnTo>
                    <a:lnTo>
                      <a:pt x="533" y="23"/>
                    </a:lnTo>
                    <a:lnTo>
                      <a:pt x="535" y="39"/>
                    </a:lnTo>
                    <a:lnTo>
                      <a:pt x="513" y="52"/>
                    </a:lnTo>
                    <a:lnTo>
                      <a:pt x="470" y="57"/>
                    </a:lnTo>
                    <a:lnTo>
                      <a:pt x="399" y="61"/>
                    </a:lnTo>
                    <a:lnTo>
                      <a:pt x="323" y="70"/>
                    </a:lnTo>
                    <a:lnTo>
                      <a:pt x="263" y="80"/>
                    </a:lnTo>
                    <a:lnTo>
                      <a:pt x="193" y="90"/>
                    </a:lnTo>
                    <a:lnTo>
                      <a:pt x="135" y="99"/>
                    </a:lnTo>
                    <a:lnTo>
                      <a:pt x="92" y="109"/>
                    </a:lnTo>
                    <a:lnTo>
                      <a:pt x="56" y="128"/>
                    </a:lnTo>
                    <a:lnTo>
                      <a:pt x="30" y="140"/>
                    </a:lnTo>
                    <a:lnTo>
                      <a:pt x="15" y="164"/>
                    </a:lnTo>
                    <a:lnTo>
                      <a:pt x="0" y="183"/>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7" name=""/>
              <p:cNvSpPr/>
              <p:nvPr/>
            </p:nvSpPr>
            <p:spPr>
              <a:xfrm>
                <a:off x="3487680" y="911160"/>
                <a:ext cx="2104920" cy="63720"/>
              </a:xfrm>
              <a:custGeom>
                <a:avLst/>
                <a:gdLst/>
                <a:ahLst/>
                <a:rect l="l" t="t" r="r" b="b"/>
                <a:pathLst>
                  <a:path w="1326" h="40">
                    <a:moveTo>
                      <a:pt x="6" y="0"/>
                    </a:moveTo>
                    <a:lnTo>
                      <a:pt x="0" y="10"/>
                    </a:lnTo>
                    <a:lnTo>
                      <a:pt x="6" y="25"/>
                    </a:lnTo>
                    <a:lnTo>
                      <a:pt x="17" y="30"/>
                    </a:lnTo>
                    <a:lnTo>
                      <a:pt x="36" y="36"/>
                    </a:lnTo>
                    <a:lnTo>
                      <a:pt x="114" y="37"/>
                    </a:lnTo>
                    <a:lnTo>
                      <a:pt x="275" y="38"/>
                    </a:lnTo>
                    <a:lnTo>
                      <a:pt x="381" y="36"/>
                    </a:lnTo>
                    <a:lnTo>
                      <a:pt x="415" y="37"/>
                    </a:lnTo>
                    <a:lnTo>
                      <a:pt x="438" y="37"/>
                    </a:lnTo>
                    <a:lnTo>
                      <a:pt x="474" y="38"/>
                    </a:lnTo>
                    <a:lnTo>
                      <a:pt x="480" y="38"/>
                    </a:lnTo>
                    <a:lnTo>
                      <a:pt x="545" y="38"/>
                    </a:lnTo>
                    <a:lnTo>
                      <a:pt x="578" y="38"/>
                    </a:lnTo>
                    <a:lnTo>
                      <a:pt x="598" y="37"/>
                    </a:lnTo>
                    <a:lnTo>
                      <a:pt x="686" y="36"/>
                    </a:lnTo>
                    <a:lnTo>
                      <a:pt x="691" y="36"/>
                    </a:lnTo>
                    <a:lnTo>
                      <a:pt x="724" y="36"/>
                    </a:lnTo>
                    <a:lnTo>
                      <a:pt x="777" y="38"/>
                    </a:lnTo>
                    <a:lnTo>
                      <a:pt x="819" y="38"/>
                    </a:lnTo>
                    <a:lnTo>
                      <a:pt x="825" y="38"/>
                    </a:lnTo>
                    <a:lnTo>
                      <a:pt x="859" y="39"/>
                    </a:lnTo>
                    <a:lnTo>
                      <a:pt x="882" y="37"/>
                    </a:lnTo>
                    <a:lnTo>
                      <a:pt x="888" y="38"/>
                    </a:lnTo>
                    <a:lnTo>
                      <a:pt x="957" y="37"/>
                    </a:lnTo>
                    <a:lnTo>
                      <a:pt x="962" y="36"/>
                    </a:lnTo>
                    <a:lnTo>
                      <a:pt x="980" y="37"/>
                    </a:lnTo>
                    <a:lnTo>
                      <a:pt x="1004" y="38"/>
                    </a:lnTo>
                    <a:lnTo>
                      <a:pt x="1011" y="38"/>
                    </a:lnTo>
                    <a:lnTo>
                      <a:pt x="1045" y="37"/>
                    </a:lnTo>
                    <a:lnTo>
                      <a:pt x="1066" y="36"/>
                    </a:lnTo>
                    <a:lnTo>
                      <a:pt x="1072" y="36"/>
                    </a:lnTo>
                    <a:lnTo>
                      <a:pt x="1091" y="36"/>
                    </a:lnTo>
                    <a:lnTo>
                      <a:pt x="1119" y="36"/>
                    </a:lnTo>
                    <a:lnTo>
                      <a:pt x="1126" y="36"/>
                    </a:lnTo>
                    <a:lnTo>
                      <a:pt x="1145" y="37"/>
                    </a:lnTo>
                    <a:lnTo>
                      <a:pt x="1165" y="38"/>
                    </a:lnTo>
                    <a:lnTo>
                      <a:pt x="1171" y="38"/>
                    </a:lnTo>
                    <a:lnTo>
                      <a:pt x="1214" y="36"/>
                    </a:lnTo>
                    <a:lnTo>
                      <a:pt x="1233" y="37"/>
                    </a:lnTo>
                    <a:lnTo>
                      <a:pt x="1252" y="38"/>
                    </a:lnTo>
                    <a:lnTo>
                      <a:pt x="1257" y="37"/>
                    </a:lnTo>
                    <a:lnTo>
                      <a:pt x="1309" y="37"/>
                    </a:lnTo>
                    <a:lnTo>
                      <a:pt x="1325" y="32"/>
                    </a:lnTo>
                    <a:lnTo>
                      <a:pt x="1298" y="22"/>
                    </a:lnTo>
                    <a:lnTo>
                      <a:pt x="1291" y="22"/>
                    </a:lnTo>
                    <a:lnTo>
                      <a:pt x="1267" y="20"/>
                    </a:lnTo>
                    <a:lnTo>
                      <a:pt x="1271" y="22"/>
                    </a:lnTo>
                    <a:lnTo>
                      <a:pt x="1256" y="24"/>
                    </a:lnTo>
                    <a:lnTo>
                      <a:pt x="1249" y="23"/>
                    </a:lnTo>
                    <a:lnTo>
                      <a:pt x="1087" y="15"/>
                    </a:lnTo>
                    <a:lnTo>
                      <a:pt x="1081" y="15"/>
                    </a:lnTo>
                    <a:lnTo>
                      <a:pt x="1038" y="15"/>
                    </a:lnTo>
                    <a:lnTo>
                      <a:pt x="1015" y="17"/>
                    </a:lnTo>
                    <a:lnTo>
                      <a:pt x="978" y="19"/>
                    </a:lnTo>
                    <a:lnTo>
                      <a:pt x="943" y="21"/>
                    </a:lnTo>
                    <a:lnTo>
                      <a:pt x="904" y="21"/>
                    </a:lnTo>
                    <a:lnTo>
                      <a:pt x="874" y="20"/>
                    </a:lnTo>
                    <a:lnTo>
                      <a:pt x="869" y="20"/>
                    </a:lnTo>
                    <a:lnTo>
                      <a:pt x="819" y="18"/>
                    </a:lnTo>
                    <a:lnTo>
                      <a:pt x="752" y="18"/>
                    </a:lnTo>
                    <a:lnTo>
                      <a:pt x="732" y="19"/>
                    </a:lnTo>
                    <a:lnTo>
                      <a:pt x="709" y="20"/>
                    </a:lnTo>
                    <a:lnTo>
                      <a:pt x="683" y="20"/>
                    </a:lnTo>
                    <a:lnTo>
                      <a:pt x="678" y="20"/>
                    </a:lnTo>
                    <a:lnTo>
                      <a:pt x="655" y="21"/>
                    </a:lnTo>
                    <a:lnTo>
                      <a:pt x="610" y="22"/>
                    </a:lnTo>
                    <a:lnTo>
                      <a:pt x="605" y="22"/>
                    </a:lnTo>
                    <a:lnTo>
                      <a:pt x="584" y="22"/>
                    </a:lnTo>
                    <a:lnTo>
                      <a:pt x="553" y="20"/>
                    </a:lnTo>
                    <a:lnTo>
                      <a:pt x="530" y="19"/>
                    </a:lnTo>
                    <a:lnTo>
                      <a:pt x="524" y="19"/>
                    </a:lnTo>
                    <a:lnTo>
                      <a:pt x="496" y="17"/>
                    </a:lnTo>
                    <a:lnTo>
                      <a:pt x="462" y="17"/>
                    </a:lnTo>
                    <a:lnTo>
                      <a:pt x="457" y="17"/>
                    </a:lnTo>
                    <a:lnTo>
                      <a:pt x="436" y="18"/>
                    </a:lnTo>
                    <a:lnTo>
                      <a:pt x="404" y="20"/>
                    </a:lnTo>
                    <a:lnTo>
                      <a:pt x="378" y="21"/>
                    </a:lnTo>
                    <a:lnTo>
                      <a:pt x="373" y="21"/>
                    </a:lnTo>
                    <a:lnTo>
                      <a:pt x="340" y="23"/>
                    </a:lnTo>
                    <a:lnTo>
                      <a:pt x="335" y="23"/>
                    </a:lnTo>
                    <a:lnTo>
                      <a:pt x="302" y="24"/>
                    </a:lnTo>
                    <a:lnTo>
                      <a:pt x="283" y="24"/>
                    </a:lnTo>
                    <a:lnTo>
                      <a:pt x="258" y="22"/>
                    </a:lnTo>
                    <a:lnTo>
                      <a:pt x="239" y="20"/>
                    </a:lnTo>
                    <a:lnTo>
                      <a:pt x="205" y="20"/>
                    </a:lnTo>
                    <a:lnTo>
                      <a:pt x="179" y="21"/>
                    </a:lnTo>
                    <a:lnTo>
                      <a:pt x="147" y="23"/>
                    </a:lnTo>
                    <a:lnTo>
                      <a:pt x="141" y="23"/>
                    </a:lnTo>
                    <a:lnTo>
                      <a:pt x="133" y="23"/>
                    </a:lnTo>
                    <a:lnTo>
                      <a:pt x="99" y="21"/>
                    </a:lnTo>
                    <a:lnTo>
                      <a:pt x="82" y="20"/>
                    </a:lnTo>
                    <a:lnTo>
                      <a:pt x="59" y="19"/>
                    </a:lnTo>
                    <a:lnTo>
                      <a:pt x="53" y="19"/>
                    </a:lnTo>
                    <a:lnTo>
                      <a:pt x="48" y="19"/>
                    </a:lnTo>
                    <a:lnTo>
                      <a:pt x="38" y="20"/>
                    </a:lnTo>
                    <a:lnTo>
                      <a:pt x="6" y="0"/>
                    </a:lnTo>
                  </a:path>
                </a:pathLst>
              </a:custGeom>
              <a:solidFill>
                <a:srgbClr val="ffff99"/>
              </a:solidFill>
              <a:ln w="0">
                <a:noFill/>
              </a:ln>
            </p:spPr>
            <p:style>
              <a:lnRef idx="0"/>
              <a:fillRef idx="0"/>
              <a:effectRef idx="0"/>
              <a:fontRef idx="minor"/>
            </p:style>
            <p:txBody>
              <a:bodyPr lIns="90000" rIns="90000" tIns="16920" bIns="16920" anchor="t">
                <a:noAutofit/>
              </a:bodyPr>
              <a:p>
                <a:endParaRPr b="0" lang="en-IN" sz="1800" strike="noStrike" u="none">
                  <a:solidFill>
                    <a:srgbClr val="000000"/>
                  </a:solidFill>
                  <a:effectLst/>
                  <a:uFillTx/>
                  <a:latin typeface="Arial"/>
                </a:endParaRPr>
              </a:p>
            </p:txBody>
          </p:sp>
          <p:sp>
            <p:nvSpPr>
              <p:cNvPr id="18" name=""/>
              <p:cNvSpPr/>
              <p:nvPr/>
            </p:nvSpPr>
            <p:spPr>
              <a:xfrm>
                <a:off x="3511440" y="487440"/>
                <a:ext cx="2063880" cy="355680"/>
              </a:xfrm>
              <a:custGeom>
                <a:avLst/>
                <a:gdLst/>
                <a:ahLst/>
                <a:rect l="l" t="t" r="r" b="b"/>
                <a:pathLst>
                  <a:path w="1300" h="224">
                    <a:moveTo>
                      <a:pt x="97" y="143"/>
                    </a:moveTo>
                    <a:lnTo>
                      <a:pt x="73" y="142"/>
                    </a:lnTo>
                    <a:lnTo>
                      <a:pt x="54" y="157"/>
                    </a:lnTo>
                    <a:lnTo>
                      <a:pt x="40" y="164"/>
                    </a:lnTo>
                    <a:lnTo>
                      <a:pt x="18" y="174"/>
                    </a:lnTo>
                    <a:lnTo>
                      <a:pt x="5" y="178"/>
                    </a:lnTo>
                    <a:lnTo>
                      <a:pt x="0" y="190"/>
                    </a:lnTo>
                    <a:lnTo>
                      <a:pt x="11" y="203"/>
                    </a:lnTo>
                    <a:lnTo>
                      <a:pt x="26" y="218"/>
                    </a:lnTo>
                    <a:lnTo>
                      <a:pt x="54" y="212"/>
                    </a:lnTo>
                    <a:lnTo>
                      <a:pt x="100" y="210"/>
                    </a:lnTo>
                    <a:lnTo>
                      <a:pt x="172" y="215"/>
                    </a:lnTo>
                    <a:lnTo>
                      <a:pt x="322" y="218"/>
                    </a:lnTo>
                    <a:lnTo>
                      <a:pt x="420" y="210"/>
                    </a:lnTo>
                    <a:lnTo>
                      <a:pt x="452" y="215"/>
                    </a:lnTo>
                    <a:lnTo>
                      <a:pt x="473" y="213"/>
                    </a:lnTo>
                    <a:lnTo>
                      <a:pt x="506" y="218"/>
                    </a:lnTo>
                    <a:lnTo>
                      <a:pt x="512" y="218"/>
                    </a:lnTo>
                    <a:lnTo>
                      <a:pt x="573" y="219"/>
                    </a:lnTo>
                    <a:lnTo>
                      <a:pt x="603" y="218"/>
                    </a:lnTo>
                    <a:lnTo>
                      <a:pt x="621" y="213"/>
                    </a:lnTo>
                    <a:lnTo>
                      <a:pt x="703" y="210"/>
                    </a:lnTo>
                    <a:lnTo>
                      <a:pt x="708" y="210"/>
                    </a:lnTo>
                    <a:lnTo>
                      <a:pt x="738" y="210"/>
                    </a:lnTo>
                    <a:lnTo>
                      <a:pt x="788" y="218"/>
                    </a:lnTo>
                    <a:lnTo>
                      <a:pt x="827" y="219"/>
                    </a:lnTo>
                    <a:lnTo>
                      <a:pt x="832" y="219"/>
                    </a:lnTo>
                    <a:lnTo>
                      <a:pt x="864" y="223"/>
                    </a:lnTo>
                    <a:lnTo>
                      <a:pt x="885" y="215"/>
                    </a:lnTo>
                    <a:lnTo>
                      <a:pt x="891" y="218"/>
                    </a:lnTo>
                    <a:lnTo>
                      <a:pt x="955" y="213"/>
                    </a:lnTo>
                    <a:lnTo>
                      <a:pt x="960" y="210"/>
                    </a:lnTo>
                    <a:lnTo>
                      <a:pt x="976" y="215"/>
                    </a:lnTo>
                    <a:lnTo>
                      <a:pt x="999" y="218"/>
                    </a:lnTo>
                    <a:lnTo>
                      <a:pt x="1005" y="218"/>
                    </a:lnTo>
                    <a:lnTo>
                      <a:pt x="1037" y="213"/>
                    </a:lnTo>
                    <a:lnTo>
                      <a:pt x="1056" y="210"/>
                    </a:lnTo>
                    <a:lnTo>
                      <a:pt x="1062" y="210"/>
                    </a:lnTo>
                    <a:lnTo>
                      <a:pt x="1079" y="210"/>
                    </a:lnTo>
                    <a:lnTo>
                      <a:pt x="1105" y="210"/>
                    </a:lnTo>
                    <a:lnTo>
                      <a:pt x="1111" y="209"/>
                    </a:lnTo>
                    <a:lnTo>
                      <a:pt x="1129" y="215"/>
                    </a:lnTo>
                    <a:lnTo>
                      <a:pt x="1148" y="219"/>
                    </a:lnTo>
                    <a:lnTo>
                      <a:pt x="1154" y="219"/>
                    </a:lnTo>
                    <a:lnTo>
                      <a:pt x="1193" y="210"/>
                    </a:lnTo>
                    <a:lnTo>
                      <a:pt x="1211" y="213"/>
                    </a:lnTo>
                    <a:lnTo>
                      <a:pt x="1229" y="218"/>
                    </a:lnTo>
                    <a:lnTo>
                      <a:pt x="1233" y="215"/>
                    </a:lnTo>
                    <a:lnTo>
                      <a:pt x="1282" y="213"/>
                    </a:lnTo>
                    <a:lnTo>
                      <a:pt x="1299" y="212"/>
                    </a:lnTo>
                    <a:lnTo>
                      <a:pt x="1296" y="187"/>
                    </a:lnTo>
                    <a:lnTo>
                      <a:pt x="1283" y="169"/>
                    </a:lnTo>
                    <a:lnTo>
                      <a:pt x="1268" y="155"/>
                    </a:lnTo>
                    <a:lnTo>
                      <a:pt x="1246" y="140"/>
                    </a:lnTo>
                    <a:lnTo>
                      <a:pt x="1232" y="146"/>
                    </a:lnTo>
                    <a:lnTo>
                      <a:pt x="1226" y="145"/>
                    </a:lnTo>
                    <a:lnTo>
                      <a:pt x="1158" y="132"/>
                    </a:lnTo>
                    <a:lnTo>
                      <a:pt x="1119" y="117"/>
                    </a:lnTo>
                    <a:lnTo>
                      <a:pt x="1076" y="103"/>
                    </a:lnTo>
                    <a:lnTo>
                      <a:pt x="1070" y="103"/>
                    </a:lnTo>
                    <a:lnTo>
                      <a:pt x="1030" y="103"/>
                    </a:lnTo>
                    <a:lnTo>
                      <a:pt x="1008" y="113"/>
                    </a:lnTo>
                    <a:lnTo>
                      <a:pt x="974" y="122"/>
                    </a:lnTo>
                    <a:lnTo>
                      <a:pt x="942" y="132"/>
                    </a:lnTo>
                    <a:lnTo>
                      <a:pt x="905" y="131"/>
                    </a:lnTo>
                    <a:lnTo>
                      <a:pt x="878" y="126"/>
                    </a:lnTo>
                    <a:lnTo>
                      <a:pt x="873" y="126"/>
                    </a:lnTo>
                    <a:lnTo>
                      <a:pt x="827" y="117"/>
                    </a:lnTo>
                    <a:lnTo>
                      <a:pt x="787" y="103"/>
                    </a:lnTo>
                    <a:lnTo>
                      <a:pt x="761" y="99"/>
                    </a:lnTo>
                    <a:lnTo>
                      <a:pt x="743" y="85"/>
                    </a:lnTo>
                    <a:lnTo>
                      <a:pt x="721" y="80"/>
                    </a:lnTo>
                    <a:lnTo>
                      <a:pt x="702" y="67"/>
                    </a:lnTo>
                    <a:lnTo>
                      <a:pt x="695" y="38"/>
                    </a:lnTo>
                    <a:lnTo>
                      <a:pt x="718" y="16"/>
                    </a:lnTo>
                    <a:lnTo>
                      <a:pt x="687" y="25"/>
                    </a:lnTo>
                    <a:lnTo>
                      <a:pt x="645" y="24"/>
                    </a:lnTo>
                    <a:lnTo>
                      <a:pt x="614" y="25"/>
                    </a:lnTo>
                    <a:lnTo>
                      <a:pt x="575" y="16"/>
                    </a:lnTo>
                    <a:lnTo>
                      <a:pt x="537" y="0"/>
                    </a:lnTo>
                    <a:lnTo>
                      <a:pt x="566" y="29"/>
                    </a:lnTo>
                    <a:lnTo>
                      <a:pt x="575" y="51"/>
                    </a:lnTo>
                    <a:lnTo>
                      <a:pt x="573" y="68"/>
                    </a:lnTo>
                    <a:lnTo>
                      <a:pt x="560" y="87"/>
                    </a:lnTo>
                    <a:lnTo>
                      <a:pt x="531" y="97"/>
                    </a:lnTo>
                    <a:lnTo>
                      <a:pt x="503" y="96"/>
                    </a:lnTo>
                    <a:lnTo>
                      <a:pt x="477" y="100"/>
                    </a:lnTo>
                    <a:lnTo>
                      <a:pt x="451" y="106"/>
                    </a:lnTo>
                    <a:lnTo>
                      <a:pt x="413" y="122"/>
                    </a:lnTo>
                    <a:lnTo>
                      <a:pt x="389" y="129"/>
                    </a:lnTo>
                    <a:lnTo>
                      <a:pt x="361" y="119"/>
                    </a:lnTo>
                    <a:lnTo>
                      <a:pt x="331" y="122"/>
                    </a:lnTo>
                    <a:lnTo>
                      <a:pt x="306" y="135"/>
                    </a:lnTo>
                    <a:lnTo>
                      <a:pt x="288" y="128"/>
                    </a:lnTo>
                    <a:lnTo>
                      <a:pt x="261" y="134"/>
                    </a:lnTo>
                    <a:lnTo>
                      <a:pt x="233" y="131"/>
                    </a:lnTo>
                    <a:lnTo>
                      <a:pt x="203" y="142"/>
                    </a:lnTo>
                    <a:lnTo>
                      <a:pt x="197" y="142"/>
                    </a:lnTo>
                    <a:lnTo>
                      <a:pt x="187" y="140"/>
                    </a:lnTo>
                    <a:lnTo>
                      <a:pt x="158" y="132"/>
                    </a:lnTo>
                    <a:lnTo>
                      <a:pt x="143" y="126"/>
                    </a:lnTo>
                    <a:lnTo>
                      <a:pt x="118" y="134"/>
                    </a:lnTo>
                    <a:lnTo>
                      <a:pt x="97" y="143"/>
                    </a:lnTo>
                  </a:path>
                </a:pathLst>
              </a:custGeom>
              <a:gradFill rotWithShape="0">
                <a:gsLst>
                  <a:gs pos="0">
                    <a:srgbClr val="1c1c1c"/>
                  </a:gs>
                  <a:gs pos="100000">
                    <a:srgbClr val="ffffff"/>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9" name=""/>
              <p:cNvSpPr/>
              <p:nvPr/>
            </p:nvSpPr>
            <p:spPr>
              <a:xfrm>
                <a:off x="4653000" y="492120"/>
                <a:ext cx="887400" cy="291960"/>
              </a:xfrm>
              <a:custGeom>
                <a:avLst/>
                <a:gdLst/>
                <a:ahLst/>
                <a:rect l="l" t="t" r="r" b="b"/>
                <a:pathLst>
                  <a:path w="559" h="184">
                    <a:moveTo>
                      <a:pt x="558" y="183"/>
                    </a:moveTo>
                    <a:lnTo>
                      <a:pt x="550" y="153"/>
                    </a:lnTo>
                    <a:lnTo>
                      <a:pt x="539" y="133"/>
                    </a:lnTo>
                    <a:lnTo>
                      <a:pt x="505" y="111"/>
                    </a:lnTo>
                    <a:lnTo>
                      <a:pt x="447" y="88"/>
                    </a:lnTo>
                    <a:lnTo>
                      <a:pt x="404" y="81"/>
                    </a:lnTo>
                    <a:lnTo>
                      <a:pt x="367" y="74"/>
                    </a:lnTo>
                    <a:lnTo>
                      <a:pt x="310" y="69"/>
                    </a:lnTo>
                    <a:lnTo>
                      <a:pt x="265" y="60"/>
                    </a:lnTo>
                    <a:lnTo>
                      <a:pt x="224" y="54"/>
                    </a:lnTo>
                    <a:lnTo>
                      <a:pt x="182" y="49"/>
                    </a:lnTo>
                    <a:lnTo>
                      <a:pt x="134" y="43"/>
                    </a:lnTo>
                    <a:lnTo>
                      <a:pt x="64" y="42"/>
                    </a:lnTo>
                    <a:lnTo>
                      <a:pt x="66" y="44"/>
                    </a:lnTo>
                    <a:lnTo>
                      <a:pt x="29" y="41"/>
                    </a:lnTo>
                    <a:lnTo>
                      <a:pt x="17" y="27"/>
                    </a:lnTo>
                    <a:lnTo>
                      <a:pt x="21" y="0"/>
                    </a:lnTo>
                    <a:lnTo>
                      <a:pt x="1" y="24"/>
                    </a:lnTo>
                    <a:lnTo>
                      <a:pt x="0" y="40"/>
                    </a:lnTo>
                    <a:lnTo>
                      <a:pt x="21" y="52"/>
                    </a:lnTo>
                    <a:lnTo>
                      <a:pt x="66" y="57"/>
                    </a:lnTo>
                    <a:lnTo>
                      <a:pt x="140" y="60"/>
                    </a:lnTo>
                    <a:lnTo>
                      <a:pt x="220" y="70"/>
                    </a:lnTo>
                    <a:lnTo>
                      <a:pt x="283" y="80"/>
                    </a:lnTo>
                    <a:lnTo>
                      <a:pt x="356" y="90"/>
                    </a:lnTo>
                    <a:lnTo>
                      <a:pt x="417" y="100"/>
                    </a:lnTo>
                    <a:lnTo>
                      <a:pt x="461" y="109"/>
                    </a:lnTo>
                    <a:lnTo>
                      <a:pt x="498" y="128"/>
                    </a:lnTo>
                    <a:lnTo>
                      <a:pt x="525" y="140"/>
                    </a:lnTo>
                    <a:lnTo>
                      <a:pt x="541" y="164"/>
                    </a:lnTo>
                    <a:lnTo>
                      <a:pt x="558" y="183"/>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20" name="PlaceHolder 1"/>
          <p:cNvSpPr>
            <a:spLocks noGrp="1"/>
          </p:cNvSpPr>
          <p:nvPr>
            <p:ph type="title"/>
          </p:nvPr>
        </p:nvSpPr>
        <p:spPr>
          <a:xfrm>
            <a:off x="472680" y="1215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21" name="PlaceHolder 2"/>
          <p:cNvSpPr>
            <a:spLocks noGrp="1"/>
          </p:cNvSpPr>
          <p:nvPr>
            <p:ph type="body"/>
          </p:nvPr>
        </p:nvSpPr>
        <p:spPr>
          <a:xfrm>
            <a:off x="495000" y="2441520"/>
            <a:ext cx="8064360" cy="3502080"/>
          </a:xfrm>
          <a:prstGeom prst="rect">
            <a:avLst/>
          </a:prstGeom>
          <a:noFill/>
          <a:ln w="0">
            <a:noFill/>
          </a:ln>
        </p:spPr>
        <p:txBody>
          <a:bodyPr lIns="92160" rIns="92160" tIns="46080" bIns="46080" anchor="t">
            <a:normAutofit fontScale="85000" lnSpcReduction="19999"/>
          </a:bodyPr>
          <a:p>
            <a:pPr marL="343080" indent="-34308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743040" indent="-28584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Second Outline Level</a:t>
            </a:r>
            <a:endParaRPr b="0" lang="en-IN" sz="3200" strike="noStrike" u="none">
              <a:solidFill>
                <a:srgbClr val="000000"/>
              </a:solidFill>
              <a:effectLst/>
              <a:uFillTx/>
              <a:latin typeface="Times New Roman"/>
            </a:endParaRPr>
          </a:p>
          <a:p>
            <a:pPr lvl="2" marL="11430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Third Outline Level</a:t>
            </a:r>
            <a:endParaRPr b="0" lang="en-IN" sz="3200" strike="noStrike" u="none">
              <a:solidFill>
                <a:srgbClr val="000000"/>
              </a:solidFill>
              <a:effectLst/>
              <a:uFillTx/>
              <a:latin typeface="Times New Roman"/>
            </a:endParaRPr>
          </a:p>
          <a:p>
            <a:pPr lvl="3" marL="16002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Fourth Outline Level</a:t>
            </a:r>
            <a:endParaRPr b="0" lang="en-IN" sz="3200" strike="noStrike" u="none">
              <a:solidFill>
                <a:srgbClr val="000000"/>
              </a:solidFill>
              <a:effectLst/>
              <a:uFillTx/>
              <a:latin typeface="Times New Roman"/>
            </a:endParaRPr>
          </a:p>
          <a:p>
            <a:pPr lvl="4"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Fifth Outline Level</a:t>
            </a:r>
            <a:endParaRPr b="0" lang="en-IN" sz="3200" strike="noStrike" u="none">
              <a:solidFill>
                <a:srgbClr val="000000"/>
              </a:solidFill>
              <a:effectLst/>
              <a:uFillTx/>
              <a:latin typeface="Times New Roman"/>
            </a:endParaRPr>
          </a:p>
          <a:p>
            <a:pPr lvl="5"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Sixth Outline Level</a:t>
            </a:r>
            <a:endParaRPr b="0" lang="en-IN" sz="3200" strike="noStrike" u="none">
              <a:solidFill>
                <a:srgbClr val="000000"/>
              </a:solidFill>
              <a:effectLst/>
              <a:uFillTx/>
              <a:latin typeface="Times New Roman"/>
            </a:endParaRPr>
          </a:p>
          <a:p>
            <a:pPr lvl="6" marL="2057400" indent="-228600">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Seventh Outline Level</a:t>
            </a:r>
            <a:endParaRPr b="0" lang="en-IN" sz="3200" strike="noStrike" u="none">
              <a:solidFill>
                <a:srgbClr val="000000"/>
              </a:solidFill>
              <a:effectLst/>
              <a:uFillTx/>
              <a:latin typeface="Times New Roman"/>
            </a:endParaRPr>
          </a:p>
        </p:txBody>
      </p:sp>
      <p:sp>
        <p:nvSpPr>
          <p:cNvPr id="22" name="PlaceHolder 3"/>
          <p:cNvSpPr>
            <a:spLocks noGrp="1"/>
          </p:cNvSpPr>
          <p:nvPr>
            <p:ph type="dt" idx="1"/>
          </p:nvPr>
        </p:nvSpPr>
        <p:spPr>
          <a:xfrm>
            <a:off x="507960" y="6067080"/>
            <a:ext cx="2387520" cy="49860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3" name="PlaceHolder 4"/>
          <p:cNvSpPr>
            <a:spLocks noGrp="1"/>
          </p:cNvSpPr>
          <p:nvPr>
            <p:ph type="ftr" idx="2"/>
          </p:nvPr>
        </p:nvSpPr>
        <p:spPr>
          <a:xfrm>
            <a:off x="3048120" y="6067080"/>
            <a:ext cx="3225600" cy="49860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4" name="PlaceHolder 5"/>
          <p:cNvSpPr>
            <a:spLocks noGrp="1"/>
          </p:cNvSpPr>
          <p:nvPr>
            <p:ph type="sldNum" idx="3"/>
          </p:nvPr>
        </p:nvSpPr>
        <p:spPr>
          <a:xfrm>
            <a:off x="6413040" y="6067440"/>
            <a:ext cx="2133720" cy="51120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25" name=""/>
          <p:cNvSpPr/>
          <p:nvPr/>
        </p:nvSpPr>
        <p:spPr>
          <a:xfrm>
            <a:off x="3654360" y="2257560"/>
            <a:ext cx="2048040" cy="90360"/>
          </a:xfrm>
          <a:custGeom>
            <a:avLst/>
            <a:gdLst/>
            <a:ahLst/>
            <a:rect l="l" t="t" r="r" b="b"/>
            <a:pathLst>
              <a:path w="1290" h="57">
                <a:moveTo>
                  <a:pt x="10" y="0"/>
                </a:moveTo>
                <a:lnTo>
                  <a:pt x="0" y="19"/>
                </a:lnTo>
                <a:lnTo>
                  <a:pt x="2" y="40"/>
                </a:lnTo>
                <a:lnTo>
                  <a:pt x="28" y="50"/>
                </a:lnTo>
                <a:lnTo>
                  <a:pt x="148" y="53"/>
                </a:lnTo>
                <a:lnTo>
                  <a:pt x="297" y="53"/>
                </a:lnTo>
                <a:lnTo>
                  <a:pt x="468" y="53"/>
                </a:lnTo>
                <a:lnTo>
                  <a:pt x="667" y="53"/>
                </a:lnTo>
                <a:lnTo>
                  <a:pt x="830" y="53"/>
                </a:lnTo>
                <a:lnTo>
                  <a:pt x="993" y="55"/>
                </a:lnTo>
                <a:lnTo>
                  <a:pt x="1139" y="53"/>
                </a:lnTo>
                <a:lnTo>
                  <a:pt x="1226" y="56"/>
                </a:lnTo>
                <a:lnTo>
                  <a:pt x="1279" y="47"/>
                </a:lnTo>
                <a:lnTo>
                  <a:pt x="1289" y="25"/>
                </a:lnTo>
                <a:lnTo>
                  <a:pt x="1275" y="14"/>
                </a:lnTo>
                <a:lnTo>
                  <a:pt x="1274" y="27"/>
                </a:lnTo>
                <a:lnTo>
                  <a:pt x="1261" y="35"/>
                </a:lnTo>
                <a:lnTo>
                  <a:pt x="1236" y="38"/>
                </a:lnTo>
                <a:lnTo>
                  <a:pt x="1196" y="40"/>
                </a:lnTo>
                <a:lnTo>
                  <a:pt x="1121" y="40"/>
                </a:lnTo>
                <a:lnTo>
                  <a:pt x="973" y="40"/>
                </a:lnTo>
                <a:lnTo>
                  <a:pt x="844" y="40"/>
                </a:lnTo>
                <a:lnTo>
                  <a:pt x="712" y="38"/>
                </a:lnTo>
                <a:lnTo>
                  <a:pt x="584" y="40"/>
                </a:lnTo>
                <a:lnTo>
                  <a:pt x="432" y="42"/>
                </a:lnTo>
                <a:lnTo>
                  <a:pt x="315" y="43"/>
                </a:lnTo>
                <a:lnTo>
                  <a:pt x="226" y="40"/>
                </a:lnTo>
                <a:lnTo>
                  <a:pt x="141" y="42"/>
                </a:lnTo>
                <a:lnTo>
                  <a:pt x="78" y="40"/>
                </a:lnTo>
                <a:lnTo>
                  <a:pt x="41" y="40"/>
                </a:lnTo>
                <a:lnTo>
                  <a:pt x="20" y="35"/>
                </a:lnTo>
                <a:lnTo>
                  <a:pt x="14" y="22"/>
                </a:lnTo>
                <a:lnTo>
                  <a:pt x="10" y="4"/>
                </a:lnTo>
                <a:lnTo>
                  <a:pt x="5" y="5"/>
                </a:lnTo>
                <a:lnTo>
                  <a:pt x="7" y="6"/>
                </a:lnTo>
                <a:lnTo>
                  <a:pt x="10" y="0"/>
                </a:lnTo>
                <a:lnTo>
                  <a:pt x="10" y="4"/>
                </a:lnTo>
                <a:lnTo>
                  <a:pt x="9" y="6"/>
                </a:lnTo>
                <a:lnTo>
                  <a:pt x="10" y="0"/>
                </a:lnTo>
                <a:lnTo>
                  <a:pt x="10" y="4"/>
                </a:lnTo>
                <a:lnTo>
                  <a:pt x="9" y="7"/>
                </a:lnTo>
              </a:path>
            </a:pathLst>
          </a:custGeom>
          <a:solidFill>
            <a:srgbClr val="ffff99"/>
          </a:solidFill>
          <a:ln w="0">
            <a:noFill/>
          </a:ln>
        </p:spPr>
        <p:style>
          <a:lnRef idx="0"/>
          <a:fillRef idx="0"/>
          <a:effectRef idx="0"/>
          <a:fontRef idx="minor"/>
        </p:style>
        <p:txBody>
          <a:bodyPr lIns="90000" rIns="90000" tIns="43560" bIns="4356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blipFill rotWithShape="0">
          <a:blip r:embed="rId2"/>
          <a:tile tx="0" ty="0" sx="100000" sy="100000" algn="ctr"/>
        </a:blipFill>
      </p:bgPr>
    </p:bg>
    <p:spTree>
      <p:nvGrpSpPr>
        <p:cNvPr id="1" name=""/>
        <p:cNvGrpSpPr/>
        <p:nvPr/>
      </p:nvGrpSpPr>
      <p:grpSpPr>
        <a:xfrm>
          <a:off x="0" y="0"/>
          <a:ext cx="0" cy="0"/>
          <a:chOff x="0" y="0"/>
          <a:chExt cx="0" cy="0"/>
        </a:xfrm>
      </p:grpSpPr>
      <p:grpSp>
        <p:nvGrpSpPr>
          <p:cNvPr id="26" name=""/>
          <p:cNvGrpSpPr/>
          <p:nvPr/>
        </p:nvGrpSpPr>
        <p:grpSpPr>
          <a:xfrm>
            <a:off x="204840" y="0"/>
            <a:ext cx="8781840" cy="6753240"/>
            <a:chOff x="204840" y="0"/>
            <a:chExt cx="8781840" cy="6753240"/>
          </a:xfrm>
        </p:grpSpPr>
        <p:sp>
          <p:nvSpPr>
            <p:cNvPr id="27" name=""/>
            <p:cNvSpPr/>
            <p:nvPr/>
          </p:nvSpPr>
          <p:spPr>
            <a:xfrm>
              <a:off x="204840" y="652320"/>
              <a:ext cx="8781840" cy="6100920"/>
            </a:xfrm>
            <a:custGeom>
              <a:avLst/>
              <a:gdLst/>
              <a:ahLst/>
              <a:rect l="l" t="t" r="r" b="b"/>
              <a:pathLst>
                <a:path w="5532" h="3843">
                  <a:moveTo>
                    <a:pt x="674" y="2"/>
                  </a:moveTo>
                  <a:lnTo>
                    <a:pt x="5531" y="0"/>
                  </a:lnTo>
                  <a:lnTo>
                    <a:pt x="5531" y="3832"/>
                  </a:lnTo>
                  <a:lnTo>
                    <a:pt x="0" y="3842"/>
                  </a:lnTo>
                  <a:lnTo>
                    <a:pt x="6" y="580"/>
                  </a:lnTo>
                  <a:lnTo>
                    <a:pt x="14" y="547"/>
                  </a:lnTo>
                  <a:lnTo>
                    <a:pt x="25" y="504"/>
                  </a:lnTo>
                  <a:lnTo>
                    <a:pt x="36" y="473"/>
                  </a:lnTo>
                  <a:lnTo>
                    <a:pt x="51" y="458"/>
                  </a:lnTo>
                  <a:lnTo>
                    <a:pt x="64" y="448"/>
                  </a:lnTo>
                  <a:lnTo>
                    <a:pt x="656" y="5"/>
                  </a:lnTo>
                  <a:lnTo>
                    <a:pt x="674" y="2"/>
                  </a:lnTo>
                </a:path>
              </a:pathLst>
            </a:custGeom>
            <a:solidFill>
              <a:srgbClr val="ffff99"/>
            </a:solidFill>
            <a:ln w="0">
              <a:noFill/>
            </a:ln>
            <a:effectLst>
              <a:outerShdw dist="107932" dir="2700000" blurRad="0" rotWithShape="0">
                <a:srgbClr val="663300"/>
              </a:outerShdw>
            </a:effectLst>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nvGrpSpPr>
            <p:cNvPr id="28" name=""/>
            <p:cNvGrpSpPr/>
            <p:nvPr/>
          </p:nvGrpSpPr>
          <p:grpSpPr>
            <a:xfrm>
              <a:off x="3300480" y="0"/>
              <a:ext cx="2603520" cy="988920"/>
              <a:chOff x="3300480" y="0"/>
              <a:chExt cx="2603520" cy="988920"/>
            </a:xfrm>
          </p:grpSpPr>
          <p:sp>
            <p:nvSpPr>
              <p:cNvPr id="29" name=""/>
              <p:cNvSpPr/>
              <p:nvPr/>
            </p:nvSpPr>
            <p:spPr>
              <a:xfrm>
                <a:off x="3300480" y="546120"/>
                <a:ext cx="2603520" cy="114120"/>
              </a:xfrm>
              <a:prstGeom prst="rect">
                <a:avLst/>
              </a:prstGeom>
              <a:gradFill rotWithShape="0">
                <a:gsLst>
                  <a:gs pos="0">
                    <a:srgbClr val="ffffff"/>
                  </a:gs>
                  <a:gs pos="50000">
                    <a:srgbClr val="5f5f5f"/>
                  </a:gs>
                  <a:gs pos="100000">
                    <a:srgbClr val="ffffff"/>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0" name=""/>
              <p:cNvSpPr/>
              <p:nvPr/>
            </p:nvSpPr>
            <p:spPr>
              <a:xfrm>
                <a:off x="3782880" y="493560"/>
                <a:ext cx="368280" cy="52560"/>
              </a:xfrm>
              <a:prstGeom prst="rect">
                <a:avLst/>
              </a:prstGeom>
              <a:gradFill rotWithShape="0">
                <a:gsLst>
                  <a:gs pos="0">
                    <a:srgbClr val="ffffff"/>
                  </a:gs>
                  <a:gs pos="50000">
                    <a:srgbClr val="1c1c1c"/>
                  </a:gs>
                  <a:gs pos="100000">
                    <a:srgbClr val="ffffff"/>
                  </a:gs>
                </a:gsLst>
                <a:lin ang="5400000"/>
              </a:gradFill>
              <a:ln w="0">
                <a:noFill/>
              </a:ln>
            </p:spPr>
            <p:style>
              <a:lnRef idx="0"/>
              <a:fillRef idx="0"/>
              <a:effectRef idx="0"/>
              <a:fontRef idx="minor"/>
            </p:style>
            <p:txBody>
              <a:bodyPr lIns="90000" rIns="90000" tIns="5760" bIns="5760" anchor="t">
                <a:noAutofit/>
              </a:bodyPr>
              <a:p>
                <a:endParaRPr b="0" lang="en-IN" sz="1800" strike="noStrike" u="none">
                  <a:solidFill>
                    <a:srgbClr val="000000"/>
                  </a:solidFill>
                  <a:effectLst/>
                  <a:uFillTx/>
                  <a:latin typeface="Arial"/>
                </a:endParaRPr>
              </a:p>
            </p:txBody>
          </p:sp>
          <p:sp>
            <p:nvSpPr>
              <p:cNvPr id="31" name=""/>
              <p:cNvSpPr/>
              <p:nvPr/>
            </p:nvSpPr>
            <p:spPr>
              <a:xfrm>
                <a:off x="4975200" y="507960"/>
                <a:ext cx="368280" cy="50760"/>
              </a:xfrm>
              <a:prstGeom prst="rect">
                <a:avLst/>
              </a:prstGeom>
              <a:gradFill rotWithShape="0">
                <a:gsLst>
                  <a:gs pos="0">
                    <a:srgbClr val="ffffff"/>
                  </a:gs>
                  <a:gs pos="50000">
                    <a:srgbClr val="1c1c1c"/>
                  </a:gs>
                  <a:gs pos="100000">
                    <a:srgbClr val="ffffff"/>
                  </a:gs>
                </a:gsLst>
                <a:lin ang="5400000"/>
              </a:gradFill>
              <a:ln w="0">
                <a:noFill/>
              </a:ln>
            </p:spPr>
            <p:style>
              <a:lnRef idx="0"/>
              <a:fillRef idx="0"/>
              <a:effectRef idx="0"/>
              <a:fontRef idx="minor"/>
            </p:style>
            <p:txBody>
              <a:bodyPr lIns="90000" rIns="90000" tIns="3960" bIns="3960" anchor="t">
                <a:noAutofit/>
              </a:bodyPr>
              <a:p>
                <a:endParaRPr b="0" lang="en-IN" sz="1800" strike="noStrike" u="none">
                  <a:solidFill>
                    <a:srgbClr val="000000"/>
                  </a:solidFill>
                  <a:effectLst/>
                  <a:uFillTx/>
                  <a:latin typeface="Arial"/>
                </a:endParaRPr>
              </a:p>
            </p:txBody>
          </p:sp>
          <p:sp>
            <p:nvSpPr>
              <p:cNvPr id="32" name=""/>
              <p:cNvSpPr/>
              <p:nvPr/>
            </p:nvSpPr>
            <p:spPr>
              <a:xfrm>
                <a:off x="4275000" y="0"/>
                <a:ext cx="601920" cy="587520"/>
              </a:xfrm>
              <a:prstGeom prst="ellipse">
                <a:avLst/>
              </a:prstGeom>
              <a:gradFill rotWithShape="0">
                <a:gsLst>
                  <a:gs pos="0">
                    <a:srgbClr val="1c1c1c"/>
                  </a:gs>
                  <a:gs pos="100000">
                    <a:srgbClr val="ffffff"/>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3" name=""/>
              <p:cNvSpPr/>
              <p:nvPr/>
            </p:nvSpPr>
            <p:spPr>
              <a:xfrm>
                <a:off x="4303800" y="20520"/>
                <a:ext cx="546120" cy="551160"/>
              </a:xfrm>
              <a:prstGeom prst="ellipse">
                <a:avLst/>
              </a:prstGeom>
              <a:gradFill rotWithShape="0">
                <a:gsLst>
                  <a:gs pos="0">
                    <a:srgbClr val="1c1c1c"/>
                  </a:gs>
                  <a:gs pos="100000">
                    <a:srgbClr val="ffffff"/>
                  </a:gs>
                </a:gsLst>
                <a:lin ang="135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4" name=""/>
              <p:cNvSpPr/>
              <p:nvPr/>
            </p:nvSpPr>
            <p:spPr>
              <a:xfrm>
                <a:off x="4344840" y="15840"/>
                <a:ext cx="443160" cy="130320"/>
              </a:xfrm>
              <a:custGeom>
                <a:avLst/>
                <a:gdLst/>
                <a:ahLst/>
                <a:rect l="l" t="t" r="r" b="b"/>
                <a:pathLst>
                  <a:path w="279" h="82">
                    <a:moveTo>
                      <a:pt x="278" y="65"/>
                    </a:moveTo>
                    <a:lnTo>
                      <a:pt x="271" y="49"/>
                    </a:lnTo>
                    <a:lnTo>
                      <a:pt x="254" y="32"/>
                    </a:lnTo>
                    <a:lnTo>
                      <a:pt x="232" y="20"/>
                    </a:lnTo>
                    <a:lnTo>
                      <a:pt x="203" y="7"/>
                    </a:lnTo>
                    <a:lnTo>
                      <a:pt x="168" y="0"/>
                    </a:lnTo>
                    <a:lnTo>
                      <a:pt x="127" y="0"/>
                    </a:lnTo>
                    <a:lnTo>
                      <a:pt x="95" y="3"/>
                    </a:lnTo>
                    <a:lnTo>
                      <a:pt x="63" y="14"/>
                    </a:lnTo>
                    <a:lnTo>
                      <a:pt x="41" y="29"/>
                    </a:lnTo>
                    <a:lnTo>
                      <a:pt x="21" y="43"/>
                    </a:lnTo>
                    <a:lnTo>
                      <a:pt x="5" y="62"/>
                    </a:lnTo>
                    <a:lnTo>
                      <a:pt x="0" y="71"/>
                    </a:lnTo>
                    <a:lnTo>
                      <a:pt x="1" y="81"/>
                    </a:lnTo>
                    <a:lnTo>
                      <a:pt x="14" y="62"/>
                    </a:lnTo>
                    <a:lnTo>
                      <a:pt x="28" y="51"/>
                    </a:lnTo>
                    <a:lnTo>
                      <a:pt x="55" y="33"/>
                    </a:lnTo>
                    <a:lnTo>
                      <a:pt x="78" y="23"/>
                    </a:lnTo>
                    <a:lnTo>
                      <a:pt x="105" y="14"/>
                    </a:lnTo>
                    <a:lnTo>
                      <a:pt x="131" y="11"/>
                    </a:lnTo>
                    <a:lnTo>
                      <a:pt x="147" y="11"/>
                    </a:lnTo>
                    <a:lnTo>
                      <a:pt x="167" y="13"/>
                    </a:lnTo>
                    <a:lnTo>
                      <a:pt x="186" y="14"/>
                    </a:lnTo>
                    <a:lnTo>
                      <a:pt x="206" y="20"/>
                    </a:lnTo>
                    <a:lnTo>
                      <a:pt x="239" y="35"/>
                    </a:lnTo>
                    <a:lnTo>
                      <a:pt x="255" y="49"/>
                    </a:lnTo>
                    <a:lnTo>
                      <a:pt x="278" y="65"/>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5" name=""/>
              <p:cNvSpPr/>
              <p:nvPr/>
            </p:nvSpPr>
            <p:spPr>
              <a:xfrm>
                <a:off x="4346640" y="68400"/>
                <a:ext cx="458640" cy="446040"/>
              </a:xfrm>
              <a:prstGeom prst="ellipse">
                <a:avLst/>
              </a:prstGeom>
              <a:gradFill rotWithShape="0">
                <a:gsLst>
                  <a:gs pos="0">
                    <a:srgbClr val="1c1c1c"/>
                  </a:gs>
                  <a:gs pos="50000">
                    <a:srgbClr val="ffffff"/>
                  </a:gs>
                  <a:gs pos="100000">
                    <a:srgbClr val="1c1c1c"/>
                  </a:gs>
                </a:gsLst>
                <a:lin ang="81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6" name=""/>
              <p:cNvSpPr/>
              <p:nvPr/>
            </p:nvSpPr>
            <p:spPr>
              <a:xfrm>
                <a:off x="4378320" y="95400"/>
                <a:ext cx="392040" cy="377640"/>
              </a:xfrm>
              <a:prstGeom prst="ellipse">
                <a:avLst/>
              </a:prstGeom>
              <a:blipFill rotWithShape="0">
                <a:blip r:embed="rId3"/>
                <a:srcRect/>
                <a:tile tx="0" ty="0" sx="100000" sy="100000" algn="ctr"/>
              </a:blip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7" name=""/>
              <p:cNvSpPr/>
              <p:nvPr/>
            </p:nvSpPr>
            <p:spPr>
              <a:xfrm>
                <a:off x="3510000" y="423720"/>
                <a:ext cx="2155680" cy="565200"/>
              </a:xfrm>
              <a:custGeom>
                <a:avLst/>
                <a:gdLst/>
                <a:ahLst/>
                <a:rect l="l" t="t" r="r" b="b"/>
                <a:pathLst>
                  <a:path w="1358" h="356">
                    <a:moveTo>
                      <a:pt x="10" y="345"/>
                    </a:moveTo>
                    <a:lnTo>
                      <a:pt x="28" y="351"/>
                    </a:lnTo>
                    <a:lnTo>
                      <a:pt x="1357" y="355"/>
                    </a:lnTo>
                    <a:lnTo>
                      <a:pt x="1357" y="279"/>
                    </a:lnTo>
                    <a:lnTo>
                      <a:pt x="1351" y="248"/>
                    </a:lnTo>
                    <a:lnTo>
                      <a:pt x="1338" y="220"/>
                    </a:lnTo>
                    <a:lnTo>
                      <a:pt x="1324" y="192"/>
                    </a:lnTo>
                    <a:lnTo>
                      <a:pt x="1282" y="147"/>
                    </a:lnTo>
                    <a:lnTo>
                      <a:pt x="1214" y="119"/>
                    </a:lnTo>
                    <a:lnTo>
                      <a:pt x="1141" y="106"/>
                    </a:lnTo>
                    <a:lnTo>
                      <a:pt x="1073" y="96"/>
                    </a:lnTo>
                    <a:lnTo>
                      <a:pt x="996" y="87"/>
                    </a:lnTo>
                    <a:lnTo>
                      <a:pt x="906" y="81"/>
                    </a:lnTo>
                    <a:lnTo>
                      <a:pt x="782" y="69"/>
                    </a:lnTo>
                    <a:lnTo>
                      <a:pt x="817" y="22"/>
                    </a:lnTo>
                    <a:lnTo>
                      <a:pt x="823" y="2"/>
                    </a:lnTo>
                    <a:lnTo>
                      <a:pt x="795" y="28"/>
                    </a:lnTo>
                    <a:lnTo>
                      <a:pt x="779" y="41"/>
                    </a:lnTo>
                    <a:lnTo>
                      <a:pt x="762" y="57"/>
                    </a:lnTo>
                    <a:lnTo>
                      <a:pt x="746" y="62"/>
                    </a:lnTo>
                    <a:lnTo>
                      <a:pt x="714" y="71"/>
                    </a:lnTo>
                    <a:lnTo>
                      <a:pt x="661" y="72"/>
                    </a:lnTo>
                    <a:lnTo>
                      <a:pt x="612" y="70"/>
                    </a:lnTo>
                    <a:lnTo>
                      <a:pt x="587" y="57"/>
                    </a:lnTo>
                    <a:lnTo>
                      <a:pt x="571" y="46"/>
                    </a:lnTo>
                    <a:lnTo>
                      <a:pt x="548" y="28"/>
                    </a:lnTo>
                    <a:lnTo>
                      <a:pt x="519" y="0"/>
                    </a:lnTo>
                    <a:lnTo>
                      <a:pt x="527" y="24"/>
                    </a:lnTo>
                    <a:lnTo>
                      <a:pt x="539" y="64"/>
                    </a:lnTo>
                    <a:lnTo>
                      <a:pt x="525" y="72"/>
                    </a:lnTo>
                    <a:lnTo>
                      <a:pt x="379" y="80"/>
                    </a:lnTo>
                    <a:lnTo>
                      <a:pt x="259" y="96"/>
                    </a:lnTo>
                    <a:lnTo>
                      <a:pt x="190" y="106"/>
                    </a:lnTo>
                    <a:lnTo>
                      <a:pt x="123" y="119"/>
                    </a:lnTo>
                    <a:lnTo>
                      <a:pt x="94" y="129"/>
                    </a:lnTo>
                    <a:lnTo>
                      <a:pt x="72" y="144"/>
                    </a:lnTo>
                    <a:lnTo>
                      <a:pt x="43" y="171"/>
                    </a:lnTo>
                    <a:lnTo>
                      <a:pt x="24" y="202"/>
                    </a:lnTo>
                    <a:lnTo>
                      <a:pt x="11" y="239"/>
                    </a:lnTo>
                    <a:lnTo>
                      <a:pt x="4" y="267"/>
                    </a:lnTo>
                    <a:lnTo>
                      <a:pt x="1" y="299"/>
                    </a:lnTo>
                    <a:lnTo>
                      <a:pt x="0" y="320"/>
                    </a:lnTo>
                    <a:lnTo>
                      <a:pt x="10" y="345"/>
                    </a:lnTo>
                  </a:path>
                </a:pathLst>
              </a:custGeom>
              <a:gradFill rotWithShape="0">
                <a:gsLst>
                  <a:gs pos="0">
                    <a:srgbClr val="ffffff"/>
                  </a:gs>
                  <a:gs pos="100000">
                    <a:srgbClr val="1c1c1c"/>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8" name=""/>
              <p:cNvSpPr/>
              <p:nvPr/>
            </p:nvSpPr>
            <p:spPr>
              <a:xfrm>
                <a:off x="3559320" y="488880"/>
                <a:ext cx="850680" cy="292320"/>
              </a:xfrm>
              <a:custGeom>
                <a:avLst/>
                <a:gdLst/>
                <a:ahLst/>
                <a:rect l="l" t="t" r="r" b="b"/>
                <a:pathLst>
                  <a:path w="536" h="184">
                    <a:moveTo>
                      <a:pt x="0" y="183"/>
                    </a:moveTo>
                    <a:lnTo>
                      <a:pt x="7" y="153"/>
                    </a:lnTo>
                    <a:lnTo>
                      <a:pt x="17" y="133"/>
                    </a:lnTo>
                    <a:lnTo>
                      <a:pt x="49" y="110"/>
                    </a:lnTo>
                    <a:lnTo>
                      <a:pt x="105" y="88"/>
                    </a:lnTo>
                    <a:lnTo>
                      <a:pt x="147" y="82"/>
                    </a:lnTo>
                    <a:lnTo>
                      <a:pt x="182" y="74"/>
                    </a:lnTo>
                    <a:lnTo>
                      <a:pt x="237" y="69"/>
                    </a:lnTo>
                    <a:lnTo>
                      <a:pt x="279" y="61"/>
                    </a:lnTo>
                    <a:lnTo>
                      <a:pt x="320" y="54"/>
                    </a:lnTo>
                    <a:lnTo>
                      <a:pt x="359" y="49"/>
                    </a:lnTo>
                    <a:lnTo>
                      <a:pt x="405" y="43"/>
                    </a:lnTo>
                    <a:lnTo>
                      <a:pt x="473" y="42"/>
                    </a:lnTo>
                    <a:lnTo>
                      <a:pt x="470" y="44"/>
                    </a:lnTo>
                    <a:lnTo>
                      <a:pt x="506" y="41"/>
                    </a:lnTo>
                    <a:lnTo>
                      <a:pt x="518" y="27"/>
                    </a:lnTo>
                    <a:lnTo>
                      <a:pt x="513" y="0"/>
                    </a:lnTo>
                    <a:lnTo>
                      <a:pt x="533" y="23"/>
                    </a:lnTo>
                    <a:lnTo>
                      <a:pt x="535" y="39"/>
                    </a:lnTo>
                    <a:lnTo>
                      <a:pt x="513" y="52"/>
                    </a:lnTo>
                    <a:lnTo>
                      <a:pt x="470" y="57"/>
                    </a:lnTo>
                    <a:lnTo>
                      <a:pt x="399" y="61"/>
                    </a:lnTo>
                    <a:lnTo>
                      <a:pt x="323" y="70"/>
                    </a:lnTo>
                    <a:lnTo>
                      <a:pt x="263" y="80"/>
                    </a:lnTo>
                    <a:lnTo>
                      <a:pt x="193" y="90"/>
                    </a:lnTo>
                    <a:lnTo>
                      <a:pt x="135" y="99"/>
                    </a:lnTo>
                    <a:lnTo>
                      <a:pt x="92" y="109"/>
                    </a:lnTo>
                    <a:lnTo>
                      <a:pt x="56" y="128"/>
                    </a:lnTo>
                    <a:lnTo>
                      <a:pt x="30" y="140"/>
                    </a:lnTo>
                    <a:lnTo>
                      <a:pt x="15" y="164"/>
                    </a:lnTo>
                    <a:lnTo>
                      <a:pt x="0" y="183"/>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39" name=""/>
              <p:cNvSpPr/>
              <p:nvPr/>
            </p:nvSpPr>
            <p:spPr>
              <a:xfrm>
                <a:off x="3533760" y="911160"/>
                <a:ext cx="2104920" cy="63720"/>
              </a:xfrm>
              <a:custGeom>
                <a:avLst/>
                <a:gdLst/>
                <a:ahLst/>
                <a:rect l="l" t="t" r="r" b="b"/>
                <a:pathLst>
                  <a:path w="1326" h="40">
                    <a:moveTo>
                      <a:pt x="6" y="0"/>
                    </a:moveTo>
                    <a:lnTo>
                      <a:pt x="0" y="10"/>
                    </a:lnTo>
                    <a:lnTo>
                      <a:pt x="6" y="25"/>
                    </a:lnTo>
                    <a:lnTo>
                      <a:pt x="17" y="30"/>
                    </a:lnTo>
                    <a:lnTo>
                      <a:pt x="36" y="36"/>
                    </a:lnTo>
                    <a:lnTo>
                      <a:pt x="114" y="37"/>
                    </a:lnTo>
                    <a:lnTo>
                      <a:pt x="275" y="38"/>
                    </a:lnTo>
                    <a:lnTo>
                      <a:pt x="381" y="36"/>
                    </a:lnTo>
                    <a:lnTo>
                      <a:pt x="415" y="37"/>
                    </a:lnTo>
                    <a:lnTo>
                      <a:pt x="438" y="37"/>
                    </a:lnTo>
                    <a:lnTo>
                      <a:pt x="474" y="38"/>
                    </a:lnTo>
                    <a:lnTo>
                      <a:pt x="480" y="38"/>
                    </a:lnTo>
                    <a:lnTo>
                      <a:pt x="545" y="38"/>
                    </a:lnTo>
                    <a:lnTo>
                      <a:pt x="578" y="38"/>
                    </a:lnTo>
                    <a:lnTo>
                      <a:pt x="598" y="37"/>
                    </a:lnTo>
                    <a:lnTo>
                      <a:pt x="686" y="36"/>
                    </a:lnTo>
                    <a:lnTo>
                      <a:pt x="691" y="36"/>
                    </a:lnTo>
                    <a:lnTo>
                      <a:pt x="724" y="36"/>
                    </a:lnTo>
                    <a:lnTo>
                      <a:pt x="777" y="38"/>
                    </a:lnTo>
                    <a:lnTo>
                      <a:pt x="819" y="38"/>
                    </a:lnTo>
                    <a:lnTo>
                      <a:pt x="825" y="38"/>
                    </a:lnTo>
                    <a:lnTo>
                      <a:pt x="859" y="39"/>
                    </a:lnTo>
                    <a:lnTo>
                      <a:pt x="882" y="37"/>
                    </a:lnTo>
                    <a:lnTo>
                      <a:pt x="888" y="38"/>
                    </a:lnTo>
                    <a:lnTo>
                      <a:pt x="957" y="37"/>
                    </a:lnTo>
                    <a:lnTo>
                      <a:pt x="962" y="36"/>
                    </a:lnTo>
                    <a:lnTo>
                      <a:pt x="980" y="37"/>
                    </a:lnTo>
                    <a:lnTo>
                      <a:pt x="1004" y="38"/>
                    </a:lnTo>
                    <a:lnTo>
                      <a:pt x="1011" y="38"/>
                    </a:lnTo>
                    <a:lnTo>
                      <a:pt x="1045" y="37"/>
                    </a:lnTo>
                    <a:lnTo>
                      <a:pt x="1066" y="36"/>
                    </a:lnTo>
                    <a:lnTo>
                      <a:pt x="1072" y="36"/>
                    </a:lnTo>
                    <a:lnTo>
                      <a:pt x="1091" y="36"/>
                    </a:lnTo>
                    <a:lnTo>
                      <a:pt x="1119" y="36"/>
                    </a:lnTo>
                    <a:lnTo>
                      <a:pt x="1126" y="36"/>
                    </a:lnTo>
                    <a:lnTo>
                      <a:pt x="1145" y="37"/>
                    </a:lnTo>
                    <a:lnTo>
                      <a:pt x="1165" y="38"/>
                    </a:lnTo>
                    <a:lnTo>
                      <a:pt x="1171" y="38"/>
                    </a:lnTo>
                    <a:lnTo>
                      <a:pt x="1214" y="36"/>
                    </a:lnTo>
                    <a:lnTo>
                      <a:pt x="1233" y="37"/>
                    </a:lnTo>
                    <a:lnTo>
                      <a:pt x="1252" y="38"/>
                    </a:lnTo>
                    <a:lnTo>
                      <a:pt x="1257" y="37"/>
                    </a:lnTo>
                    <a:lnTo>
                      <a:pt x="1309" y="37"/>
                    </a:lnTo>
                    <a:lnTo>
                      <a:pt x="1325" y="32"/>
                    </a:lnTo>
                    <a:lnTo>
                      <a:pt x="1298" y="22"/>
                    </a:lnTo>
                    <a:lnTo>
                      <a:pt x="1291" y="22"/>
                    </a:lnTo>
                    <a:lnTo>
                      <a:pt x="1267" y="20"/>
                    </a:lnTo>
                    <a:lnTo>
                      <a:pt x="1271" y="22"/>
                    </a:lnTo>
                    <a:lnTo>
                      <a:pt x="1256" y="24"/>
                    </a:lnTo>
                    <a:lnTo>
                      <a:pt x="1249" y="23"/>
                    </a:lnTo>
                    <a:lnTo>
                      <a:pt x="1087" y="15"/>
                    </a:lnTo>
                    <a:lnTo>
                      <a:pt x="1081" y="15"/>
                    </a:lnTo>
                    <a:lnTo>
                      <a:pt x="1038" y="15"/>
                    </a:lnTo>
                    <a:lnTo>
                      <a:pt x="1015" y="17"/>
                    </a:lnTo>
                    <a:lnTo>
                      <a:pt x="978" y="19"/>
                    </a:lnTo>
                    <a:lnTo>
                      <a:pt x="943" y="21"/>
                    </a:lnTo>
                    <a:lnTo>
                      <a:pt x="904" y="21"/>
                    </a:lnTo>
                    <a:lnTo>
                      <a:pt x="874" y="20"/>
                    </a:lnTo>
                    <a:lnTo>
                      <a:pt x="869" y="20"/>
                    </a:lnTo>
                    <a:lnTo>
                      <a:pt x="819" y="18"/>
                    </a:lnTo>
                    <a:lnTo>
                      <a:pt x="752" y="18"/>
                    </a:lnTo>
                    <a:lnTo>
                      <a:pt x="732" y="19"/>
                    </a:lnTo>
                    <a:lnTo>
                      <a:pt x="709" y="20"/>
                    </a:lnTo>
                    <a:lnTo>
                      <a:pt x="683" y="20"/>
                    </a:lnTo>
                    <a:lnTo>
                      <a:pt x="678" y="20"/>
                    </a:lnTo>
                    <a:lnTo>
                      <a:pt x="655" y="21"/>
                    </a:lnTo>
                    <a:lnTo>
                      <a:pt x="610" y="22"/>
                    </a:lnTo>
                    <a:lnTo>
                      <a:pt x="605" y="22"/>
                    </a:lnTo>
                    <a:lnTo>
                      <a:pt x="584" y="22"/>
                    </a:lnTo>
                    <a:lnTo>
                      <a:pt x="553" y="20"/>
                    </a:lnTo>
                    <a:lnTo>
                      <a:pt x="530" y="19"/>
                    </a:lnTo>
                    <a:lnTo>
                      <a:pt x="524" y="19"/>
                    </a:lnTo>
                    <a:lnTo>
                      <a:pt x="496" y="17"/>
                    </a:lnTo>
                    <a:lnTo>
                      <a:pt x="462" y="17"/>
                    </a:lnTo>
                    <a:lnTo>
                      <a:pt x="457" y="17"/>
                    </a:lnTo>
                    <a:lnTo>
                      <a:pt x="436" y="18"/>
                    </a:lnTo>
                    <a:lnTo>
                      <a:pt x="404" y="20"/>
                    </a:lnTo>
                    <a:lnTo>
                      <a:pt x="378" y="21"/>
                    </a:lnTo>
                    <a:lnTo>
                      <a:pt x="373" y="21"/>
                    </a:lnTo>
                    <a:lnTo>
                      <a:pt x="340" y="23"/>
                    </a:lnTo>
                    <a:lnTo>
                      <a:pt x="335" y="23"/>
                    </a:lnTo>
                    <a:lnTo>
                      <a:pt x="302" y="24"/>
                    </a:lnTo>
                    <a:lnTo>
                      <a:pt x="283" y="24"/>
                    </a:lnTo>
                    <a:lnTo>
                      <a:pt x="258" y="22"/>
                    </a:lnTo>
                    <a:lnTo>
                      <a:pt x="239" y="20"/>
                    </a:lnTo>
                    <a:lnTo>
                      <a:pt x="205" y="20"/>
                    </a:lnTo>
                    <a:lnTo>
                      <a:pt x="179" y="21"/>
                    </a:lnTo>
                    <a:lnTo>
                      <a:pt x="147" y="23"/>
                    </a:lnTo>
                    <a:lnTo>
                      <a:pt x="141" y="23"/>
                    </a:lnTo>
                    <a:lnTo>
                      <a:pt x="133" y="23"/>
                    </a:lnTo>
                    <a:lnTo>
                      <a:pt x="99" y="21"/>
                    </a:lnTo>
                    <a:lnTo>
                      <a:pt x="82" y="20"/>
                    </a:lnTo>
                    <a:lnTo>
                      <a:pt x="59" y="19"/>
                    </a:lnTo>
                    <a:lnTo>
                      <a:pt x="53" y="19"/>
                    </a:lnTo>
                    <a:lnTo>
                      <a:pt x="48" y="19"/>
                    </a:lnTo>
                    <a:lnTo>
                      <a:pt x="38" y="20"/>
                    </a:lnTo>
                    <a:lnTo>
                      <a:pt x="6" y="0"/>
                    </a:lnTo>
                  </a:path>
                </a:pathLst>
              </a:custGeom>
              <a:solidFill>
                <a:srgbClr val="ffff99"/>
              </a:solidFill>
              <a:ln w="0">
                <a:noFill/>
              </a:ln>
            </p:spPr>
            <p:style>
              <a:lnRef idx="0"/>
              <a:fillRef idx="0"/>
              <a:effectRef idx="0"/>
              <a:fontRef idx="minor"/>
            </p:style>
            <p:txBody>
              <a:bodyPr lIns="90000" rIns="90000" tIns="16920" bIns="16920" anchor="t">
                <a:noAutofit/>
              </a:bodyPr>
              <a:p>
                <a:endParaRPr b="0" lang="en-IN" sz="1800" strike="noStrike" u="none">
                  <a:solidFill>
                    <a:srgbClr val="000000"/>
                  </a:solidFill>
                  <a:effectLst/>
                  <a:uFillTx/>
                  <a:latin typeface="Arial"/>
                </a:endParaRPr>
              </a:p>
            </p:txBody>
          </p:sp>
          <p:sp>
            <p:nvSpPr>
              <p:cNvPr id="40" name=""/>
              <p:cNvSpPr/>
              <p:nvPr/>
            </p:nvSpPr>
            <p:spPr>
              <a:xfrm>
                <a:off x="3557520" y="487440"/>
                <a:ext cx="2063880" cy="355680"/>
              </a:xfrm>
              <a:custGeom>
                <a:avLst/>
                <a:gdLst/>
                <a:ahLst/>
                <a:rect l="l" t="t" r="r" b="b"/>
                <a:pathLst>
                  <a:path w="1300" h="224">
                    <a:moveTo>
                      <a:pt x="97" y="143"/>
                    </a:moveTo>
                    <a:lnTo>
                      <a:pt x="73" y="142"/>
                    </a:lnTo>
                    <a:lnTo>
                      <a:pt x="54" y="157"/>
                    </a:lnTo>
                    <a:lnTo>
                      <a:pt x="40" y="164"/>
                    </a:lnTo>
                    <a:lnTo>
                      <a:pt x="18" y="174"/>
                    </a:lnTo>
                    <a:lnTo>
                      <a:pt x="5" y="178"/>
                    </a:lnTo>
                    <a:lnTo>
                      <a:pt x="0" y="190"/>
                    </a:lnTo>
                    <a:lnTo>
                      <a:pt x="11" y="203"/>
                    </a:lnTo>
                    <a:lnTo>
                      <a:pt x="26" y="218"/>
                    </a:lnTo>
                    <a:lnTo>
                      <a:pt x="54" y="212"/>
                    </a:lnTo>
                    <a:lnTo>
                      <a:pt x="100" y="210"/>
                    </a:lnTo>
                    <a:lnTo>
                      <a:pt x="172" y="215"/>
                    </a:lnTo>
                    <a:lnTo>
                      <a:pt x="322" y="218"/>
                    </a:lnTo>
                    <a:lnTo>
                      <a:pt x="420" y="210"/>
                    </a:lnTo>
                    <a:lnTo>
                      <a:pt x="452" y="215"/>
                    </a:lnTo>
                    <a:lnTo>
                      <a:pt x="473" y="213"/>
                    </a:lnTo>
                    <a:lnTo>
                      <a:pt x="506" y="218"/>
                    </a:lnTo>
                    <a:lnTo>
                      <a:pt x="512" y="218"/>
                    </a:lnTo>
                    <a:lnTo>
                      <a:pt x="573" y="219"/>
                    </a:lnTo>
                    <a:lnTo>
                      <a:pt x="603" y="218"/>
                    </a:lnTo>
                    <a:lnTo>
                      <a:pt x="621" y="213"/>
                    </a:lnTo>
                    <a:lnTo>
                      <a:pt x="703" y="210"/>
                    </a:lnTo>
                    <a:lnTo>
                      <a:pt x="708" y="210"/>
                    </a:lnTo>
                    <a:lnTo>
                      <a:pt x="738" y="210"/>
                    </a:lnTo>
                    <a:lnTo>
                      <a:pt x="788" y="218"/>
                    </a:lnTo>
                    <a:lnTo>
                      <a:pt x="827" y="219"/>
                    </a:lnTo>
                    <a:lnTo>
                      <a:pt x="832" y="219"/>
                    </a:lnTo>
                    <a:lnTo>
                      <a:pt x="864" y="223"/>
                    </a:lnTo>
                    <a:lnTo>
                      <a:pt x="885" y="215"/>
                    </a:lnTo>
                    <a:lnTo>
                      <a:pt x="891" y="218"/>
                    </a:lnTo>
                    <a:lnTo>
                      <a:pt x="955" y="213"/>
                    </a:lnTo>
                    <a:lnTo>
                      <a:pt x="960" y="210"/>
                    </a:lnTo>
                    <a:lnTo>
                      <a:pt x="976" y="215"/>
                    </a:lnTo>
                    <a:lnTo>
                      <a:pt x="999" y="218"/>
                    </a:lnTo>
                    <a:lnTo>
                      <a:pt x="1005" y="218"/>
                    </a:lnTo>
                    <a:lnTo>
                      <a:pt x="1037" y="213"/>
                    </a:lnTo>
                    <a:lnTo>
                      <a:pt x="1056" y="210"/>
                    </a:lnTo>
                    <a:lnTo>
                      <a:pt x="1062" y="210"/>
                    </a:lnTo>
                    <a:lnTo>
                      <a:pt x="1079" y="210"/>
                    </a:lnTo>
                    <a:lnTo>
                      <a:pt x="1105" y="210"/>
                    </a:lnTo>
                    <a:lnTo>
                      <a:pt x="1111" y="209"/>
                    </a:lnTo>
                    <a:lnTo>
                      <a:pt x="1129" y="215"/>
                    </a:lnTo>
                    <a:lnTo>
                      <a:pt x="1148" y="219"/>
                    </a:lnTo>
                    <a:lnTo>
                      <a:pt x="1154" y="219"/>
                    </a:lnTo>
                    <a:lnTo>
                      <a:pt x="1193" y="210"/>
                    </a:lnTo>
                    <a:lnTo>
                      <a:pt x="1211" y="213"/>
                    </a:lnTo>
                    <a:lnTo>
                      <a:pt x="1229" y="218"/>
                    </a:lnTo>
                    <a:lnTo>
                      <a:pt x="1233" y="215"/>
                    </a:lnTo>
                    <a:lnTo>
                      <a:pt x="1282" y="213"/>
                    </a:lnTo>
                    <a:lnTo>
                      <a:pt x="1299" y="212"/>
                    </a:lnTo>
                    <a:lnTo>
                      <a:pt x="1296" y="187"/>
                    </a:lnTo>
                    <a:lnTo>
                      <a:pt x="1283" y="169"/>
                    </a:lnTo>
                    <a:lnTo>
                      <a:pt x="1268" y="155"/>
                    </a:lnTo>
                    <a:lnTo>
                      <a:pt x="1246" y="140"/>
                    </a:lnTo>
                    <a:lnTo>
                      <a:pt x="1232" y="146"/>
                    </a:lnTo>
                    <a:lnTo>
                      <a:pt x="1226" y="145"/>
                    </a:lnTo>
                    <a:lnTo>
                      <a:pt x="1158" y="132"/>
                    </a:lnTo>
                    <a:lnTo>
                      <a:pt x="1119" y="117"/>
                    </a:lnTo>
                    <a:lnTo>
                      <a:pt x="1076" y="103"/>
                    </a:lnTo>
                    <a:lnTo>
                      <a:pt x="1070" y="103"/>
                    </a:lnTo>
                    <a:lnTo>
                      <a:pt x="1030" y="103"/>
                    </a:lnTo>
                    <a:lnTo>
                      <a:pt x="1008" y="113"/>
                    </a:lnTo>
                    <a:lnTo>
                      <a:pt x="974" y="122"/>
                    </a:lnTo>
                    <a:lnTo>
                      <a:pt x="942" y="132"/>
                    </a:lnTo>
                    <a:lnTo>
                      <a:pt x="905" y="131"/>
                    </a:lnTo>
                    <a:lnTo>
                      <a:pt x="878" y="126"/>
                    </a:lnTo>
                    <a:lnTo>
                      <a:pt x="873" y="126"/>
                    </a:lnTo>
                    <a:lnTo>
                      <a:pt x="827" y="117"/>
                    </a:lnTo>
                    <a:lnTo>
                      <a:pt x="787" y="103"/>
                    </a:lnTo>
                    <a:lnTo>
                      <a:pt x="761" y="99"/>
                    </a:lnTo>
                    <a:lnTo>
                      <a:pt x="743" y="85"/>
                    </a:lnTo>
                    <a:lnTo>
                      <a:pt x="721" y="80"/>
                    </a:lnTo>
                    <a:lnTo>
                      <a:pt x="702" y="67"/>
                    </a:lnTo>
                    <a:lnTo>
                      <a:pt x="695" y="38"/>
                    </a:lnTo>
                    <a:lnTo>
                      <a:pt x="718" y="16"/>
                    </a:lnTo>
                    <a:lnTo>
                      <a:pt x="687" y="25"/>
                    </a:lnTo>
                    <a:lnTo>
                      <a:pt x="645" y="24"/>
                    </a:lnTo>
                    <a:lnTo>
                      <a:pt x="614" y="25"/>
                    </a:lnTo>
                    <a:lnTo>
                      <a:pt x="575" y="16"/>
                    </a:lnTo>
                    <a:lnTo>
                      <a:pt x="537" y="0"/>
                    </a:lnTo>
                    <a:lnTo>
                      <a:pt x="566" y="29"/>
                    </a:lnTo>
                    <a:lnTo>
                      <a:pt x="575" y="51"/>
                    </a:lnTo>
                    <a:lnTo>
                      <a:pt x="573" y="68"/>
                    </a:lnTo>
                    <a:lnTo>
                      <a:pt x="560" y="87"/>
                    </a:lnTo>
                    <a:lnTo>
                      <a:pt x="531" y="97"/>
                    </a:lnTo>
                    <a:lnTo>
                      <a:pt x="503" y="96"/>
                    </a:lnTo>
                    <a:lnTo>
                      <a:pt x="477" y="100"/>
                    </a:lnTo>
                    <a:lnTo>
                      <a:pt x="451" y="106"/>
                    </a:lnTo>
                    <a:lnTo>
                      <a:pt x="413" y="122"/>
                    </a:lnTo>
                    <a:lnTo>
                      <a:pt x="389" y="129"/>
                    </a:lnTo>
                    <a:lnTo>
                      <a:pt x="361" y="119"/>
                    </a:lnTo>
                    <a:lnTo>
                      <a:pt x="331" y="122"/>
                    </a:lnTo>
                    <a:lnTo>
                      <a:pt x="306" y="135"/>
                    </a:lnTo>
                    <a:lnTo>
                      <a:pt x="288" y="128"/>
                    </a:lnTo>
                    <a:lnTo>
                      <a:pt x="261" y="134"/>
                    </a:lnTo>
                    <a:lnTo>
                      <a:pt x="233" y="131"/>
                    </a:lnTo>
                    <a:lnTo>
                      <a:pt x="203" y="142"/>
                    </a:lnTo>
                    <a:lnTo>
                      <a:pt x="197" y="142"/>
                    </a:lnTo>
                    <a:lnTo>
                      <a:pt x="187" y="140"/>
                    </a:lnTo>
                    <a:lnTo>
                      <a:pt x="158" y="132"/>
                    </a:lnTo>
                    <a:lnTo>
                      <a:pt x="143" y="126"/>
                    </a:lnTo>
                    <a:lnTo>
                      <a:pt x="118" y="134"/>
                    </a:lnTo>
                    <a:lnTo>
                      <a:pt x="97" y="143"/>
                    </a:lnTo>
                  </a:path>
                </a:pathLst>
              </a:custGeom>
              <a:gradFill rotWithShape="0">
                <a:gsLst>
                  <a:gs pos="0">
                    <a:srgbClr val="1c1c1c"/>
                  </a:gs>
                  <a:gs pos="100000">
                    <a:srgbClr val="ffffff"/>
                  </a:gs>
                </a:gsLst>
                <a:lin ang="5400000"/>
              </a:gra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1" name=""/>
              <p:cNvSpPr/>
              <p:nvPr/>
            </p:nvSpPr>
            <p:spPr>
              <a:xfrm>
                <a:off x="4699080" y="492120"/>
                <a:ext cx="887400" cy="291960"/>
              </a:xfrm>
              <a:custGeom>
                <a:avLst/>
                <a:gdLst/>
                <a:ahLst/>
                <a:rect l="l" t="t" r="r" b="b"/>
                <a:pathLst>
                  <a:path w="559" h="184">
                    <a:moveTo>
                      <a:pt x="558" y="183"/>
                    </a:moveTo>
                    <a:lnTo>
                      <a:pt x="550" y="153"/>
                    </a:lnTo>
                    <a:lnTo>
                      <a:pt x="539" y="133"/>
                    </a:lnTo>
                    <a:lnTo>
                      <a:pt x="505" y="111"/>
                    </a:lnTo>
                    <a:lnTo>
                      <a:pt x="447" y="88"/>
                    </a:lnTo>
                    <a:lnTo>
                      <a:pt x="404" y="81"/>
                    </a:lnTo>
                    <a:lnTo>
                      <a:pt x="367" y="74"/>
                    </a:lnTo>
                    <a:lnTo>
                      <a:pt x="310" y="69"/>
                    </a:lnTo>
                    <a:lnTo>
                      <a:pt x="265" y="60"/>
                    </a:lnTo>
                    <a:lnTo>
                      <a:pt x="224" y="54"/>
                    </a:lnTo>
                    <a:lnTo>
                      <a:pt x="182" y="49"/>
                    </a:lnTo>
                    <a:lnTo>
                      <a:pt x="134" y="43"/>
                    </a:lnTo>
                    <a:lnTo>
                      <a:pt x="64" y="42"/>
                    </a:lnTo>
                    <a:lnTo>
                      <a:pt x="66" y="44"/>
                    </a:lnTo>
                    <a:lnTo>
                      <a:pt x="29" y="41"/>
                    </a:lnTo>
                    <a:lnTo>
                      <a:pt x="17" y="27"/>
                    </a:lnTo>
                    <a:lnTo>
                      <a:pt x="21" y="0"/>
                    </a:lnTo>
                    <a:lnTo>
                      <a:pt x="1" y="24"/>
                    </a:lnTo>
                    <a:lnTo>
                      <a:pt x="0" y="40"/>
                    </a:lnTo>
                    <a:lnTo>
                      <a:pt x="21" y="52"/>
                    </a:lnTo>
                    <a:lnTo>
                      <a:pt x="66" y="57"/>
                    </a:lnTo>
                    <a:lnTo>
                      <a:pt x="140" y="60"/>
                    </a:lnTo>
                    <a:lnTo>
                      <a:pt x="220" y="70"/>
                    </a:lnTo>
                    <a:lnTo>
                      <a:pt x="283" y="80"/>
                    </a:lnTo>
                    <a:lnTo>
                      <a:pt x="356" y="90"/>
                    </a:lnTo>
                    <a:lnTo>
                      <a:pt x="417" y="100"/>
                    </a:lnTo>
                    <a:lnTo>
                      <a:pt x="461" y="109"/>
                    </a:lnTo>
                    <a:lnTo>
                      <a:pt x="498" y="128"/>
                    </a:lnTo>
                    <a:lnTo>
                      <a:pt x="525" y="140"/>
                    </a:lnTo>
                    <a:lnTo>
                      <a:pt x="541" y="164"/>
                    </a:lnTo>
                    <a:lnTo>
                      <a:pt x="558" y="183"/>
                    </a:lnTo>
                  </a:path>
                </a:pathLst>
              </a:custGeom>
              <a:solidFill>
                <a:srgbClr val="ffffff"/>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grpSp>
      </p:grpSp>
      <p:sp>
        <p:nvSpPr>
          <p:cNvPr id="42" name=""/>
          <p:cNvSpPr/>
          <p:nvPr/>
        </p:nvSpPr>
        <p:spPr>
          <a:xfrm>
            <a:off x="272880" y="797040"/>
            <a:ext cx="806760" cy="717480"/>
          </a:xfrm>
          <a:custGeom>
            <a:avLst/>
            <a:gdLst/>
            <a:ahLst/>
            <a:rect l="l" t="t" r="r" b="b"/>
            <a:pathLst>
              <a:path w="508" h="452">
                <a:moveTo>
                  <a:pt x="129" y="376"/>
                </a:moveTo>
                <a:lnTo>
                  <a:pt x="272" y="427"/>
                </a:lnTo>
                <a:lnTo>
                  <a:pt x="313" y="451"/>
                </a:lnTo>
                <a:lnTo>
                  <a:pt x="333" y="449"/>
                </a:lnTo>
                <a:lnTo>
                  <a:pt x="348" y="376"/>
                </a:lnTo>
                <a:lnTo>
                  <a:pt x="365" y="332"/>
                </a:lnTo>
                <a:lnTo>
                  <a:pt x="382" y="262"/>
                </a:lnTo>
                <a:lnTo>
                  <a:pt x="394" y="221"/>
                </a:lnTo>
                <a:lnTo>
                  <a:pt x="409" y="181"/>
                </a:lnTo>
                <a:lnTo>
                  <a:pt x="423" y="133"/>
                </a:lnTo>
                <a:lnTo>
                  <a:pt x="445" y="98"/>
                </a:lnTo>
                <a:lnTo>
                  <a:pt x="469" y="48"/>
                </a:lnTo>
                <a:lnTo>
                  <a:pt x="507" y="0"/>
                </a:lnTo>
                <a:lnTo>
                  <a:pt x="25" y="335"/>
                </a:lnTo>
                <a:lnTo>
                  <a:pt x="0" y="358"/>
                </a:lnTo>
                <a:lnTo>
                  <a:pt x="76" y="360"/>
                </a:lnTo>
                <a:lnTo>
                  <a:pt x="129" y="376"/>
                </a:lnTo>
              </a:path>
            </a:pathLst>
          </a:custGeom>
          <a:solidFill>
            <a:srgbClr val="663300">
              <a:alpha val="50000"/>
            </a:srgbClr>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3" name=""/>
          <p:cNvSpPr/>
          <p:nvPr/>
        </p:nvSpPr>
        <p:spPr>
          <a:xfrm>
            <a:off x="255600" y="654120"/>
            <a:ext cx="984240" cy="766800"/>
          </a:xfrm>
          <a:custGeom>
            <a:avLst/>
            <a:gdLst/>
            <a:ahLst/>
            <a:rect l="l" t="t" r="r" b="b"/>
            <a:pathLst>
              <a:path w="620" h="483">
                <a:moveTo>
                  <a:pt x="0" y="477"/>
                </a:moveTo>
                <a:lnTo>
                  <a:pt x="13" y="452"/>
                </a:lnTo>
                <a:lnTo>
                  <a:pt x="56" y="422"/>
                </a:lnTo>
                <a:lnTo>
                  <a:pt x="619" y="0"/>
                </a:lnTo>
                <a:lnTo>
                  <a:pt x="425" y="184"/>
                </a:lnTo>
                <a:lnTo>
                  <a:pt x="329" y="336"/>
                </a:lnTo>
                <a:lnTo>
                  <a:pt x="268" y="482"/>
                </a:lnTo>
                <a:lnTo>
                  <a:pt x="197" y="449"/>
                </a:lnTo>
                <a:lnTo>
                  <a:pt x="119" y="425"/>
                </a:lnTo>
                <a:lnTo>
                  <a:pt x="70" y="429"/>
                </a:lnTo>
                <a:lnTo>
                  <a:pt x="28" y="440"/>
                </a:lnTo>
                <a:lnTo>
                  <a:pt x="0" y="477"/>
                </a:lnTo>
              </a:path>
            </a:pathLst>
          </a:custGeom>
          <a:solidFill>
            <a:srgbClr val="ffffff">
              <a:alpha val="50000"/>
            </a:srgbClr>
          </a:solidFill>
          <a:ln w="0">
            <a:noFill/>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44" name="PlaceHolder 1"/>
          <p:cNvSpPr>
            <a:spLocks noGrp="1"/>
          </p:cNvSpPr>
          <p:nvPr>
            <p:ph type="dt" idx="4"/>
          </p:nvPr>
        </p:nvSpPr>
        <p:spPr>
          <a:xfrm>
            <a:off x="680760" y="6067440"/>
            <a:ext cx="2300040" cy="39384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5" name="PlaceHolder 2"/>
          <p:cNvSpPr>
            <a:spLocks noGrp="1"/>
          </p:cNvSpPr>
          <p:nvPr>
            <p:ph type="ftr" idx="5"/>
          </p:nvPr>
        </p:nvSpPr>
        <p:spPr>
          <a:xfrm>
            <a:off x="3107880" y="6067440"/>
            <a:ext cx="3124440" cy="39384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6" name="PlaceHolder 3"/>
          <p:cNvSpPr>
            <a:spLocks noGrp="1"/>
          </p:cNvSpPr>
          <p:nvPr>
            <p:ph type="sldNum" idx="6"/>
          </p:nvPr>
        </p:nvSpPr>
        <p:spPr>
          <a:xfrm>
            <a:off x="6372360" y="6067440"/>
            <a:ext cx="2311200" cy="39384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47" name="PlaceHolder 4"/>
          <p:cNvSpPr>
            <a:spLocks noGrp="1"/>
          </p:cNvSpPr>
          <p:nvPr>
            <p:ph type="title"/>
          </p:nvPr>
        </p:nvSpPr>
        <p:spPr>
          <a:xfrm>
            <a:off x="685800" y="2285640"/>
            <a:ext cx="77724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Click to edit the title text format</a:t>
            </a:r>
            <a:endParaRPr b="0" lang="en-IN" sz="4400" strike="noStrike" u="none">
              <a:solidFill>
                <a:srgbClr val="000000"/>
              </a:solidFill>
              <a:effectLst/>
              <a:uFillTx/>
              <a:latin typeface="Times New Roman"/>
            </a:endParaRPr>
          </a:p>
        </p:txBody>
      </p:sp>
      <p:sp>
        <p:nvSpPr>
          <p:cNvPr id="4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Times New Roman"/>
              </a:rPr>
              <a:t>Click to edit the outline text format</a:t>
            </a:r>
            <a:endParaRPr b="0" lang="en-IN" sz="3200" strike="noStrike" u="none">
              <a:solidFill>
                <a:srgbClr val="000000"/>
              </a:solidFill>
              <a:effectLst/>
              <a:uFillTx/>
              <a:latin typeface="Times New Roman"/>
            </a:endParaRPr>
          </a:p>
          <a:p>
            <a:pPr lvl="1" marL="457200" indent="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Second Outline Level</a:t>
            </a:r>
            <a:endParaRPr b="0" lang="en-IN" sz="2800" strike="noStrike" u="none">
              <a:solidFill>
                <a:srgbClr val="000000"/>
              </a:solidFill>
              <a:effectLst/>
              <a:uFillTx/>
              <a:latin typeface="Times New Roman"/>
            </a:endParaRPr>
          </a:p>
          <a:p>
            <a:pPr lvl="2" marL="914400" algn="ctr">
              <a:spcBef>
                <a:spcPts val="601"/>
              </a:spcBef>
              <a:buClr>
                <a:srgbClr val="000000"/>
              </a:buClr>
              <a:buFont typeface="Times New Roman"/>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Third Outline Level</a:t>
            </a:r>
            <a:endParaRPr b="0" lang="en-IN" sz="2400" strike="noStrike" u="none">
              <a:solidFill>
                <a:srgbClr val="000000"/>
              </a:solidFill>
              <a:effectLst/>
              <a:uFillTx/>
              <a:latin typeface="Times New Roman"/>
            </a:endParaRPr>
          </a:p>
          <a:p>
            <a:pPr lvl="3" marL="1371600" algn="ctr">
              <a:spcBef>
                <a:spcPts val="499"/>
              </a:spcBef>
              <a:buClr>
                <a:srgbClr val="000000"/>
              </a:buClr>
              <a:buFont typeface="Times New Roman"/>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Fourth Outline Level</a:t>
            </a:r>
            <a:endParaRPr b="0" lang="en-IN" sz="2000" strike="noStrike" u="none">
              <a:solidFill>
                <a:srgbClr val="000000"/>
              </a:solidFill>
              <a:effectLst/>
              <a:uFillTx/>
              <a:latin typeface="Times New Roman"/>
            </a:endParaRPr>
          </a:p>
          <a:p>
            <a:pPr lvl="4" marL="1828800" algn="ctr">
              <a:spcBef>
                <a:spcPts val="499"/>
              </a:spcBef>
              <a:buClr>
                <a:srgbClr val="000000"/>
              </a:buClr>
              <a:buFont typeface="Times New Roman"/>
              <a:buChar char="•"/>
              <a:tabLst>
                <a:tab algn="l" pos="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Fifth Outline Level</a:t>
            </a:r>
            <a:endParaRPr b="0" lang="en-IN" sz="2000" strike="noStrike" u="none">
              <a:solidFill>
                <a:srgbClr val="000000"/>
              </a:solidFill>
              <a:effectLst/>
              <a:uFillTx/>
              <a:latin typeface="Times New Roman"/>
            </a:endParaRPr>
          </a:p>
          <a:p>
            <a:pPr lvl="5" marL="1828800">
              <a:spcBef>
                <a:spcPts val="4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Sixth Outline Level</a:t>
            </a:r>
            <a:endParaRPr b="0" lang="en-IN" sz="2000" strike="noStrike" u="none">
              <a:solidFill>
                <a:srgbClr val="000000"/>
              </a:solidFill>
              <a:effectLst/>
              <a:uFillTx/>
              <a:latin typeface="Times New Roman"/>
            </a:endParaRPr>
          </a:p>
          <a:p>
            <a:pPr lvl="6" marL="1828800">
              <a:spcBef>
                <a:spcPts val="4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Seventh Outline Level</a:t>
            </a:r>
            <a:endParaRPr b="0" lang="en-IN" sz="20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mailto:ganderso@mail.sdsu.edu" TargetMode="External"/><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mailto:ganderso@mail.sdsu.edu" TargetMode="External"/><Relationship Id="rId3"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685800" y="1523880"/>
            <a:ext cx="7772400" cy="789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cc3300"/>
                </a:solidFill>
                <a:effectLst/>
                <a:uFillTx/>
                <a:latin typeface="Times New Roman"/>
              </a:rPr>
              <a:t>Who Do You Call When the IRB is Significantly Delaying Approval of Your Research?</a:t>
            </a:r>
            <a:endParaRPr b="0" lang="en-IN" sz="3600" strike="noStrike" u="none">
              <a:solidFill>
                <a:srgbClr val="000000"/>
              </a:solidFill>
              <a:effectLst/>
              <a:uFillTx/>
              <a:latin typeface="Times New Roman"/>
            </a:endParaRPr>
          </a:p>
        </p:txBody>
      </p:sp>
      <p:sp>
        <p:nvSpPr>
          <p:cNvPr id="50" name="PlaceHolder 2"/>
          <p:cNvSpPr>
            <a:spLocks noGrp="1"/>
          </p:cNvSpPr>
          <p:nvPr>
            <p:ph type="subTitle"/>
          </p:nvPr>
        </p:nvSpPr>
        <p:spPr>
          <a:xfrm>
            <a:off x="1371600" y="2819520"/>
            <a:ext cx="6400800" cy="1752480"/>
          </a:xfrm>
          <a:prstGeom prst="rect">
            <a:avLst/>
          </a:prstGeom>
          <a:noFill/>
          <a:ln w="0">
            <a:noFill/>
          </a:ln>
        </p:spPr>
        <p:txBody>
          <a:bodyPr lIns="90000" rIns="90000" tIns="46800" bIns="46800" anchor="t">
            <a:noAutofit/>
          </a:bodyPr>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2000" strike="noStrike" u="none">
                <a:solidFill>
                  <a:srgbClr val="000000"/>
                </a:solidFill>
                <a:effectLst/>
                <a:uFillTx/>
                <a:latin typeface="Times New Roman"/>
              </a:rPr>
              <a:t>Gwen Anderson</a:t>
            </a:r>
            <a:r>
              <a:rPr b="0" lang="de-DE" sz="1800" strike="noStrike" u="none">
                <a:solidFill>
                  <a:srgbClr val="000000"/>
                </a:solidFill>
                <a:effectLst/>
                <a:uFillTx/>
                <a:latin typeface="Times New Roman"/>
              </a:rPr>
              <a:t>, RN, Ph.D.</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imes New Roman"/>
              </a:rPr>
              <a:t>Assistant Professor School of Nursing University of British Columbia Okanagan &amp; Adjunct Associate Professor School of Nursing, San Diego State University </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sng">
                <a:solidFill>
                  <a:srgbClr val="cc00cc"/>
                </a:solidFill>
                <a:effectLst/>
                <a:uFillTx/>
                <a:latin typeface="Times New Roman"/>
                <a:hlinkClick r:id="rId2"/>
              </a:rPr>
              <a:t>ganderso@mail.sdsu.edu</a:t>
            </a:r>
            <a:r>
              <a:rPr b="0" lang="en-US" sz="1800" strike="noStrike" u="none">
                <a:solidFill>
                  <a:srgbClr val="000000"/>
                </a:solidFill>
                <a:effectLst/>
                <a:uFillTx/>
                <a:latin typeface="Times New Roman"/>
              </a:rPr>
              <a:t>  (619) 473-0185&amp; </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1800" strike="noStrike" u="none">
                <a:solidFill>
                  <a:srgbClr val="000000"/>
                </a:solidFill>
                <a:effectLst/>
                <a:uFillTx/>
                <a:latin typeface="Times New Roman"/>
              </a:rPr>
              <a:t>&amp;</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1800" strike="noStrike" u="none">
                <a:solidFill>
                  <a:srgbClr val="000000"/>
                </a:solidFill>
                <a:effectLst/>
                <a:uFillTx/>
                <a:latin typeface="Times New Roman"/>
              </a:rPr>
              <a:t>Thea Cacchioni, Ph.D.</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1800" strike="noStrike" u="none">
                <a:solidFill>
                  <a:srgbClr val="000000"/>
                </a:solidFill>
                <a:effectLst/>
                <a:uFillTx/>
                <a:latin typeface="Times New Roman"/>
              </a:rPr>
              <a:t>Lecturer, Women and Gender Studies</a:t>
            </a:r>
            <a:br>
              <a:rPr sz="1800"/>
            </a:br>
            <a:r>
              <a:rPr b="0" lang="en-CA" sz="1800" strike="noStrike" u="none">
                <a:solidFill>
                  <a:srgbClr val="000000"/>
                </a:solidFill>
                <a:effectLst/>
                <a:uFillTx/>
                <a:latin typeface="Times New Roman"/>
              </a:rPr>
              <a:t>University of British Columbia Okanagan</a:t>
            </a:r>
            <a:br>
              <a:rPr sz="1800"/>
            </a:br>
            <a:r>
              <a:rPr b="0" lang="en-CA" sz="1800" strike="noStrike" u="none">
                <a:solidFill>
                  <a:srgbClr val="000000"/>
                </a:solidFill>
                <a:effectLst/>
                <a:uFillTx/>
                <a:latin typeface="Times New Roman"/>
              </a:rPr>
              <a:t>thea.cacchioni@ubc.ca</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p:txBody>
      </p:sp>
      <p:sp>
        <p:nvSpPr>
          <p:cNvPr id="51" name=""/>
          <p:cNvSpPr/>
          <p:nvPr/>
        </p:nvSpPr>
        <p:spPr>
          <a:xfrm>
            <a:off x="762120" y="5408640"/>
            <a:ext cx="731520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굴림"/>
              </a:rPr>
              <a:t>This paper was funded by a grant awarded from the National Heart, Lung, and Blood Institute, titled, “Common daily practice of gene therapy clinical research” (Grant # HL 083963-01A1).</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28960"/>
            <a:ext cx="8229600" cy="114300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3300"/>
                </a:solidFill>
                <a:effectLst/>
                <a:uFillTx/>
                <a:latin typeface="Times New Roman"/>
              </a:rPr>
              <a:t>OUTLINE</a:t>
            </a:r>
            <a:endParaRPr b="0" lang="en-IN" sz="4400" strike="noStrike" u="none">
              <a:solidFill>
                <a:srgbClr val="000000"/>
              </a:solidFill>
              <a:effectLst/>
              <a:uFillTx/>
              <a:latin typeface="Times New Roman"/>
            </a:endParaRPr>
          </a:p>
        </p:txBody>
      </p:sp>
      <p:sp>
        <p:nvSpPr>
          <p:cNvPr id="53" name="PlaceHolder 2"/>
          <p:cNvSpPr>
            <a:spLocks noGrp="1"/>
          </p:cNvSpPr>
          <p:nvPr>
            <p:ph/>
          </p:nvPr>
        </p:nvSpPr>
        <p:spPr>
          <a:xfrm>
            <a:off x="685800" y="1143000"/>
            <a:ext cx="8229600" cy="4525920"/>
          </a:xfrm>
          <a:prstGeom prst="rect">
            <a:avLst/>
          </a:prstGeom>
          <a:noFill/>
          <a:ln w="0">
            <a:noFill/>
          </a:ln>
        </p:spPr>
        <p:txBody>
          <a:bodyPr lIns="92160" rIns="92160" tIns="46080" bIns="46080" anchor="t">
            <a:normAutofit fontScale="77500" lnSpcReduction="19999"/>
          </a:bodyPr>
          <a:p>
            <a:pPr marL="343080" indent="-34308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000000"/>
                </a:solidFill>
                <a:effectLst/>
                <a:uFillTx/>
                <a:latin typeface="Times New Roman"/>
              </a:rPr>
              <a:t>A Case Study: </a:t>
            </a:r>
            <a:r>
              <a:rPr b="0" lang="en-CA" sz="2400" strike="noStrike" u="none">
                <a:solidFill>
                  <a:srgbClr val="000000"/>
                </a:solidFill>
                <a:effectLst/>
                <a:uFillTx/>
                <a:latin typeface="Times New Roman"/>
              </a:rPr>
              <a:t>Two Years and Ten Months For IRB Approval of a Multisite Observational Healthcare Research Study</a:t>
            </a:r>
            <a:endParaRPr b="0" lang="en-IN" sz="2400" strike="noStrike" u="none">
              <a:solidFill>
                <a:srgbClr val="000000"/>
              </a:solidFill>
              <a:effectLst/>
              <a:uFillTx/>
              <a:latin typeface="Times New Roman"/>
            </a:endParaRPr>
          </a:p>
          <a:p>
            <a:pPr marL="343080" indent="-34308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Me Too-Literature Review</a:t>
            </a:r>
            <a:endParaRPr b="0" lang="en-IN" sz="2400" strike="noStrike" u="none">
              <a:solidFill>
                <a:srgbClr val="000000"/>
              </a:solidFill>
              <a:effectLst/>
              <a:uFillTx/>
              <a:latin typeface="Times New Roman"/>
            </a:endParaRPr>
          </a:p>
          <a:p>
            <a:pPr marL="343080" indent="-34308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The model of IRB review for Single Study, Single Investigator Government Funded Grant: Why is it Problematic? </a:t>
            </a:r>
            <a:endParaRPr b="0" lang="en-IN" sz="2400" strike="noStrike" u="none">
              <a:solidFill>
                <a:srgbClr val="000000"/>
              </a:solidFill>
              <a:effectLst/>
              <a:uFillTx/>
              <a:latin typeface="Times New Roman"/>
            </a:endParaRPr>
          </a:p>
          <a:p>
            <a:pPr marL="343080" indent="-34308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Models of IRB Review Used by Physician Researchers</a:t>
            </a:r>
            <a:endParaRPr b="0" lang="en-IN" sz="2400" strike="noStrike" u="none">
              <a:solidFill>
                <a:srgbClr val="000000"/>
              </a:solidFill>
              <a:effectLst/>
              <a:uFillTx/>
              <a:latin typeface="Times New Roman"/>
            </a:endParaRPr>
          </a:p>
          <a:p>
            <a:pPr lvl="1" marL="743040" indent="-28584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400" strike="noStrike" u="none">
                <a:solidFill>
                  <a:srgbClr val="000000"/>
                </a:solidFill>
                <a:effectLst/>
                <a:uFillTx/>
                <a:latin typeface="Times New Roman"/>
              </a:rPr>
              <a:t>Reciprocity Agreements</a:t>
            </a:r>
            <a:r>
              <a:rPr b="0" lang="en-CA" sz="2400" strike="noStrike" u="none">
                <a:solidFill>
                  <a:srgbClr val="000000"/>
                </a:solidFill>
                <a:effectLst/>
                <a:uFillTx/>
                <a:latin typeface="Times New Roman"/>
              </a:rPr>
              <a:t> Between IRBs</a:t>
            </a:r>
            <a:endParaRPr b="0" lang="en-IN" sz="2400" strike="noStrike" u="none">
              <a:solidFill>
                <a:srgbClr val="000000"/>
              </a:solidFill>
              <a:effectLst/>
              <a:uFillTx/>
              <a:latin typeface="Times New Roman"/>
            </a:endParaRPr>
          </a:p>
          <a:p>
            <a:pPr lvl="1" marL="743040" indent="-28584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400" strike="noStrike" u="none">
                <a:solidFill>
                  <a:srgbClr val="000000"/>
                </a:solidFill>
                <a:effectLst/>
                <a:uFillTx/>
                <a:latin typeface="Times New Roman"/>
              </a:rPr>
              <a:t>National Centralized IRBs</a:t>
            </a:r>
            <a:endParaRPr b="0" lang="en-IN" sz="2400" strike="noStrike" u="none">
              <a:solidFill>
                <a:srgbClr val="000000"/>
              </a:solidFill>
              <a:effectLst/>
              <a:uFillTx/>
              <a:latin typeface="Times New Roman"/>
            </a:endParaRPr>
          </a:p>
          <a:p>
            <a:pPr lvl="3" marL="1600200" indent="-228600">
              <a:spcBef>
                <a:spcPts val="601"/>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National Cancer Center (NCC-IRB)</a:t>
            </a:r>
            <a:endParaRPr b="0" lang="en-IN" sz="2400" strike="noStrike" u="none">
              <a:solidFill>
                <a:srgbClr val="000000"/>
              </a:solidFill>
              <a:effectLst/>
              <a:uFillTx/>
              <a:latin typeface="Times New Roman"/>
            </a:endParaRPr>
          </a:p>
          <a:p>
            <a:pPr lvl="3" marL="1600200" indent="-228600">
              <a:spcBef>
                <a:spcPts val="601"/>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National Coordinating Center Cooperative Agreements (MACROS) (</a:t>
            </a:r>
            <a:r>
              <a:rPr b="1" lang="en-CA" sz="2400" strike="noStrike" u="none">
                <a:solidFill>
                  <a:srgbClr val="000000"/>
                </a:solidFill>
                <a:effectLst/>
                <a:uFillTx/>
                <a:latin typeface="Times New Roman"/>
              </a:rPr>
              <a:t>multicenter academic clinical research organization)</a:t>
            </a:r>
            <a:endParaRPr b="0" lang="en-IN" sz="2400" strike="noStrike" u="none">
              <a:solidFill>
                <a:srgbClr val="000000"/>
              </a:solidFill>
              <a:effectLst/>
              <a:uFillTx/>
              <a:latin typeface="Times New Roman"/>
            </a:endParaRPr>
          </a:p>
          <a:p>
            <a:pPr lvl="1" marL="743040" indent="-285840">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Research Collaboratories</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28960"/>
            <a:ext cx="8229600" cy="1143000"/>
          </a:xfrm>
          <a:prstGeom prst="rect">
            <a:avLst/>
          </a:prstGeom>
          <a:noFill/>
          <a:ln w="0">
            <a:noFill/>
          </a:ln>
        </p:spPr>
        <p:txBody>
          <a:bodyPr lIns="92160" rIns="92160" tIns="46080" bIns="4608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3300"/>
                </a:solidFill>
                <a:effectLst/>
                <a:uFillTx/>
                <a:latin typeface="Times New Roman"/>
              </a:rPr>
              <a:t>OUTLINE</a:t>
            </a:r>
            <a:endParaRPr b="0" lang="en-IN" sz="4400" strike="noStrike" u="none">
              <a:solidFill>
                <a:srgbClr val="000000"/>
              </a:solidFill>
              <a:effectLst/>
              <a:uFillTx/>
              <a:latin typeface="Times New Roman"/>
            </a:endParaRPr>
          </a:p>
        </p:txBody>
      </p:sp>
      <p:sp>
        <p:nvSpPr>
          <p:cNvPr id="55" name="PlaceHolder 2"/>
          <p:cNvSpPr>
            <a:spLocks noGrp="1"/>
          </p:cNvSpPr>
          <p:nvPr>
            <p:ph/>
          </p:nvPr>
        </p:nvSpPr>
        <p:spPr>
          <a:xfrm>
            <a:off x="228600" y="2514600"/>
            <a:ext cx="8229600" cy="1295280"/>
          </a:xfrm>
          <a:prstGeom prst="rect">
            <a:avLst/>
          </a:prstGeom>
          <a:noFill/>
          <a:ln w="0">
            <a:noFill/>
          </a:ln>
        </p:spPr>
        <p:txBody>
          <a:bodyPr lIns="92160" rIns="92160" tIns="46080" bIns="46080" anchor="t">
            <a:normAutofit fontScale="85000" lnSpcReduction="9999"/>
          </a:bodyPr>
          <a:p>
            <a:pPr lvl="1" marL="743040" indent="-285840"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trike="noStrike" u="none">
                <a:solidFill>
                  <a:srgbClr val="ff3300"/>
                </a:solidFill>
                <a:effectLst/>
                <a:uFillTx/>
                <a:latin typeface="Times New Roman"/>
              </a:rPr>
              <a:t>How can IRBs and Universities help Social Scientists Avoid Unwarranted Significant Delays?</a:t>
            </a:r>
            <a:endParaRPr b="0" lang="en-IN" sz="3200" strike="noStrike" u="none">
              <a:solidFill>
                <a:srgbClr val="000000"/>
              </a:solidFill>
              <a:effectLst/>
              <a:uFillTx/>
              <a:latin typeface="Times New Roman"/>
            </a:endParaRPr>
          </a:p>
        </p:txBody>
      </p:sp>
      <p:sp>
        <p:nvSpPr>
          <p:cNvPr id="56" name=""/>
          <p:cNvSpPr/>
          <p:nvPr/>
        </p:nvSpPr>
        <p:spPr>
          <a:xfrm>
            <a:off x="1447920" y="3505320"/>
            <a:ext cx="6172200" cy="366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72680" y="76176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Case Study </a:t>
            </a:r>
            <a:endParaRPr b="0" lang="en-IN" sz="4400" strike="noStrike" u="none">
              <a:solidFill>
                <a:srgbClr val="000000"/>
              </a:solidFill>
              <a:effectLst/>
              <a:uFillTx/>
              <a:latin typeface="Times New Roman"/>
            </a:endParaRPr>
          </a:p>
        </p:txBody>
      </p:sp>
      <p:sp>
        <p:nvSpPr>
          <p:cNvPr id="58" name="PlaceHolder 2"/>
          <p:cNvSpPr>
            <a:spLocks noGrp="1"/>
          </p:cNvSpPr>
          <p:nvPr>
            <p:ph/>
          </p:nvPr>
        </p:nvSpPr>
        <p:spPr>
          <a:xfrm>
            <a:off x="495000" y="1752480"/>
            <a:ext cx="8064360" cy="4724640"/>
          </a:xfrm>
          <a:prstGeom prst="rect">
            <a:avLst/>
          </a:prstGeom>
          <a:noFill/>
          <a:ln w="0">
            <a:noFill/>
          </a:ln>
        </p:spPr>
        <p:txBody>
          <a:bodyPr lIns="92160" rIns="92160" tIns="46080" bIns="46080" anchor="t">
            <a:normAutofit/>
          </a:bodyPr>
          <a:p>
            <a:pPr marL="343080" indent="-343080">
              <a:lnSpc>
                <a:spcPct val="8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The Study protocol was for a </a:t>
            </a:r>
            <a:r>
              <a:rPr b="0" lang="en-CA" sz="2400" strike="noStrike" u="none">
                <a:solidFill>
                  <a:srgbClr val="cc3300"/>
                </a:solidFill>
                <a:effectLst/>
                <a:uFillTx/>
                <a:latin typeface="Times New Roman"/>
              </a:rPr>
              <a:t>qualitative ethnography study</a:t>
            </a:r>
            <a:r>
              <a:rPr b="0" lang="en-CA" sz="2400" strike="noStrike" u="none">
                <a:solidFill>
                  <a:srgbClr val="000000"/>
                </a:solidFill>
                <a:effectLst/>
                <a:uFillTx/>
                <a:latin typeface="Times New Roman"/>
              </a:rPr>
              <a:t> aimed at describing in great detail the day to day practices of conducting gene therapy clinical trials at </a:t>
            </a:r>
            <a:r>
              <a:rPr b="0" lang="en-CA" sz="2400" strike="noStrike" u="none">
                <a:solidFill>
                  <a:srgbClr val="cc3300"/>
                </a:solidFill>
                <a:effectLst/>
                <a:uFillTx/>
                <a:latin typeface="Times New Roman"/>
              </a:rPr>
              <a:t>3 clinical research sites</a:t>
            </a:r>
            <a:r>
              <a:rPr b="0" lang="en-CA" sz="2400" strike="noStrike" u="none">
                <a:solidFill>
                  <a:srgbClr val="000000"/>
                </a:solidFill>
                <a:effectLst/>
                <a:uFillTx/>
                <a:latin typeface="Times New Roman"/>
              </a:rPr>
              <a:t> in academic medical centers with a maximum of 12 interviews at each site for a total of </a:t>
            </a:r>
            <a:r>
              <a:rPr b="0" lang="en-CA" sz="2400" strike="noStrike" u="none">
                <a:solidFill>
                  <a:srgbClr val="cc3300"/>
                </a:solidFill>
                <a:effectLst/>
                <a:uFillTx/>
                <a:latin typeface="Times New Roman"/>
              </a:rPr>
              <a:t>36 interviews</a:t>
            </a:r>
            <a:r>
              <a:rPr b="0" lang="en-CA" sz="2400" strike="noStrike" u="none">
                <a:solidFill>
                  <a:srgbClr val="000000"/>
                </a:solidFill>
                <a:effectLst/>
                <a:uFillTx/>
                <a:latin typeface="Times New Roman"/>
              </a:rPr>
              <a:t> with research staff, clinical staff, patients and relatives. There were  4 informed consents and 3 interview guides.</a:t>
            </a:r>
            <a:endParaRPr b="0" lang="en-IN" sz="2400" strike="noStrike" u="none">
              <a:solidFill>
                <a:srgbClr val="000000"/>
              </a:solidFill>
              <a:effectLst/>
              <a:uFillTx/>
              <a:latin typeface="Times New Roman"/>
            </a:endParaRPr>
          </a:p>
          <a:p>
            <a:pPr marL="343080" indent="-343080">
              <a:lnSpc>
                <a:spcPct val="8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NIH grant awarded in August, 2005 and two subcontracts at two clinical sites were finalized in February 2006 and March 2007, but the ethnography study protocol was not approved until </a:t>
            </a:r>
            <a:r>
              <a:rPr b="0" lang="en-CA" sz="2400" strike="noStrike" u="none">
                <a:solidFill>
                  <a:srgbClr val="cc3300"/>
                </a:solidFill>
                <a:effectLst/>
                <a:uFillTx/>
                <a:latin typeface="Times New Roman"/>
              </a:rPr>
              <a:t>July 2008</a:t>
            </a:r>
            <a:r>
              <a:rPr b="0" lang="en-CA"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marL="343080" indent="-343080">
              <a:lnSpc>
                <a:spcPct val="8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The study required oversight by four IRBs which are identified here as A, B, C, D in order to protect privacy and confidentiality of all IRBs involved. </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472680" y="837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Case Study </a:t>
            </a:r>
            <a:endParaRPr b="0" lang="en-IN" sz="4400" strike="noStrike" u="none">
              <a:solidFill>
                <a:srgbClr val="000000"/>
              </a:solidFill>
              <a:effectLst/>
              <a:uFillTx/>
              <a:latin typeface="Times New Roman"/>
            </a:endParaRPr>
          </a:p>
        </p:txBody>
      </p:sp>
      <p:sp>
        <p:nvSpPr>
          <p:cNvPr id="60" name="PlaceHolder 2"/>
          <p:cNvSpPr>
            <a:spLocks noGrp="1"/>
          </p:cNvSpPr>
          <p:nvPr>
            <p:ph/>
          </p:nvPr>
        </p:nvSpPr>
        <p:spPr>
          <a:xfrm>
            <a:off x="495000" y="1447920"/>
            <a:ext cx="8064360" cy="5410080"/>
          </a:xfrm>
          <a:prstGeom prst="rect">
            <a:avLst/>
          </a:prstGeom>
          <a:noFill/>
          <a:ln w="0">
            <a:noFill/>
          </a:ln>
        </p:spPr>
        <p:txBody>
          <a:bodyPr lIns="92160" rIns="92160" tIns="46080" bIns="46080" anchor="t">
            <a:normAutofit/>
          </a:bodyPr>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Amendments </a:t>
            </a:r>
            <a:endParaRPr b="0" lang="en-IN" sz="2400" strike="noStrike" u="none">
              <a:solidFill>
                <a:srgbClr val="000000"/>
              </a:solidFill>
              <a:effectLst/>
              <a:uFillTx/>
              <a:latin typeface="Times New Roman"/>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sng">
                <a:solidFill>
                  <a:srgbClr val="000000"/>
                </a:solidFill>
                <a:effectLst/>
                <a:uFillTx/>
                <a:latin typeface="Times New Roman"/>
              </a:rPr>
              <a:t>1) one</a:t>
            </a:r>
            <a:r>
              <a:rPr b="0" lang="en-CA" sz="2400" strike="noStrike" u="none">
                <a:solidFill>
                  <a:srgbClr val="000000"/>
                </a:solidFill>
                <a:effectLst/>
                <a:uFillTx/>
                <a:latin typeface="Times New Roman"/>
              </a:rPr>
              <a:t> was to delete one co-investigator at one location/clinical site to replace that person with another co-investigator in the same department and institution. </a:t>
            </a:r>
            <a:endParaRPr b="0" lang="en-IN" sz="2400" strike="noStrike" u="none">
              <a:solidFill>
                <a:srgbClr val="000000"/>
              </a:solidFill>
              <a:effectLst/>
              <a:uFillTx/>
              <a:latin typeface="Times New Roman"/>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sng">
                <a:solidFill>
                  <a:srgbClr val="000000"/>
                </a:solidFill>
                <a:effectLst/>
                <a:uFillTx/>
                <a:latin typeface="Times New Roman"/>
              </a:rPr>
              <a:t>2) two</a:t>
            </a:r>
            <a:r>
              <a:rPr b="0" lang="en-CA" sz="2400" strike="noStrike" u="none">
                <a:solidFill>
                  <a:srgbClr val="000000"/>
                </a:solidFill>
                <a:effectLst/>
                <a:uFillTx/>
                <a:latin typeface="Times New Roman"/>
              </a:rPr>
              <a:t> was initiated in October 2006 involving a second research data collection method.  This method involved the PI of record recruiting Study Coordinators and PIs of gene therapy clinical trials from publicly available data bases and for collecting de-identified narrative interview data during private, confidential audio-recorded telephone conversations. submitted to IRBs A and B in February 2007 and to the third IRB C in March 2007 after the subcontract was approved. That amendment was not approved at all three IRBs until November 2007 </a:t>
            </a:r>
            <a:endParaRPr b="0" lang="en-IN" sz="2400" strike="noStrike" u="none">
              <a:solidFill>
                <a:srgbClr val="000000"/>
              </a:solidFill>
              <a:effectLst/>
              <a:uFillTx/>
              <a:latin typeface="Times New Roman"/>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sng">
                <a:solidFill>
                  <a:srgbClr val="000000"/>
                </a:solidFill>
                <a:effectLst/>
                <a:uFillTx/>
                <a:latin typeface="Times New Roman"/>
              </a:rPr>
              <a:t>3) three </a:t>
            </a:r>
            <a:r>
              <a:rPr b="0" lang="en-CA" sz="2400" strike="noStrike" u="none">
                <a:solidFill>
                  <a:srgbClr val="000000"/>
                </a:solidFill>
                <a:effectLst/>
                <a:uFillTx/>
                <a:latin typeface="Times New Roman"/>
              </a:rPr>
              <a:t>was initiated to include a fourth IRB because the PI of Record became employed by that institution; </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472680" y="99036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CA" sz="4000" strike="noStrike" u="none">
                <a:solidFill>
                  <a:srgbClr val="cc3300"/>
                </a:solidFill>
                <a:effectLst/>
                <a:uFillTx/>
                <a:latin typeface="Times New Roman"/>
              </a:rPr>
              <a:t>Research Team Initiated Delays</a:t>
            </a:r>
            <a:br>
              <a:rPr sz="4000"/>
            </a:br>
            <a:endParaRPr b="0" lang="en-IN" sz="4000" strike="noStrike" u="none">
              <a:solidFill>
                <a:srgbClr val="000000"/>
              </a:solidFill>
              <a:effectLst/>
              <a:uFillTx/>
              <a:latin typeface="Times New Roman"/>
            </a:endParaRPr>
          </a:p>
        </p:txBody>
      </p:sp>
      <p:sp>
        <p:nvSpPr>
          <p:cNvPr id="62" name="PlaceHolder 2"/>
          <p:cNvSpPr>
            <a:spLocks noGrp="1"/>
          </p:cNvSpPr>
          <p:nvPr>
            <p:ph/>
          </p:nvPr>
        </p:nvSpPr>
        <p:spPr>
          <a:xfrm>
            <a:off x="495000" y="1599840"/>
            <a:ext cx="8064360" cy="5334120"/>
          </a:xfrm>
          <a:prstGeom prst="rect">
            <a:avLst/>
          </a:prstGeom>
          <a:noFill/>
          <a:ln w="0">
            <a:noFill/>
          </a:ln>
        </p:spPr>
        <p:txBody>
          <a:bodyPr lIns="92160" rIns="92160" tIns="46080" bIns="46080" anchor="t">
            <a:normAutofit/>
          </a:bodyPr>
          <a:p>
            <a:pPr marL="343080" indent="-343080">
              <a:lnSpc>
                <a:spcPct val="9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1) slow research administrative process to negotiate financial subcontracts for two co-investigators; in one site the IRB application could not be submitted until the  financial subcontracts was finalized which took 7 months; </a:t>
            </a:r>
            <a:endParaRPr b="0" lang="en-IN" sz="2400" strike="noStrike" u="none">
              <a:solidFill>
                <a:srgbClr val="000000"/>
              </a:solidFill>
              <a:effectLst/>
              <a:uFillTx/>
              <a:latin typeface="Times New Roman"/>
            </a:endParaRPr>
          </a:p>
          <a:p>
            <a:pPr marL="343080" indent="-343080">
              <a:lnSpc>
                <a:spcPct val="9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2) Electronic e-file application required coordinated assistance by telephone with an IRB administrator at 3 out of 4 sites </a:t>
            </a:r>
            <a:endParaRPr b="0" lang="en-IN" sz="2400" strike="noStrike" u="none">
              <a:solidFill>
                <a:srgbClr val="000000"/>
              </a:solidFill>
              <a:effectLst/>
              <a:uFillTx/>
              <a:latin typeface="Times New Roman"/>
            </a:endParaRPr>
          </a:p>
          <a:p>
            <a:pPr marL="343080" indent="-343080">
              <a:lnSpc>
                <a:spcPct val="9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3) Combined efile and paper documents (printing, collating, signing, and duplicating paper documents and waiting for fed ex  delivery, or finding misplaced documents after Fed ex delivery)</a:t>
            </a:r>
            <a:endParaRPr b="0" lang="en-IN" sz="2400" strike="noStrike" u="none">
              <a:solidFill>
                <a:srgbClr val="000000"/>
              </a:solidFill>
              <a:effectLst/>
              <a:uFillTx/>
              <a:latin typeface="Times New Roman"/>
            </a:endParaRPr>
          </a:p>
          <a:p>
            <a:pPr marL="343080" indent="-343080">
              <a:lnSpc>
                <a:spcPct val="90000"/>
              </a:lnSpc>
              <a:spcBef>
                <a:spcPts val="601"/>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4) not following the IRB directions correctly and having to redo the documents and resubmitting via efiles or paper files via Fed ex</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72680" y="76176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4400" strike="noStrike" u="none">
                <a:solidFill>
                  <a:srgbClr val="cc3300"/>
                </a:solidFill>
                <a:effectLst/>
                <a:uFillTx/>
                <a:latin typeface="Times New Roman"/>
              </a:rPr>
              <a:t>IRB Initiated Significant Delays</a:t>
            </a:r>
            <a:r>
              <a:rPr b="0" lang="en-IN" sz="4400" strike="noStrike" u="none">
                <a:solidFill>
                  <a:srgbClr val="000000"/>
                </a:solidFill>
                <a:effectLst/>
                <a:uFillTx/>
                <a:latin typeface="Times New Roman"/>
              </a:rPr>
              <a:t> </a:t>
            </a:r>
            <a:endParaRPr b="0" lang="en-IN" sz="4400" strike="noStrike" u="none">
              <a:solidFill>
                <a:srgbClr val="000000"/>
              </a:solidFill>
              <a:effectLst/>
              <a:uFillTx/>
              <a:latin typeface="Times New Roman"/>
            </a:endParaRPr>
          </a:p>
        </p:txBody>
      </p:sp>
      <p:sp>
        <p:nvSpPr>
          <p:cNvPr id="64" name="PlaceHolder 2"/>
          <p:cNvSpPr>
            <a:spLocks noGrp="1"/>
          </p:cNvSpPr>
          <p:nvPr>
            <p:ph/>
          </p:nvPr>
        </p:nvSpPr>
        <p:spPr>
          <a:xfrm>
            <a:off x="495000" y="1752480"/>
            <a:ext cx="7962840" cy="5105520"/>
          </a:xfrm>
          <a:prstGeom prst="rect">
            <a:avLst/>
          </a:prstGeom>
          <a:noFill/>
          <a:ln w="0">
            <a:noFill/>
          </a:ln>
        </p:spPr>
        <p:txBody>
          <a:bodyPr lIns="92160" rIns="92160" tIns="46080" bIns="46080" anchor="t">
            <a:normAutofit/>
          </a:bodyPr>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1) Mixed messages and lack of consistency in treatment of the protocol and informed consents across multiple sites</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2) Inefficiency in the combined systems of both paper and efiles</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3) Duplication of administrative tasks at all sites </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4) Negotiating between the IRB of record and two other IRBs about what counted as evidence of a complete and successful review</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5) Poor communication and lack of availability of IRB staff in a timely manner</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6) Linear IRB one step at a time process rather than seeing the whole project and planning ahead</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472680" y="68544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Me Too-Literature Review</a:t>
            </a:r>
            <a:endParaRPr b="0" lang="en-IN" sz="4400" strike="noStrike" u="none">
              <a:solidFill>
                <a:srgbClr val="000000"/>
              </a:solidFill>
              <a:effectLst/>
              <a:uFillTx/>
              <a:latin typeface="Times New Roman"/>
            </a:endParaRPr>
          </a:p>
        </p:txBody>
      </p:sp>
      <p:sp>
        <p:nvSpPr>
          <p:cNvPr id="66" name="PlaceHolder 2"/>
          <p:cNvSpPr>
            <a:spLocks noGrp="1"/>
          </p:cNvSpPr>
          <p:nvPr>
            <p:ph/>
          </p:nvPr>
        </p:nvSpPr>
        <p:spPr>
          <a:xfrm>
            <a:off x="495000" y="1676160"/>
            <a:ext cx="8064360" cy="4267080"/>
          </a:xfrm>
          <a:prstGeom prst="rect">
            <a:avLst/>
          </a:prstGeom>
          <a:noFill/>
          <a:ln w="0">
            <a:noFill/>
          </a:ln>
        </p:spPr>
        <p:txBody>
          <a:bodyPr lIns="92160" rIns="92160" tIns="46080" bIns="46080" anchor="t">
            <a:normAutofit fontScale="92500" lnSpcReduction="9999"/>
          </a:bodyPr>
          <a:p>
            <a:pPr marL="343080" indent="-343080">
              <a:lnSpc>
                <a:spcPct val="80000"/>
              </a:lnSpc>
              <a:spcBef>
                <a:spcPts val="700"/>
              </a:spcBef>
              <a:buClr>
                <a:srgbClr val="cc33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cc3300"/>
                </a:solidFill>
                <a:effectLst/>
                <a:uFillTx/>
                <a:latin typeface="Times New Roman"/>
              </a:rPr>
              <a:t>More than 6,000 IRBs</a:t>
            </a:r>
            <a:r>
              <a:rPr b="0" lang="en-CA" sz="2800" strike="noStrike" u="none">
                <a:solidFill>
                  <a:srgbClr val="000000"/>
                </a:solidFill>
                <a:effectLst/>
                <a:uFillTx/>
                <a:latin typeface="Times New Roman"/>
              </a:rPr>
              <a:t> connected to universities, federal agencies, medical centers, foundations, or private contract research organizations in the US</a:t>
            </a:r>
            <a:endParaRPr b="0" lang="en-IN" sz="2800" strike="noStrike" u="none">
              <a:solidFill>
                <a:srgbClr val="000000"/>
              </a:solidFill>
              <a:effectLst/>
              <a:uFillTx/>
              <a:latin typeface="Times New Roman"/>
            </a:endParaRPr>
          </a:p>
          <a:p>
            <a:pPr marL="343080" indent="-343080">
              <a:lnSpc>
                <a:spcPct val="8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IRBs face heightened </a:t>
            </a:r>
            <a:r>
              <a:rPr b="0" lang="en-CA" sz="2800" strike="noStrike" u="none">
                <a:solidFill>
                  <a:srgbClr val="cc3300"/>
                </a:solidFill>
                <a:effectLst/>
                <a:uFillTx/>
                <a:latin typeface="Times New Roman"/>
              </a:rPr>
              <a:t>workloads due to an exponential growth of clinical trials worldwide</a:t>
            </a:r>
            <a:r>
              <a:rPr b="0" lang="en-CA" sz="2800" strike="noStrike" u="none">
                <a:solidFill>
                  <a:srgbClr val="000000"/>
                </a:solidFill>
                <a:effectLst/>
                <a:uFillTx/>
                <a:latin typeface="Times New Roman"/>
              </a:rPr>
              <a:t>, predominantly related to a major increase in pharmaceutical industry sponsorship of health related research. </a:t>
            </a:r>
            <a:endParaRPr b="0" lang="en-IN" sz="2800" strike="noStrike" u="none">
              <a:solidFill>
                <a:srgbClr val="000000"/>
              </a:solidFill>
              <a:effectLst/>
              <a:uFillTx/>
              <a:latin typeface="Times New Roman"/>
            </a:endParaRPr>
          </a:p>
          <a:p>
            <a:pPr marL="343080" indent="-343080">
              <a:lnSpc>
                <a:spcPct val="80000"/>
              </a:lnSpc>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In the United States alone, the </a:t>
            </a:r>
            <a:r>
              <a:rPr b="0" lang="en-CA" sz="2800" strike="noStrike" u="none">
                <a:solidFill>
                  <a:srgbClr val="cc3300"/>
                </a:solidFill>
                <a:effectLst/>
                <a:uFillTx/>
                <a:latin typeface="Times New Roman"/>
              </a:rPr>
              <a:t>drug industry is a 1.3 trillion dollar business</a:t>
            </a:r>
            <a:r>
              <a:rPr b="0" lang="en-CA" sz="2800" strike="noStrike" u="none">
                <a:solidFill>
                  <a:srgbClr val="000000"/>
                </a:solidFill>
                <a:effectLst/>
                <a:uFillTx/>
                <a:latin typeface="Times New Roman"/>
              </a:rPr>
              <a:t> or, 13 % of the GNP </a:t>
            </a:r>
            <a:r>
              <a:rPr b="0" lang="en-CA" sz="2000" strike="noStrike" u="none">
                <a:solidFill>
                  <a:srgbClr val="000000"/>
                </a:solidFill>
                <a:effectLst/>
                <a:uFillTx/>
                <a:latin typeface="Times New Roman"/>
              </a:rPr>
              <a:t>(Icenogle &amp; Dudek, 2002)</a:t>
            </a:r>
            <a:r>
              <a:rPr b="0" lang="en-CA" sz="2800" strike="noStrike" u="none">
                <a:solidFill>
                  <a:srgbClr val="000000"/>
                </a:solidFill>
                <a:effectLst/>
                <a:uFillTx/>
                <a:latin typeface="Times New Roman"/>
              </a:rPr>
              <a:t> </a:t>
            </a:r>
            <a:endParaRPr b="0" lang="en-IN" sz="2800" strike="noStrike" u="none">
              <a:solidFill>
                <a:srgbClr val="000000"/>
              </a:solidFill>
              <a:effectLst/>
              <a:uFillTx/>
              <a:latin typeface="Times New Roman"/>
            </a:endParaRPr>
          </a:p>
          <a:p>
            <a:pPr marL="343080" indent="-343080">
              <a:lnSpc>
                <a:spcPct val="80000"/>
              </a:lnSpc>
              <a:spcBef>
                <a:spcPts val="700"/>
              </a:spcBef>
              <a:buClr>
                <a:srgbClr val="cc33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cc3300"/>
                </a:solidFill>
                <a:effectLst/>
                <a:uFillTx/>
                <a:latin typeface="Times New Roman"/>
              </a:rPr>
              <a:t>IRBs are set up to process</a:t>
            </a:r>
            <a:r>
              <a:rPr b="0" lang="en-CA" sz="2800" strike="noStrike" u="none">
                <a:solidFill>
                  <a:srgbClr val="000000"/>
                </a:solidFill>
                <a:effectLst/>
                <a:uFillTx/>
                <a:latin typeface="Times New Roman"/>
              </a:rPr>
              <a:t> Industry Sponsored drug and devise studies</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472680" y="837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Me Too-Literature Review</a:t>
            </a:r>
            <a:endParaRPr b="0" lang="en-IN" sz="4400" strike="noStrike" u="none">
              <a:solidFill>
                <a:srgbClr val="000000"/>
              </a:solidFill>
              <a:effectLst/>
              <a:uFillTx/>
              <a:latin typeface="Times New Roman"/>
            </a:endParaRPr>
          </a:p>
        </p:txBody>
      </p:sp>
      <p:sp>
        <p:nvSpPr>
          <p:cNvPr id="68" name="PlaceHolder 2"/>
          <p:cNvSpPr>
            <a:spLocks noGrp="1"/>
          </p:cNvSpPr>
          <p:nvPr>
            <p:ph/>
          </p:nvPr>
        </p:nvSpPr>
        <p:spPr>
          <a:xfrm>
            <a:off x="495000" y="1828440"/>
            <a:ext cx="8064360" cy="4724280"/>
          </a:xfrm>
          <a:prstGeom prst="rect">
            <a:avLst/>
          </a:prstGeom>
          <a:noFill/>
          <a:ln w="0">
            <a:noFill/>
          </a:ln>
        </p:spPr>
        <p:txBody>
          <a:bodyPr lIns="92160" rIns="92160" tIns="46080" bIns="46080" anchor="t">
            <a:normAutofit/>
          </a:bodyPr>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ff3300"/>
                </a:solidFill>
                <a:effectLst/>
                <a:uFillTx/>
                <a:latin typeface="Times New Roman"/>
              </a:rPr>
              <a:t>Researchers have quantified and enumerated significant IRB delays by totalling the:</a:t>
            </a:r>
            <a:r>
              <a:rPr b="0" lang="en-CA" sz="2800" strike="noStrike" u="none">
                <a:solidFill>
                  <a:srgbClr val="000000"/>
                </a:solidFill>
                <a:effectLst/>
                <a:uFillTx/>
                <a:latin typeface="Times New Roman"/>
              </a:rPr>
              <a:t> </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1)  number of hours or days lost before data collection </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2)  number of protocol changes required </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3)  number and types of inconsistencies in and between local IRBs which make application processing across multisites unnecessarily difficult.</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 4) financial burden due to personnel costs for completing IRB applications and keeping up with annual renewals, modification, or amendments </a:t>
            </a:r>
            <a:endParaRPr b="0" lang="en-IN" sz="2800" strike="noStrike" u="none">
              <a:solidFill>
                <a:srgbClr val="000000"/>
              </a:solidFill>
              <a:effectLst/>
              <a:uFillTx/>
              <a:latin typeface="Times New Roman"/>
            </a:endParaRPr>
          </a:p>
          <a:p>
            <a:pPr marL="343080" indent="-34308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 </a:t>
            </a: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609120" y="76176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Me Too-Literature Review</a:t>
            </a:r>
            <a:endParaRPr b="0" lang="en-IN" sz="4400" strike="noStrike" u="none">
              <a:solidFill>
                <a:srgbClr val="000000"/>
              </a:solidFill>
              <a:effectLst/>
              <a:uFillTx/>
              <a:latin typeface="Times New Roman"/>
            </a:endParaRPr>
          </a:p>
        </p:txBody>
      </p:sp>
      <p:sp>
        <p:nvSpPr>
          <p:cNvPr id="70" name="PlaceHolder 2"/>
          <p:cNvSpPr>
            <a:spLocks noGrp="1"/>
          </p:cNvSpPr>
          <p:nvPr>
            <p:ph/>
          </p:nvPr>
        </p:nvSpPr>
        <p:spPr>
          <a:xfrm>
            <a:off x="495360" y="1752480"/>
            <a:ext cx="8115120" cy="4648320"/>
          </a:xfrm>
          <a:prstGeom prst="rect">
            <a:avLst/>
          </a:prstGeom>
          <a:noFill/>
          <a:ln w="0">
            <a:noFill/>
          </a:ln>
        </p:spPr>
        <p:txBody>
          <a:bodyPr lIns="92160" rIns="92160" tIns="46080" bIns="46080" anchor="t">
            <a:normAutofit lnSpcReduction="9999"/>
          </a:bodyPr>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ff3300"/>
                </a:solidFill>
                <a:effectLst/>
                <a:uFillTx/>
                <a:latin typeface="Times New Roman"/>
              </a:rPr>
              <a:t>“Significant Delays” Criticisms:</a:t>
            </a:r>
            <a:r>
              <a:rPr b="0" lang="en-CA"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lvl="1" marL="743040" indent="-28584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2400" strike="noStrike" u="none">
                <a:solidFill>
                  <a:srgbClr val="000000"/>
                </a:solidFill>
                <a:effectLst/>
                <a:uFillTx/>
                <a:latin typeface="Times New Roman"/>
              </a:rPr>
              <a:t>1</a:t>
            </a:r>
            <a:r>
              <a:rPr b="1" lang="en-CA" sz="2800" strike="noStrike" u="none">
                <a:solidFill>
                  <a:srgbClr val="000000"/>
                </a:solidFill>
                <a:effectLst/>
                <a:uFillTx/>
                <a:latin typeface="Times New Roman"/>
              </a:rPr>
              <a:t>)</a:t>
            </a:r>
            <a:r>
              <a:rPr b="0" lang="en-CA" sz="2800" strike="noStrike" u="none">
                <a:solidFill>
                  <a:srgbClr val="000000"/>
                </a:solidFill>
                <a:effectLst/>
                <a:uFillTx/>
                <a:latin typeface="Times New Roman"/>
              </a:rPr>
              <a:t>  </a:t>
            </a:r>
            <a:r>
              <a:rPr b="1" lang="en-CA" sz="2800" strike="noStrike" u="none">
                <a:solidFill>
                  <a:srgbClr val="000000"/>
                </a:solidFill>
                <a:effectLst/>
                <a:uFillTx/>
                <a:latin typeface="Times New Roman"/>
              </a:rPr>
              <a:t>Inefficiency and inconsistency across multiple sites</a:t>
            </a:r>
            <a:r>
              <a:rPr b="0" lang="en-CA" sz="2800" strike="noStrike" u="none">
                <a:solidFill>
                  <a:srgbClr val="000000"/>
                </a:solidFill>
                <a:effectLst/>
                <a:uFillTx/>
                <a:latin typeface="Times New Roman"/>
              </a:rPr>
              <a:t> (Rogers et al., 1999; Green et al., 2006; Middle et al., </a:t>
            </a:r>
            <a:r>
              <a:rPr b="1" lang="en-CA" sz="2800" strike="noStrike" u="none">
                <a:solidFill>
                  <a:srgbClr val="000000"/>
                </a:solidFill>
                <a:effectLst/>
                <a:uFillTx/>
                <a:latin typeface="Times New Roman"/>
              </a:rPr>
              <a:t>1995</a:t>
            </a:r>
            <a:r>
              <a:rPr b="0" lang="en-CA" sz="2800" strike="noStrike" u="none">
                <a:solidFill>
                  <a:srgbClr val="000000"/>
                </a:solidFill>
                <a:effectLst/>
                <a:uFillTx/>
                <a:latin typeface="Times New Roman"/>
              </a:rPr>
              <a:t>; Redshaw et al., 1996; Silverman et al., 2001; Stair et al. 2001; Hirshon et al., 2002; Burman et al., 2001; Mc Williams et al., 2003; Dziak et al., 2005; Vick et al., 2005)</a:t>
            </a:r>
            <a:endParaRPr b="0" lang="en-IN" sz="2800" strike="noStrike" u="none">
              <a:solidFill>
                <a:srgbClr val="000000"/>
              </a:solidFill>
              <a:effectLst/>
              <a:uFillTx/>
              <a:latin typeface="Times New Roman"/>
            </a:endParaRPr>
          </a:p>
          <a:p>
            <a:pPr lvl="1" marL="743040" indent="-28584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2)</a:t>
            </a:r>
            <a:r>
              <a:rPr b="0" lang="en-CA" sz="2800" strike="noStrike" u="none">
                <a:solidFill>
                  <a:srgbClr val="000000"/>
                </a:solidFill>
                <a:effectLst/>
                <a:uFillTx/>
                <a:latin typeface="Times New Roman"/>
              </a:rPr>
              <a:t>  </a:t>
            </a:r>
            <a:r>
              <a:rPr b="1" lang="en-CA" sz="2800" strike="noStrike" u="none">
                <a:solidFill>
                  <a:srgbClr val="000000"/>
                </a:solidFill>
                <a:effectLst/>
                <a:uFillTx/>
                <a:latin typeface="Times New Roman"/>
              </a:rPr>
              <a:t>Increasing demand for PIs to provide secretarial tasks to IRBs unrelated to protection of human subjects</a:t>
            </a:r>
            <a:r>
              <a:rPr b="0" lang="en-CA" sz="2800" strike="noStrike" u="none">
                <a:solidFill>
                  <a:srgbClr val="000000"/>
                </a:solidFill>
                <a:effectLst/>
                <a:uFillTx/>
                <a:latin typeface="Times New Roman"/>
              </a:rPr>
              <a:t> (Burke, 2005, Wolf et al., 2005)</a:t>
            </a:r>
            <a:endParaRPr b="0" lang="en-IN" sz="2800" strike="noStrike" u="none">
              <a:solidFill>
                <a:srgbClr val="000000"/>
              </a:solidFill>
              <a:effectLst/>
              <a:uFillTx/>
              <a:latin typeface="Times New Roman"/>
            </a:endParaRPr>
          </a:p>
          <a:p>
            <a:pPr lvl="1" marL="743040" indent="-285840">
              <a:lnSpc>
                <a:spcPct val="8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3)</a:t>
            </a:r>
            <a:r>
              <a:rPr b="0" lang="en-CA" sz="2800" strike="noStrike" u="none">
                <a:solidFill>
                  <a:srgbClr val="000000"/>
                </a:solidFill>
                <a:effectLst/>
                <a:uFillTx/>
                <a:latin typeface="Times New Roman"/>
              </a:rPr>
              <a:t>  </a:t>
            </a:r>
            <a:r>
              <a:rPr b="1" lang="en-CA" sz="2800" strike="noStrike" u="none">
                <a:solidFill>
                  <a:srgbClr val="000000"/>
                </a:solidFill>
                <a:effectLst/>
                <a:uFillTx/>
                <a:latin typeface="Times New Roman"/>
              </a:rPr>
              <a:t>Adversarial tension in relationships with social science PIs</a:t>
            </a:r>
            <a:r>
              <a:rPr b="0" lang="en-CA" sz="2800" strike="noStrike" u="none">
                <a:solidFill>
                  <a:srgbClr val="000000"/>
                </a:solidFill>
                <a:effectLst/>
                <a:uFillTx/>
                <a:latin typeface="Times New Roman"/>
              </a:rPr>
              <a:t> (Kiskaddon, 2005)</a:t>
            </a: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609120" y="76176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Times New Roman"/>
              </a:rPr>
              <a:t>Me Too-Literature Review</a:t>
            </a:r>
            <a:endParaRPr b="0" lang="en-IN" sz="4400" strike="noStrike" u="none">
              <a:solidFill>
                <a:srgbClr val="000000"/>
              </a:solidFill>
              <a:effectLst/>
              <a:uFillTx/>
              <a:latin typeface="Times New Roman"/>
            </a:endParaRPr>
          </a:p>
        </p:txBody>
      </p:sp>
      <p:sp>
        <p:nvSpPr>
          <p:cNvPr id="72" name="PlaceHolder 2"/>
          <p:cNvSpPr>
            <a:spLocks noGrp="1"/>
          </p:cNvSpPr>
          <p:nvPr>
            <p:ph/>
          </p:nvPr>
        </p:nvSpPr>
        <p:spPr>
          <a:xfrm>
            <a:off x="495000" y="1752480"/>
            <a:ext cx="8064360" cy="5105520"/>
          </a:xfrm>
          <a:prstGeom prst="rect">
            <a:avLst/>
          </a:prstGeom>
          <a:noFill/>
          <a:ln w="0">
            <a:noFill/>
          </a:ln>
        </p:spPr>
        <p:txBody>
          <a:bodyPr lIns="92160" rIns="92160" tIns="46080" bIns="46080" anchor="t">
            <a:normAutofit/>
          </a:bodyPr>
          <a:p>
            <a:pPr marL="380880" indent="-3808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ff3300"/>
                </a:solidFill>
                <a:effectLst/>
                <a:uFillTx/>
                <a:latin typeface="Times New Roman"/>
              </a:rPr>
              <a:t>“Significant Delays” Criticisms:</a:t>
            </a:r>
            <a:endParaRPr b="0" lang="en-IN" sz="2400" strike="noStrike" u="none">
              <a:solidFill>
                <a:srgbClr val="000000"/>
              </a:solidFill>
              <a:effectLst/>
              <a:uFillTx/>
              <a:latin typeface="Times New Roman"/>
            </a:endParaRPr>
          </a:p>
          <a:p>
            <a:pPr lvl="1" marL="800280" indent="-343080">
              <a:lnSpc>
                <a:spcPct val="80000"/>
              </a:lnSpc>
              <a:spcBef>
                <a:spcPts val="700"/>
              </a:spcBef>
              <a:buClr>
                <a:srgbClr val="000000"/>
              </a:buClr>
              <a:buFont typeface="Times New Roman"/>
              <a:buAutoNum type="arabicParenR" startAt="4"/>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 Poor communication</a:t>
            </a:r>
            <a:r>
              <a:rPr b="0" lang="en-CA" sz="2800" strike="noStrike" u="none">
                <a:solidFill>
                  <a:srgbClr val="000000"/>
                </a:solidFill>
                <a:effectLst/>
                <a:uFillTx/>
                <a:latin typeface="Times New Roman"/>
              </a:rPr>
              <a:t> (Burke, 2005)</a:t>
            </a:r>
            <a:endParaRPr b="0" lang="en-IN" sz="2800" strike="noStrike" u="none">
              <a:solidFill>
                <a:srgbClr val="000000"/>
              </a:solidFill>
              <a:effectLst/>
              <a:uFillTx/>
              <a:latin typeface="Times New Roman"/>
            </a:endParaRPr>
          </a:p>
          <a:p>
            <a:pPr lvl="1" marL="800280" indent="-343080">
              <a:lnSpc>
                <a:spcPct val="80000"/>
              </a:lnSpc>
              <a:spcBef>
                <a:spcPts val="700"/>
              </a:spcBef>
              <a:buClr>
                <a:srgbClr val="000000"/>
              </a:buClr>
              <a:buFont typeface="Times New Roman"/>
              <a:buAutoNum type="arabicParenR" startAt="5"/>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 Absence of standardized forms</a:t>
            </a:r>
            <a:r>
              <a:rPr b="0" lang="en-CA" sz="2800" strike="noStrike" u="none">
                <a:solidFill>
                  <a:srgbClr val="000000"/>
                </a:solidFill>
                <a:effectLst/>
                <a:uFillTx/>
                <a:latin typeface="Times New Roman"/>
              </a:rPr>
              <a:t> (Gold &amp; Dewa, 2005)</a:t>
            </a:r>
            <a:endParaRPr b="0" lang="en-IN" sz="2800" strike="noStrike" u="none">
              <a:solidFill>
                <a:srgbClr val="000000"/>
              </a:solidFill>
              <a:effectLst/>
              <a:uFillTx/>
              <a:latin typeface="Times New Roman"/>
            </a:endParaRPr>
          </a:p>
          <a:p>
            <a:pPr lvl="1" marL="800280" indent="-343080">
              <a:lnSpc>
                <a:spcPct val="80000"/>
              </a:lnSpc>
              <a:spcBef>
                <a:spcPts val="601"/>
              </a:spcBef>
              <a:buClr>
                <a:srgbClr val="000000"/>
              </a:buClr>
              <a:buFont typeface="Times New Roman"/>
              <a:buAutoNum type="arabicParenR" startAt="6"/>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 Lack of IRB staff support</a:t>
            </a:r>
            <a:r>
              <a:rPr b="0" lang="en-CA" sz="2800" strike="noStrike" u="none">
                <a:solidFill>
                  <a:srgbClr val="000000"/>
                </a:solidFill>
                <a:effectLst/>
                <a:uFillTx/>
                <a:latin typeface="Times New Roman"/>
              </a:rPr>
              <a:t> (Wolf et al., 2005; </a:t>
            </a:r>
            <a:r>
              <a:rPr b="0" lang="en-CA" sz="2400" strike="noStrike" u="none">
                <a:solidFill>
                  <a:srgbClr val="000000"/>
                </a:solidFill>
                <a:effectLst/>
                <a:uFillTx/>
                <a:latin typeface="Times New Roman"/>
              </a:rPr>
              <a:t>De Vries &amp; Forsberg, 2002).</a:t>
            </a:r>
            <a:r>
              <a:rPr b="0" lang="en-US" sz="2400" strike="noStrike" u="none">
                <a:solidFill>
                  <a:srgbClr val="000000"/>
                </a:solidFill>
                <a:effectLst/>
                <a:uFillTx/>
                <a:latin typeface="Times New Roman"/>
              </a:rPr>
              <a:t> </a:t>
            </a:r>
            <a:endParaRPr b="0" lang="en-IN" sz="2400" strike="noStrike" u="none">
              <a:solidFill>
                <a:srgbClr val="000000"/>
              </a:solidFill>
              <a:effectLst/>
              <a:uFillTx/>
              <a:latin typeface="Times New Roman"/>
            </a:endParaRPr>
          </a:p>
          <a:p>
            <a:pPr lvl="1" marL="800280" indent="-343080">
              <a:lnSpc>
                <a:spcPct val="80000"/>
              </a:lnSpc>
              <a:spcBef>
                <a:spcPts val="700"/>
              </a:spcBef>
              <a:buClr>
                <a:srgbClr val="000000"/>
              </a:buClr>
              <a:buFont typeface="Times New Roman"/>
              <a:buAutoNum type="arabicParenR" startAt="6"/>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 Conflicting view points on templated versus non templated language and style of informed consents</a:t>
            </a:r>
            <a:r>
              <a:rPr b="0" lang="en-CA" sz="2800" strike="noStrike" u="none">
                <a:solidFill>
                  <a:srgbClr val="000000"/>
                </a:solidFill>
                <a:effectLst/>
                <a:uFillTx/>
                <a:latin typeface="Times New Roman"/>
              </a:rPr>
              <a:t> (Dziak et al., 2005; Green et al., 2006; Hirshon et al., 2002; Middle et al., </a:t>
            </a:r>
            <a:r>
              <a:rPr b="1" lang="en-CA" sz="2800" strike="noStrike" u="none">
                <a:solidFill>
                  <a:srgbClr val="000000"/>
                </a:solidFill>
                <a:effectLst/>
                <a:uFillTx/>
                <a:latin typeface="Times New Roman"/>
              </a:rPr>
              <a:t>1995</a:t>
            </a:r>
            <a:r>
              <a:rPr b="0" lang="en-CA" sz="2800" strike="noStrike" u="none">
                <a:solidFill>
                  <a:srgbClr val="000000"/>
                </a:solidFill>
                <a:effectLst/>
                <a:uFillTx/>
                <a:latin typeface="Times New Roman"/>
              </a:rPr>
              <a:t>; Rogers et al., 1999; Silverman et al., 2001; 2003; Stair et al., 2001; Vick et al., 2005)</a:t>
            </a: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914040" y="137124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ff3300"/>
                </a:solidFill>
                <a:effectLst/>
                <a:uFillTx/>
                <a:latin typeface="Times New Roman"/>
              </a:rPr>
              <a:t>A Model IRB Review for this Single Investigator, Multi-site, Government Funded Grant </a:t>
            </a:r>
            <a:br>
              <a:rPr sz="2800"/>
            </a:br>
            <a:br>
              <a:rPr sz="2800"/>
            </a:br>
            <a:endParaRPr b="0" lang="en-IN" sz="2800" strike="noStrike" u="none">
              <a:solidFill>
                <a:srgbClr val="000000"/>
              </a:solidFill>
              <a:effectLst/>
              <a:uFillTx/>
              <a:latin typeface="Times New Roman"/>
            </a:endParaRPr>
          </a:p>
        </p:txBody>
      </p:sp>
      <p:sp>
        <p:nvSpPr>
          <p:cNvPr id="74" name=""/>
          <p:cNvSpPr/>
          <p:nvPr/>
        </p:nvSpPr>
        <p:spPr>
          <a:xfrm>
            <a:off x="609480" y="2666880"/>
            <a:ext cx="3048120" cy="990720"/>
          </a:xfrm>
          <a:prstGeom prst="rect">
            <a:avLst/>
          </a:prstGeom>
          <a:noFill/>
          <a:ln w="0">
            <a:noFill/>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75" name=""/>
          <p:cNvSpPr/>
          <p:nvPr/>
        </p:nvSpPr>
        <p:spPr>
          <a:xfrm>
            <a:off x="1219320" y="2895480"/>
            <a:ext cx="2590560" cy="947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IRB of RECORD</a:t>
            </a:r>
            <a:endParaRPr b="0" lang="en-IN" sz="2800" strike="noStrike" u="none">
              <a:solidFill>
                <a:srgbClr val="000000"/>
              </a:solidFill>
              <a:effectLst/>
              <a:uFillTx/>
              <a:latin typeface="Arial"/>
            </a:endParaRPr>
          </a:p>
        </p:txBody>
      </p:sp>
      <p:sp>
        <p:nvSpPr>
          <p:cNvPr id="76" name=""/>
          <p:cNvSpPr/>
          <p:nvPr/>
        </p:nvSpPr>
        <p:spPr>
          <a:xfrm>
            <a:off x="1981080" y="3962520"/>
            <a:ext cx="0" cy="45720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77" name=""/>
          <p:cNvSpPr/>
          <p:nvPr/>
        </p:nvSpPr>
        <p:spPr>
          <a:xfrm>
            <a:off x="1295280" y="4662360"/>
            <a:ext cx="274320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00cc"/>
                </a:solidFill>
                <a:effectLst/>
                <a:uFillTx/>
                <a:latin typeface="Times New Roman"/>
              </a:rPr>
              <a:t>PI of RECORD</a:t>
            </a:r>
            <a:endParaRPr b="0" lang="en-IN" sz="2800" strike="noStrike" u="none">
              <a:solidFill>
                <a:srgbClr val="000000"/>
              </a:solidFill>
              <a:effectLst/>
              <a:uFillTx/>
              <a:latin typeface="Arial"/>
            </a:endParaRPr>
          </a:p>
        </p:txBody>
      </p:sp>
      <p:sp>
        <p:nvSpPr>
          <p:cNvPr id="78" name=""/>
          <p:cNvSpPr/>
          <p:nvPr/>
        </p:nvSpPr>
        <p:spPr>
          <a:xfrm>
            <a:off x="5945760" y="2886120"/>
            <a:ext cx="12164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IRB -B</a:t>
            </a:r>
            <a:endParaRPr b="0" lang="en-IN" sz="2800" strike="noStrike" u="none">
              <a:solidFill>
                <a:srgbClr val="000000"/>
              </a:solidFill>
              <a:effectLst/>
              <a:uFillTx/>
              <a:latin typeface="Arial"/>
            </a:endParaRPr>
          </a:p>
        </p:txBody>
      </p:sp>
      <p:sp>
        <p:nvSpPr>
          <p:cNvPr id="79" name=""/>
          <p:cNvSpPr/>
          <p:nvPr/>
        </p:nvSpPr>
        <p:spPr>
          <a:xfrm>
            <a:off x="5945760" y="4029120"/>
            <a:ext cx="121644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IRB- C</a:t>
            </a:r>
            <a:endParaRPr b="0" lang="en-IN" sz="2800" strike="noStrike" u="none">
              <a:solidFill>
                <a:srgbClr val="000000"/>
              </a:solidFill>
              <a:effectLst/>
              <a:uFillTx/>
              <a:latin typeface="Arial"/>
            </a:endParaRPr>
          </a:p>
        </p:txBody>
      </p:sp>
      <p:sp>
        <p:nvSpPr>
          <p:cNvPr id="80" name=""/>
          <p:cNvSpPr/>
          <p:nvPr/>
        </p:nvSpPr>
        <p:spPr>
          <a:xfrm>
            <a:off x="4191120" y="5257800"/>
            <a:ext cx="144756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IRB - D</a:t>
            </a:r>
            <a:endParaRPr b="0" lang="en-IN" sz="2800" strike="noStrike" u="none">
              <a:solidFill>
                <a:srgbClr val="000000"/>
              </a:solidFill>
              <a:effectLst/>
              <a:uFillTx/>
              <a:latin typeface="Arial"/>
            </a:endParaRPr>
          </a:p>
        </p:txBody>
      </p:sp>
      <p:sp>
        <p:nvSpPr>
          <p:cNvPr id="81" name=""/>
          <p:cNvSpPr/>
          <p:nvPr/>
        </p:nvSpPr>
        <p:spPr>
          <a:xfrm flipV="1">
            <a:off x="6858000" y="3276720"/>
            <a:ext cx="304920" cy="838080"/>
          </a:xfrm>
          <a:custGeom>
            <a:avLst/>
            <a:gdLst>
              <a:gd name="textAreaLeft" fmla="*/ 40680 w 304920"/>
              <a:gd name="textAreaRight" fmla="*/ 264240 w 304920"/>
              <a:gd name="textAreaTop" fmla="*/ 146880 h 838080"/>
              <a:gd name="textAreaBottom" fmla="*/ 608040 h 838080"/>
              <a:gd name="GluePoint1X" fmla="*/ 0 w 21600"/>
              <a:gd name="GluePoint1Y" fmla="*/ 15 h 21600"/>
              <a:gd name="GluePoint2X" fmla="*/ 2 w 21600"/>
              <a:gd name="GluePoint2Y" fmla="*/ 11 h 21600"/>
              <a:gd name="GluePoint3X" fmla="*/ 0 w 21600"/>
              <a:gd name="GluePoint3Y" fmla="*/ 8 h 21600"/>
              <a:gd name="GluePoint4X" fmla="*/ 2 w 21600"/>
              <a:gd name="GluePoint4Y" fmla="*/ 13 h 21600"/>
              <a:gd name="GluePoint5X" fmla="*/ 21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0" y="0"/>
                </a:moveTo>
                <a:arcTo wR="21600" hR="7560" stAng="-5400000" swAng="5400000"/>
                <a:lnTo>
                  <a:pt x="21600" y="11880"/>
                </a:lnTo>
                <a:arcTo wR="21600" hR="7560" stAng="0" swAng="2682637"/>
                <a:lnTo>
                  <a:pt x="7200" y="21168"/>
                </a:lnTo>
                <a:lnTo>
                  <a:pt x="0" y="17280"/>
                </a:lnTo>
                <a:lnTo>
                  <a:pt x="7200" y="12528"/>
                </a:lnTo>
                <a:lnTo>
                  <a:pt x="7200" y="14688"/>
                </a:lnTo>
                <a:arcTo wR="21600" hR="7560" stAng="2682637" swAng="-2325203"/>
                <a:lnTo>
                  <a:pt x="20700" y="9720"/>
                </a:lnTo>
                <a:arcTo wR="21600" hR="7560" stAng="-357435" swAng="-5042565"/>
                <a:close/>
              </a:path>
              <a:path fill="darkenLess" w="21600" h="21600">
                <a:moveTo>
                  <a:pt x="0" y="0"/>
                </a:moveTo>
                <a:arcTo wR="21600" hR="7560" stAng="-5400000" swAng="5400000"/>
                <a:lnTo>
                  <a:pt x="21600" y="11880"/>
                </a:lnTo>
                <a:arcTo wR="21600" hR="7560" stAng="0" swAng="-357435"/>
                <a:lnTo>
                  <a:pt x="20700" y="9720"/>
                </a:lnTo>
                <a:arcTo wR="21600" hR="7560" stAng="-357435" swAng="-5042565"/>
                <a:close/>
              </a:path>
            </a:pathLst>
          </a:custGeom>
          <a:solidFill>
            <a:srgbClr val="cc00cc"/>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82" name=""/>
          <p:cNvSpPr/>
          <p:nvPr/>
        </p:nvSpPr>
        <p:spPr>
          <a:xfrm>
            <a:off x="5486400" y="3276720"/>
            <a:ext cx="304920" cy="990360"/>
          </a:xfrm>
          <a:custGeom>
            <a:avLst/>
            <a:gdLst>
              <a:gd name="textAreaLeft" fmla="*/ 40680 w 304920"/>
              <a:gd name="textAreaRight" fmla="*/ 264240 w 304920"/>
              <a:gd name="textAreaTop" fmla="*/ 173160 h 990360"/>
              <a:gd name="textAreaBottom" fmla="*/ 718200 h 990360"/>
              <a:gd name="GluePoint1X" fmla="*/ 0 w 21600"/>
              <a:gd name="GluePoint1Y" fmla="*/ 17 h 21600"/>
              <a:gd name="GluePoint2X" fmla="*/ 2 w 21600"/>
              <a:gd name="GluePoint2Y" fmla="*/ 14 h 21600"/>
              <a:gd name="GluePoint3X" fmla="*/ 22 w 21600"/>
              <a:gd name="GluePoint3Y" fmla="*/ 8 h 21600"/>
              <a:gd name="GluePoint4X" fmla="*/ 2 w 21600"/>
              <a:gd name="GluePoint4Y" fmla="*/ 12 h 21600"/>
              <a:gd name="GluePoint5X" fmla="*/ 22 w 21600"/>
              <a:gd name="GluePoint5Y" fmla="*/ 16 h 2160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1600" h="21600">
                <a:moveTo>
                  <a:pt x="21600" y="0"/>
                </a:moveTo>
                <a:arcTo wR="21600" hR="7560" stAng="-5400000" swAng="-5400000"/>
                <a:lnTo>
                  <a:pt x="0" y="11880"/>
                </a:lnTo>
                <a:arcTo wR="21600" hR="7560" stAng="10800000" swAng="-2682637"/>
                <a:lnTo>
                  <a:pt x="14400" y="21168"/>
                </a:lnTo>
                <a:lnTo>
                  <a:pt x="21600" y="17280"/>
                </a:lnTo>
                <a:lnTo>
                  <a:pt x="14400" y="12528"/>
                </a:lnTo>
                <a:lnTo>
                  <a:pt x="14400" y="14688"/>
                </a:lnTo>
                <a:arcTo wR="21600" hR="7560" stAng="8117363" swAng="2325203"/>
                <a:lnTo>
                  <a:pt x="900" y="9720"/>
                </a:lnTo>
                <a:arcTo wR="21600" hR="7560" stAng="-10442565" swAng="5042565"/>
                <a:close/>
              </a:path>
              <a:path fill="darkenLess" w="21600" h="21600">
                <a:moveTo>
                  <a:pt x="21600" y="0"/>
                </a:moveTo>
                <a:arcTo wR="21600" hR="7560" stAng="-5400000" swAng="-5400000"/>
                <a:lnTo>
                  <a:pt x="0" y="7560"/>
                </a:lnTo>
                <a:arcTo wR="21600" hR="7560" stAng="10800000" swAng="-357435"/>
                <a:lnTo>
                  <a:pt x="900" y="9720"/>
                </a:lnTo>
                <a:arcTo wR="21600" hR="7560" stAng="-10442565" swAng="5042565"/>
                <a:close/>
              </a:path>
            </a:pathLst>
          </a:custGeom>
          <a:solidFill>
            <a:srgbClr val="0033cc"/>
          </a:solid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83" name=""/>
          <p:cNvSpPr/>
          <p:nvPr/>
        </p:nvSpPr>
        <p:spPr>
          <a:xfrm>
            <a:off x="3276720" y="3048120"/>
            <a:ext cx="76176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8000"/>
                </a:solidFill>
                <a:effectLst/>
                <a:uFillTx/>
                <a:latin typeface="Times New Roman"/>
              </a:rPr>
              <a:t>(1)</a:t>
            </a:r>
            <a:endParaRPr b="0" lang="en-IN" sz="2800" strike="noStrike" u="none">
              <a:solidFill>
                <a:srgbClr val="000000"/>
              </a:solidFill>
              <a:effectLst/>
              <a:uFillTx/>
              <a:latin typeface="Arial"/>
            </a:endParaRPr>
          </a:p>
        </p:txBody>
      </p:sp>
      <p:sp>
        <p:nvSpPr>
          <p:cNvPr id="84" name=""/>
          <p:cNvSpPr/>
          <p:nvPr/>
        </p:nvSpPr>
        <p:spPr>
          <a:xfrm>
            <a:off x="6324480" y="3581280"/>
            <a:ext cx="76212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00cc"/>
                </a:solidFill>
                <a:effectLst/>
                <a:uFillTx/>
                <a:latin typeface="Times New Roman"/>
              </a:rPr>
              <a:t>(5)</a:t>
            </a:r>
            <a:endParaRPr b="0" lang="en-IN" sz="2800" strike="noStrike" u="none">
              <a:solidFill>
                <a:srgbClr val="000000"/>
              </a:solidFill>
              <a:effectLst/>
              <a:uFillTx/>
              <a:latin typeface="Arial"/>
            </a:endParaRPr>
          </a:p>
        </p:txBody>
      </p:sp>
      <p:sp>
        <p:nvSpPr>
          <p:cNvPr id="85" name=""/>
          <p:cNvSpPr/>
          <p:nvPr/>
        </p:nvSpPr>
        <p:spPr>
          <a:xfrm>
            <a:off x="5791320" y="3581280"/>
            <a:ext cx="60948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ff"/>
                </a:solidFill>
                <a:effectLst/>
                <a:uFillTx/>
                <a:latin typeface="Times New Roman"/>
              </a:rPr>
              <a:t>(2)</a:t>
            </a:r>
            <a:endParaRPr b="0" lang="en-IN" sz="2800" strike="noStrike" u="none">
              <a:solidFill>
                <a:srgbClr val="000000"/>
              </a:solidFill>
              <a:effectLst/>
              <a:uFillTx/>
              <a:latin typeface="Arial"/>
            </a:endParaRPr>
          </a:p>
        </p:txBody>
      </p:sp>
      <p:sp>
        <p:nvSpPr>
          <p:cNvPr id="86" name=""/>
          <p:cNvSpPr/>
          <p:nvPr/>
        </p:nvSpPr>
        <p:spPr>
          <a:xfrm>
            <a:off x="4648320" y="4038480"/>
            <a:ext cx="60948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663300"/>
                </a:solidFill>
                <a:effectLst/>
                <a:uFillTx/>
                <a:latin typeface="Times New Roman"/>
              </a:rPr>
              <a:t>(4)</a:t>
            </a:r>
            <a:endParaRPr b="0" lang="en-IN" sz="2800" strike="noStrike" u="none">
              <a:solidFill>
                <a:srgbClr val="000000"/>
              </a:solidFill>
              <a:effectLst/>
              <a:uFillTx/>
              <a:latin typeface="Arial"/>
            </a:endParaRPr>
          </a:p>
        </p:txBody>
      </p:sp>
      <p:sp>
        <p:nvSpPr>
          <p:cNvPr id="87" name=""/>
          <p:cNvSpPr/>
          <p:nvPr/>
        </p:nvSpPr>
        <p:spPr>
          <a:xfrm>
            <a:off x="2743200" y="3505320"/>
            <a:ext cx="2286000" cy="0"/>
          </a:xfrm>
          <a:prstGeom prst="line">
            <a:avLst/>
          </a:prstGeom>
          <a:ln w="9360">
            <a:solidFill>
              <a:srgbClr val="008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8" name=""/>
          <p:cNvSpPr/>
          <p:nvPr/>
        </p:nvSpPr>
        <p:spPr>
          <a:xfrm>
            <a:off x="3048120" y="4114800"/>
            <a:ext cx="2361960" cy="0"/>
          </a:xfrm>
          <a:prstGeom prst="line">
            <a:avLst/>
          </a:prstGeom>
          <a:ln w="9360">
            <a:solidFill>
              <a:srgbClr val="6633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89" name=""/>
          <p:cNvSpPr/>
          <p:nvPr/>
        </p:nvSpPr>
        <p:spPr>
          <a:xfrm flipH="1">
            <a:off x="2971440" y="3733920"/>
            <a:ext cx="2133720" cy="0"/>
          </a:xfrm>
          <a:prstGeom prst="line">
            <a:avLst/>
          </a:prstGeom>
          <a:ln w="9360">
            <a:solidFill>
              <a:srgbClr val="00ffcc"/>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0" name=""/>
          <p:cNvSpPr/>
          <p:nvPr/>
        </p:nvSpPr>
        <p:spPr>
          <a:xfrm>
            <a:off x="3949200" y="3624120"/>
            <a:ext cx="5947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ffcc"/>
                </a:solidFill>
                <a:effectLst/>
                <a:uFillTx/>
                <a:latin typeface="Times New Roman"/>
              </a:rPr>
              <a:t>(3)</a:t>
            </a:r>
            <a:endParaRPr b="0" lang="en-IN" sz="2800" strike="noStrike" u="none">
              <a:solidFill>
                <a:srgbClr val="000000"/>
              </a:solidFill>
              <a:effectLst/>
              <a:uFillTx/>
              <a:latin typeface="Arial"/>
            </a:endParaRPr>
          </a:p>
        </p:txBody>
      </p:sp>
      <p:sp>
        <p:nvSpPr>
          <p:cNvPr id="91" name=""/>
          <p:cNvSpPr/>
          <p:nvPr/>
        </p:nvSpPr>
        <p:spPr>
          <a:xfrm>
            <a:off x="2590920" y="3809880"/>
            <a:ext cx="1828800" cy="129564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2" name=""/>
          <p:cNvSpPr/>
          <p:nvPr/>
        </p:nvSpPr>
        <p:spPr>
          <a:xfrm flipH="1" flipV="1">
            <a:off x="2209320" y="3733920"/>
            <a:ext cx="2057400" cy="13716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93" name=""/>
          <p:cNvSpPr/>
          <p:nvPr/>
        </p:nvSpPr>
        <p:spPr>
          <a:xfrm>
            <a:off x="4101480" y="4334040"/>
            <a:ext cx="594720" cy="520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(6)</a:t>
            </a:r>
            <a:endParaRPr b="0" lang="en-IN" sz="2800" strike="noStrike" u="none">
              <a:solidFill>
                <a:srgbClr val="000000"/>
              </a:solidFill>
              <a:effectLst/>
              <a:uFillTx/>
              <a:latin typeface="Arial"/>
            </a:endParaRPr>
          </a:p>
        </p:txBody>
      </p:sp>
      <p:sp>
        <p:nvSpPr>
          <p:cNvPr id="94" name=""/>
          <p:cNvSpPr/>
          <p:nvPr/>
        </p:nvSpPr>
        <p:spPr>
          <a:xfrm>
            <a:off x="7238880" y="5334120"/>
            <a:ext cx="1524240" cy="10771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 </a:t>
            </a:r>
            <a:r>
              <a:rPr b="0" lang="en-IN" sz="2800" strike="noStrike" u="none">
                <a:solidFill>
                  <a:srgbClr val="cc3300"/>
                </a:solidFill>
                <a:effectLst/>
                <a:uFillTx/>
                <a:latin typeface="Times New Roman"/>
              </a:rPr>
              <a:t>NIH</a:t>
            </a:r>
            <a:endParaRPr b="0" lang="en-IN" sz="28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cc3300"/>
                </a:solidFill>
                <a:effectLst/>
                <a:uFillTx/>
                <a:latin typeface="Times New Roman"/>
              </a:rPr>
              <a:t>C of C</a:t>
            </a:r>
            <a:endParaRPr b="0" lang="en-IN" sz="2400" strike="noStrike" u="none">
              <a:solidFill>
                <a:srgbClr val="000000"/>
              </a:solidFill>
              <a:effectLst/>
              <a:uFillTx/>
              <a:latin typeface="Arial"/>
            </a:endParaRPr>
          </a:p>
        </p:txBody>
      </p:sp>
      <p:sp>
        <p:nvSpPr>
          <p:cNvPr id="95" name=""/>
          <p:cNvSpPr/>
          <p:nvPr/>
        </p:nvSpPr>
        <p:spPr>
          <a:xfrm flipH="1">
            <a:off x="7086600" y="5257800"/>
            <a:ext cx="7632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cxnSp>
        <p:nvCxnSpPr>
          <p:cNvPr id="96" name=""/>
          <p:cNvCxnSpPr>
            <a:stCxn id="97" idx="3"/>
            <a:endCxn id="74" idx="0"/>
          </p:cNvCxnSpPr>
          <p:nvPr/>
        </p:nvCxnSpPr>
        <p:spPr>
          <a:xfrm flipH="1" flipV="1">
            <a:off x="2133360" y="2666520"/>
            <a:ext cx="5868000" cy="2394720"/>
          </a:xfrm>
          <a:prstGeom prst="curvedConnector5">
            <a:avLst>
              <a:gd name="adj1" fmla="val -3895"/>
              <a:gd name="adj2" fmla="val 54773"/>
              <a:gd name="adj3" fmla="val -3895"/>
            </a:avLst>
          </a:prstGeom>
          <a:ln w="9360">
            <a:solidFill>
              <a:srgbClr val="cc3300"/>
            </a:solidFill>
            <a:miter/>
            <a:tailEnd len="med" type="triangle" w="med"/>
          </a:ln>
        </p:spPr>
      </p:cxnSp>
      <p:cxnSp>
        <p:nvCxnSpPr>
          <p:cNvPr id="98" name=""/>
          <p:cNvCxnSpPr/>
          <p:nvPr/>
        </p:nvCxnSpPr>
        <p:spPr>
          <a:xfrm flipV="1" rot="16200000">
            <a:off x="3571200" y="1895040"/>
            <a:ext cx="1348560" cy="5529960"/>
          </a:xfrm>
          <a:prstGeom prst="curvedConnector5">
            <a:avLst>
              <a:gd name="adj1" fmla="val -58291"/>
              <a:gd name="adj2" fmla="val 52063"/>
              <a:gd name="adj3" fmla="val -58291"/>
            </a:avLst>
          </a:prstGeom>
          <a:ln w="9360">
            <a:solidFill>
              <a:srgbClr val="cc3300"/>
            </a:solidFill>
            <a:miter/>
            <a:tailEnd len="med" type="triangle" w="med"/>
          </a:ln>
        </p:spPr>
      </p:cxnSp>
      <p:sp>
        <p:nvSpPr>
          <p:cNvPr id="97" name=""/>
          <p:cNvSpPr/>
          <p:nvPr/>
        </p:nvSpPr>
        <p:spPr>
          <a:xfrm>
            <a:off x="6019920" y="4800600"/>
            <a:ext cx="198108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3300"/>
                </a:solidFill>
                <a:effectLst/>
                <a:uFillTx/>
                <a:latin typeface="Times New Roman"/>
              </a:rPr>
              <a:t>(8) &amp; (9) x2</a:t>
            </a:r>
            <a:endParaRPr b="0" lang="en-IN" sz="2800" strike="noStrike" u="none">
              <a:solidFill>
                <a:srgbClr val="000000"/>
              </a:solidFill>
              <a:effectLst/>
              <a:uFillTx/>
              <a:latin typeface="Arial"/>
            </a:endParaRPr>
          </a:p>
        </p:txBody>
      </p:sp>
      <p:sp>
        <p:nvSpPr>
          <p:cNvPr id="99" name=""/>
          <p:cNvSpPr/>
          <p:nvPr/>
        </p:nvSpPr>
        <p:spPr>
          <a:xfrm>
            <a:off x="7238880" y="5410080"/>
            <a:ext cx="1067040" cy="990720"/>
          </a:xfrm>
          <a:prstGeom prst="rect">
            <a:avLst/>
          </a:prstGeom>
          <a:noFill/>
          <a:ln w="9360">
            <a:solidFill>
              <a:srgbClr val="cc33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0" name=""/>
          <p:cNvSpPr/>
          <p:nvPr/>
        </p:nvSpPr>
        <p:spPr>
          <a:xfrm>
            <a:off x="7238880" y="2895480"/>
            <a:ext cx="16002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Site Co-PI</a:t>
            </a:r>
            <a:r>
              <a:rPr b="0" lang="en-IN" sz="1800" strike="noStrike" u="none">
                <a:solidFill>
                  <a:srgbClr val="000000"/>
                </a:solidFill>
                <a:effectLst/>
                <a:uFillTx/>
                <a:latin typeface="Times New Roman"/>
              </a:rPr>
              <a:t> </a:t>
            </a:r>
            <a:endParaRPr b="0" lang="en-IN" sz="1800" strike="noStrike" u="none">
              <a:solidFill>
                <a:srgbClr val="000000"/>
              </a:solidFill>
              <a:effectLst/>
              <a:uFillTx/>
              <a:latin typeface="Arial"/>
            </a:endParaRPr>
          </a:p>
        </p:txBody>
      </p:sp>
      <p:sp>
        <p:nvSpPr>
          <p:cNvPr id="101" name=""/>
          <p:cNvSpPr/>
          <p:nvPr/>
        </p:nvSpPr>
        <p:spPr>
          <a:xfrm>
            <a:off x="7315200" y="4024440"/>
            <a:ext cx="1676520" cy="1015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Site Co-PI </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02" name="PlaceHolder 1"/>
          <p:cNvSpPr>
            <a:spLocks noGrp="1"/>
          </p:cNvSpPr>
          <p:nvPr>
            <p:ph/>
          </p:nvPr>
        </p:nvSpPr>
        <p:spPr>
          <a:xfrm>
            <a:off x="380880" y="1447560"/>
            <a:ext cx="9182160" cy="5105160"/>
          </a:xfrm>
          <a:prstGeom prst="rect">
            <a:avLst/>
          </a:prstGeom>
          <a:noFill/>
          <a:ln w="0">
            <a:noFill/>
          </a:ln>
        </p:spPr>
        <p:txBody>
          <a:bodyPr lIns="92160" rIns="92160" tIns="46080" bIns="46080" anchor="t">
            <a:normAutofit lnSpcReduction="9999"/>
          </a:bodyPr>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(1) IRB-A review before going to IRBs-B &amp; -C</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(2) IRB- C &amp; -D review, if Changes, re-reviewed by IRBs –C &amp; -D </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(3) IRB-A re reviews, Changes already approved at IRBs –B &amp; -C</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(4) IRB- A approves, already approved protocols at IRBs –C &amp; -D</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(5) IRBs –C &amp; -D have to re review and approve IRB-A protocols</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(6) IRB-D completes an administrative review after all other IRBs Approve</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(7) IRB-A approves after all other IRBs approve</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(8) IRB-A letter of approval sent to NIH for a Certificate of Confidentiality</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(9) NIH certificate of Confidentiality review request for edits, </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sent back to all IRBs for review and approval X 2</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(10) IRB-A approves after NIH C of C approved</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701640" y="1215720"/>
            <a:ext cx="8137440" cy="16794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cc3300"/>
                </a:solidFill>
                <a:effectLst/>
                <a:uFillTx/>
                <a:latin typeface="Times New Roman"/>
              </a:rPr>
              <a:t>The protocol and the (4) informed consents were put through a revolving door of changes and resubmissions with as many as 9 versions of the consents over the 2 years &amp; 10 months to complete the approval process</a:t>
            </a:r>
            <a:endParaRPr b="0" lang="en-IN" sz="2800" strike="noStrike" u="none">
              <a:solidFill>
                <a:srgbClr val="000000"/>
              </a:solidFill>
              <a:effectLst/>
              <a:uFillTx/>
              <a:latin typeface="Times New Roman"/>
            </a:endParaRPr>
          </a:p>
        </p:txBody>
      </p:sp>
      <p:sp>
        <p:nvSpPr>
          <p:cNvPr id="104" name="PlaceHolder 2"/>
          <p:cNvSpPr>
            <a:spLocks noGrp="1"/>
          </p:cNvSpPr>
          <p:nvPr>
            <p:ph/>
          </p:nvPr>
        </p:nvSpPr>
        <p:spPr>
          <a:xfrm>
            <a:off x="495000" y="2975040"/>
            <a:ext cx="8064360" cy="3502080"/>
          </a:xfrm>
          <a:prstGeom prst="rect">
            <a:avLst/>
          </a:prstGeom>
          <a:noFill/>
          <a:ln w="0">
            <a:noFill/>
          </a:ln>
        </p:spPr>
        <p:txBody>
          <a:bodyPr lIns="92160" rIns="92160" tIns="46080" bIns="46080" anchor="t">
            <a:normAutofit lnSpcReduction="9999"/>
          </a:bodyPr>
          <a:p>
            <a:pPr marL="3430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343080">
              <a:lnSpc>
                <a:spcPct val="9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3200" strike="noStrike" u="none">
                <a:solidFill>
                  <a:srgbClr val="000000"/>
                </a:solidFill>
                <a:effectLst/>
                <a:uFillTx/>
                <a:latin typeface="Times New Roman"/>
              </a:rPr>
              <a:t>Already approved informed consents had to be put onto new templates</a:t>
            </a:r>
            <a:endParaRPr b="0" lang="en-IN" sz="3200" strike="noStrike" u="none">
              <a:solidFill>
                <a:srgbClr val="000000"/>
              </a:solidFill>
              <a:effectLst/>
              <a:uFillTx/>
              <a:latin typeface="Times New Roman"/>
            </a:endParaRPr>
          </a:p>
          <a:p>
            <a:pPr marL="343080" indent="-343080">
              <a:lnSpc>
                <a:spcPct val="9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3200" strike="noStrike" u="none">
                <a:solidFill>
                  <a:srgbClr val="000000"/>
                </a:solidFill>
                <a:effectLst/>
                <a:uFillTx/>
                <a:latin typeface="Times New Roman"/>
              </a:rPr>
              <a:t>Changing from the PI of record to the Site PI name on all protocol documents and informed consents</a:t>
            </a:r>
            <a:endParaRPr b="0" lang="en-IN" sz="3200" strike="noStrike" u="none">
              <a:solidFill>
                <a:srgbClr val="000000"/>
              </a:solidFill>
              <a:effectLst/>
              <a:uFillTx/>
              <a:latin typeface="Times New Roman"/>
            </a:endParaRPr>
          </a:p>
          <a:p>
            <a:pPr marL="343080" indent="-343080">
              <a:lnSpc>
                <a:spcPct val="90000"/>
              </a:lnSpc>
              <a:spcBef>
                <a:spcPts val="799"/>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CA" sz="3200" strike="noStrike" u="none">
                <a:solidFill>
                  <a:srgbClr val="000000"/>
                </a:solidFill>
                <a:effectLst/>
                <a:uFillTx/>
                <a:latin typeface="Times New Roman"/>
              </a:rPr>
              <a:t>Annual reviews</a:t>
            </a:r>
            <a:endParaRPr b="0" lang="en-IN" sz="3200" strike="noStrike" u="none">
              <a:solidFill>
                <a:srgbClr val="000000"/>
              </a:solidFill>
              <a:effectLst/>
              <a:uFillTx/>
              <a:latin typeface="Times New Roman"/>
            </a:endParaRPr>
          </a:p>
          <a:p>
            <a:pPr marL="3430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a:p>
            <a:pPr marL="3430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990720" y="1215720"/>
            <a:ext cx="807696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3600" strike="noStrike" u="none">
                <a:solidFill>
                  <a:srgbClr val="cc3300"/>
                </a:solidFill>
                <a:effectLst/>
                <a:uFillTx/>
                <a:latin typeface="Times New Roman"/>
              </a:rPr>
              <a:t>Models of IRB Review Used by</a:t>
            </a:r>
            <a:br>
              <a:rPr sz="3600"/>
            </a:br>
            <a:r>
              <a:rPr b="0" lang="en-CA" sz="3600" strike="noStrike" u="none">
                <a:solidFill>
                  <a:srgbClr val="cc3300"/>
                </a:solidFill>
                <a:effectLst/>
                <a:uFillTx/>
                <a:latin typeface="Times New Roman"/>
              </a:rPr>
              <a:t> Physician Medical Researchers</a:t>
            </a:r>
            <a:br>
              <a:rPr sz="3600"/>
            </a:br>
            <a:endParaRPr b="0" lang="en-IN" sz="3600" strike="noStrike" u="none">
              <a:solidFill>
                <a:srgbClr val="000000"/>
              </a:solidFill>
              <a:effectLst/>
              <a:uFillTx/>
              <a:latin typeface="Times New Roman"/>
            </a:endParaRPr>
          </a:p>
        </p:txBody>
      </p:sp>
      <p:sp>
        <p:nvSpPr>
          <p:cNvPr id="106" name="PlaceHolder 2"/>
          <p:cNvSpPr>
            <a:spLocks noGrp="1"/>
          </p:cNvSpPr>
          <p:nvPr>
            <p:ph/>
          </p:nvPr>
        </p:nvSpPr>
        <p:spPr>
          <a:xfrm>
            <a:off x="495000" y="2441520"/>
            <a:ext cx="8064360" cy="3502080"/>
          </a:xfrm>
          <a:prstGeom prst="rect">
            <a:avLst/>
          </a:prstGeom>
          <a:noFill/>
          <a:ln w="0">
            <a:noFill/>
          </a:ln>
        </p:spPr>
        <p:txBody>
          <a:bodyPr lIns="92160" rIns="92160" tIns="46080" bIns="46080" anchor="t">
            <a:normAutofit/>
          </a:bodyPr>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Reciprocity Agreements</a:t>
            </a:r>
            <a:r>
              <a:rPr b="0" lang="en-CA" sz="2800" strike="noStrike" u="none">
                <a:solidFill>
                  <a:srgbClr val="000000"/>
                </a:solidFill>
                <a:effectLst/>
                <a:uFillTx/>
                <a:latin typeface="Times New Roman"/>
              </a:rPr>
              <a:t> Between IRBs</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CA" sz="2800" strike="noStrike" u="none">
                <a:solidFill>
                  <a:srgbClr val="000000"/>
                </a:solidFill>
                <a:effectLst/>
                <a:uFillTx/>
                <a:latin typeface="Times New Roman"/>
              </a:rPr>
              <a:t>National Centralized IRBs</a:t>
            </a:r>
            <a:endParaRPr b="0" lang="en-IN" sz="2800" strike="noStrike" u="none">
              <a:solidFill>
                <a:srgbClr val="000000"/>
              </a:solidFill>
              <a:effectLst/>
              <a:uFillTx/>
              <a:latin typeface="Times New Roman"/>
            </a:endParaRPr>
          </a:p>
          <a:p>
            <a:pPr lvl="3" marL="1600200" indent="-228600">
              <a:spcBef>
                <a:spcPts val="700"/>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National Cancer Center (NCC-IRB)</a:t>
            </a:r>
            <a:endParaRPr b="0" lang="en-IN" sz="2800" strike="noStrike" u="none">
              <a:solidFill>
                <a:srgbClr val="000000"/>
              </a:solidFill>
              <a:effectLst/>
              <a:uFillTx/>
              <a:latin typeface="Times New Roman"/>
            </a:endParaRPr>
          </a:p>
          <a:p>
            <a:pPr lvl="3" marL="1600200" indent="-228600">
              <a:spcBef>
                <a:spcPts val="700"/>
              </a:spcBef>
              <a:buClr>
                <a:srgbClr val="000000"/>
              </a:buClr>
              <a:buFont typeface="Times New Roman"/>
              <a:buChar char="•"/>
              <a:tabLst>
                <a:tab algn="l" pos="1828800"/>
                <a:tab algn="l" pos="2743200"/>
                <a:tab algn="l" pos="3657600"/>
                <a:tab algn="l" pos="4572000"/>
                <a:tab algn="l" pos="5486400"/>
                <a:tab algn="l" pos="6400800"/>
                <a:tab algn="l" pos="7315200"/>
                <a:tab algn="l" pos="8229600"/>
                <a:tab algn="l" pos="9144000"/>
                <a:tab algn="l" pos="10058400"/>
              </a:tabLst>
            </a:pPr>
            <a:r>
              <a:rPr b="0" lang="en-CA" sz="2800" strike="noStrike" u="none">
                <a:solidFill>
                  <a:srgbClr val="000000"/>
                </a:solidFill>
                <a:effectLst/>
                <a:uFillTx/>
                <a:latin typeface="Times New Roman"/>
              </a:rPr>
              <a:t>National Coordinating Center Cooperative Agreements (MACROS) (</a:t>
            </a:r>
            <a:r>
              <a:rPr b="1" lang="en-CA" sz="2800" strike="noStrike" u="none">
                <a:solidFill>
                  <a:srgbClr val="000000"/>
                </a:solidFill>
                <a:effectLst/>
                <a:uFillTx/>
                <a:latin typeface="Times New Roman"/>
              </a:rPr>
              <a:t>multicenter academic clinical research organization)</a:t>
            </a:r>
            <a:endParaRPr b="0" lang="en-IN" sz="2800" strike="noStrike" u="none">
              <a:solidFill>
                <a:srgbClr val="000000"/>
              </a:solidFill>
              <a:effectLst/>
              <a:uFillTx/>
              <a:latin typeface="Times New Roman"/>
            </a:endParaRPr>
          </a:p>
          <a:p>
            <a:pPr lvl="1" marL="743040" indent="-285840">
              <a:spcBef>
                <a:spcPts val="700"/>
              </a:spcBef>
              <a:buClr>
                <a:srgbClr val="000000"/>
              </a:buClr>
              <a:buFont typeface="Times New Roman"/>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trike="noStrike" u="none">
                <a:solidFill>
                  <a:srgbClr val="000000"/>
                </a:solidFill>
                <a:effectLst/>
                <a:uFillTx/>
                <a:latin typeface="Times New Roman"/>
              </a:rPr>
              <a:t>Research Collaboratories</a:t>
            </a:r>
            <a:endParaRPr b="0" lang="en-IN" sz="2800" strike="noStrike" u="none">
              <a:solidFill>
                <a:srgbClr val="000000"/>
              </a:solidFill>
              <a:effectLst/>
              <a:uFillTx/>
              <a:latin typeface="Times New Roman"/>
            </a:endParaRPr>
          </a:p>
          <a:p>
            <a:pPr lvl="3" marL="1600200" indent="0">
              <a:spcBef>
                <a:spcPts val="700"/>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472680" y="1215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4000" strike="noStrike" u="none">
                <a:solidFill>
                  <a:srgbClr val="000000"/>
                </a:solidFill>
                <a:effectLst/>
                <a:uFillTx/>
                <a:latin typeface="Times New Roman"/>
              </a:rPr>
              <a:t>Reciprocity Agreements</a:t>
            </a:r>
            <a:r>
              <a:rPr b="0" lang="en-CA" sz="4000" strike="noStrike" u="none">
                <a:solidFill>
                  <a:srgbClr val="000000"/>
                </a:solidFill>
                <a:effectLst/>
                <a:uFillTx/>
                <a:latin typeface="Times New Roman"/>
              </a:rPr>
              <a:t> Between IRBs</a:t>
            </a:r>
            <a:br>
              <a:rPr sz="4000"/>
            </a:br>
            <a:endParaRPr b="0" lang="en-IN" sz="4000" strike="noStrike" u="none">
              <a:solidFill>
                <a:srgbClr val="000000"/>
              </a:solidFill>
              <a:effectLst/>
              <a:uFillTx/>
              <a:latin typeface="Times New Roman"/>
            </a:endParaRPr>
          </a:p>
        </p:txBody>
      </p:sp>
      <p:sp>
        <p:nvSpPr>
          <p:cNvPr id="108" name=""/>
          <p:cNvSpPr/>
          <p:nvPr/>
        </p:nvSpPr>
        <p:spPr>
          <a:xfrm>
            <a:off x="762120" y="2743200"/>
            <a:ext cx="3733560" cy="1981080"/>
          </a:xfrm>
          <a:prstGeom prst="ellipse">
            <a:avLst/>
          </a:prstGeom>
          <a:no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09" name=""/>
          <p:cNvSpPr/>
          <p:nvPr/>
        </p:nvSpPr>
        <p:spPr>
          <a:xfrm>
            <a:off x="1752480" y="3276720"/>
            <a:ext cx="1905120" cy="947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3300"/>
                </a:solidFill>
                <a:effectLst/>
                <a:uFillTx/>
                <a:latin typeface="Times New Roman"/>
              </a:rPr>
              <a:t>IRB of Record</a:t>
            </a:r>
            <a:r>
              <a:rPr b="0" lang="en-IN" sz="2800" strike="noStrike" u="none">
                <a:solidFill>
                  <a:srgbClr val="cc3300"/>
                </a:solidFill>
                <a:effectLst/>
                <a:uFillTx/>
                <a:latin typeface="Times New Roman"/>
              </a:rPr>
              <a:t> </a:t>
            </a:r>
            <a:endParaRPr b="0" lang="en-IN" sz="2800" strike="noStrike" u="none">
              <a:solidFill>
                <a:srgbClr val="000000"/>
              </a:solidFill>
              <a:effectLst/>
              <a:uFillTx/>
              <a:latin typeface="Arial"/>
            </a:endParaRPr>
          </a:p>
        </p:txBody>
      </p:sp>
      <p:sp>
        <p:nvSpPr>
          <p:cNvPr id="110" name=""/>
          <p:cNvSpPr/>
          <p:nvPr/>
        </p:nvSpPr>
        <p:spPr>
          <a:xfrm>
            <a:off x="5486400" y="1905120"/>
            <a:ext cx="3809880" cy="44154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Clinical Sites</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(IRB Approval </a:t>
            </a:r>
            <a:r>
              <a:rPr b="0" lang="en-IN" sz="1800" strike="noStrike" u="none">
                <a:solidFill>
                  <a:srgbClr val="000000"/>
                </a:solidFill>
                <a:effectLst/>
                <a:uFillTx/>
                <a:latin typeface="Times New Roman"/>
              </a:rPr>
              <a:t>accepted</a:t>
            </a:r>
            <a:r>
              <a:rPr b="0" lang="en-IN" sz="2800" strike="noStrike" u="none">
                <a:solidFill>
                  <a:srgbClr val="000000"/>
                </a:solidFill>
                <a:effectLst/>
                <a:uFillTx/>
                <a:latin typeface="Times New Roman"/>
              </a:rPr>
              <a:t> )</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A</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B</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C</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D</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E</a:t>
            </a:r>
            <a:endParaRPr b="0" lang="en-IN" sz="2800" strike="noStrike" u="none">
              <a:solidFill>
                <a:srgbClr val="000000"/>
              </a:solidFill>
              <a:effectLst/>
              <a:uFillTx/>
              <a:latin typeface="Arial"/>
            </a:endParaRPr>
          </a:p>
        </p:txBody>
      </p:sp>
      <p:sp>
        <p:nvSpPr>
          <p:cNvPr id="111" name=""/>
          <p:cNvSpPr/>
          <p:nvPr/>
        </p:nvSpPr>
        <p:spPr>
          <a:xfrm>
            <a:off x="3352680" y="3505320"/>
            <a:ext cx="2133720" cy="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2" name=""/>
          <p:cNvSpPr/>
          <p:nvPr/>
        </p:nvSpPr>
        <p:spPr>
          <a:xfrm>
            <a:off x="3352680" y="3505320"/>
            <a:ext cx="2210040" cy="5331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3" name=""/>
          <p:cNvSpPr/>
          <p:nvPr/>
        </p:nvSpPr>
        <p:spPr>
          <a:xfrm>
            <a:off x="3429000" y="3505320"/>
            <a:ext cx="1981080" cy="10666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4" name=""/>
          <p:cNvSpPr/>
          <p:nvPr/>
        </p:nvSpPr>
        <p:spPr>
          <a:xfrm>
            <a:off x="3429000" y="3505320"/>
            <a:ext cx="2286000" cy="16002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5" name=""/>
          <p:cNvSpPr/>
          <p:nvPr/>
        </p:nvSpPr>
        <p:spPr>
          <a:xfrm>
            <a:off x="3429000" y="3505320"/>
            <a:ext cx="2057400" cy="22096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16" name=""/>
          <p:cNvSpPr/>
          <p:nvPr/>
        </p:nvSpPr>
        <p:spPr>
          <a:xfrm>
            <a:off x="1447920" y="5348160"/>
            <a:ext cx="243828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PI of Record</a:t>
            </a:r>
            <a:endParaRPr b="0" lang="en-IN" sz="2800" strike="noStrike" u="none">
              <a:solidFill>
                <a:srgbClr val="000000"/>
              </a:solidFill>
              <a:effectLst/>
              <a:uFillTx/>
              <a:latin typeface="Arial"/>
            </a:endParaRPr>
          </a:p>
        </p:txBody>
      </p:sp>
      <p:sp>
        <p:nvSpPr>
          <p:cNvPr id="117" name=""/>
          <p:cNvSpPr/>
          <p:nvPr/>
        </p:nvSpPr>
        <p:spPr>
          <a:xfrm>
            <a:off x="2590920" y="4876920"/>
            <a:ext cx="0" cy="53316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472680" y="1215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CA" sz="4000" strike="noStrike" u="none">
                <a:solidFill>
                  <a:srgbClr val="cc3300"/>
                </a:solidFill>
                <a:effectLst/>
                <a:uFillTx/>
                <a:latin typeface="Times New Roman"/>
              </a:rPr>
              <a:t>National Centralized IRBs</a:t>
            </a:r>
            <a:br>
              <a:rPr sz="4000"/>
            </a:br>
            <a:endParaRPr b="0" lang="en-IN" sz="4000" strike="noStrike" u="none">
              <a:solidFill>
                <a:srgbClr val="000000"/>
              </a:solidFill>
              <a:effectLst/>
              <a:uFillTx/>
              <a:latin typeface="Times New Roman"/>
            </a:endParaRPr>
          </a:p>
        </p:txBody>
      </p:sp>
      <p:sp>
        <p:nvSpPr>
          <p:cNvPr id="119" name=""/>
          <p:cNvSpPr/>
          <p:nvPr/>
        </p:nvSpPr>
        <p:spPr>
          <a:xfrm>
            <a:off x="838080" y="2286000"/>
            <a:ext cx="3505320" cy="1981080"/>
          </a:xfrm>
          <a:prstGeom prst="ellipse">
            <a:avLst/>
          </a:prstGeom>
          <a:no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20" name=""/>
          <p:cNvSpPr/>
          <p:nvPr/>
        </p:nvSpPr>
        <p:spPr>
          <a:xfrm>
            <a:off x="1523880" y="2514600"/>
            <a:ext cx="2438640" cy="137484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3300"/>
                </a:solidFill>
                <a:effectLst/>
                <a:uFillTx/>
                <a:latin typeface="Times New Roman"/>
              </a:rPr>
              <a:t>National Centralized IRB</a:t>
            </a:r>
            <a:endParaRPr b="0" lang="en-IN" sz="2800" strike="noStrike" u="none">
              <a:solidFill>
                <a:srgbClr val="000000"/>
              </a:solidFill>
              <a:effectLst/>
              <a:uFillTx/>
              <a:latin typeface="Arial"/>
            </a:endParaRPr>
          </a:p>
        </p:txBody>
      </p:sp>
      <p:sp>
        <p:nvSpPr>
          <p:cNvPr id="121" name=""/>
          <p:cNvSpPr/>
          <p:nvPr/>
        </p:nvSpPr>
        <p:spPr>
          <a:xfrm>
            <a:off x="4800600" y="2133720"/>
            <a:ext cx="3886200" cy="3606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Local IRB Review Not Eliminated but Limited</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A</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B</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C</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D</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E</a:t>
            </a:r>
            <a:endParaRPr b="0" lang="en-IN" sz="2400" strike="noStrike" u="none">
              <a:solidFill>
                <a:srgbClr val="000000"/>
              </a:solidFill>
              <a:effectLst/>
              <a:uFillTx/>
              <a:latin typeface="Arial"/>
            </a:endParaRPr>
          </a:p>
        </p:txBody>
      </p:sp>
      <p:sp>
        <p:nvSpPr>
          <p:cNvPr id="122" name=""/>
          <p:cNvSpPr/>
          <p:nvPr/>
        </p:nvSpPr>
        <p:spPr>
          <a:xfrm>
            <a:off x="1600200" y="5334120"/>
            <a:ext cx="243828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3300"/>
                </a:solidFill>
                <a:effectLst/>
                <a:uFillTx/>
                <a:latin typeface="Times New Roman"/>
              </a:rPr>
              <a:t>PI of Record</a:t>
            </a:r>
            <a:endParaRPr b="0" lang="en-IN" sz="2800" strike="noStrike" u="none">
              <a:solidFill>
                <a:srgbClr val="000000"/>
              </a:solidFill>
              <a:effectLst/>
              <a:uFillTx/>
              <a:latin typeface="Arial"/>
            </a:endParaRPr>
          </a:p>
        </p:txBody>
      </p:sp>
      <p:sp>
        <p:nvSpPr>
          <p:cNvPr id="123" name=""/>
          <p:cNvSpPr/>
          <p:nvPr/>
        </p:nvSpPr>
        <p:spPr>
          <a:xfrm>
            <a:off x="2362320" y="4495680"/>
            <a:ext cx="0" cy="68580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4" name=""/>
          <p:cNvSpPr/>
          <p:nvPr/>
        </p:nvSpPr>
        <p:spPr>
          <a:xfrm>
            <a:off x="3962520" y="3200400"/>
            <a:ext cx="914400" cy="76320"/>
          </a:xfrm>
          <a:prstGeom prst="line">
            <a:avLst/>
          </a:prstGeom>
          <a:ln w="9360">
            <a:solidFill>
              <a:srgbClr val="000000"/>
            </a:solidFill>
            <a:miter/>
            <a:tailEnd len="med" type="triangle" w="med"/>
          </a:ln>
        </p:spPr>
        <p:style>
          <a:lnRef idx="0"/>
          <a:fillRef idx="0"/>
          <a:effectRef idx="0"/>
          <a:fontRef idx="minor"/>
        </p:style>
        <p:txBody>
          <a:bodyPr lIns="90000" rIns="90000" tIns="29520" bIns="29520" anchor="t">
            <a:noAutofit/>
          </a:bodyPr>
          <a:p>
            <a:endParaRPr b="0" lang="en-IN" sz="1800" strike="noStrike" u="none">
              <a:solidFill>
                <a:srgbClr val="000000"/>
              </a:solidFill>
              <a:effectLst/>
              <a:uFillTx/>
              <a:latin typeface="Arial"/>
            </a:endParaRPr>
          </a:p>
        </p:txBody>
      </p:sp>
      <p:sp>
        <p:nvSpPr>
          <p:cNvPr id="125" name=""/>
          <p:cNvSpPr/>
          <p:nvPr/>
        </p:nvSpPr>
        <p:spPr>
          <a:xfrm>
            <a:off x="3962520" y="3200400"/>
            <a:ext cx="761760" cy="6094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6" name=""/>
          <p:cNvSpPr/>
          <p:nvPr/>
        </p:nvSpPr>
        <p:spPr>
          <a:xfrm>
            <a:off x="3962520" y="3200400"/>
            <a:ext cx="761760" cy="11430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7" name=""/>
          <p:cNvSpPr/>
          <p:nvPr/>
        </p:nvSpPr>
        <p:spPr>
          <a:xfrm>
            <a:off x="3962520" y="3200400"/>
            <a:ext cx="914400" cy="18288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8" name=""/>
          <p:cNvSpPr/>
          <p:nvPr/>
        </p:nvSpPr>
        <p:spPr>
          <a:xfrm>
            <a:off x="3962520" y="3200400"/>
            <a:ext cx="838080" cy="22096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29" name=""/>
          <p:cNvSpPr/>
          <p:nvPr/>
        </p:nvSpPr>
        <p:spPr>
          <a:xfrm>
            <a:off x="6019920" y="4797360"/>
            <a:ext cx="1981080" cy="1747440"/>
          </a:xfrm>
          <a:prstGeom prst="rect">
            <a:avLst/>
          </a:prstGeom>
          <a:noFill/>
          <a:ln w="9360">
            <a:solidFill>
              <a:srgbClr val="cc3300"/>
            </a:solidFill>
            <a:miter/>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Multicenter Academic Clinical Research Organization</a:t>
            </a:r>
            <a:endParaRPr b="0" lang="en-IN" sz="18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MACRO</a:t>
            </a:r>
            <a:endParaRPr b="0" lang="en-IN" sz="2400" strike="noStrike" u="none">
              <a:solidFill>
                <a:srgbClr val="000000"/>
              </a:solidFill>
              <a:effectLst/>
              <a:uFillTx/>
              <a:latin typeface="Arial"/>
            </a:endParaRPr>
          </a:p>
        </p:txBody>
      </p:sp>
      <p:sp>
        <p:nvSpPr>
          <p:cNvPr id="130" name=""/>
          <p:cNvSpPr/>
          <p:nvPr/>
        </p:nvSpPr>
        <p:spPr>
          <a:xfrm>
            <a:off x="6019920" y="3505320"/>
            <a:ext cx="2361960" cy="924480"/>
          </a:xfrm>
          <a:prstGeom prst="rect">
            <a:avLst/>
          </a:prstGeom>
          <a:noFill/>
          <a:ln w="9360">
            <a:solidFill>
              <a:srgbClr val="cc3300"/>
            </a:solidFill>
            <a:miter/>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National Cancer Center</a:t>
            </a:r>
            <a:endParaRPr b="0" lang="en-IN" sz="18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NC-IRB</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31" name=""/>
          <p:cNvSpPr/>
          <p:nvPr/>
        </p:nvSpPr>
        <p:spPr>
          <a:xfrm>
            <a:off x="3581280" y="1523880"/>
            <a:ext cx="5562720" cy="947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cc3300"/>
                </a:solidFill>
                <a:effectLst/>
                <a:uFillTx/>
                <a:latin typeface="Times New Roman"/>
              </a:rPr>
              <a:t>National Research Coordinating Center</a:t>
            </a:r>
            <a:endParaRPr b="0" lang="en-IN" sz="2800" strike="noStrike" u="none">
              <a:solidFill>
                <a:srgbClr val="000000"/>
              </a:solidFill>
              <a:effectLst/>
              <a:uFillTx/>
              <a:latin typeface="Arial"/>
            </a:endParaRPr>
          </a:p>
        </p:txBody>
      </p:sp>
      <p:sp>
        <p:nvSpPr>
          <p:cNvPr id="132" name=""/>
          <p:cNvSpPr/>
          <p:nvPr/>
        </p:nvSpPr>
        <p:spPr>
          <a:xfrm>
            <a:off x="838080" y="1523880"/>
            <a:ext cx="243864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PI of Record</a:t>
            </a:r>
            <a:endParaRPr b="0" lang="en-IN" sz="2800" strike="noStrike" u="none">
              <a:solidFill>
                <a:srgbClr val="000000"/>
              </a:solidFill>
              <a:effectLst/>
              <a:uFillTx/>
              <a:latin typeface="Arial"/>
            </a:endParaRPr>
          </a:p>
        </p:txBody>
      </p:sp>
      <p:sp>
        <p:nvSpPr>
          <p:cNvPr id="133" name=""/>
          <p:cNvSpPr/>
          <p:nvPr/>
        </p:nvSpPr>
        <p:spPr>
          <a:xfrm>
            <a:off x="3048120" y="1752480"/>
            <a:ext cx="533160" cy="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4" name=""/>
          <p:cNvSpPr/>
          <p:nvPr/>
        </p:nvSpPr>
        <p:spPr>
          <a:xfrm>
            <a:off x="914400" y="1523880"/>
            <a:ext cx="7620120" cy="457200"/>
          </a:xfrm>
          <a:prstGeom prst="rect">
            <a:avLst/>
          </a:prstGeom>
          <a:noFill/>
          <a:ln w="9360">
            <a:solidFill>
              <a:srgbClr val="cc33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5" name=""/>
          <p:cNvSpPr/>
          <p:nvPr/>
        </p:nvSpPr>
        <p:spPr>
          <a:xfrm>
            <a:off x="762120" y="2590920"/>
            <a:ext cx="7696080" cy="533160"/>
          </a:xfrm>
          <a:prstGeom prst="rect">
            <a:avLst/>
          </a:prstGeom>
          <a:no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6" name=""/>
          <p:cNvSpPr/>
          <p:nvPr/>
        </p:nvSpPr>
        <p:spPr>
          <a:xfrm>
            <a:off x="685800" y="3505320"/>
            <a:ext cx="8077320" cy="761760"/>
          </a:xfrm>
          <a:prstGeom prst="rect">
            <a:avLst/>
          </a:prstGeom>
          <a:no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7" name=""/>
          <p:cNvSpPr/>
          <p:nvPr/>
        </p:nvSpPr>
        <p:spPr>
          <a:xfrm>
            <a:off x="1295280" y="4724280"/>
            <a:ext cx="6400800" cy="1143000"/>
          </a:xfrm>
          <a:prstGeom prst="rect">
            <a:avLst/>
          </a:prstGeom>
          <a:noFill/>
          <a:ln w="9360">
            <a:solidFill>
              <a:srgbClr val="000000"/>
            </a:solidFill>
            <a:miter/>
          </a:ln>
        </p:spPr>
        <p:style>
          <a:lnRef idx="0"/>
          <a:fillRef idx="0"/>
          <a:effectRef idx="0"/>
          <a:fontRef idx="minor"/>
        </p:style>
        <p:txBody>
          <a:bodyPr wrap="none" lIns="90000" rIns="90000" tIns="46800" bIns="46800" anchor="ctr">
            <a:noAutofit/>
          </a:bodyPr>
          <a:p>
            <a:endParaRPr b="0" lang="en-IN" sz="1800" strike="noStrike" u="none">
              <a:solidFill>
                <a:srgbClr val="000000"/>
              </a:solidFill>
              <a:effectLst/>
              <a:uFillTx/>
              <a:latin typeface="Arial"/>
            </a:endParaRPr>
          </a:p>
        </p:txBody>
      </p:sp>
      <p:sp>
        <p:nvSpPr>
          <p:cNvPr id="138" name=""/>
          <p:cNvSpPr/>
          <p:nvPr/>
        </p:nvSpPr>
        <p:spPr>
          <a:xfrm>
            <a:off x="4038480" y="2133720"/>
            <a:ext cx="0" cy="30456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39" name=""/>
          <p:cNvSpPr/>
          <p:nvPr/>
        </p:nvSpPr>
        <p:spPr>
          <a:xfrm>
            <a:off x="4038480" y="3200400"/>
            <a:ext cx="0" cy="304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0" name=""/>
          <p:cNvSpPr/>
          <p:nvPr/>
        </p:nvSpPr>
        <p:spPr>
          <a:xfrm>
            <a:off x="4038480" y="4343400"/>
            <a:ext cx="0" cy="304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1" name=""/>
          <p:cNvSpPr/>
          <p:nvPr/>
        </p:nvSpPr>
        <p:spPr>
          <a:xfrm>
            <a:off x="762120" y="2590920"/>
            <a:ext cx="7543800" cy="459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    Coordinating Center Steering Committee Approval</a:t>
            </a:r>
            <a:endParaRPr b="0" lang="en-IN" sz="2400" strike="noStrike" u="none">
              <a:solidFill>
                <a:srgbClr val="000000"/>
              </a:solidFill>
              <a:effectLst/>
              <a:uFillTx/>
              <a:latin typeface="Arial"/>
            </a:endParaRPr>
          </a:p>
        </p:txBody>
      </p:sp>
      <p:sp>
        <p:nvSpPr>
          <p:cNvPr id="142" name=""/>
          <p:cNvSpPr/>
          <p:nvPr/>
        </p:nvSpPr>
        <p:spPr>
          <a:xfrm>
            <a:off x="990720" y="3429000"/>
            <a:ext cx="815328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Coordinating Center Staff Obtain IRB applications and submit to other coordinating clinical centers</a:t>
            </a:r>
            <a:endParaRPr b="0" lang="en-IN" sz="2400" strike="noStrike" u="none">
              <a:solidFill>
                <a:srgbClr val="000000"/>
              </a:solidFill>
              <a:effectLst/>
              <a:uFillTx/>
              <a:latin typeface="Arial"/>
            </a:endParaRPr>
          </a:p>
        </p:txBody>
      </p:sp>
      <p:sp>
        <p:nvSpPr>
          <p:cNvPr id="143" name=""/>
          <p:cNvSpPr/>
          <p:nvPr/>
        </p:nvSpPr>
        <p:spPr>
          <a:xfrm>
            <a:off x="1600200" y="4800600"/>
            <a:ext cx="6705720" cy="8254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000000"/>
                </a:solidFill>
                <a:effectLst/>
                <a:uFillTx/>
                <a:latin typeface="Times New Roman"/>
              </a:rPr>
              <a:t>IRBs at Coordinating Centers Review and Approve the same single study protocol</a:t>
            </a:r>
            <a:r>
              <a:rPr b="0" lang="en-US" sz="1800" strike="noStrike" u="none">
                <a:solidFill>
                  <a:srgbClr val="000000"/>
                </a:solidFill>
                <a:effectLst/>
                <a:uFillTx/>
                <a:latin typeface="Times New Roman"/>
              </a:rPr>
              <a:t> </a:t>
            </a:r>
            <a:endParaRPr b="0" lang="en-IN" sz="1800" strike="noStrike" u="none">
              <a:solidFill>
                <a:srgbClr val="000000"/>
              </a:solidFill>
              <a:effectLst/>
              <a:uFillTx/>
              <a:latin typeface="Arial"/>
            </a:endParaRPr>
          </a:p>
        </p:txBody>
      </p:sp>
      <p:sp>
        <p:nvSpPr>
          <p:cNvPr id="144" name=""/>
          <p:cNvSpPr/>
          <p:nvPr/>
        </p:nvSpPr>
        <p:spPr>
          <a:xfrm>
            <a:off x="2057400" y="6186600"/>
            <a:ext cx="8077320" cy="3682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A    B    C   D     E    F    G  H   I    J    K</a:t>
            </a:r>
            <a:endParaRPr b="0" lang="en-IN" sz="1800" strike="noStrike" u="none">
              <a:solidFill>
                <a:srgbClr val="000000"/>
              </a:solidFill>
              <a:effectLst/>
              <a:uFillTx/>
              <a:latin typeface="Arial"/>
            </a:endParaRPr>
          </a:p>
        </p:txBody>
      </p:sp>
      <p:sp>
        <p:nvSpPr>
          <p:cNvPr id="145" name=""/>
          <p:cNvSpPr/>
          <p:nvPr/>
        </p:nvSpPr>
        <p:spPr>
          <a:xfrm>
            <a:off x="4114800" y="5943600"/>
            <a:ext cx="0" cy="3049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6" name=""/>
          <p:cNvSpPr/>
          <p:nvPr/>
        </p:nvSpPr>
        <p:spPr>
          <a:xfrm>
            <a:off x="2666880" y="990720"/>
            <a:ext cx="3962520" cy="520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000000"/>
                </a:solidFill>
                <a:effectLst/>
                <a:uFillTx/>
                <a:latin typeface="Times New Roman"/>
              </a:rPr>
              <a:t>Cooperative Agreements</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47" name="PlaceHolder 1"/>
          <p:cNvSpPr>
            <a:spLocks noGrp="1"/>
          </p:cNvSpPr>
          <p:nvPr>
            <p:ph type="title"/>
          </p:nvPr>
        </p:nvSpPr>
        <p:spPr>
          <a:xfrm>
            <a:off x="472680" y="1215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000" strike="noStrike" u="none">
                <a:solidFill>
                  <a:srgbClr val="000000"/>
                </a:solidFill>
                <a:effectLst/>
                <a:uFillTx/>
                <a:latin typeface="Times New Roman"/>
              </a:rPr>
              <a:t>Research Collaboratories</a:t>
            </a:r>
            <a:br>
              <a:rPr sz="4000"/>
            </a:br>
            <a:endParaRPr b="0" lang="en-IN" sz="4000" strike="noStrike" u="none">
              <a:solidFill>
                <a:srgbClr val="000000"/>
              </a:solidFill>
              <a:effectLst/>
              <a:uFillTx/>
              <a:latin typeface="Times New Roman"/>
            </a:endParaRPr>
          </a:p>
        </p:txBody>
      </p:sp>
      <p:sp>
        <p:nvSpPr>
          <p:cNvPr id="148" name=""/>
          <p:cNvSpPr/>
          <p:nvPr/>
        </p:nvSpPr>
        <p:spPr>
          <a:xfrm>
            <a:off x="5105520" y="2362320"/>
            <a:ext cx="761760" cy="1371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49" name=""/>
          <p:cNvSpPr/>
          <p:nvPr/>
        </p:nvSpPr>
        <p:spPr>
          <a:xfrm flipH="1">
            <a:off x="5486400" y="3733920"/>
            <a:ext cx="380880" cy="9144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0" name=""/>
          <p:cNvSpPr/>
          <p:nvPr/>
        </p:nvSpPr>
        <p:spPr>
          <a:xfrm>
            <a:off x="380160" y="2286000"/>
            <a:ext cx="3041640" cy="1922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National Team</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Coordinating Center</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National Collaborative </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Times New Roman"/>
              </a:rPr>
              <a:t>Research Network</a:t>
            </a:r>
            <a:endParaRPr b="0" lang="en-IN" sz="2400" strike="noStrike" u="none">
              <a:solidFill>
                <a:srgbClr val="000000"/>
              </a:solidFill>
              <a:effectLst/>
              <a:uFillTx/>
              <a:latin typeface="Arial"/>
            </a:endParaRPr>
          </a:p>
        </p:txBody>
      </p:sp>
      <p:sp>
        <p:nvSpPr>
          <p:cNvPr id="151" name=""/>
          <p:cNvSpPr/>
          <p:nvPr/>
        </p:nvSpPr>
        <p:spPr>
          <a:xfrm>
            <a:off x="3733920" y="2362320"/>
            <a:ext cx="160020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All Study Material provided</a:t>
            </a:r>
            <a:endParaRPr b="0" lang="en-IN" sz="1800" strike="noStrike" u="none">
              <a:solidFill>
                <a:srgbClr val="000000"/>
              </a:solidFill>
              <a:effectLst/>
              <a:uFillTx/>
              <a:latin typeface="Arial"/>
            </a:endParaRPr>
          </a:p>
        </p:txBody>
      </p:sp>
      <p:sp>
        <p:nvSpPr>
          <p:cNvPr id="152" name=""/>
          <p:cNvSpPr/>
          <p:nvPr/>
        </p:nvSpPr>
        <p:spPr>
          <a:xfrm>
            <a:off x="3429000" y="3657600"/>
            <a:ext cx="2362320" cy="2844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Supportive </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Collaborative Engagement between PI, Site PIs and IRB members at each site</a:t>
            </a:r>
            <a:endParaRPr b="0" lang="en-IN" sz="2400" strike="noStrike" u="none">
              <a:solidFill>
                <a:srgbClr val="000000"/>
              </a:solidFill>
              <a:effectLst/>
              <a:uFillTx/>
              <a:latin typeface="Arial"/>
            </a:endParaRPr>
          </a:p>
        </p:txBody>
      </p:sp>
      <p:sp>
        <p:nvSpPr>
          <p:cNvPr id="153" name=""/>
          <p:cNvSpPr/>
          <p:nvPr/>
        </p:nvSpPr>
        <p:spPr>
          <a:xfrm>
            <a:off x="5867280" y="1981080"/>
            <a:ext cx="2895840" cy="245088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1-150 Sites &amp; </a:t>
            </a:r>
            <a:endParaRPr b="0" lang="en-IN" sz="2800" strike="noStrike" u="none">
              <a:solidFill>
                <a:srgbClr val="000000"/>
              </a:solidFill>
              <a:effectLst/>
              <a:uFillTx/>
              <a:latin typeface="Arial"/>
            </a:endParaRPr>
          </a:p>
          <a:p>
            <a:pPr>
              <a:lnSpc>
                <a:spcPct val="100000"/>
              </a:lnSpc>
              <a:spcBef>
                <a:spcPts val="17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0000"/>
                </a:solidFill>
                <a:effectLst/>
                <a:uFillTx/>
                <a:latin typeface="Times New Roman"/>
              </a:rPr>
              <a:t>Each Site Co-PI responsible for obtaining  IRB approval</a:t>
            </a:r>
            <a:endParaRPr b="0" lang="en-IN" sz="2800" strike="noStrike" u="none">
              <a:solidFill>
                <a:srgbClr val="000000"/>
              </a:solidFill>
              <a:effectLst/>
              <a:uFillTx/>
              <a:latin typeface="Arial"/>
            </a:endParaRPr>
          </a:p>
        </p:txBody>
      </p:sp>
      <p:sp>
        <p:nvSpPr>
          <p:cNvPr id="154" name=""/>
          <p:cNvSpPr/>
          <p:nvPr/>
        </p:nvSpPr>
        <p:spPr>
          <a:xfrm>
            <a:off x="7010280" y="4419720"/>
            <a:ext cx="0" cy="68580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5" name=""/>
          <p:cNvSpPr/>
          <p:nvPr/>
        </p:nvSpPr>
        <p:spPr>
          <a:xfrm>
            <a:off x="6019920" y="5105520"/>
            <a:ext cx="3352680" cy="86256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IRB approval Deadline</a:t>
            </a:r>
            <a:endParaRPr b="0" lang="en-IN" sz="2000" strike="noStrike" u="none">
              <a:solidFill>
                <a:srgbClr val="000000"/>
              </a:solidFill>
              <a:effectLst/>
              <a:uFillTx/>
              <a:latin typeface="Arial"/>
            </a:endParaRPr>
          </a:p>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imes New Roman"/>
              </a:rPr>
              <a:t> = In or Out of  the Study</a:t>
            </a:r>
            <a:endParaRPr b="0" lang="en-IN" sz="2000" strike="noStrike" u="none">
              <a:solidFill>
                <a:srgbClr val="000000"/>
              </a:solidFill>
              <a:effectLst/>
              <a:uFillTx/>
              <a:latin typeface="Arial"/>
            </a:endParaRPr>
          </a:p>
        </p:txBody>
      </p:sp>
      <p:sp>
        <p:nvSpPr>
          <p:cNvPr id="156" name=""/>
          <p:cNvSpPr/>
          <p:nvPr/>
        </p:nvSpPr>
        <p:spPr>
          <a:xfrm>
            <a:off x="3124080" y="2819520"/>
            <a:ext cx="457200" cy="76176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57" name=""/>
          <p:cNvSpPr/>
          <p:nvPr/>
        </p:nvSpPr>
        <p:spPr>
          <a:xfrm flipV="1">
            <a:off x="3124080" y="3581280"/>
            <a:ext cx="457200" cy="53352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58" name="PlaceHolder 1"/>
          <p:cNvSpPr>
            <a:spLocks noGrp="1"/>
          </p:cNvSpPr>
          <p:nvPr>
            <p:ph type="title"/>
          </p:nvPr>
        </p:nvSpPr>
        <p:spPr>
          <a:xfrm>
            <a:off x="472680" y="1215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ff3300"/>
                </a:solidFill>
                <a:effectLst/>
                <a:uFillTx/>
                <a:latin typeface="Times New Roman"/>
              </a:rPr>
              <a:t>How can IRBs and Universities help Social Scientists Avoid Unwarranted Significant Delays?</a:t>
            </a:r>
            <a:br>
              <a:rPr sz="4800"/>
            </a:br>
            <a:endParaRPr b="0" lang="en-IN" sz="2800" strike="noStrike" u="none">
              <a:solidFill>
                <a:srgbClr val="000000"/>
              </a:solidFill>
              <a:effectLst/>
              <a:uFillTx/>
              <a:latin typeface="Times New Roman"/>
            </a:endParaRPr>
          </a:p>
        </p:txBody>
      </p:sp>
      <p:sp>
        <p:nvSpPr>
          <p:cNvPr id="159" name="PlaceHolder 2"/>
          <p:cNvSpPr>
            <a:spLocks noGrp="1"/>
          </p:cNvSpPr>
          <p:nvPr>
            <p:ph/>
          </p:nvPr>
        </p:nvSpPr>
        <p:spPr>
          <a:xfrm>
            <a:off x="495000" y="1981080"/>
            <a:ext cx="8064360" cy="4724640"/>
          </a:xfrm>
          <a:prstGeom prst="rect">
            <a:avLst/>
          </a:prstGeom>
          <a:noFill/>
          <a:ln w="0">
            <a:noFill/>
          </a:ln>
        </p:spPr>
        <p:txBody>
          <a:bodyPr lIns="92160" rIns="92160" tIns="46080" bIns="46080" anchor="t">
            <a:normAutofit/>
          </a:bodyPr>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1) Multisite study design as a way of making their research more efficient and generalizeable; </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2) Risks associated with participation in social scientific studies are not as great as the risks associated with drug or devise randomized controlled trials </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3) Less administrative support to navigate the complex waters of multiple IRB reviews, as compared to researchers conducting large multisite clinical trials launched by industry sponsors, private sponsors, or academic medical centers  </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4) Very modest budget compared with clinical trials</a:t>
            </a:r>
            <a:endParaRPr b="0" lang="en-IN" sz="2400" strike="noStrike" u="none">
              <a:solidFill>
                <a:srgbClr val="000000"/>
              </a:solidFill>
              <a:effectLst/>
              <a:uFillTx/>
              <a:latin typeface="Times New Roman"/>
            </a:endParaRPr>
          </a:p>
          <a:p>
            <a:pPr marL="343080" indent="-34308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2400" strike="noStrike" u="none">
                <a:solidFill>
                  <a:srgbClr val="000000"/>
                </a:solidFill>
                <a:effectLst/>
                <a:uFillTx/>
                <a:latin typeface="Times New Roman"/>
              </a:rPr>
              <a:t>4) Unable to absorb the delays and unexpected expenses that can arise from multiple resubmissions and conflicting reviews” </a:t>
            </a:r>
            <a:endParaRPr b="0" lang="en-IN" sz="24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472680" y="1215720"/>
            <a:ext cx="8077320" cy="1143000"/>
          </a:xfrm>
          <a:prstGeom prst="rect">
            <a:avLst/>
          </a:prstGeom>
          <a:noFill/>
          <a:ln w="0">
            <a:noFill/>
          </a:ln>
        </p:spPr>
        <p:txBody>
          <a:bodyPr lIns="92160" rIns="92160" tIns="46080" bIns="4608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000" strike="noStrike" u="none">
                <a:solidFill>
                  <a:srgbClr val="000000"/>
                </a:solidFill>
                <a:effectLst/>
                <a:uFillTx/>
                <a:latin typeface="Times New Roman"/>
              </a:rPr>
              <a:t>Research Collaboratories</a:t>
            </a:r>
            <a:br>
              <a:rPr sz="4000"/>
            </a:br>
            <a:endParaRPr b="0" lang="en-IN" sz="4000" strike="noStrike" u="none">
              <a:solidFill>
                <a:srgbClr val="000000"/>
              </a:solidFill>
              <a:effectLst/>
              <a:uFillTx/>
              <a:latin typeface="Times New Roman"/>
            </a:endParaRPr>
          </a:p>
        </p:txBody>
      </p:sp>
      <p:sp>
        <p:nvSpPr>
          <p:cNvPr id="161" name=""/>
          <p:cNvSpPr/>
          <p:nvPr/>
        </p:nvSpPr>
        <p:spPr>
          <a:xfrm>
            <a:off x="4800600" y="2362320"/>
            <a:ext cx="762120" cy="13716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2" name=""/>
          <p:cNvSpPr/>
          <p:nvPr/>
        </p:nvSpPr>
        <p:spPr>
          <a:xfrm flipH="1">
            <a:off x="5181120" y="3733920"/>
            <a:ext cx="381240" cy="91440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3" name=""/>
          <p:cNvSpPr/>
          <p:nvPr/>
        </p:nvSpPr>
        <p:spPr>
          <a:xfrm>
            <a:off x="383040" y="1981080"/>
            <a:ext cx="3059640" cy="192276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SINGLE Investigator </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Government Funded</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Social Science </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Observational </a:t>
            </a:r>
            <a:endParaRPr b="0" lang="en-IN" sz="2400" strike="noStrike" u="none">
              <a:solidFill>
                <a:srgbClr val="000000"/>
              </a:solidFill>
              <a:effectLst/>
              <a:uFillTx/>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Studies</a:t>
            </a:r>
            <a:endParaRPr b="0" lang="en-IN" sz="2400" strike="noStrike" u="none">
              <a:solidFill>
                <a:srgbClr val="000000"/>
              </a:solidFill>
              <a:effectLst/>
              <a:uFillTx/>
              <a:latin typeface="Arial"/>
            </a:endParaRPr>
          </a:p>
        </p:txBody>
      </p:sp>
      <p:sp>
        <p:nvSpPr>
          <p:cNvPr id="164" name=""/>
          <p:cNvSpPr/>
          <p:nvPr/>
        </p:nvSpPr>
        <p:spPr>
          <a:xfrm>
            <a:off x="3733920" y="2362320"/>
            <a:ext cx="1600200" cy="9169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000000"/>
                </a:solidFill>
                <a:effectLst/>
                <a:uFillTx/>
                <a:latin typeface="Times New Roman"/>
              </a:rPr>
              <a:t>All Study Material provided</a:t>
            </a:r>
            <a:endParaRPr b="0" lang="en-IN" sz="1800" strike="noStrike" u="none">
              <a:solidFill>
                <a:srgbClr val="000000"/>
              </a:solidFill>
              <a:effectLst/>
              <a:uFillTx/>
              <a:latin typeface="Arial"/>
            </a:endParaRPr>
          </a:p>
        </p:txBody>
      </p:sp>
      <p:sp>
        <p:nvSpPr>
          <p:cNvPr id="165" name=""/>
          <p:cNvSpPr/>
          <p:nvPr/>
        </p:nvSpPr>
        <p:spPr>
          <a:xfrm>
            <a:off x="6172200" y="1523880"/>
            <a:ext cx="2362320" cy="50695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Collaborative Engagement between PI, Site PIs &amp; IRB representative  at each site</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A</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B</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C</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000000"/>
                </a:solidFill>
                <a:effectLst/>
                <a:uFillTx/>
                <a:latin typeface="Times New Roman"/>
              </a:rPr>
              <a:t>D</a:t>
            </a:r>
            <a:endParaRPr b="0" lang="en-IN" sz="2400" strike="noStrike" u="none">
              <a:solidFill>
                <a:srgbClr val="000000"/>
              </a:solidFill>
              <a:effectLst/>
              <a:uFillTx/>
              <a:latin typeface="Arial"/>
            </a:endParaRPr>
          </a:p>
        </p:txBody>
      </p:sp>
      <p:sp>
        <p:nvSpPr>
          <p:cNvPr id="166" name=""/>
          <p:cNvSpPr/>
          <p:nvPr/>
        </p:nvSpPr>
        <p:spPr>
          <a:xfrm>
            <a:off x="6019920" y="5105520"/>
            <a:ext cx="3352680" cy="396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Arial"/>
            </a:endParaRPr>
          </a:p>
        </p:txBody>
      </p:sp>
      <p:sp>
        <p:nvSpPr>
          <p:cNvPr id="167" name=""/>
          <p:cNvSpPr/>
          <p:nvPr/>
        </p:nvSpPr>
        <p:spPr>
          <a:xfrm>
            <a:off x="3124080" y="2819520"/>
            <a:ext cx="457200" cy="76176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8" name=""/>
          <p:cNvSpPr/>
          <p:nvPr/>
        </p:nvSpPr>
        <p:spPr>
          <a:xfrm flipV="1">
            <a:off x="3124080" y="3581280"/>
            <a:ext cx="457200" cy="53352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
        <p:nvSpPr>
          <p:cNvPr id="169" name=""/>
          <p:cNvSpPr/>
          <p:nvPr/>
        </p:nvSpPr>
        <p:spPr>
          <a:xfrm>
            <a:off x="685800" y="4572000"/>
            <a:ext cx="3886200" cy="3240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IRB Support</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Guidelines </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Tools</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cc3300"/>
                </a:solidFill>
                <a:effectLst/>
                <a:uFillTx/>
                <a:latin typeface="Times New Roman"/>
              </a:rPr>
              <a:t>Conference Calls</a:t>
            </a: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p:txBody>
      </p:sp>
      <p:sp>
        <p:nvSpPr>
          <p:cNvPr id="170" name=""/>
          <p:cNvSpPr/>
          <p:nvPr/>
        </p:nvSpPr>
        <p:spPr>
          <a:xfrm>
            <a:off x="1752480" y="3962520"/>
            <a:ext cx="0" cy="685800"/>
          </a:xfrm>
          <a:prstGeom prst="line">
            <a:avLst/>
          </a:prstGeom>
          <a:ln w="9360">
            <a:solidFill>
              <a:srgbClr val="000000"/>
            </a:solidFill>
            <a:miter/>
            <a:headEnd len="med" type="triangle" w="med"/>
            <a:tailEnd len="med" type="triangle" w="med"/>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tile tx="0" ty="0" sx="100000" sy="100000" algn="ctr"/>
        </a:blipFill>
      </p:bgPr>
    </p:bg>
    <p:spTree>
      <p:nvGrpSpPr>
        <p:cNvPr id="1" name=""/>
        <p:cNvGrpSpPr/>
        <p:nvPr/>
      </p:nvGrpSpPr>
      <p:grpSpPr>
        <a:xfrm>
          <a:off x="0" y="0"/>
          <a:ext cx="0" cy="0"/>
          <a:chOff x="0" y="0"/>
          <a:chExt cx="0" cy="0"/>
        </a:xfrm>
      </p:grpSpPr>
      <p:sp>
        <p:nvSpPr>
          <p:cNvPr id="171" name="PlaceHolder 1"/>
          <p:cNvSpPr>
            <a:spLocks noGrp="1"/>
          </p:cNvSpPr>
          <p:nvPr>
            <p:ph type="title"/>
          </p:nvPr>
        </p:nvSpPr>
        <p:spPr>
          <a:xfrm>
            <a:off x="685800" y="1523880"/>
            <a:ext cx="7772400" cy="78912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cc3300"/>
                </a:solidFill>
                <a:effectLst/>
                <a:uFillTx/>
                <a:latin typeface="Times New Roman"/>
              </a:rPr>
              <a:t>Who Do You Call When the IRB is Significantly Delaying Approval of Your Research?</a:t>
            </a:r>
            <a:endParaRPr b="0" lang="en-IN" sz="3600" strike="noStrike" u="none">
              <a:solidFill>
                <a:srgbClr val="000000"/>
              </a:solidFill>
              <a:effectLst/>
              <a:uFillTx/>
              <a:latin typeface="Times New Roman"/>
            </a:endParaRPr>
          </a:p>
        </p:txBody>
      </p:sp>
      <p:sp>
        <p:nvSpPr>
          <p:cNvPr id="172" name="PlaceHolder 2"/>
          <p:cNvSpPr>
            <a:spLocks noGrp="1"/>
          </p:cNvSpPr>
          <p:nvPr>
            <p:ph type="subTitle"/>
          </p:nvPr>
        </p:nvSpPr>
        <p:spPr>
          <a:xfrm>
            <a:off x="1371600" y="2819520"/>
            <a:ext cx="6400800" cy="1752480"/>
          </a:xfrm>
          <a:prstGeom prst="rect">
            <a:avLst/>
          </a:prstGeom>
          <a:noFill/>
          <a:ln w="0">
            <a:noFill/>
          </a:ln>
        </p:spPr>
        <p:txBody>
          <a:bodyPr lIns="90000" rIns="90000" tIns="46800" bIns="46800" anchor="t">
            <a:noAutofit/>
          </a:bodyPr>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2000" strike="noStrike" u="none">
                <a:solidFill>
                  <a:srgbClr val="000000"/>
                </a:solidFill>
                <a:effectLst/>
                <a:uFillTx/>
                <a:latin typeface="Times New Roman"/>
              </a:rPr>
              <a:t>Gwen Anderson</a:t>
            </a:r>
            <a:r>
              <a:rPr b="0" lang="de-DE" sz="1800" strike="noStrike" u="none">
                <a:solidFill>
                  <a:srgbClr val="000000"/>
                </a:solidFill>
                <a:effectLst/>
                <a:uFillTx/>
                <a:latin typeface="Times New Roman"/>
              </a:rPr>
              <a:t>, RN, Ph.D.</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imes New Roman"/>
              </a:rPr>
              <a:t>Assistant Professor School of Nursing University of British Columbia Okanagan &amp; Adjunct Associate Professor School of Nursing, San Diego State University </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sng">
                <a:solidFill>
                  <a:srgbClr val="cc00cc"/>
                </a:solidFill>
                <a:effectLst/>
                <a:uFillTx/>
                <a:latin typeface="Times New Roman"/>
                <a:hlinkClick r:id="rId2"/>
              </a:rPr>
              <a:t>ganderso@mail.sdsu.edu</a:t>
            </a:r>
            <a:r>
              <a:rPr b="0" lang="en-US" sz="1800" strike="noStrike" u="none">
                <a:solidFill>
                  <a:srgbClr val="000000"/>
                </a:solidFill>
                <a:effectLst/>
                <a:uFillTx/>
                <a:latin typeface="Times New Roman"/>
              </a:rPr>
              <a:t>  (619) 473-0185&amp; </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1800" strike="noStrike" u="none">
                <a:solidFill>
                  <a:srgbClr val="000000"/>
                </a:solidFill>
                <a:effectLst/>
                <a:uFillTx/>
                <a:latin typeface="Times New Roman"/>
              </a:rPr>
              <a:t>&amp;</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1800" strike="noStrike" u="none">
                <a:solidFill>
                  <a:srgbClr val="000000"/>
                </a:solidFill>
                <a:effectLst/>
                <a:uFillTx/>
                <a:latin typeface="Times New Roman"/>
              </a:rPr>
              <a:t>Thea Cacchioni, Ph.D.</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CA" sz="1800" strike="noStrike" u="none">
                <a:solidFill>
                  <a:srgbClr val="000000"/>
                </a:solidFill>
                <a:effectLst/>
                <a:uFillTx/>
                <a:latin typeface="Times New Roman"/>
              </a:rPr>
              <a:t>Lecturer, Women and Gender Studies</a:t>
            </a:r>
            <a:br>
              <a:rPr sz="1800"/>
            </a:br>
            <a:r>
              <a:rPr b="0" lang="en-CA" sz="1800" strike="noStrike" u="none">
                <a:solidFill>
                  <a:srgbClr val="000000"/>
                </a:solidFill>
                <a:effectLst/>
                <a:uFillTx/>
                <a:latin typeface="Times New Roman"/>
              </a:rPr>
              <a:t>University of British Columbia Okanagan</a:t>
            </a:r>
            <a:br>
              <a:rPr sz="1800"/>
            </a:br>
            <a:r>
              <a:rPr b="0" lang="en-CA" sz="1800" strike="noStrike" u="none">
                <a:solidFill>
                  <a:srgbClr val="000000"/>
                </a:solidFill>
                <a:effectLst/>
                <a:uFillTx/>
                <a:latin typeface="Times New Roman"/>
              </a:rPr>
              <a:t>thea.cacchioni@ubc.ca</a:t>
            </a:r>
            <a:endParaRPr b="0" lang="en-IN" sz="1800" strike="noStrike" u="none">
              <a:solidFill>
                <a:srgbClr val="000000"/>
              </a:solidFill>
              <a:effectLst/>
              <a:uFillTx/>
              <a:latin typeface="Times New Roman"/>
            </a:endParaRPr>
          </a:p>
          <a:p>
            <a:pPr indent="0" algn="ctr">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000000"/>
              </a:solidFill>
              <a:effectLst/>
              <a:uFillTx/>
              <a:latin typeface="Times New Roman"/>
            </a:endParaRPr>
          </a:p>
        </p:txBody>
      </p:sp>
      <p:sp>
        <p:nvSpPr>
          <p:cNvPr id="173" name=""/>
          <p:cNvSpPr/>
          <p:nvPr/>
        </p:nvSpPr>
        <p:spPr>
          <a:xfrm>
            <a:off x="762120" y="5408640"/>
            <a:ext cx="7315200" cy="91692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Arial"/>
                <a:ea typeface="굴림"/>
              </a:rPr>
              <a:t>This paper was funded by a grant awarded from the National Heart, Lung, and Blood Institute, titled, “Common daily practice of gene therapy clinical research” (Grant # HL 083963-01A1).</a:t>
            </a:r>
            <a:endParaRPr b="0" lang="en-IN"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278</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2009-05-15T07:58:41Z</dcterms:created>
  <dc:creator>Dr. Gwen Anderson</dc:creator>
  <dc:description/>
  <dc:language>en-IN</dc:language>
  <cp:lastModifiedBy>Dr. Gwen Anderson</cp:lastModifiedBy>
  <dcterms:modified xsi:type="dcterms:W3CDTF">2009-05-16T09:08:02Z</dcterms:modified>
  <cp:revision>104</cp:revision>
  <dc:subject/>
  <dc:title>Slide 1</dc:title>
</cp:coreProperties>
</file>