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13.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media/image1.png" ContentType="image/png"/>
  <Override PartName="/ppt/media/image7.jpeg" ContentType="image/jpeg"/>
  <Override PartName="/ppt/media/image2.jpeg" ContentType="image/jpeg"/>
  <Override PartName="/ppt/media/image8.png" ContentType="image/png"/>
  <Override PartName="/ppt/media/image3.jpeg" ContentType="image/jpeg"/>
  <Override PartName="/ppt/media/image5.png" ContentType="image/png"/>
  <Override PartName="/ppt/media/image4.png" ContentType="image/png"/>
  <Override PartName="/ppt/media/image6.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6858000"/>
  <p:notesSz cx="7008813"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
          <p:cNvSpPr/>
          <p:nvPr/>
        </p:nvSpPr>
        <p:spPr>
          <a:xfrm>
            <a:off x="0" y="0"/>
            <a:ext cx="7009200" cy="92952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11" name="PlaceHolder 1"/>
          <p:cNvSpPr>
            <a:spLocks noGrp="1"/>
          </p:cNvSpPr>
          <p:nvPr>
            <p:ph type="hdr"/>
          </p:nvPr>
        </p:nvSpPr>
        <p:spPr>
          <a:xfrm>
            <a:off x="0" y="0"/>
            <a:ext cx="3038400" cy="465120"/>
          </a:xfrm>
          <a:prstGeom prst="rect">
            <a:avLst/>
          </a:prstGeom>
          <a:noFill/>
          <a:ln w="0">
            <a:noFill/>
          </a:ln>
        </p:spPr>
        <p:txBody>
          <a:bodyPr lIns="93240" rIns="93240" tIns="46440" bIns="4644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2" name="PlaceHolder 2"/>
          <p:cNvSpPr>
            <a:spLocks noGrp="1"/>
          </p:cNvSpPr>
          <p:nvPr>
            <p:ph type="dt" idx="7"/>
          </p:nvPr>
        </p:nvSpPr>
        <p:spPr>
          <a:xfrm>
            <a:off x="3970440" y="0"/>
            <a:ext cx="3038400" cy="465120"/>
          </a:xfrm>
          <a:prstGeom prst="rect">
            <a:avLst/>
          </a:prstGeom>
          <a:noFill/>
          <a:ln w="0">
            <a:noFill/>
          </a:ln>
        </p:spPr>
        <p:txBody>
          <a:bodyPr lIns="93240" rIns="93240" tIns="46440" bIns="4644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3" name="PlaceHolder 3"/>
          <p:cNvSpPr>
            <a:spLocks noGrp="1"/>
          </p:cNvSpPr>
          <p:nvPr>
            <p:ph type="sldImg"/>
          </p:nvPr>
        </p:nvSpPr>
        <p:spPr>
          <a:xfrm>
            <a:off x="1181160" y="696960"/>
            <a:ext cx="4648320" cy="3486240"/>
          </a:xfrm>
          <a:prstGeom prst="rect">
            <a:avLst/>
          </a:prstGeom>
          <a:no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move the slide</a:t>
            </a:r>
            <a:endParaRPr b="0" lang="en-IN" sz="4400" strike="noStrike" u="none">
              <a:solidFill>
                <a:srgbClr val="000000"/>
              </a:solidFill>
              <a:effectLst/>
              <a:uFillTx/>
              <a:latin typeface="Arial"/>
            </a:endParaRPr>
          </a:p>
        </p:txBody>
      </p:sp>
      <p:sp>
        <p:nvSpPr>
          <p:cNvPr id="14" name="PlaceHolder 4"/>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15" name="PlaceHolder 5"/>
          <p:cNvSpPr>
            <a:spLocks noGrp="1"/>
          </p:cNvSpPr>
          <p:nvPr>
            <p:ph type="ftr" idx="8"/>
          </p:nvPr>
        </p:nvSpPr>
        <p:spPr>
          <a:xfrm>
            <a:off x="0" y="8829720"/>
            <a:ext cx="3038400" cy="465120"/>
          </a:xfrm>
          <a:prstGeom prst="rect">
            <a:avLst/>
          </a:prstGeom>
          <a:noFill/>
          <a:ln w="0">
            <a:noFill/>
          </a:ln>
        </p:spPr>
        <p:txBody>
          <a:bodyPr lIns="93240" rIns="93240" tIns="46440" bIns="4644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6" name="PlaceHolder 6"/>
          <p:cNvSpPr>
            <a:spLocks noGrp="1"/>
          </p:cNvSpPr>
          <p:nvPr>
            <p:ph type="sldNum" idx="9"/>
          </p:nvPr>
        </p:nvSpPr>
        <p:spPr>
          <a:xfrm>
            <a:off x="3970440" y="8829720"/>
            <a:ext cx="3038400" cy="465120"/>
          </a:xfrm>
          <a:prstGeom prst="rect">
            <a:avLst/>
          </a:prstGeom>
          <a:noFill/>
          <a:ln w="0">
            <a:noFill/>
          </a:ln>
        </p:spPr>
        <p:txBody>
          <a:bodyPr lIns="93240" rIns="93240" tIns="46440" bIns="46440" anchor="b">
            <a:noAutofit/>
          </a:bodyPr>
          <a:lstStyle>
            <a:lvl1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defRPr b="0" lang="en-US" sz="1200" strike="noStrike" u="none">
                <a:solidFill>
                  <a:srgbClr val="000000"/>
                </a:solidFill>
                <a:effectLst/>
                <a:uFillTx/>
                <a:latin typeface="Arial"/>
              </a:defRPr>
            </a:lvl1pPr>
          </a:lstStyle>
          <a:p>
            <a: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C6BCA852-8859-4AA1-AA2E-0ECEEA46216D}"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08CF0972-BFA3-4808-9343-0B646CA7EA65}"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3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554CCBFA-5834-43AE-99F4-531FB2A921A1}"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35" name="PlaceHolder 1"/>
          <p:cNvSpPr>
            <a:spLocks noGrp="1"/>
          </p:cNvSpPr>
          <p:nvPr>
            <p:ph type="sldImg"/>
          </p:nvPr>
        </p:nvSpPr>
        <p:spPr>
          <a:xfrm>
            <a:off x="1181160" y="696960"/>
            <a:ext cx="4648320" cy="3486240"/>
          </a:xfrm>
          <a:prstGeom prst="rect">
            <a:avLst/>
          </a:prstGeom>
          <a:ln w="0">
            <a:noFill/>
          </a:ln>
        </p:spPr>
      </p:sp>
      <p:sp>
        <p:nvSpPr>
          <p:cNvPr id="136"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3FB84F33-CB3D-4414-9EF7-7B27808EBA62}"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3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92365B0-41A8-4C31-B0F6-F059D11D16A5}"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39" name="PlaceHolder 1"/>
          <p:cNvSpPr>
            <a:spLocks noGrp="1"/>
          </p:cNvSpPr>
          <p:nvPr>
            <p:ph type="sldImg"/>
          </p:nvPr>
        </p:nvSpPr>
        <p:spPr>
          <a:xfrm>
            <a:off x="1181160" y="696960"/>
            <a:ext cx="4648320" cy="3486240"/>
          </a:xfrm>
          <a:prstGeom prst="rect">
            <a:avLst/>
          </a:prstGeom>
          <a:ln w="0">
            <a:noFill/>
          </a:ln>
        </p:spPr>
      </p:sp>
      <p:sp>
        <p:nvSpPr>
          <p:cNvPr id="140"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795957FE-6B0A-49E1-B9EE-EBFD8030777F}"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4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9CA0A868-6F44-4E37-BD2A-E3C2320141A5}"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43" name="PlaceHolder 1"/>
          <p:cNvSpPr>
            <a:spLocks noGrp="1"/>
          </p:cNvSpPr>
          <p:nvPr>
            <p:ph type="sldImg"/>
          </p:nvPr>
        </p:nvSpPr>
        <p:spPr>
          <a:xfrm>
            <a:off x="1181160" y="696960"/>
            <a:ext cx="4648320" cy="3486240"/>
          </a:xfrm>
          <a:prstGeom prst="rect">
            <a:avLst/>
          </a:prstGeom>
          <a:ln w="0">
            <a:noFill/>
          </a:ln>
        </p:spPr>
      </p:sp>
      <p:sp>
        <p:nvSpPr>
          <p:cNvPr id="14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247DF12A-E44A-46BA-8038-8C20F202423E}"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4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DE30AF0-AB27-47D0-9386-F87032D03F7F}"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47" name="PlaceHolder 1"/>
          <p:cNvSpPr>
            <a:spLocks noGrp="1"/>
          </p:cNvSpPr>
          <p:nvPr>
            <p:ph type="sldImg"/>
          </p:nvPr>
        </p:nvSpPr>
        <p:spPr>
          <a:xfrm>
            <a:off x="1181160" y="696960"/>
            <a:ext cx="4648320" cy="3486240"/>
          </a:xfrm>
          <a:prstGeom prst="rect">
            <a:avLst/>
          </a:prstGeom>
          <a:ln w="0">
            <a:noFill/>
          </a:ln>
        </p:spPr>
      </p:sp>
      <p:sp>
        <p:nvSpPr>
          <p:cNvPr id="148"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8EC9363-7698-4DFD-93C2-2CAFBCB2362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5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600F2CCC-5D68-46CF-BC82-5962F426813A}"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51" name="PlaceHolder 1"/>
          <p:cNvSpPr>
            <a:spLocks noGrp="1"/>
          </p:cNvSpPr>
          <p:nvPr>
            <p:ph type="sldImg"/>
          </p:nvPr>
        </p:nvSpPr>
        <p:spPr>
          <a:xfrm>
            <a:off x="1181160" y="696960"/>
            <a:ext cx="4648320" cy="3486240"/>
          </a:xfrm>
          <a:prstGeom prst="rect">
            <a:avLst/>
          </a:prstGeom>
          <a:ln w="0">
            <a:noFill/>
          </a:ln>
        </p:spPr>
      </p:sp>
      <p:sp>
        <p:nvSpPr>
          <p:cNvPr id="152"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2AAD7608-EC04-48BE-92D3-F32342BB52BA}"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5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2E919EA1-1A86-4FC3-BB8F-272FBF930A9F}"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55" name="PlaceHolder 1"/>
          <p:cNvSpPr>
            <a:spLocks noGrp="1"/>
          </p:cNvSpPr>
          <p:nvPr>
            <p:ph type="sldImg"/>
          </p:nvPr>
        </p:nvSpPr>
        <p:spPr>
          <a:xfrm>
            <a:off x="1181160" y="696960"/>
            <a:ext cx="4648320" cy="3486240"/>
          </a:xfrm>
          <a:prstGeom prst="rect">
            <a:avLst/>
          </a:prstGeom>
          <a:ln w="0">
            <a:noFill/>
          </a:ln>
        </p:spPr>
      </p:sp>
      <p:sp>
        <p:nvSpPr>
          <p:cNvPr id="156"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929CFB48-F066-4BA2-818E-C38EB3AA892F}"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5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98AF1BD1-92A4-4023-99EF-66FE668A8DD4}"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59" name="PlaceHolder 1"/>
          <p:cNvSpPr>
            <a:spLocks noGrp="1"/>
          </p:cNvSpPr>
          <p:nvPr>
            <p:ph type="sldImg"/>
          </p:nvPr>
        </p:nvSpPr>
        <p:spPr>
          <a:xfrm>
            <a:off x="1181160" y="696960"/>
            <a:ext cx="4648320" cy="3486240"/>
          </a:xfrm>
          <a:prstGeom prst="rect">
            <a:avLst/>
          </a:prstGeom>
          <a:ln w="0">
            <a:noFill/>
          </a:ln>
        </p:spPr>
      </p:sp>
      <p:sp>
        <p:nvSpPr>
          <p:cNvPr id="160"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757E0B38-45AC-410A-842D-C7BEFBA868E0}"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6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F26E3A8C-1B3F-49D8-8ECF-91048FBB72AF}"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63" name="PlaceHolder 1"/>
          <p:cNvSpPr>
            <a:spLocks noGrp="1"/>
          </p:cNvSpPr>
          <p:nvPr>
            <p:ph type="sldImg"/>
          </p:nvPr>
        </p:nvSpPr>
        <p:spPr>
          <a:xfrm>
            <a:off x="1181160" y="696960"/>
            <a:ext cx="4648320" cy="3486240"/>
          </a:xfrm>
          <a:prstGeom prst="rect">
            <a:avLst/>
          </a:prstGeom>
          <a:ln w="0">
            <a:noFill/>
          </a:ln>
        </p:spPr>
      </p:sp>
      <p:sp>
        <p:nvSpPr>
          <p:cNvPr id="16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77C3549-5DFC-4420-9320-0530F8B020BE}"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6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1254C640-6D46-4EA2-A995-5EDB7BA96ADD}"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167" name="PlaceHolder 1"/>
          <p:cNvSpPr>
            <a:spLocks noGrp="1"/>
          </p:cNvSpPr>
          <p:nvPr>
            <p:ph type="sldImg"/>
          </p:nvPr>
        </p:nvSpPr>
        <p:spPr>
          <a:xfrm>
            <a:off x="1181160" y="696960"/>
            <a:ext cx="4648320" cy="3486240"/>
          </a:xfrm>
          <a:prstGeom prst="rect">
            <a:avLst/>
          </a:prstGeom>
          <a:ln w="0">
            <a:noFill/>
          </a:ln>
        </p:spPr>
      </p:sp>
      <p:sp>
        <p:nvSpPr>
          <p:cNvPr id="168"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gradFill rotWithShape="0">
          <a:gsLst>
            <a:gs pos="0">
              <a:srgbClr val="ffffcc"/>
            </a:gs>
            <a:gs pos="100000">
              <a:srgbClr val="ffcc99"/>
            </a:gs>
          </a:gsLst>
          <a:lin ang="5400000"/>
        </a:gra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1E503D3-C5BC-411C-A104-6FE2B718222E}"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gradFill rotWithShape="0">
          <a:gsLst>
            <a:gs pos="0">
              <a:srgbClr val="ffffcc"/>
            </a:gs>
            <a:gs pos="100000">
              <a:srgbClr val="ffcc99"/>
            </a:gs>
          </a:gsLst>
          <a:lin ang="5400000"/>
        </a:gra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6"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sp>
        <p:nvSpPr>
          <p:cNvPr id="7" name="PlaceHolder 3"/>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 name="PlaceHolder 4"/>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 name="PlaceHolder 5"/>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4C7EBCA-03D4-40CB-873E-D190D18F612A}"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jpe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www.fsam.gov/" TargetMode="External"/><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Rectangle 2"/>
          <p:cNvSpPr/>
          <p:nvPr/>
        </p:nvSpPr>
        <p:spPr>
          <a:xfrm>
            <a:off x="0" y="0"/>
            <a:ext cx="9144000" cy="91440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8" name="Text Box 3"/>
          <p:cNvSpPr/>
          <p:nvPr/>
        </p:nvSpPr>
        <p:spPr>
          <a:xfrm>
            <a:off x="152280" y="152280"/>
            <a:ext cx="7162920" cy="581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Comic Sans MS"/>
              </a:rPr>
              <a:t>DOI Climate Change Response</a:t>
            </a:r>
            <a:endParaRPr b="0" lang="en-IN" sz="3200" strike="noStrike" u="none">
              <a:solidFill>
                <a:srgbClr val="000000"/>
              </a:solidFill>
              <a:effectLst/>
              <a:uFillTx/>
              <a:latin typeface="Arial"/>
            </a:endParaRPr>
          </a:p>
        </p:txBody>
      </p:sp>
      <p:sp>
        <p:nvSpPr>
          <p:cNvPr id="19" name="PlaceHolder 1"/>
          <p:cNvSpPr>
            <a:spLocks noGrp="1"/>
          </p:cNvSpPr>
          <p:nvPr>
            <p:ph/>
          </p:nvPr>
        </p:nvSpPr>
        <p:spPr>
          <a:xfrm>
            <a:off x="0" y="3200400"/>
            <a:ext cx="8686800" cy="3120840"/>
          </a:xfrm>
          <a:prstGeom prst="rect">
            <a:avLst/>
          </a:prstGeom>
          <a:noFill/>
          <a:ln w="0">
            <a:noFill/>
          </a:ln>
        </p:spPr>
        <p:txBody>
          <a:bodyPr lIns="91440" rIns="91440" tIns="45720" bIns="45720" anchor="t">
            <a:normAutofit/>
          </a:bodyPr>
          <a:p>
            <a:pPr marL="343080" indent="-343080">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sng">
                <a:solidFill>
                  <a:srgbClr val="000000"/>
                </a:solidFill>
                <a:effectLst/>
                <a:uFillTx/>
                <a:latin typeface="Arial"/>
              </a:rPr>
              <a:t>Data and information sharing and integration are the key</a:t>
            </a:r>
            <a:r>
              <a:rPr b="0" lang="en-US" sz="1800" strike="noStrike" u="none">
                <a:solidFill>
                  <a:srgbClr val="000000"/>
                </a:solidFill>
                <a:effectLst/>
                <a:uFillTx/>
                <a:latin typeface="Arial"/>
              </a:rPr>
              <a:t> to collaboration among DOI bureaus and their many partners in addressing the significant climate change challenges.</a:t>
            </a:r>
            <a:endParaRPr b="0" lang="en-IN" sz="1800" strike="noStrike" u="none">
              <a:solidFill>
                <a:srgbClr val="000000"/>
              </a:solidFill>
              <a:effectLst/>
              <a:uFillTx/>
              <a:latin typeface="Arial"/>
            </a:endParaRPr>
          </a:p>
          <a:p>
            <a:pPr marL="343080" indent="-343080">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We need a significant DOI response to develop effective and efficient means of </a:t>
            </a:r>
            <a:r>
              <a:rPr b="0" lang="en-US" sz="1800" strike="noStrike" u="sng">
                <a:solidFill>
                  <a:srgbClr val="000000"/>
                </a:solidFill>
                <a:effectLst/>
                <a:uFillTx/>
                <a:latin typeface="Arial"/>
              </a:rPr>
              <a:t>finding, retrieving, using, and sharing the best available data and information</a:t>
            </a:r>
            <a:r>
              <a:rPr b="0" lang="en-US" sz="1800" strike="noStrike" u="none">
                <a:solidFill>
                  <a:srgbClr val="000000"/>
                </a:solidFill>
                <a:effectLst/>
                <a:uFillTx/>
                <a:latin typeface="Arial"/>
              </a:rPr>
              <a:t>. This will require both a top-down and bottom-up approach to addressing Department-wide data management issues.</a:t>
            </a:r>
            <a:endParaRPr b="0" lang="en-IN" sz="1800" strike="noStrike" u="none">
              <a:solidFill>
                <a:srgbClr val="000000"/>
              </a:solidFill>
              <a:effectLst/>
              <a:uFillTx/>
              <a:latin typeface="Arial"/>
            </a:endParaRPr>
          </a:p>
          <a:p>
            <a:pPr marL="343080" indent="-343080">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The key to data sharing and integration is </a:t>
            </a:r>
            <a:r>
              <a:rPr b="0" lang="en-US" sz="1800" strike="noStrike" u="sng">
                <a:solidFill>
                  <a:srgbClr val="000000"/>
                </a:solidFill>
                <a:effectLst/>
                <a:uFillTx/>
                <a:latin typeface="Arial"/>
              </a:rPr>
              <a:t>modernization of data systems</a:t>
            </a:r>
            <a:r>
              <a:rPr b="0" lang="en-US" sz="1800" strike="noStrike" u="none">
                <a:solidFill>
                  <a:srgbClr val="000000"/>
                </a:solidFill>
                <a:effectLst/>
                <a:uFillTx/>
                <a:latin typeface="Arial"/>
              </a:rPr>
              <a:t> using reusable and sharable building blocks (“web services”) based on DOI and industry standards to allow data exchange across multiple data systems.</a:t>
            </a:r>
            <a:endParaRPr b="0" lang="en-IN" sz="1800" strike="noStrike" u="none">
              <a:solidFill>
                <a:srgbClr val="000000"/>
              </a:solidFill>
              <a:effectLst/>
              <a:uFillTx/>
              <a:latin typeface="Arial"/>
            </a:endParaRPr>
          </a:p>
        </p:txBody>
      </p:sp>
      <p:sp>
        <p:nvSpPr>
          <p:cNvPr id="20" name="Text Box 8"/>
          <p:cNvSpPr/>
          <p:nvPr/>
        </p:nvSpPr>
        <p:spPr>
          <a:xfrm>
            <a:off x="228600" y="2590920"/>
            <a:ext cx="8381880" cy="398880"/>
          </a:xfrm>
          <a:prstGeom prst="rect">
            <a:avLst/>
          </a:prstGeom>
          <a:no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sng">
                <a:solidFill>
                  <a:srgbClr val="000000"/>
                </a:solidFill>
                <a:effectLst/>
                <a:uFillTx/>
                <a:latin typeface="Arial"/>
              </a:rPr>
              <a:t>Key Points from DOI Data Management/Integration Subcommittee:</a:t>
            </a:r>
            <a:endParaRPr b="0" lang="en-IN" sz="2000" strike="noStrike" u="none">
              <a:solidFill>
                <a:srgbClr val="000000"/>
              </a:solidFill>
              <a:effectLst/>
              <a:uFillTx/>
              <a:latin typeface="Arial"/>
            </a:endParaRPr>
          </a:p>
        </p:txBody>
      </p:sp>
      <p:grpSp>
        <p:nvGrpSpPr>
          <p:cNvPr id="21" name="Group 7"/>
          <p:cNvGrpSpPr/>
          <p:nvPr/>
        </p:nvGrpSpPr>
        <p:grpSpPr>
          <a:xfrm>
            <a:off x="7696080" y="76320"/>
            <a:ext cx="1295640" cy="1295280"/>
            <a:chOff x="7696080" y="76320"/>
            <a:chExt cx="1295640" cy="1295280"/>
          </a:xfrm>
        </p:grpSpPr>
        <p:sp>
          <p:nvSpPr>
            <p:cNvPr id="22" name="Oval 6"/>
            <p:cNvSpPr/>
            <p:nvPr/>
          </p:nvSpPr>
          <p:spPr>
            <a:xfrm>
              <a:off x="7714800" y="101520"/>
              <a:ext cx="1243440" cy="125244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23" name="Picture 4" descr="DOI%20Seal"/>
            <p:cNvPicPr/>
            <p:nvPr/>
          </p:nvPicPr>
          <p:blipFill>
            <a:blip r:embed="rId1"/>
            <a:stretch/>
          </p:blipFill>
          <p:spPr>
            <a:xfrm>
              <a:off x="7696080" y="76320"/>
              <a:ext cx="1295640" cy="1295280"/>
            </a:xfrm>
            <a:prstGeom prst="rect">
              <a:avLst/>
            </a:prstGeom>
            <a:noFill/>
            <a:ln w="0">
              <a:noFill/>
            </a:ln>
          </p:spPr>
        </p:pic>
      </p:grpSp>
      <p:sp>
        <p:nvSpPr>
          <p:cNvPr id="24" name="Text Box 9"/>
          <p:cNvSpPr/>
          <p:nvPr/>
        </p:nvSpPr>
        <p:spPr>
          <a:xfrm>
            <a:off x="380880" y="1371600"/>
            <a:ext cx="8001000" cy="116064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800" strike="noStrike" u="none">
                <a:solidFill>
                  <a:srgbClr val="000000"/>
                </a:solidFill>
                <a:effectLst/>
                <a:uFillTx/>
                <a:latin typeface="Arial"/>
              </a:rPr>
              <a:t>“Addressing climate change impacts will require a monumental effort by DOI”</a:t>
            </a:r>
            <a:endParaRPr b="0" lang="en-IN" sz="18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800" strike="noStrike" u="none">
                <a:solidFill>
                  <a:srgbClr val="000000"/>
                </a:solidFill>
                <a:effectLst/>
                <a:uFillTx/>
                <a:latin typeface="Arial"/>
              </a:rPr>
              <a:t>“The data piece is probably the most important component of all of this”</a:t>
            </a:r>
            <a:endParaRPr b="0" lang="en-IN"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800" strike="noStrike" u="none">
                <a:solidFill>
                  <a:srgbClr val="000000"/>
                </a:solidFill>
                <a:effectLst/>
                <a:uFillTx/>
                <a:latin typeface="Arial"/>
              </a:rPr>
              <a:t>	</a:t>
            </a:r>
            <a:r>
              <a:rPr b="0" i="1" lang="en-US" sz="1800" strike="noStrike" u="none">
                <a:solidFill>
                  <a:srgbClr val="000000"/>
                </a:solidFill>
                <a:effectLst/>
                <a:uFillTx/>
                <a:latin typeface="Arial"/>
              </a:rPr>
              <a:t>	</a:t>
            </a:r>
            <a:r>
              <a:rPr b="0" i="1" lang="en-US" sz="1800" strike="noStrike" u="none">
                <a:solidFill>
                  <a:srgbClr val="000000"/>
                </a:solidFill>
                <a:effectLst/>
                <a:uFillTx/>
                <a:latin typeface="Arial"/>
              </a:rPr>
              <a:t>	</a:t>
            </a:r>
            <a:r>
              <a:rPr b="0" i="1" lang="en-US" sz="1800" strike="noStrike" u="none">
                <a:solidFill>
                  <a:srgbClr val="000000"/>
                </a:solidFill>
                <a:effectLst/>
                <a:uFillTx/>
                <a:latin typeface="Arial"/>
              </a:rPr>
              <a:t>	</a:t>
            </a:r>
            <a:r>
              <a:rPr b="0" i="1" lang="en-US" sz="1600" strike="noStrike" u="none">
                <a:solidFill>
                  <a:srgbClr val="000000"/>
                </a:solidFill>
                <a:effectLst/>
                <a:uFillTx/>
                <a:latin typeface="Arial"/>
              </a:rPr>
              <a:t>David Hayes, Deputy Secretary of the Interior</a:t>
            </a:r>
            <a:endParaRPr b="0"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Rectangle 2"/>
          <p:cNvSpPr/>
          <p:nvPr/>
        </p:nvSpPr>
        <p:spPr>
          <a:xfrm>
            <a:off x="0" y="0"/>
            <a:ext cx="9144000" cy="114300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6" name="Text Box 3"/>
          <p:cNvSpPr/>
          <p:nvPr/>
        </p:nvSpPr>
        <p:spPr>
          <a:xfrm>
            <a:off x="152280" y="0"/>
            <a:ext cx="7162920" cy="9478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Comic Sans MS"/>
              </a:rPr>
              <a:t>Challenges for Data Sharing, Integration, Dissemination to Address Climate Change</a:t>
            </a:r>
            <a:endParaRPr b="0" lang="en-IN" sz="2800" strike="noStrike" u="none">
              <a:solidFill>
                <a:srgbClr val="000000"/>
              </a:solidFill>
              <a:effectLst/>
              <a:uFillTx/>
              <a:latin typeface="Arial"/>
            </a:endParaRPr>
          </a:p>
        </p:txBody>
      </p:sp>
      <p:grpSp>
        <p:nvGrpSpPr>
          <p:cNvPr id="27" name="Group 7"/>
          <p:cNvGrpSpPr/>
          <p:nvPr/>
        </p:nvGrpSpPr>
        <p:grpSpPr>
          <a:xfrm>
            <a:off x="7696080" y="76320"/>
            <a:ext cx="1295640" cy="1295280"/>
            <a:chOff x="7696080" y="76320"/>
            <a:chExt cx="1295640" cy="1295280"/>
          </a:xfrm>
        </p:grpSpPr>
        <p:sp>
          <p:nvSpPr>
            <p:cNvPr id="28" name="Oval 6"/>
            <p:cNvSpPr/>
            <p:nvPr/>
          </p:nvSpPr>
          <p:spPr>
            <a:xfrm>
              <a:off x="7714800" y="101520"/>
              <a:ext cx="1243440" cy="125244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29" name="Picture 4" descr="DOI%20Seal"/>
            <p:cNvPicPr/>
            <p:nvPr/>
          </p:nvPicPr>
          <p:blipFill>
            <a:blip r:embed="rId1"/>
            <a:stretch/>
          </p:blipFill>
          <p:spPr>
            <a:xfrm>
              <a:off x="7696080" y="76320"/>
              <a:ext cx="1295640" cy="1295280"/>
            </a:xfrm>
            <a:prstGeom prst="rect">
              <a:avLst/>
            </a:prstGeom>
            <a:noFill/>
            <a:ln w="0">
              <a:noFill/>
            </a:ln>
          </p:spPr>
        </p:pic>
      </p:grpSp>
      <p:sp>
        <p:nvSpPr>
          <p:cNvPr id="30" name="Text Box 10"/>
          <p:cNvSpPr/>
          <p:nvPr/>
        </p:nvSpPr>
        <p:spPr>
          <a:xfrm>
            <a:off x="457200" y="1447920"/>
            <a:ext cx="86868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Arial"/>
              </a:rPr>
              <a:t>Major Challenge #1:</a:t>
            </a:r>
            <a:endParaRPr b="0" lang="en-IN" sz="2400" strike="noStrike" u="none">
              <a:solidFill>
                <a:srgbClr val="000000"/>
              </a:solidFill>
              <a:effectLst/>
              <a:uFillTx/>
              <a:latin typeface="Arial"/>
            </a:endParaRPr>
          </a:p>
        </p:txBody>
      </p:sp>
      <p:sp>
        <p:nvSpPr>
          <p:cNvPr id="31" name="PlaceHolder 1"/>
          <p:cNvSpPr>
            <a:spLocks noGrp="1"/>
          </p:cNvSpPr>
          <p:nvPr>
            <p:ph/>
          </p:nvPr>
        </p:nvSpPr>
        <p:spPr>
          <a:xfrm>
            <a:off x="457200" y="2057400"/>
            <a:ext cx="8229600" cy="4525920"/>
          </a:xfrm>
          <a:prstGeom prst="rect">
            <a:avLst/>
          </a:prstGeom>
          <a:noFill/>
          <a:ln w="0">
            <a:noFill/>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Need to discover, share, have access to large holdings  of data and information to address rapid climate change</a:t>
            </a:r>
            <a:endParaRPr b="0" lang="en-IN" sz="2400" strike="noStrike" u="none">
              <a:solidFill>
                <a:srgbClr val="000000"/>
              </a:solidFill>
              <a:effectLst/>
              <a:uFillTx/>
              <a:latin typeface="Arial"/>
            </a:endParaRPr>
          </a:p>
          <a:p>
            <a:pPr lvl="1" marL="743040" indent="-285840">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 g., geospatial data, imagery, water quantity &amp; quality, soils, vegetation, invasive species, land cover and use, status and trends of plant and animal populations, to name a few</a:t>
            </a:r>
            <a:endParaRPr b="0" lang="en-IN" sz="2000" strike="noStrike" u="none">
              <a:solidFill>
                <a:srgbClr val="000000"/>
              </a:solidFill>
              <a:effectLst/>
              <a:uFillTx/>
              <a:latin typeface="Arial"/>
            </a:endParaRPr>
          </a:p>
          <a:p>
            <a:pPr lvl="1" marL="743040" indent="-285840">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Multiple scientific and resource management disciplines</a:t>
            </a:r>
            <a:endParaRPr b="0" lang="en-IN" sz="2000" strike="noStrike" u="none">
              <a:solidFill>
                <a:srgbClr val="000000"/>
              </a:solidFill>
              <a:effectLst/>
              <a:uFillTx/>
              <a:latin typeface="Arial"/>
            </a:endParaRPr>
          </a:p>
          <a:p>
            <a:pPr lvl="1" marL="743040" indent="-285840">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Multiple scales, multiple agencies</a:t>
            </a:r>
            <a:endParaRPr b="0" lang="en-IN" sz="2000" strike="noStrike" u="none">
              <a:solidFill>
                <a:srgbClr val="000000"/>
              </a:solidFill>
              <a:effectLst/>
              <a:uFillTx/>
              <a:latin typeface="Arial"/>
            </a:endParaRPr>
          </a:p>
          <a:p>
            <a:pPr marL="343080"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Data are stored at thousands of locations in a variety of formats; many methods needed to access them</a:t>
            </a:r>
            <a:endParaRPr b="0" lang="en-IN" sz="2400" strike="noStrike" u="none">
              <a:solidFill>
                <a:srgbClr val="000000"/>
              </a:solidFill>
              <a:effectLst/>
              <a:uFillTx/>
              <a:latin typeface="Arial"/>
            </a:endParaRPr>
          </a:p>
        </p:txBody>
      </p:sp>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 name="Picture 37" descr="DOI_locations"/>
          <p:cNvPicPr/>
          <p:nvPr/>
        </p:nvPicPr>
        <p:blipFill>
          <a:blip r:embed="rId1"/>
          <a:stretch/>
        </p:blipFill>
        <p:spPr>
          <a:xfrm>
            <a:off x="0" y="0"/>
            <a:ext cx="914400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Rectangle 2"/>
          <p:cNvSpPr/>
          <p:nvPr/>
        </p:nvSpPr>
        <p:spPr>
          <a:xfrm>
            <a:off x="0" y="0"/>
            <a:ext cx="9144000" cy="114300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4" name="Text Box 3"/>
          <p:cNvSpPr/>
          <p:nvPr/>
        </p:nvSpPr>
        <p:spPr>
          <a:xfrm>
            <a:off x="152280" y="0"/>
            <a:ext cx="7162920" cy="9478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Comic Sans MS"/>
              </a:rPr>
              <a:t>Challenges for Data Sharing, Integration, Dissemination</a:t>
            </a:r>
            <a:endParaRPr b="0" lang="en-IN" sz="2800" strike="noStrike" u="none">
              <a:solidFill>
                <a:srgbClr val="000000"/>
              </a:solidFill>
              <a:effectLst/>
              <a:uFillTx/>
              <a:latin typeface="Arial"/>
            </a:endParaRPr>
          </a:p>
        </p:txBody>
      </p:sp>
      <p:grpSp>
        <p:nvGrpSpPr>
          <p:cNvPr id="35" name="Group 7"/>
          <p:cNvGrpSpPr/>
          <p:nvPr/>
        </p:nvGrpSpPr>
        <p:grpSpPr>
          <a:xfrm>
            <a:off x="7696080" y="76320"/>
            <a:ext cx="1295640" cy="1295280"/>
            <a:chOff x="7696080" y="76320"/>
            <a:chExt cx="1295640" cy="1295280"/>
          </a:xfrm>
        </p:grpSpPr>
        <p:sp>
          <p:nvSpPr>
            <p:cNvPr id="36" name="Oval 6"/>
            <p:cNvSpPr/>
            <p:nvPr/>
          </p:nvSpPr>
          <p:spPr>
            <a:xfrm>
              <a:off x="7714800" y="101520"/>
              <a:ext cx="1243440" cy="125244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37" name="Picture 4" descr="DOI%20Seal"/>
            <p:cNvPicPr/>
            <p:nvPr/>
          </p:nvPicPr>
          <p:blipFill>
            <a:blip r:embed="rId1"/>
            <a:stretch/>
          </p:blipFill>
          <p:spPr>
            <a:xfrm>
              <a:off x="7696080" y="76320"/>
              <a:ext cx="1295640" cy="1295280"/>
            </a:xfrm>
            <a:prstGeom prst="rect">
              <a:avLst/>
            </a:prstGeom>
            <a:noFill/>
            <a:ln w="0">
              <a:noFill/>
            </a:ln>
          </p:spPr>
        </p:pic>
      </p:grpSp>
      <p:sp>
        <p:nvSpPr>
          <p:cNvPr id="38" name="Text Box 7"/>
          <p:cNvSpPr/>
          <p:nvPr/>
        </p:nvSpPr>
        <p:spPr>
          <a:xfrm>
            <a:off x="533520" y="1752480"/>
            <a:ext cx="8229600" cy="230364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Arial"/>
              </a:rPr>
              <a:t>Major Challenge #2:</a:t>
            </a:r>
            <a:endParaRPr b="0" lang="en-IN" sz="2400" strike="noStrike" u="none">
              <a:solidFill>
                <a:srgbClr val="000000"/>
              </a:solidFill>
              <a:effectLst/>
              <a:uFillTx/>
              <a:latin typeface="Arial"/>
            </a:endParaRPr>
          </a:p>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sng">
                <a:solidFill>
                  <a:srgbClr val="000000"/>
                </a:solidFill>
                <a:effectLst/>
                <a:uFillTx/>
                <a:latin typeface="Arial"/>
              </a:rPr>
              <a:t>Most</a:t>
            </a:r>
            <a:r>
              <a:rPr b="0" lang="en-US" sz="2400" strike="noStrike" u="none">
                <a:solidFill>
                  <a:srgbClr val="000000"/>
                </a:solidFill>
                <a:effectLst/>
                <a:uFillTx/>
                <a:latin typeface="Arial"/>
              </a:rPr>
              <a:t> of the data and information we need exists or will exist in databases and sources outside of the DOI.</a:t>
            </a:r>
            <a:endParaRPr b="0" lang="en-IN" sz="2400" strike="noStrike" u="none">
              <a:solidFill>
                <a:srgbClr val="000000"/>
              </a:solidFill>
              <a:effectLst/>
              <a:uFillTx/>
              <a:latin typeface="Arial"/>
            </a:endParaRPr>
          </a:p>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e.g., NOAA, NASA, EPA, Forest Service, universities, NEON, State agencies, NatureServe, NGOs, Data.gov</a:t>
            </a:r>
            <a:endParaRPr b="0" lang="en-IN" sz="2400" strike="noStrike" u="none">
              <a:solidFill>
                <a:srgbClr val="000000"/>
              </a:solidFill>
              <a:effectLst/>
              <a:uFillTx/>
              <a:latin typeface="Arial"/>
            </a:endParaRPr>
          </a:p>
        </p:txBody>
      </p:sp>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Rectangle 2"/>
          <p:cNvSpPr/>
          <p:nvPr/>
        </p:nvSpPr>
        <p:spPr>
          <a:xfrm>
            <a:off x="0" y="0"/>
            <a:ext cx="9144000" cy="83808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0" name="Text Box 3"/>
          <p:cNvSpPr/>
          <p:nvPr/>
        </p:nvSpPr>
        <p:spPr>
          <a:xfrm>
            <a:off x="0" y="152280"/>
            <a:ext cx="769608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Comic Sans MS"/>
              </a:rPr>
              <a:t>Key User Communities have different needs</a:t>
            </a:r>
            <a:endParaRPr b="0" lang="en-IN" sz="2800" strike="noStrike" u="none">
              <a:solidFill>
                <a:srgbClr val="000000"/>
              </a:solidFill>
              <a:effectLst/>
              <a:uFillTx/>
              <a:latin typeface="Arial"/>
            </a:endParaRPr>
          </a:p>
        </p:txBody>
      </p:sp>
      <p:grpSp>
        <p:nvGrpSpPr>
          <p:cNvPr id="41" name="Group 7"/>
          <p:cNvGrpSpPr/>
          <p:nvPr/>
        </p:nvGrpSpPr>
        <p:grpSpPr>
          <a:xfrm>
            <a:off x="7848720" y="0"/>
            <a:ext cx="1295280" cy="1295280"/>
            <a:chOff x="7848720" y="0"/>
            <a:chExt cx="1295280" cy="1295280"/>
          </a:xfrm>
        </p:grpSpPr>
        <p:sp>
          <p:nvSpPr>
            <p:cNvPr id="42" name="Oval 6"/>
            <p:cNvSpPr/>
            <p:nvPr/>
          </p:nvSpPr>
          <p:spPr>
            <a:xfrm>
              <a:off x="7867440" y="25200"/>
              <a:ext cx="1243080" cy="125244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43" name="Picture 4" descr="DOI%20Seal"/>
            <p:cNvPicPr/>
            <p:nvPr/>
          </p:nvPicPr>
          <p:blipFill>
            <a:blip r:embed="rId1"/>
            <a:stretch/>
          </p:blipFill>
          <p:spPr>
            <a:xfrm>
              <a:off x="7848720" y="0"/>
              <a:ext cx="1295280" cy="1295280"/>
            </a:xfrm>
            <a:prstGeom prst="rect">
              <a:avLst/>
            </a:prstGeom>
            <a:noFill/>
            <a:ln w="0">
              <a:noFill/>
            </a:ln>
          </p:spPr>
        </p:pic>
      </p:grpSp>
      <p:sp>
        <p:nvSpPr>
          <p:cNvPr id="44" name="PlaceHolder 1"/>
          <p:cNvSpPr>
            <a:spLocks noGrp="1"/>
          </p:cNvSpPr>
          <p:nvPr>
            <p:ph/>
          </p:nvPr>
        </p:nvSpPr>
        <p:spPr>
          <a:xfrm>
            <a:off x="152280" y="1143000"/>
            <a:ext cx="5181840" cy="4525920"/>
          </a:xfrm>
          <a:prstGeom prst="rect">
            <a:avLst/>
          </a:prstGeom>
          <a:noFill/>
          <a:ln w="0">
            <a:noFill/>
          </a:ln>
        </p:spPr>
        <p:txBody>
          <a:bodyPr lIns="91440" rIns="91440" tIns="45720" bIns="45720" anchor="t">
            <a:normAutofit/>
          </a:bodyPr>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Land managers</a:t>
            </a:r>
            <a:endParaRPr b="0" lang="en-IN" sz="2400" strike="noStrike" u="none">
              <a:solidFill>
                <a:srgbClr val="000000"/>
              </a:solidFill>
              <a:effectLst/>
              <a:uFillTx/>
              <a:latin typeface="Arial"/>
            </a:endParaRPr>
          </a:p>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Planners</a:t>
            </a:r>
            <a:endParaRPr b="0" lang="en-IN" sz="2400" strike="noStrike" u="none">
              <a:solidFill>
                <a:srgbClr val="000000"/>
              </a:solidFill>
              <a:effectLst/>
              <a:uFillTx/>
              <a:latin typeface="Arial"/>
            </a:endParaRPr>
          </a:p>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Resource professionals “ologists”</a:t>
            </a:r>
            <a:endParaRPr b="0" lang="en-IN" sz="2400" strike="noStrike" u="none">
              <a:solidFill>
                <a:srgbClr val="000000"/>
              </a:solidFill>
              <a:effectLst/>
              <a:uFillTx/>
              <a:latin typeface="Arial"/>
            </a:endParaRPr>
          </a:p>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LCC scientists, data managers</a:t>
            </a:r>
            <a:endParaRPr b="0" lang="en-IN" sz="2400" strike="noStrike" u="none">
              <a:solidFill>
                <a:srgbClr val="000000"/>
              </a:solidFill>
              <a:effectLst/>
              <a:uFillTx/>
              <a:latin typeface="Arial"/>
            </a:endParaRPr>
          </a:p>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Researchers from CESUs, USGS, academia, NOAA, NEON, USDA</a:t>
            </a:r>
            <a:endParaRPr b="0" lang="en-IN" sz="2400" strike="noStrike" u="none">
              <a:solidFill>
                <a:srgbClr val="000000"/>
              </a:solidFill>
              <a:effectLst/>
              <a:uFillTx/>
              <a:latin typeface="Arial"/>
            </a:endParaRPr>
          </a:p>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Educators (interpreters, teachers)</a:t>
            </a:r>
            <a:endParaRPr b="0" lang="en-IN" sz="2400" strike="noStrike" u="none">
              <a:solidFill>
                <a:srgbClr val="000000"/>
              </a:solidFill>
              <a:effectLst/>
              <a:uFillTx/>
              <a:latin typeface="Arial"/>
            </a:endParaRPr>
          </a:p>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Partner/constituency groups staff</a:t>
            </a:r>
            <a:endParaRPr b="0" lang="en-IN" sz="2400" strike="noStrike" u="none">
              <a:solidFill>
                <a:srgbClr val="000000"/>
              </a:solidFill>
              <a:effectLst/>
              <a:uFillTx/>
              <a:latin typeface="Arial"/>
            </a:endParaRPr>
          </a:p>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General public</a:t>
            </a:r>
            <a:endParaRPr b="0" lang="en-IN" sz="2400" strike="noStrike" u="none">
              <a:solidFill>
                <a:srgbClr val="000000"/>
              </a:solidFill>
              <a:effectLst/>
              <a:uFillTx/>
              <a:latin typeface="Arial"/>
            </a:endParaRPr>
          </a:p>
          <a:p>
            <a:pPr marL="343080" indent="-343080">
              <a:spcBef>
                <a:spcPts val="3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Data.gov</a:t>
            </a: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p:txBody>
      </p:sp>
      <p:pic>
        <p:nvPicPr>
          <p:cNvPr id="45" name="Picture 11" descr="j0184902"/>
          <p:cNvPicPr/>
          <p:nvPr/>
        </p:nvPicPr>
        <p:blipFill>
          <a:blip r:embed="rId2"/>
          <a:stretch/>
        </p:blipFill>
        <p:spPr>
          <a:xfrm>
            <a:off x="5410080" y="1447920"/>
            <a:ext cx="3461040" cy="5257800"/>
          </a:xfrm>
          <a:prstGeom prst="rect">
            <a:avLst/>
          </a:prstGeom>
          <a:noFill/>
          <a:ln w="0">
            <a:noFill/>
          </a:ln>
        </p:spPr>
      </p:pic>
      <p:sp>
        <p:nvSpPr>
          <p:cNvPr id="46" name="Text Box 12"/>
          <p:cNvSpPr/>
          <p:nvPr/>
        </p:nvSpPr>
        <p:spPr>
          <a:xfrm>
            <a:off x="2819520" y="5105520"/>
            <a:ext cx="243828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000000"/>
                </a:solidFill>
                <a:effectLst/>
                <a:uFillTx/>
                <a:latin typeface="Arial"/>
              </a:rPr>
              <a:t>Stakeholder</a:t>
            </a:r>
            <a:endParaRPr b="0" lang="en-IN" sz="2800" strike="noStrike" u="none">
              <a:solidFill>
                <a:srgbClr val="000000"/>
              </a:solidFill>
              <a:effectLst/>
              <a:uFillTx/>
              <a:latin typeface="Arial"/>
            </a:endParaRPr>
          </a:p>
        </p:txBody>
      </p:sp>
      <p:sp>
        <p:nvSpPr>
          <p:cNvPr id="47" name="AutoShape 13"/>
          <p:cNvSpPr/>
          <p:nvPr/>
        </p:nvSpPr>
        <p:spPr>
          <a:xfrm rot="20881800">
            <a:off x="5029200" y="5181480"/>
            <a:ext cx="685800" cy="304920"/>
          </a:xfrm>
          <a:prstGeom prst="rightArrow">
            <a:avLst>
              <a:gd name="adj1" fmla="val 50000"/>
              <a:gd name="adj2" fmla="val 56228"/>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Rectangle 2"/>
          <p:cNvSpPr/>
          <p:nvPr/>
        </p:nvSpPr>
        <p:spPr>
          <a:xfrm>
            <a:off x="0" y="0"/>
            <a:ext cx="9144000" cy="114300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9" name="Text Box 3"/>
          <p:cNvSpPr/>
          <p:nvPr/>
        </p:nvSpPr>
        <p:spPr>
          <a:xfrm>
            <a:off x="152280" y="0"/>
            <a:ext cx="7162920" cy="1069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Comic Sans MS"/>
              </a:rPr>
              <a:t>Examples of Data and Information Products that Need to be Shared</a:t>
            </a:r>
            <a:endParaRPr b="0" lang="en-IN" sz="3200" strike="noStrike" u="none">
              <a:solidFill>
                <a:srgbClr val="000000"/>
              </a:solidFill>
              <a:effectLst/>
              <a:uFillTx/>
              <a:latin typeface="Arial"/>
            </a:endParaRPr>
          </a:p>
        </p:txBody>
      </p:sp>
      <p:grpSp>
        <p:nvGrpSpPr>
          <p:cNvPr id="50" name="Group 7"/>
          <p:cNvGrpSpPr/>
          <p:nvPr/>
        </p:nvGrpSpPr>
        <p:grpSpPr>
          <a:xfrm>
            <a:off x="7696080" y="76320"/>
            <a:ext cx="1295640" cy="1295280"/>
            <a:chOff x="7696080" y="76320"/>
            <a:chExt cx="1295640" cy="1295280"/>
          </a:xfrm>
        </p:grpSpPr>
        <p:sp>
          <p:nvSpPr>
            <p:cNvPr id="51" name="Oval 6"/>
            <p:cNvSpPr/>
            <p:nvPr/>
          </p:nvSpPr>
          <p:spPr>
            <a:xfrm>
              <a:off x="7714800" y="101520"/>
              <a:ext cx="1243440" cy="125244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52" name="Picture 4" descr="DOI%20Seal"/>
            <p:cNvPicPr/>
            <p:nvPr/>
          </p:nvPicPr>
          <p:blipFill>
            <a:blip r:embed="rId1"/>
            <a:stretch/>
          </p:blipFill>
          <p:spPr>
            <a:xfrm>
              <a:off x="7696080" y="76320"/>
              <a:ext cx="1295640" cy="1295280"/>
            </a:xfrm>
            <a:prstGeom prst="rect">
              <a:avLst/>
            </a:prstGeom>
            <a:noFill/>
            <a:ln w="0">
              <a:noFill/>
            </a:ln>
          </p:spPr>
        </p:pic>
      </p:grpSp>
      <p:sp>
        <p:nvSpPr>
          <p:cNvPr id="53" name="PlaceHolder 1"/>
          <p:cNvSpPr>
            <a:spLocks noGrp="1"/>
          </p:cNvSpPr>
          <p:nvPr>
            <p:ph/>
          </p:nvPr>
        </p:nvSpPr>
        <p:spPr>
          <a:xfrm>
            <a:off x="380880" y="1294920"/>
            <a:ext cx="8382240" cy="4953240"/>
          </a:xfrm>
          <a:prstGeom prst="rect">
            <a:avLst/>
          </a:prstGeom>
          <a:noFill/>
          <a:ln w="0">
            <a:noFill/>
          </a:ln>
        </p:spPr>
        <p:txBody>
          <a:bodyPr lIns="91440" rIns="91440" tIns="45720" bIns="45720" anchor="t">
            <a:normAutofit/>
          </a:bodyPr>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Briefing statements for busy managers and the technologically disinclined</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Metadata catalog to allow discovery and access to DOI data sets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Data sets - tables, spreadsheets, relational databases in various formats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GIS products (maps, vector and raster data)</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Aerial Photography and Satellite Imagery </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Technical reports (e.g., “gray literature”)</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Journal publications that can be shared without violating copyright restrictions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Data synthesis reports - statistical and geospatial analyses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Resource Assessments (involve simplification and translation of complex data)</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Environmental Assessments (EA) and Environmental Impact Assessments (EIAs)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Management plans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Trend reports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Standards – standard operating procedures, protocols, and content standards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Tools – models, scripts and templates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Downscaled (fine-scaled) climate models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Environmental models (e.g., hydrologic models, ecosystem models)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Training materials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Graphics – suitable for inclusion in presentations or reports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Multimedia</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Data.gov</a:t>
            </a:r>
            <a:endParaRPr b="0" lang="en-IN" sz="1600" strike="noStrike" u="none">
              <a:solidFill>
                <a:srgbClr val="000000"/>
              </a:solidFill>
              <a:effectLst/>
              <a:uFillTx/>
              <a:latin typeface="Arial"/>
            </a:endParaRPr>
          </a:p>
        </p:txBody>
      </p:sp>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Rectangle 2"/>
          <p:cNvSpPr/>
          <p:nvPr/>
        </p:nvSpPr>
        <p:spPr>
          <a:xfrm>
            <a:off x="0" y="0"/>
            <a:ext cx="9144000" cy="76212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5" name="Text Box 3"/>
          <p:cNvSpPr/>
          <p:nvPr/>
        </p:nvSpPr>
        <p:spPr>
          <a:xfrm>
            <a:off x="228600" y="228600"/>
            <a:ext cx="716292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Comic Sans MS"/>
              </a:rPr>
              <a:t>But there is hope . . .</a:t>
            </a:r>
            <a:endParaRPr b="0" lang="en-IN" sz="2800" strike="noStrike" u="none">
              <a:solidFill>
                <a:srgbClr val="000000"/>
              </a:solidFill>
              <a:effectLst/>
              <a:uFillTx/>
              <a:latin typeface="Arial"/>
            </a:endParaRPr>
          </a:p>
        </p:txBody>
      </p:sp>
      <p:grpSp>
        <p:nvGrpSpPr>
          <p:cNvPr id="56" name="Group 7"/>
          <p:cNvGrpSpPr/>
          <p:nvPr/>
        </p:nvGrpSpPr>
        <p:grpSpPr>
          <a:xfrm>
            <a:off x="7696080" y="76320"/>
            <a:ext cx="1295640" cy="1295280"/>
            <a:chOff x="7696080" y="76320"/>
            <a:chExt cx="1295640" cy="1295280"/>
          </a:xfrm>
        </p:grpSpPr>
        <p:sp>
          <p:nvSpPr>
            <p:cNvPr id="57" name="Oval 6"/>
            <p:cNvSpPr/>
            <p:nvPr/>
          </p:nvSpPr>
          <p:spPr>
            <a:xfrm>
              <a:off x="7714800" y="101520"/>
              <a:ext cx="1243440" cy="125244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58" name="Picture 4" descr="DOI%20Seal"/>
            <p:cNvPicPr/>
            <p:nvPr/>
          </p:nvPicPr>
          <p:blipFill>
            <a:blip r:embed="rId1"/>
            <a:stretch/>
          </p:blipFill>
          <p:spPr>
            <a:xfrm>
              <a:off x="7696080" y="76320"/>
              <a:ext cx="1295640" cy="1295280"/>
            </a:xfrm>
            <a:prstGeom prst="rect">
              <a:avLst/>
            </a:prstGeom>
            <a:noFill/>
            <a:ln w="0">
              <a:noFill/>
            </a:ln>
          </p:spPr>
        </p:pic>
      </p:grpSp>
      <p:sp>
        <p:nvSpPr>
          <p:cNvPr id="59" name="PlaceHolder 1"/>
          <p:cNvSpPr>
            <a:spLocks noGrp="1"/>
          </p:cNvSpPr>
          <p:nvPr>
            <p:ph/>
          </p:nvPr>
        </p:nvSpPr>
        <p:spPr>
          <a:xfrm>
            <a:off x="457200" y="1295280"/>
            <a:ext cx="8229600" cy="5181840"/>
          </a:xfrm>
          <a:prstGeom prst="rect">
            <a:avLst/>
          </a:prstGeom>
          <a:noFill/>
          <a:ln w="0">
            <a:noFill/>
          </a:ln>
        </p:spPr>
        <p:txBody>
          <a:bodyPr lIns="91440" rIns="91440" tIns="45720" bIns="45720" anchor="t">
            <a:normAutofit/>
          </a:bodyPr>
          <a:p>
            <a:pPr marL="343080" indent="-343080">
              <a:lnSpc>
                <a:spcPct val="80000"/>
              </a:lnSpc>
              <a:spcBef>
                <a:spcPts val="15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Technology and standards are available that make it possible to integrate and share data amongst legacy data systems and new systems yet to be built through a loosely-coupled, distributed system based on web services and segment architecture.</a:t>
            </a:r>
            <a:endParaRPr b="0" lang="en-IN" sz="2400" strike="noStrike" u="none">
              <a:solidFill>
                <a:srgbClr val="000000"/>
              </a:solidFill>
              <a:effectLst/>
              <a:uFillTx/>
              <a:latin typeface="Arial"/>
            </a:endParaRPr>
          </a:p>
          <a:p>
            <a:pPr marL="343080" indent="-343080">
              <a:lnSpc>
                <a:spcPct val="80000"/>
              </a:lnSpc>
              <a:spcBef>
                <a:spcPts val="15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The approach is flexible and modular and is phased in over time. We don’t have to figure it all out in advance, or get all of the funding and people in place in advance.</a:t>
            </a:r>
            <a:endParaRPr b="0" lang="en-IN" sz="2400" strike="noStrike" u="none">
              <a:solidFill>
                <a:srgbClr val="000000"/>
              </a:solidFill>
              <a:effectLst/>
              <a:uFillTx/>
              <a:latin typeface="Arial"/>
            </a:endParaRPr>
          </a:p>
          <a:p>
            <a:pPr marL="343080" indent="-343080">
              <a:lnSpc>
                <a:spcPct val="80000"/>
              </a:lnSpc>
              <a:spcBef>
                <a:spcPts val="15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The approach is based on industry standards.  Microsoft, Oracle, Java, Google, IBM, etc. do the heavy lifting. Approach is widely used in the online travel, shopping, banking industries.</a:t>
            </a:r>
            <a:endParaRPr b="0" lang="en-IN" sz="2400" strike="noStrike" u="none">
              <a:solidFill>
                <a:srgbClr val="000000"/>
              </a:solidFill>
              <a:effectLst/>
              <a:uFillTx/>
              <a:latin typeface="Arial"/>
            </a:endParaRPr>
          </a:p>
          <a:p>
            <a:pPr marL="343080" indent="-343080">
              <a:lnSpc>
                <a:spcPct val="80000"/>
              </a:lnSpc>
              <a:spcBef>
                <a:spcPts val="15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The approach is also OMB and DOI’s standard. This is what they’re promoting for all federal agencies; re-usable, sharable components. </a:t>
            </a:r>
            <a:r>
              <a:rPr b="0" lang="en-US" sz="2400" strike="noStrike" u="sng">
                <a:solidFill>
                  <a:srgbClr val="009999"/>
                </a:solidFill>
                <a:effectLst/>
                <a:uFillTx/>
                <a:latin typeface="Arial"/>
                <a:hlinkClick r:id="rId2"/>
              </a:rPr>
              <a:t>http://www.fsam.gov</a:t>
            </a:r>
            <a:endParaRPr b="0" lang="en-IN" sz="2400" strike="noStrike" u="none">
              <a:solidFill>
                <a:srgbClr val="000000"/>
              </a:solidFill>
              <a:effectLst/>
              <a:uFillTx/>
              <a:latin typeface="Arial"/>
            </a:endParaRPr>
          </a:p>
        </p:txBody>
      </p:sp>
    </p:spTree>
  </p:cSld>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withEffect" fill="hold" presetClass="entr" presetID="1">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59">
                                            <p:txEl>
                                              <p:pRg st="1" end="1"/>
                                            </p:txEl>
                                          </p:spTgt>
                                        </p:tgtEl>
                                        <p:attrNameLst>
                                          <p:attrName>style.visibility</p:attrName>
                                        </p:attrNameLst>
                                      </p:cBhvr>
                                      <p:to>
                                        <p:strVal val="visible"/>
                                      </p:to>
                                    </p:set>
                                  </p:childTnLst>
                                </p:cTn>
                              </p:par>
                              <p:animClr clrSpc="rgb">
                                <p:cBhvr>
                                  <p:cTn id="11" dur="1" fill="hold">
                                    <p:stCondLst>
                                      <p:cond delay="0"/>
                                    </p:stCondLst>
                                  </p:cTn>
                                  <p:tgtEl>
                                    <p:spTgt spid="59">
                                      <p:txEl>
                                        <p:pRg st="0" end="0"/>
                                      </p:txEl>
                                    </p:spTgt>
                                  </p:tgtEl>
                                  <p:attrNameLst>
                                    <p:attrName>ppt_c</p:attrName>
                                  </p:attrNameLst>
                                </p:cBhvr>
                                <p:to>
                                  <a:srgbClr val="808080"/>
                                </p:to>
                              </p:animClr>
                            </p:childTnLst>
                          </p:cTn>
                        </p:par>
                      </p:childTnLst>
                    </p:cTn>
                  </p:par>
                  <p:par>
                    <p:cTn id="12" fill="hold">
                      <p:stCondLst>
                        <p:cond delay="indefinite"/>
                      </p:stCondLst>
                      <p:childTnLst>
                        <p:par>
                          <p:cTn id="13" fill="hold">
                            <p:stCondLst>
                              <p:cond delay="0"/>
                            </p:stCondLst>
                            <p:childTnLst>
                              <p:par>
                                <p:cTn id="14" nodeType="clickEffect" fill="hold" presetClass="entr" presetID="1">
                                  <p:stCondLst>
                                    <p:cond delay="0"/>
                                  </p:stCondLst>
                                  <p:childTnLst>
                                    <p:set>
                                      <p:cBhvr>
                                        <p:cTn id="15" dur="1" fill="hold">
                                          <p:stCondLst>
                                            <p:cond delay="0"/>
                                          </p:stCondLst>
                                        </p:cTn>
                                        <p:tgtEl>
                                          <p:spTgt spid="59">
                                            <p:txEl>
                                              <p:pRg st="2" end="2"/>
                                            </p:txEl>
                                          </p:spTgt>
                                        </p:tgtEl>
                                        <p:attrNameLst>
                                          <p:attrName>style.visibility</p:attrName>
                                        </p:attrNameLst>
                                      </p:cBhvr>
                                      <p:to>
                                        <p:strVal val="visible"/>
                                      </p:to>
                                    </p:set>
                                  </p:childTnLst>
                                </p:cTn>
                              </p:par>
                              <p:animClr clrSpc="rgb">
                                <p:cBhvr>
                                  <p:cTn id="16" dur="1" fill="hold">
                                    <p:stCondLst>
                                      <p:cond delay="0"/>
                                    </p:stCondLst>
                                  </p:cTn>
                                  <p:tgtEl>
                                    <p:spTgt spid="59">
                                      <p:txEl>
                                        <p:pRg st="1" end="1"/>
                                      </p:txEl>
                                    </p:spTgt>
                                  </p:tgtEl>
                                  <p:attrNameLst>
                                    <p:attrName>ppt_c</p:attrName>
                                  </p:attrNameLst>
                                </p:cBhvr>
                                <p:to>
                                  <a:srgbClr val="808080"/>
                                </p:to>
                              </p:animCl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59">
                                            <p:txEl>
                                              <p:pRg st="3" end="3"/>
                                            </p:txEl>
                                          </p:spTgt>
                                        </p:tgtEl>
                                        <p:attrNameLst>
                                          <p:attrName>style.visibility</p:attrName>
                                        </p:attrNameLst>
                                      </p:cBhvr>
                                      <p:to>
                                        <p:strVal val="visible"/>
                                      </p:to>
                                    </p:set>
                                  </p:childTnLst>
                                </p:cTn>
                              </p:par>
                              <p:animClr clrSpc="rgb">
                                <p:cBhvr>
                                  <p:cTn id="21" dur="1" fill="hold">
                                    <p:stCondLst>
                                      <p:cond delay="0"/>
                                    </p:stCondLst>
                                  </p:cTn>
                                  <p:tgtEl>
                                    <p:spTgt spid="59">
                                      <p:txEl>
                                        <p:pRg st="2" end="2"/>
                                      </p:txEl>
                                    </p:spTgt>
                                  </p:tgtEl>
                                  <p:attrNameLst>
                                    <p:attrName>ppt_c</p:attrName>
                                  </p:attrNameLst>
                                </p:cBhvr>
                                <p:to>
                                  <a:srgbClr val="808080"/>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0" name="Rectangle 59"/>
          <p:cNvGrpSpPr/>
          <p:nvPr/>
        </p:nvGrpSpPr>
        <p:grpSpPr>
          <a:xfrm>
            <a:off x="1676520" y="480960"/>
            <a:ext cx="2817360" cy="4957560"/>
            <a:chOff x="1676520" y="480960"/>
            <a:chExt cx="2817360" cy="4957560"/>
          </a:xfrm>
        </p:grpSpPr>
        <p:pic>
          <p:nvPicPr>
            <p:cNvPr id="61" name="Rectangle 59" descr=""/>
            <p:cNvPicPr/>
            <p:nvPr/>
          </p:nvPicPr>
          <p:blipFill>
            <a:blip r:embed="rId1"/>
            <a:stretch/>
          </p:blipFill>
          <p:spPr>
            <a:xfrm>
              <a:off x="1676520" y="480960"/>
              <a:ext cx="2817360" cy="4957560"/>
            </a:xfrm>
            <a:prstGeom prst="rect">
              <a:avLst/>
            </a:prstGeom>
            <a:noFill/>
            <a:ln w="0">
              <a:noFill/>
            </a:ln>
          </p:spPr>
        </p:pic>
        <p:sp>
          <p:nvSpPr>
            <p:cNvPr id="62" name="Text Box 4"/>
            <p:cNvSpPr/>
            <p:nvPr/>
          </p:nvSpPr>
          <p:spPr>
            <a:xfrm>
              <a:off x="1683360" y="484200"/>
              <a:ext cx="2803320" cy="494712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grpSp>
        <p:nvGrpSpPr>
          <p:cNvPr id="63" name="Rounded Rectangle 58"/>
          <p:cNvGrpSpPr/>
          <p:nvPr/>
        </p:nvGrpSpPr>
        <p:grpSpPr>
          <a:xfrm>
            <a:off x="4829040" y="480960"/>
            <a:ext cx="2117520" cy="4957560"/>
            <a:chOff x="4829040" y="480960"/>
            <a:chExt cx="2117520" cy="4957560"/>
          </a:xfrm>
        </p:grpSpPr>
        <p:pic>
          <p:nvPicPr>
            <p:cNvPr id="64" name="Rounded Rectangle 58" descr=""/>
            <p:cNvPicPr/>
            <p:nvPr/>
          </p:nvPicPr>
          <p:blipFill>
            <a:blip r:embed="rId2"/>
            <a:stretch/>
          </p:blipFill>
          <p:spPr>
            <a:xfrm>
              <a:off x="4829040" y="480960"/>
              <a:ext cx="2117520" cy="4957560"/>
            </a:xfrm>
            <a:prstGeom prst="rect">
              <a:avLst/>
            </a:prstGeom>
            <a:noFill/>
            <a:ln w="0">
              <a:noFill/>
            </a:ln>
          </p:spPr>
        </p:pic>
        <p:sp>
          <p:nvSpPr>
            <p:cNvPr id="65" name="Text Box 7"/>
            <p:cNvSpPr/>
            <p:nvPr/>
          </p:nvSpPr>
          <p:spPr>
            <a:xfrm>
              <a:off x="4938120" y="582120"/>
              <a:ext cx="1898640" cy="475128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sp>
        <p:nvSpPr>
          <p:cNvPr id="66" name="Rectangle 1"/>
          <p:cNvSpPr/>
          <p:nvPr/>
        </p:nvSpPr>
        <p:spPr>
          <a:xfrm>
            <a:off x="2003400" y="735120"/>
            <a:ext cx="876240" cy="671400"/>
          </a:xfrm>
          <a:prstGeom prst="rect">
            <a:avLst/>
          </a:prstGeom>
          <a:solidFill>
            <a:srgbClr val="c9e3c3"/>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NPS</a:t>
            </a:r>
            <a:endParaRPr b="0" lang="en-IN" sz="1400" strike="noStrike" u="none">
              <a:solidFill>
                <a:srgbClr val="000000"/>
              </a:solidFill>
              <a:effectLst/>
              <a:uFillTx/>
              <a:latin typeface="Arial"/>
            </a:endParaRPr>
          </a:p>
        </p:txBody>
      </p:sp>
      <p:sp>
        <p:nvSpPr>
          <p:cNvPr id="67" name="Rectangle 11"/>
          <p:cNvSpPr/>
          <p:nvPr/>
        </p:nvSpPr>
        <p:spPr>
          <a:xfrm>
            <a:off x="2003400" y="1490760"/>
            <a:ext cx="963720" cy="671400"/>
          </a:xfrm>
          <a:prstGeom prst="rect">
            <a:avLst/>
          </a:prstGeom>
          <a:solidFill>
            <a:srgbClr val="57ff57"/>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FWS</a:t>
            </a:r>
            <a:endParaRPr b="0" lang="en-IN" sz="1400" strike="noStrike" u="none">
              <a:solidFill>
                <a:srgbClr val="000000"/>
              </a:solidFill>
              <a:effectLst/>
              <a:uFillTx/>
              <a:latin typeface="Arial"/>
            </a:endParaRPr>
          </a:p>
        </p:txBody>
      </p:sp>
      <p:sp>
        <p:nvSpPr>
          <p:cNvPr id="68" name="Rectangle 12"/>
          <p:cNvSpPr/>
          <p:nvPr/>
        </p:nvSpPr>
        <p:spPr>
          <a:xfrm>
            <a:off x="2003400" y="2244600"/>
            <a:ext cx="876240" cy="671760"/>
          </a:xfrm>
          <a:prstGeom prst="rect">
            <a:avLst/>
          </a:prstGeom>
          <a:solidFill>
            <a:srgbClr val="c0e399"/>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USGS</a:t>
            </a:r>
            <a:endParaRPr b="0" lang="en-IN" sz="1400" strike="noStrike" u="none">
              <a:solidFill>
                <a:srgbClr val="000000"/>
              </a:solidFill>
              <a:effectLst/>
              <a:uFillTx/>
              <a:latin typeface="Arial"/>
            </a:endParaRPr>
          </a:p>
        </p:txBody>
      </p:sp>
      <p:sp>
        <p:nvSpPr>
          <p:cNvPr id="69" name="Rectangle 13"/>
          <p:cNvSpPr/>
          <p:nvPr/>
        </p:nvSpPr>
        <p:spPr>
          <a:xfrm>
            <a:off x="2003400" y="3000240"/>
            <a:ext cx="963720" cy="671760"/>
          </a:xfrm>
          <a:prstGeom prst="rect">
            <a:avLst/>
          </a:prstGeom>
          <a:solidFill>
            <a:srgbClr val="9ed3d7"/>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NASA</a:t>
            </a:r>
            <a:endParaRPr b="0" lang="en-IN" sz="1400" strike="noStrike" u="none">
              <a:solidFill>
                <a:srgbClr val="000000"/>
              </a:solidFill>
              <a:effectLst/>
              <a:uFillTx/>
              <a:latin typeface="Arial"/>
            </a:endParaRPr>
          </a:p>
        </p:txBody>
      </p:sp>
      <p:sp>
        <p:nvSpPr>
          <p:cNvPr id="70" name="Rectangle 14"/>
          <p:cNvSpPr/>
          <p:nvPr/>
        </p:nvSpPr>
        <p:spPr>
          <a:xfrm>
            <a:off x="2003400" y="3754440"/>
            <a:ext cx="963720" cy="671400"/>
          </a:xfrm>
          <a:prstGeom prst="rect">
            <a:avLst/>
          </a:prstGeom>
          <a:solidFill>
            <a:srgbClr val="ffd961"/>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NOAA</a:t>
            </a:r>
            <a:endParaRPr b="0" lang="en-IN" sz="1400" strike="noStrike" u="none">
              <a:solidFill>
                <a:srgbClr val="000000"/>
              </a:solidFill>
              <a:effectLst/>
              <a:uFillTx/>
              <a:latin typeface="Arial"/>
            </a:endParaRPr>
          </a:p>
        </p:txBody>
      </p:sp>
      <p:sp>
        <p:nvSpPr>
          <p:cNvPr id="71" name="Rectangle 15"/>
          <p:cNvSpPr/>
          <p:nvPr/>
        </p:nvSpPr>
        <p:spPr>
          <a:xfrm>
            <a:off x="1979640" y="4510080"/>
            <a:ext cx="876240" cy="671400"/>
          </a:xfrm>
          <a:prstGeom prst="rect">
            <a:avLst/>
          </a:prstGeom>
          <a:solidFill>
            <a:srgbClr val="a6a1cf"/>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Arial"/>
              </a:rPr>
              <a:t>States, Tribes</a:t>
            </a:r>
            <a:endParaRPr b="0" lang="en-IN" sz="1400" strike="noStrike" u="none">
              <a:solidFill>
                <a:srgbClr val="000000"/>
              </a:solidFill>
              <a:effectLst/>
              <a:uFillTx/>
              <a:latin typeface="Arial"/>
            </a:endParaRPr>
          </a:p>
        </p:txBody>
      </p:sp>
      <p:sp>
        <p:nvSpPr>
          <p:cNvPr id="72" name="Rounded Rectangle 49"/>
          <p:cNvSpPr/>
          <p:nvPr/>
        </p:nvSpPr>
        <p:spPr>
          <a:xfrm>
            <a:off x="5229360" y="2082960"/>
            <a:ext cx="1226880" cy="502920"/>
          </a:xfrm>
          <a:prstGeom prst="roundRect">
            <a:avLst>
              <a:gd name="adj" fmla="val 16667"/>
            </a:avLst>
          </a:prstGeom>
          <a:solidFill>
            <a:srgbClr val="c9e3c3"/>
          </a:solidFill>
          <a:ln w="6480">
            <a:solidFill>
              <a:srgbClr val="000000"/>
            </a:solidFill>
            <a:miter/>
          </a:ln>
          <a:effectLst>
            <a:outerShdw dist="38183" dir="2700000" blurRad="0" rotWithShape="0">
              <a:srgbClr val="000000">
                <a:alpha val="40000"/>
              </a:srgbClr>
            </a:outerShdw>
          </a:effectLst>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Arial"/>
              </a:rPr>
              <a:t>Bureau “Ologists”</a:t>
            </a:r>
            <a:endParaRPr b="0" lang="en-IN" sz="1100" strike="noStrike" u="none">
              <a:solidFill>
                <a:srgbClr val="000000"/>
              </a:solidFill>
              <a:effectLst/>
              <a:uFillTx/>
              <a:latin typeface="Arial"/>
            </a:endParaRPr>
          </a:p>
        </p:txBody>
      </p:sp>
      <p:sp>
        <p:nvSpPr>
          <p:cNvPr id="73" name="Rounded Rectangle 56"/>
          <p:cNvSpPr/>
          <p:nvPr/>
        </p:nvSpPr>
        <p:spPr>
          <a:xfrm>
            <a:off x="5229360" y="797040"/>
            <a:ext cx="1226880" cy="503280"/>
          </a:xfrm>
          <a:prstGeom prst="roundRect">
            <a:avLst>
              <a:gd name="adj" fmla="val 16667"/>
            </a:avLst>
          </a:prstGeom>
          <a:solidFill>
            <a:srgbClr val="ffffb3"/>
          </a:solidFill>
          <a:ln w="6480">
            <a:solidFill>
              <a:srgbClr val="000000"/>
            </a:solidFill>
            <a:miter/>
          </a:ln>
          <a:effectLst>
            <a:outerShdw dist="38183" dir="2700000" blurRad="0" rotWithShape="0">
              <a:srgbClr val="000000">
                <a:alpha val="40000"/>
              </a:srgbClr>
            </a:outerShdw>
          </a:effectLst>
        </p:spPr>
        <p:style>
          <a:lnRef idx="0"/>
          <a:fillRef idx="0"/>
          <a:effectRef idx="0"/>
          <a:fontRef idx="minor"/>
        </p:style>
        <p:txBody>
          <a:bodyPr lIns="90000" rIns="90000" tIns="9144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Arial"/>
              </a:rPr>
              <a:t>Land Managers &amp; Planners</a:t>
            </a:r>
            <a:endParaRPr b="0" lang="en-IN" sz="11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p:txBody>
      </p:sp>
      <p:sp>
        <p:nvSpPr>
          <p:cNvPr id="74" name="Rounded Rectangle 75"/>
          <p:cNvSpPr/>
          <p:nvPr/>
        </p:nvSpPr>
        <p:spPr>
          <a:xfrm>
            <a:off x="5229360" y="1452600"/>
            <a:ext cx="1226880" cy="503280"/>
          </a:xfrm>
          <a:prstGeom prst="roundRect">
            <a:avLst>
              <a:gd name="adj" fmla="val 16667"/>
            </a:avLst>
          </a:prstGeom>
          <a:solidFill>
            <a:srgbClr val="eaf5f6"/>
          </a:solidFill>
          <a:ln w="6480">
            <a:solidFill>
              <a:srgbClr val="000000"/>
            </a:solidFill>
            <a:miter/>
          </a:ln>
          <a:effectLst>
            <a:outerShdw dist="38183" dir="2700000" blurRad="0" rotWithShape="0">
              <a:srgbClr val="000000">
                <a:alpha val="40000"/>
              </a:srgbClr>
            </a:outerShdw>
          </a:effectLst>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Arial"/>
              </a:rPr>
              <a:t>Researchers</a:t>
            </a:r>
            <a:endParaRPr b="0" lang="en-IN" sz="1100" strike="noStrike" u="none">
              <a:solidFill>
                <a:srgbClr val="000000"/>
              </a:solidFill>
              <a:effectLst/>
              <a:uFillTx/>
              <a:latin typeface="Arial"/>
            </a:endParaRPr>
          </a:p>
        </p:txBody>
      </p:sp>
      <p:sp>
        <p:nvSpPr>
          <p:cNvPr id="75" name="Rounded Rectangle 76"/>
          <p:cNvSpPr/>
          <p:nvPr/>
        </p:nvSpPr>
        <p:spPr>
          <a:xfrm>
            <a:off x="5229360" y="3408480"/>
            <a:ext cx="1226880" cy="503280"/>
          </a:xfrm>
          <a:prstGeom prst="roundRect">
            <a:avLst>
              <a:gd name="adj" fmla="val 16667"/>
            </a:avLst>
          </a:prstGeom>
          <a:solidFill>
            <a:srgbClr val="ffd961"/>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Arial"/>
              </a:rPr>
              <a:t>NOAA</a:t>
            </a:r>
            <a:endParaRPr b="0" lang="en-IN" sz="1100" strike="noStrike" u="none">
              <a:solidFill>
                <a:srgbClr val="000000"/>
              </a:solidFill>
              <a:effectLst/>
              <a:uFillTx/>
              <a:latin typeface="Arial"/>
            </a:endParaRPr>
          </a:p>
        </p:txBody>
      </p:sp>
      <p:sp>
        <p:nvSpPr>
          <p:cNvPr id="76" name="Rounded Rectangle 77"/>
          <p:cNvSpPr/>
          <p:nvPr/>
        </p:nvSpPr>
        <p:spPr>
          <a:xfrm>
            <a:off x="5229360" y="4041720"/>
            <a:ext cx="1226880" cy="503280"/>
          </a:xfrm>
          <a:prstGeom prst="roundRect">
            <a:avLst>
              <a:gd name="adj" fmla="val 16667"/>
            </a:avLst>
          </a:prstGeom>
          <a:solidFill>
            <a:srgbClr val="ffffb3"/>
          </a:solidFill>
          <a:ln w="6480">
            <a:solidFill>
              <a:srgbClr val="000000"/>
            </a:solidFill>
            <a:miter/>
          </a:ln>
          <a:effectLst>
            <a:outerShdw dist="38183" dir="2700000" blurRad="0" rotWithShape="0">
              <a:srgbClr val="000000">
                <a:alpha val="40000"/>
              </a:srgbClr>
            </a:outerShdw>
          </a:effectLst>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Arial"/>
              </a:rPr>
              <a:t>General Public</a:t>
            </a:r>
            <a:endParaRPr b="0" lang="en-IN" sz="1100" strike="noStrike" u="none">
              <a:solidFill>
                <a:srgbClr val="000000"/>
              </a:solidFill>
              <a:effectLst/>
              <a:uFillTx/>
              <a:latin typeface="Arial"/>
            </a:endParaRPr>
          </a:p>
        </p:txBody>
      </p:sp>
      <p:sp>
        <p:nvSpPr>
          <p:cNvPr id="77" name="Rectangle 78"/>
          <p:cNvSpPr/>
          <p:nvPr/>
        </p:nvSpPr>
        <p:spPr>
          <a:xfrm>
            <a:off x="2879640" y="735120"/>
            <a:ext cx="1138320" cy="671400"/>
          </a:xfrm>
          <a:prstGeom prst="rect">
            <a:avLst/>
          </a:prstGeom>
          <a:gradFill rotWithShape="0">
            <a:gsLst>
              <a:gs pos="0">
                <a:srgbClr val="73856f"/>
              </a:gs>
              <a:gs pos="100000">
                <a:srgbClr val="c8e5c1"/>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8" name="Rectangle 79"/>
          <p:cNvSpPr/>
          <p:nvPr/>
        </p:nvSpPr>
        <p:spPr>
          <a:xfrm>
            <a:off x="2967120" y="1490760"/>
            <a:ext cx="1050840" cy="671400"/>
          </a:xfrm>
          <a:prstGeom prst="rect">
            <a:avLst/>
          </a:prstGeom>
          <a:gradFill rotWithShape="0">
            <a:gsLst>
              <a:gs pos="0">
                <a:srgbClr val="289d28"/>
              </a:gs>
              <a:gs pos="100000">
                <a:srgbClr val="4aff4a"/>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9" name="Rectangle 80"/>
          <p:cNvSpPr/>
          <p:nvPr/>
        </p:nvSpPr>
        <p:spPr>
          <a:xfrm>
            <a:off x="2879640" y="2244600"/>
            <a:ext cx="1138320" cy="671760"/>
          </a:xfrm>
          <a:prstGeom prst="rect">
            <a:avLst/>
          </a:prstGeom>
          <a:gradFill rotWithShape="0">
            <a:gsLst>
              <a:gs pos="0">
                <a:srgbClr val="6f8754"/>
              </a:gs>
              <a:gs pos="100000">
                <a:srgbClr val="c0e993"/>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0" name="Rectangle 81"/>
          <p:cNvSpPr/>
          <p:nvPr/>
        </p:nvSpPr>
        <p:spPr>
          <a:xfrm>
            <a:off x="2967120" y="3000240"/>
            <a:ext cx="1050840" cy="671760"/>
          </a:xfrm>
          <a:prstGeom prst="rect">
            <a:avLst/>
          </a:prstGeom>
          <a:gradFill rotWithShape="0">
            <a:gsLst>
              <a:gs pos="0">
                <a:srgbClr val="577c7f"/>
              </a:gs>
              <a:gs pos="100000">
                <a:srgbClr val="99d6db"/>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1" name="Rectangle 82"/>
          <p:cNvSpPr/>
          <p:nvPr/>
        </p:nvSpPr>
        <p:spPr>
          <a:xfrm>
            <a:off x="2967120" y="3754440"/>
            <a:ext cx="1050840" cy="671400"/>
          </a:xfrm>
          <a:prstGeom prst="rect">
            <a:avLst/>
          </a:prstGeom>
          <a:gradFill rotWithShape="0">
            <a:gsLst>
              <a:gs pos="0">
                <a:srgbClr val="9c822e"/>
              </a:gs>
              <a:gs pos="100000">
                <a:srgbClr val="ffdf55"/>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2" name="Rectangle 83"/>
          <p:cNvSpPr/>
          <p:nvPr/>
        </p:nvSpPr>
        <p:spPr>
          <a:xfrm>
            <a:off x="2832120" y="4510080"/>
            <a:ext cx="1206360" cy="671400"/>
          </a:xfrm>
          <a:prstGeom prst="rect">
            <a:avLst/>
          </a:prstGeom>
          <a:gradFill rotWithShape="0">
            <a:gsLst>
              <a:gs pos="0">
                <a:srgbClr val="888f90"/>
              </a:gs>
              <a:gs pos="100000">
                <a:srgbClr val="e9f6f7"/>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3" name="Rounded Rectangle 84"/>
          <p:cNvSpPr/>
          <p:nvPr/>
        </p:nvSpPr>
        <p:spPr>
          <a:xfrm>
            <a:off x="5229360" y="4657680"/>
            <a:ext cx="1226880" cy="503280"/>
          </a:xfrm>
          <a:prstGeom prst="roundRect">
            <a:avLst>
              <a:gd name="adj" fmla="val 16667"/>
            </a:avLst>
          </a:prstGeom>
          <a:solidFill>
            <a:srgbClr val="57ff57"/>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Data.gov</a:t>
            </a:r>
            <a:endParaRPr b="0" lang="en-IN" sz="1200" strike="noStrike" u="none">
              <a:solidFill>
                <a:srgbClr val="000000"/>
              </a:solidFill>
              <a:effectLst/>
              <a:uFillTx/>
              <a:latin typeface="Arial"/>
            </a:endParaRPr>
          </a:p>
        </p:txBody>
      </p:sp>
      <p:sp>
        <p:nvSpPr>
          <p:cNvPr id="84" name="Rectangle 109"/>
          <p:cNvSpPr/>
          <p:nvPr/>
        </p:nvSpPr>
        <p:spPr>
          <a:xfrm>
            <a:off x="304920" y="5486400"/>
            <a:ext cx="8686800" cy="10087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rPr>
              <a:t>Conceptual approach showing a few agencies: Each agency maintains their data systems, yet make portions of their data available for sharing by using a common set of standards and processes. </a:t>
            </a:r>
            <a:endParaRPr b="0" lang="en-IN" sz="2000" strike="noStrike" u="none">
              <a:solidFill>
                <a:srgbClr val="000000"/>
              </a:solidFill>
              <a:effectLst/>
              <a:uFillTx/>
              <a:latin typeface="Arial"/>
            </a:endParaRPr>
          </a:p>
        </p:txBody>
      </p:sp>
      <p:sp>
        <p:nvSpPr>
          <p:cNvPr id="85" name="Rounded Rectangle 33"/>
          <p:cNvSpPr/>
          <p:nvPr/>
        </p:nvSpPr>
        <p:spPr>
          <a:xfrm>
            <a:off x="5229360" y="2716200"/>
            <a:ext cx="1226880" cy="565200"/>
          </a:xfrm>
          <a:prstGeom prst="roundRect">
            <a:avLst>
              <a:gd name="adj" fmla="val 16667"/>
            </a:avLst>
          </a:prstGeom>
          <a:solidFill>
            <a:srgbClr val="cc3300"/>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000000"/>
                </a:solidFill>
                <a:effectLst/>
                <a:uFillTx/>
                <a:latin typeface="Arial"/>
              </a:rPr>
              <a:t>LCC or other Portals</a:t>
            </a:r>
            <a:endParaRPr b="0" lang="en-IN" sz="1100" strike="noStrike" u="none">
              <a:solidFill>
                <a:srgbClr val="000000"/>
              </a:solidFill>
              <a:effectLst/>
              <a:uFillTx/>
              <a:latin typeface="Arial"/>
            </a:endParaRPr>
          </a:p>
        </p:txBody>
      </p:sp>
      <p:sp>
        <p:nvSpPr>
          <p:cNvPr id="86" name="Rectangle 60"/>
          <p:cNvSpPr/>
          <p:nvPr/>
        </p:nvSpPr>
        <p:spPr>
          <a:xfrm>
            <a:off x="1984320" y="735120"/>
            <a:ext cx="876240" cy="671400"/>
          </a:xfrm>
          <a:prstGeom prst="rect">
            <a:avLst/>
          </a:prstGeom>
          <a:solidFill>
            <a:srgbClr val="c9e3c3"/>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Arial"/>
              </a:rPr>
              <a:t>NPS</a:t>
            </a:r>
            <a:endParaRPr b="0" lang="en-IN" sz="1400" strike="noStrike" u="none">
              <a:solidFill>
                <a:srgbClr val="000000"/>
              </a:solidFill>
              <a:effectLst/>
              <a:uFillTx/>
              <a:latin typeface="Arial"/>
            </a:endParaRPr>
          </a:p>
        </p:txBody>
      </p:sp>
      <p:sp>
        <p:nvSpPr>
          <p:cNvPr id="87" name="Rectangle 61"/>
          <p:cNvSpPr/>
          <p:nvPr/>
        </p:nvSpPr>
        <p:spPr>
          <a:xfrm>
            <a:off x="1984320" y="1490760"/>
            <a:ext cx="963720" cy="671400"/>
          </a:xfrm>
          <a:prstGeom prst="rect">
            <a:avLst/>
          </a:prstGeom>
          <a:solidFill>
            <a:srgbClr val="57ff57"/>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Arial"/>
              </a:rPr>
              <a:t>FWS</a:t>
            </a:r>
            <a:endParaRPr b="0" lang="en-IN" sz="1400" strike="noStrike" u="none">
              <a:solidFill>
                <a:srgbClr val="000000"/>
              </a:solidFill>
              <a:effectLst/>
              <a:uFillTx/>
              <a:latin typeface="Arial"/>
            </a:endParaRPr>
          </a:p>
        </p:txBody>
      </p:sp>
      <p:sp>
        <p:nvSpPr>
          <p:cNvPr id="88" name="Rectangle 62"/>
          <p:cNvSpPr/>
          <p:nvPr/>
        </p:nvSpPr>
        <p:spPr>
          <a:xfrm>
            <a:off x="1984320" y="2244600"/>
            <a:ext cx="876240" cy="671760"/>
          </a:xfrm>
          <a:prstGeom prst="rect">
            <a:avLst/>
          </a:prstGeom>
          <a:solidFill>
            <a:srgbClr val="c0e399"/>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Arial"/>
              </a:rPr>
              <a:t>USGS</a:t>
            </a:r>
            <a:endParaRPr b="0" lang="en-IN" sz="1400" strike="noStrike" u="none">
              <a:solidFill>
                <a:srgbClr val="000000"/>
              </a:solidFill>
              <a:effectLst/>
              <a:uFillTx/>
              <a:latin typeface="Arial"/>
            </a:endParaRPr>
          </a:p>
        </p:txBody>
      </p:sp>
      <p:sp>
        <p:nvSpPr>
          <p:cNvPr id="89" name="Rectangle 63"/>
          <p:cNvSpPr/>
          <p:nvPr/>
        </p:nvSpPr>
        <p:spPr>
          <a:xfrm>
            <a:off x="1984320" y="3000240"/>
            <a:ext cx="963720" cy="671760"/>
          </a:xfrm>
          <a:prstGeom prst="rect">
            <a:avLst/>
          </a:prstGeom>
          <a:solidFill>
            <a:srgbClr val="9ed3d7"/>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Arial"/>
              </a:rPr>
              <a:t>NASA</a:t>
            </a:r>
            <a:endParaRPr b="0" lang="en-IN" sz="1400" strike="noStrike" u="none">
              <a:solidFill>
                <a:srgbClr val="000000"/>
              </a:solidFill>
              <a:effectLst/>
              <a:uFillTx/>
              <a:latin typeface="Arial"/>
            </a:endParaRPr>
          </a:p>
        </p:txBody>
      </p:sp>
      <p:sp>
        <p:nvSpPr>
          <p:cNvPr id="90" name="Rectangle 64"/>
          <p:cNvSpPr/>
          <p:nvPr/>
        </p:nvSpPr>
        <p:spPr>
          <a:xfrm>
            <a:off x="1984320" y="3754440"/>
            <a:ext cx="963720" cy="671400"/>
          </a:xfrm>
          <a:prstGeom prst="rect">
            <a:avLst/>
          </a:prstGeom>
          <a:solidFill>
            <a:srgbClr val="ffd961"/>
          </a:soli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Arial"/>
              </a:rPr>
              <a:t>NOAA</a:t>
            </a:r>
            <a:endParaRPr b="0" lang="en-IN" sz="1400" strike="noStrike" u="none">
              <a:solidFill>
                <a:srgbClr val="000000"/>
              </a:solidFill>
              <a:effectLst/>
              <a:uFillTx/>
              <a:latin typeface="Arial"/>
            </a:endParaRPr>
          </a:p>
        </p:txBody>
      </p:sp>
      <p:sp>
        <p:nvSpPr>
          <p:cNvPr id="91" name="Rectangle 65"/>
          <p:cNvSpPr/>
          <p:nvPr/>
        </p:nvSpPr>
        <p:spPr>
          <a:xfrm>
            <a:off x="2860560" y="735120"/>
            <a:ext cx="1187640" cy="671400"/>
          </a:xfrm>
          <a:prstGeom prst="rect">
            <a:avLst/>
          </a:prstGeom>
          <a:gradFill rotWithShape="0">
            <a:gsLst>
              <a:gs pos="0">
                <a:srgbClr val="73856f"/>
              </a:gs>
              <a:gs pos="100000">
                <a:srgbClr val="c8e5c1"/>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2" name="Rectangle 66"/>
          <p:cNvSpPr/>
          <p:nvPr/>
        </p:nvSpPr>
        <p:spPr>
          <a:xfrm>
            <a:off x="2948040" y="1490760"/>
            <a:ext cx="1100160" cy="671400"/>
          </a:xfrm>
          <a:prstGeom prst="rect">
            <a:avLst/>
          </a:prstGeom>
          <a:gradFill rotWithShape="0">
            <a:gsLst>
              <a:gs pos="0">
                <a:srgbClr val="289d28"/>
              </a:gs>
              <a:gs pos="100000">
                <a:srgbClr val="4aff4a"/>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3" name="Rectangle 67"/>
          <p:cNvSpPr/>
          <p:nvPr/>
        </p:nvSpPr>
        <p:spPr>
          <a:xfrm>
            <a:off x="2860560" y="2244600"/>
            <a:ext cx="1187640" cy="671760"/>
          </a:xfrm>
          <a:prstGeom prst="rect">
            <a:avLst/>
          </a:prstGeom>
          <a:gradFill rotWithShape="0">
            <a:gsLst>
              <a:gs pos="0">
                <a:srgbClr val="6f8754"/>
              </a:gs>
              <a:gs pos="100000">
                <a:srgbClr val="c0e993"/>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4" name="Rectangle 68"/>
          <p:cNvSpPr/>
          <p:nvPr/>
        </p:nvSpPr>
        <p:spPr>
          <a:xfrm>
            <a:off x="2948040" y="3000240"/>
            <a:ext cx="1100160" cy="671760"/>
          </a:xfrm>
          <a:prstGeom prst="rect">
            <a:avLst/>
          </a:prstGeom>
          <a:gradFill rotWithShape="0">
            <a:gsLst>
              <a:gs pos="0">
                <a:srgbClr val="577c7f"/>
              </a:gs>
              <a:gs pos="100000">
                <a:srgbClr val="99d6db"/>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5" name="Rectangle 69"/>
          <p:cNvSpPr/>
          <p:nvPr/>
        </p:nvSpPr>
        <p:spPr>
          <a:xfrm>
            <a:off x="2948040" y="3754440"/>
            <a:ext cx="1100160" cy="671400"/>
          </a:xfrm>
          <a:prstGeom prst="rect">
            <a:avLst/>
          </a:prstGeom>
          <a:gradFill rotWithShape="0">
            <a:gsLst>
              <a:gs pos="0">
                <a:srgbClr val="9c822e"/>
              </a:gs>
              <a:gs pos="100000">
                <a:srgbClr val="ffdf55"/>
              </a:gs>
            </a:gsLst>
            <a:lin ang="2700000"/>
          </a:gradFill>
          <a:ln w="6480">
            <a:solidFill>
              <a:srgbClr val="00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6" name="Right Bracket 71"/>
          <p:cNvSpPr/>
          <p:nvPr/>
        </p:nvSpPr>
        <p:spPr>
          <a:xfrm>
            <a:off x="4224240" y="652320"/>
            <a:ext cx="87480" cy="4611960"/>
          </a:xfrm>
          <a:custGeom>
            <a:avLst/>
            <a:gdLst>
              <a:gd name="textAreaLeft" fmla="*/ 0 w 87480"/>
              <a:gd name="textAreaRight" fmla="*/ 61560 w 87480"/>
              <a:gd name="textAreaTop" fmla="*/ 3600 h 4611960"/>
              <a:gd name="textAreaBottom" fmla="*/ 4608360 h 461196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10800" y="0"/>
                  <a:pt x="21600" y="17"/>
                  <a:pt x="21600" y="34"/>
                </a:cubicBezTo>
                <a:lnTo>
                  <a:pt x="21600" y="21566"/>
                </a:lnTo>
                <a:cubicBezTo>
                  <a:pt x="21600" y="21583"/>
                  <a:pt x="10800" y="21600"/>
                  <a:pt x="0" y="21600"/>
                </a:cubicBezTo>
              </a:path>
            </a:pathLst>
          </a:custGeom>
          <a:noFill/>
          <a:ln w="19080">
            <a:solidFill>
              <a:srgbClr val="a6a6a6"/>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7" name="Right Bracket 72"/>
          <p:cNvSpPr/>
          <p:nvPr/>
        </p:nvSpPr>
        <p:spPr>
          <a:xfrm flipH="1">
            <a:off x="5010840" y="652320"/>
            <a:ext cx="88920" cy="4611960"/>
          </a:xfrm>
          <a:custGeom>
            <a:avLst/>
            <a:gdLst>
              <a:gd name="textAreaLeft" fmla="*/ 0 w 88920"/>
              <a:gd name="textAreaRight" fmla="*/ 62280 w 88920"/>
              <a:gd name="textAreaTop" fmla="*/ 3600 h 4611960"/>
              <a:gd name="textAreaBottom" fmla="*/ 4608360 h 461196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10800" y="0"/>
                  <a:pt x="21600" y="18"/>
                  <a:pt x="21600" y="35"/>
                </a:cubicBezTo>
                <a:lnTo>
                  <a:pt x="21600" y="21565"/>
                </a:lnTo>
                <a:cubicBezTo>
                  <a:pt x="21600" y="21583"/>
                  <a:pt x="10800" y="21600"/>
                  <a:pt x="0" y="21600"/>
                </a:cubicBezTo>
              </a:path>
            </a:pathLst>
          </a:custGeom>
          <a:noFill/>
          <a:ln w="19080">
            <a:solidFill>
              <a:srgbClr val="a6a6a6"/>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8" name="Left-Right Arrow 70"/>
          <p:cNvSpPr/>
          <p:nvPr/>
        </p:nvSpPr>
        <p:spPr>
          <a:xfrm>
            <a:off x="4224240" y="2413080"/>
            <a:ext cx="876240" cy="587160"/>
          </a:xfrm>
          <a:prstGeom prst="leftRightArrow">
            <a:avLst>
              <a:gd name="adj1" fmla="val 50000"/>
              <a:gd name="adj2" fmla="val 50013"/>
            </a:avLst>
          </a:prstGeom>
          <a:solidFill>
            <a:srgbClr val="d9d9d9"/>
          </a:solidFill>
          <a:ln w="25560">
            <a:solidFill>
              <a:srgbClr val="bfbfbf"/>
            </a:solidFill>
            <a:miter/>
          </a:ln>
          <a:effectLst>
            <a:outerShdw dist="38183" dir="2700000" blurRad="0" rotWithShape="0">
              <a:srgbClr val="000000">
                <a:alpha val="40000"/>
              </a:srgbClr>
            </a:outerShdw>
          </a:effectLst>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9" name="Left-Right Arrow 73"/>
          <p:cNvSpPr/>
          <p:nvPr/>
        </p:nvSpPr>
        <p:spPr>
          <a:xfrm>
            <a:off x="4224240" y="1155600"/>
            <a:ext cx="876240" cy="585720"/>
          </a:xfrm>
          <a:prstGeom prst="leftRightArrow">
            <a:avLst>
              <a:gd name="adj1" fmla="val 50000"/>
              <a:gd name="adj2" fmla="val 50005"/>
            </a:avLst>
          </a:prstGeom>
          <a:solidFill>
            <a:srgbClr val="d9d9d9"/>
          </a:solidFill>
          <a:ln w="25560">
            <a:solidFill>
              <a:srgbClr val="bfbfbf"/>
            </a:solidFill>
            <a:miter/>
          </a:ln>
          <a:effectLst>
            <a:outerShdw dist="38183" dir="2700000" blurRad="0" rotWithShape="0">
              <a:srgbClr val="000000">
                <a:alpha val="40000"/>
              </a:srgbClr>
            </a:outerShdw>
          </a:effectLst>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0" name="Left-Right Arrow 74"/>
          <p:cNvSpPr/>
          <p:nvPr/>
        </p:nvSpPr>
        <p:spPr>
          <a:xfrm>
            <a:off x="4224240" y="3754440"/>
            <a:ext cx="876240" cy="587520"/>
          </a:xfrm>
          <a:prstGeom prst="leftRightArrow">
            <a:avLst>
              <a:gd name="adj1" fmla="val 50000"/>
              <a:gd name="adj2" fmla="val 49983"/>
            </a:avLst>
          </a:prstGeom>
          <a:solidFill>
            <a:srgbClr val="d9d9d9"/>
          </a:solidFill>
          <a:ln w="25560">
            <a:solidFill>
              <a:srgbClr val="bfbfbf"/>
            </a:solidFill>
            <a:miter/>
          </a:ln>
          <a:effectLst>
            <a:outerShdw dist="38183" dir="2700000" blurRad="0" rotWithShape="0">
              <a:srgbClr val="000000">
                <a:alpha val="40000"/>
              </a:srgbClr>
            </a:outerShdw>
          </a:effectLst>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1" name="Text Box 46"/>
          <p:cNvSpPr/>
          <p:nvPr/>
        </p:nvSpPr>
        <p:spPr>
          <a:xfrm>
            <a:off x="2971800" y="0"/>
            <a:ext cx="1143000" cy="64260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Shared Data</a:t>
            </a:r>
            <a:endParaRPr b="0" lang="en-IN" sz="1800" strike="noStrike" u="none">
              <a:solidFill>
                <a:srgbClr val="000000"/>
              </a:solidFill>
              <a:effectLst/>
              <a:uFillTx/>
              <a:latin typeface="Arial"/>
            </a:endParaRPr>
          </a:p>
        </p:txBody>
      </p:sp>
      <p:sp>
        <p:nvSpPr>
          <p:cNvPr id="102" name="Text Box 47"/>
          <p:cNvSpPr/>
          <p:nvPr/>
        </p:nvSpPr>
        <p:spPr>
          <a:xfrm>
            <a:off x="1828800" y="0"/>
            <a:ext cx="1143000" cy="64260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Internal Data</a:t>
            </a:r>
            <a:endParaRPr b="0" lang="en-IN" sz="1800" strike="noStrike" u="none">
              <a:solidFill>
                <a:srgbClr val="000000"/>
              </a:solidFill>
              <a:effectLst/>
              <a:uFillTx/>
              <a:latin typeface="Arial"/>
            </a:endParaRPr>
          </a:p>
        </p:txBody>
      </p:sp>
      <p:sp>
        <p:nvSpPr>
          <p:cNvPr id="103" name="Text Box 48"/>
          <p:cNvSpPr/>
          <p:nvPr/>
        </p:nvSpPr>
        <p:spPr>
          <a:xfrm>
            <a:off x="4952880" y="0"/>
            <a:ext cx="1676520" cy="64260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User Communities</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Picture 2" descr=""/>
          <p:cNvPicPr/>
          <p:nvPr/>
        </p:nvPicPr>
        <p:blipFill>
          <a:blip r:embed="rId1"/>
          <a:srcRect l="0" t="13785" r="8125" b="-2509"/>
          <a:stretch/>
        </p:blipFill>
        <p:spPr>
          <a:xfrm>
            <a:off x="0" y="0"/>
            <a:ext cx="9144000" cy="68580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5" name="Group 2"/>
          <p:cNvGrpSpPr/>
          <p:nvPr/>
        </p:nvGrpSpPr>
        <p:grpSpPr>
          <a:xfrm>
            <a:off x="0" y="0"/>
            <a:ext cx="4723920" cy="6857640"/>
            <a:chOff x="0" y="0"/>
            <a:chExt cx="4723920" cy="6857640"/>
          </a:xfrm>
        </p:grpSpPr>
        <p:pic>
          <p:nvPicPr>
            <p:cNvPr id="106" name="Picture 3" descr="moongirl"/>
            <p:cNvPicPr/>
            <p:nvPr/>
          </p:nvPicPr>
          <p:blipFill>
            <a:blip r:embed="rId1"/>
            <a:stretch/>
          </p:blipFill>
          <p:spPr>
            <a:xfrm>
              <a:off x="0" y="0"/>
              <a:ext cx="4690080" cy="6857640"/>
            </a:xfrm>
            <a:prstGeom prst="rect">
              <a:avLst/>
            </a:prstGeom>
            <a:noFill/>
            <a:ln w="0">
              <a:noFill/>
            </a:ln>
          </p:spPr>
        </p:pic>
        <p:sp>
          <p:nvSpPr>
            <p:cNvPr id="107" name="Rectangle 4"/>
            <p:cNvSpPr/>
            <p:nvPr/>
          </p:nvSpPr>
          <p:spPr>
            <a:xfrm>
              <a:off x="27720" y="0"/>
              <a:ext cx="4696200" cy="1032480"/>
            </a:xfrm>
            <a:prstGeom prst="rect">
              <a:avLst/>
            </a:prstGeom>
            <a:solidFill>
              <a:srgbClr val="fcef4a"/>
            </a:solidFill>
            <a:ln w="0">
              <a:noFill/>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 </a:t>
              </a:r>
              <a:endParaRPr b="0" lang="en-IN" sz="1800" strike="noStrike" u="none">
                <a:solidFill>
                  <a:srgbClr val="000000"/>
                </a:solidFill>
                <a:effectLst/>
                <a:uFillTx/>
                <a:latin typeface="Arial"/>
              </a:endParaRPr>
            </a:p>
          </p:txBody>
        </p:sp>
        <p:sp>
          <p:nvSpPr>
            <p:cNvPr id="108" name="Rectangle 5"/>
            <p:cNvSpPr/>
            <p:nvPr/>
          </p:nvSpPr>
          <p:spPr>
            <a:xfrm>
              <a:off x="27720" y="934920"/>
              <a:ext cx="4696200" cy="934920"/>
            </a:xfrm>
            <a:prstGeom prst="rect">
              <a:avLst/>
            </a:prstGeom>
            <a:solidFill>
              <a:srgbClr val="fcef4a"/>
            </a:solidFill>
            <a:ln w="0">
              <a:noFill/>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sp>
        <p:nvSpPr>
          <p:cNvPr id="109" name="Rectangle 6"/>
          <p:cNvSpPr/>
          <p:nvPr/>
        </p:nvSpPr>
        <p:spPr>
          <a:xfrm>
            <a:off x="4724280" y="838080"/>
            <a:ext cx="4419720" cy="586764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21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omic Sans MS"/>
              </a:rPr>
              <a:t>Integration of Resource Management Applications</a:t>
            </a:r>
            <a:endParaRPr b="0" lang="en-IN" sz="2400" strike="noStrike" u="none">
              <a:solidFill>
                <a:srgbClr val="000000"/>
              </a:solidFill>
              <a:effectLst/>
              <a:uFillTx/>
              <a:latin typeface="Arial"/>
            </a:endParaRPr>
          </a:p>
          <a:p>
            <a:pPr marL="343080" indent="-343080">
              <a:lnSpc>
                <a:spcPct val="100000"/>
              </a:lnSpc>
              <a:spcBef>
                <a:spcPts val="21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omic Sans MS"/>
              </a:rPr>
              <a:t>Service-oriented Architecture (SOA): build once, use many times services that can be re-used by many applications</a:t>
            </a:r>
            <a:endParaRPr b="0" lang="en-IN" sz="2400" strike="noStrike" u="none">
              <a:solidFill>
                <a:srgbClr val="000000"/>
              </a:solidFill>
              <a:effectLst/>
              <a:uFillTx/>
              <a:latin typeface="Arial"/>
            </a:endParaRPr>
          </a:p>
          <a:p>
            <a:pPr marL="343080" indent="-343080">
              <a:lnSpc>
                <a:spcPct val="100000"/>
              </a:lnSpc>
              <a:spcBef>
                <a:spcPts val="21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omic Sans MS"/>
              </a:rPr>
              <a:t>Using DOI and industry standards to allow data exchange and integration among data systems</a:t>
            </a:r>
            <a:endParaRPr b="0" lang="en-IN" sz="2400" strike="noStrike" u="none">
              <a:solidFill>
                <a:srgbClr val="000000"/>
              </a:solidFill>
              <a:effectLst/>
              <a:uFillTx/>
              <a:latin typeface="Arial"/>
            </a:endParaRPr>
          </a:p>
          <a:p>
            <a:pPr marL="343080" indent="-343080">
              <a:lnSpc>
                <a:spcPct val="100000"/>
              </a:lnSpc>
              <a:spcBef>
                <a:spcPts val="21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omic Sans MS"/>
              </a:rPr>
              <a:t>DOI award for “Best Agency SOA Application”</a:t>
            </a:r>
            <a:endParaRPr b="0" lang="en-IN" sz="2400" strike="noStrike" u="none">
              <a:solidFill>
                <a:srgbClr val="000000"/>
              </a:solidFill>
              <a:effectLst/>
              <a:uFillTx/>
              <a:latin typeface="Arial"/>
            </a:endParaRPr>
          </a:p>
        </p:txBody>
      </p:sp>
      <p:sp>
        <p:nvSpPr>
          <p:cNvPr id="110" name="WordArt 7"/>
          <p:cNvSpPr txBox="1"/>
          <p:nvPr/>
        </p:nvSpPr>
        <p:spPr>
          <a:xfrm rot="570000">
            <a:off x="1828800" y="0"/>
            <a:ext cx="2362320" cy="1843200"/>
          </a:xfrm>
          <a:prstGeom prst="rect">
            <a:avLst/>
          </a:prstGeom>
        </p:spPr>
        <p:txBody>
          <a:bodyPr wrap="none" lIns="90000" rIns="90000" tIns="46800" bIns="46800" anchor="t" anchorCtr="1">
            <a:prstTxWarp prst="textSlantUp">
              <a:avLst>
                <a:gd name="adj" fmla="val 55556"/>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3" strike="noStrike" u="none">
                <a:ln w="9360">
                  <a:solidFill>
                    <a:srgbClr val="000000"/>
                  </a:solidFill>
                  <a:miter/>
                </a:ln>
                <a:solidFill>
                  <a:srgbClr val="000000"/>
                </a:solidFill>
                <a:uFillTx/>
                <a:latin typeface="Verdana"/>
              </a:rPr>
              <a:t>IRMA</a:t>
            </a:r>
            <a:endParaRPr b="0" lang="en-IN" sz="5400" spc="3" strike="noStrike" u="none">
              <a:ln w="9360">
                <a:solidFill>
                  <a:srgbClr val="000000"/>
                </a:solidFill>
                <a:miter/>
              </a:ln>
              <a:solidFill>
                <a:srgbClr val="000000"/>
              </a:solidFill>
              <a:uFillTx/>
              <a:latin typeface="Verdana"/>
              <a:ea typeface="Verdana"/>
            </a:endParaRPr>
          </a:p>
        </p:txBody>
      </p:sp>
      <p:pic>
        <p:nvPicPr>
          <p:cNvPr id="111" name="Picture 8" descr="arrow-4c-shade-lg"/>
          <p:cNvPicPr/>
          <p:nvPr/>
        </p:nvPicPr>
        <p:blipFill>
          <a:blip r:embed="rId2"/>
          <a:stretch/>
        </p:blipFill>
        <p:spPr>
          <a:xfrm>
            <a:off x="304920" y="76320"/>
            <a:ext cx="1123920" cy="1447560"/>
          </a:xfrm>
          <a:prstGeom prst="rect">
            <a:avLst/>
          </a:prstGeom>
          <a:noFill/>
          <a:ln w="0">
            <a:noFill/>
          </a:ln>
        </p:spPr>
      </p:pic>
      <p:sp>
        <p:nvSpPr>
          <p:cNvPr id="112" name="Text Box 9"/>
          <p:cNvSpPr/>
          <p:nvPr/>
        </p:nvSpPr>
        <p:spPr>
          <a:xfrm>
            <a:off x="4724280" y="228600"/>
            <a:ext cx="426744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Comic Sans MS"/>
              </a:rPr>
              <a:t>The NPS is Doing its Part: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Rectangle 2"/>
          <p:cNvSpPr/>
          <p:nvPr/>
        </p:nvSpPr>
        <p:spPr>
          <a:xfrm>
            <a:off x="0" y="0"/>
            <a:ext cx="9144000" cy="91440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14" name="Text Box 3"/>
          <p:cNvSpPr/>
          <p:nvPr/>
        </p:nvSpPr>
        <p:spPr>
          <a:xfrm>
            <a:off x="152280" y="152280"/>
            <a:ext cx="7162920" cy="581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Comic Sans MS"/>
              </a:rPr>
              <a:t>DOI Climate Change Response</a:t>
            </a:r>
            <a:endParaRPr b="0" lang="en-IN" sz="3200" strike="noStrike" u="none">
              <a:solidFill>
                <a:srgbClr val="000000"/>
              </a:solidFill>
              <a:effectLst/>
              <a:uFillTx/>
              <a:latin typeface="Arial"/>
            </a:endParaRPr>
          </a:p>
        </p:txBody>
      </p:sp>
      <p:grpSp>
        <p:nvGrpSpPr>
          <p:cNvPr id="115" name="Group 7"/>
          <p:cNvGrpSpPr/>
          <p:nvPr/>
        </p:nvGrpSpPr>
        <p:grpSpPr>
          <a:xfrm>
            <a:off x="7696080" y="76320"/>
            <a:ext cx="1295640" cy="1295280"/>
            <a:chOff x="7696080" y="76320"/>
            <a:chExt cx="1295640" cy="1295280"/>
          </a:xfrm>
        </p:grpSpPr>
        <p:sp>
          <p:nvSpPr>
            <p:cNvPr id="116" name="Oval 6"/>
            <p:cNvSpPr/>
            <p:nvPr/>
          </p:nvSpPr>
          <p:spPr>
            <a:xfrm>
              <a:off x="7714800" y="101520"/>
              <a:ext cx="1243440" cy="125244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117" name="Picture 4" descr="DOI%20Seal"/>
            <p:cNvPicPr/>
            <p:nvPr/>
          </p:nvPicPr>
          <p:blipFill>
            <a:blip r:embed="rId1"/>
            <a:stretch/>
          </p:blipFill>
          <p:spPr>
            <a:xfrm>
              <a:off x="7696080" y="76320"/>
              <a:ext cx="1295640" cy="1295280"/>
            </a:xfrm>
            <a:prstGeom prst="rect">
              <a:avLst/>
            </a:prstGeom>
            <a:noFill/>
            <a:ln w="0">
              <a:noFill/>
            </a:ln>
          </p:spPr>
        </p:pic>
      </p:grpSp>
      <p:sp>
        <p:nvSpPr>
          <p:cNvPr id="118" name="Text Box 7"/>
          <p:cNvSpPr/>
          <p:nvPr/>
        </p:nvSpPr>
        <p:spPr>
          <a:xfrm>
            <a:off x="380880" y="1523880"/>
            <a:ext cx="8382240" cy="2117520"/>
          </a:xfrm>
          <a:prstGeom prst="rect">
            <a:avLst/>
          </a:prstGeom>
          <a:no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rPr>
              <a:t>“The Department of Interior has committed to a unified monitoring and data management effort that will promote state of the art data integration procedures to facilitate data sharing.”</a:t>
            </a:r>
            <a:endParaRPr b="0" lang="en-IN" sz="2000" strike="noStrike" u="none">
              <a:solidFill>
                <a:srgbClr val="000000"/>
              </a:solidFill>
              <a:effectLst/>
              <a:uFillTx/>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800" strike="noStrike" u="none">
                <a:solidFill>
                  <a:srgbClr val="000000"/>
                </a:solidFill>
                <a:effectLst/>
                <a:uFillTx/>
                <a:latin typeface="Arial"/>
              </a:rPr>
              <a:t>- Interior’s Plan for a Coordinated, Science-based Response to Climate Change Impacts on our Land, Water, and Wildlife Resources</a:t>
            </a:r>
            <a:endParaRPr b="0" lang="en-IN" sz="1800" strike="noStrike" u="none">
              <a:solidFill>
                <a:srgbClr val="000000"/>
              </a:solidFill>
              <a:effectLst/>
              <a:uFillTx/>
              <a:latin typeface="Arial"/>
            </a:endParaRPr>
          </a:p>
        </p:txBody>
      </p:sp>
      <p:sp>
        <p:nvSpPr>
          <p:cNvPr id="119" name="PlaceHolder 1"/>
          <p:cNvSpPr>
            <a:spLocks noGrp="1"/>
          </p:cNvSpPr>
          <p:nvPr>
            <p:ph/>
          </p:nvPr>
        </p:nvSpPr>
        <p:spPr>
          <a:xfrm>
            <a:off x="152280" y="3885840"/>
            <a:ext cx="8763120" cy="1935000"/>
          </a:xfrm>
          <a:prstGeom prst="rect">
            <a:avLst/>
          </a:prstGeom>
          <a:noFill/>
          <a:ln w="0">
            <a:noFill/>
          </a:ln>
        </p:spPr>
        <p:txBody>
          <a:bodyPr lIns="91440" rIns="91440" tIns="45720" bIns="45720" anchor="t">
            <a:normAutofit fontScale="77500" lnSpcReduction="19999"/>
          </a:bodyPr>
          <a:p>
            <a:pPr marL="343080" indent="-343080">
              <a:spcBef>
                <a:spcPts val="55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The technology exists</a:t>
            </a:r>
            <a:endParaRPr b="0" lang="en-IN" sz="2200" strike="noStrike" u="none">
              <a:solidFill>
                <a:srgbClr val="000000"/>
              </a:solidFill>
              <a:effectLst/>
              <a:uFillTx/>
              <a:latin typeface="Arial"/>
            </a:endParaRPr>
          </a:p>
          <a:p>
            <a:pPr marL="343080" indent="-343080">
              <a:spcBef>
                <a:spcPts val="55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We know how to do this – several DOI efforts already underway</a:t>
            </a:r>
            <a:endParaRPr b="0" lang="en-IN" sz="2200" strike="noStrike" u="none">
              <a:solidFill>
                <a:srgbClr val="000000"/>
              </a:solidFill>
              <a:effectLst/>
              <a:uFillTx/>
              <a:latin typeface="Arial"/>
            </a:endParaRPr>
          </a:p>
          <a:p>
            <a:pPr marL="343080" indent="-343080">
              <a:spcBef>
                <a:spcPts val="55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Lots of other agencies, universities, NGOs, industry contributing</a:t>
            </a:r>
            <a:endParaRPr b="0" lang="en-IN" sz="2200" strike="noStrike" u="none">
              <a:solidFill>
                <a:srgbClr val="000000"/>
              </a:solidFill>
              <a:effectLst/>
              <a:uFillTx/>
              <a:latin typeface="Arial"/>
            </a:endParaRPr>
          </a:p>
          <a:p>
            <a:pPr marL="343080" indent="-343080">
              <a:spcBef>
                <a:spcPts val="55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Congress and OMB want to eliminate redundancy and see true interagency collaboration … the DOI could be a national leader if we got our data integration act together</a:t>
            </a:r>
            <a:endParaRPr b="0" lang="en-IN" sz="2200" strike="noStrike" u="none">
              <a:solidFill>
                <a:srgbClr val="000000"/>
              </a:solidFill>
              <a:effectLst/>
              <a:uFillTx/>
              <a:latin typeface="Arial"/>
            </a:endParaRPr>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Rectangle 2"/>
          <p:cNvSpPr/>
          <p:nvPr/>
        </p:nvSpPr>
        <p:spPr>
          <a:xfrm>
            <a:off x="0" y="0"/>
            <a:ext cx="9144000" cy="91440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21" name="Text Box 3"/>
          <p:cNvSpPr/>
          <p:nvPr/>
        </p:nvSpPr>
        <p:spPr>
          <a:xfrm>
            <a:off x="152280" y="152280"/>
            <a:ext cx="7391520" cy="581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Comic Sans MS"/>
              </a:rPr>
              <a:t>What it will take to make this happen</a:t>
            </a:r>
            <a:endParaRPr b="0" lang="en-IN" sz="3200" strike="noStrike" u="none">
              <a:solidFill>
                <a:srgbClr val="000000"/>
              </a:solidFill>
              <a:effectLst/>
              <a:uFillTx/>
              <a:latin typeface="Arial"/>
            </a:endParaRPr>
          </a:p>
        </p:txBody>
      </p:sp>
      <p:grpSp>
        <p:nvGrpSpPr>
          <p:cNvPr id="122" name="Group 7"/>
          <p:cNvGrpSpPr/>
          <p:nvPr/>
        </p:nvGrpSpPr>
        <p:grpSpPr>
          <a:xfrm>
            <a:off x="7696080" y="76320"/>
            <a:ext cx="1295640" cy="1295280"/>
            <a:chOff x="7696080" y="76320"/>
            <a:chExt cx="1295640" cy="1295280"/>
          </a:xfrm>
        </p:grpSpPr>
        <p:sp>
          <p:nvSpPr>
            <p:cNvPr id="123" name="Oval 6"/>
            <p:cNvSpPr/>
            <p:nvPr/>
          </p:nvSpPr>
          <p:spPr>
            <a:xfrm>
              <a:off x="7714800" y="101520"/>
              <a:ext cx="1243440" cy="125244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124" name="Picture 4" descr="DOI%20Seal"/>
            <p:cNvPicPr/>
            <p:nvPr/>
          </p:nvPicPr>
          <p:blipFill>
            <a:blip r:embed="rId1"/>
            <a:stretch/>
          </p:blipFill>
          <p:spPr>
            <a:xfrm>
              <a:off x="7696080" y="76320"/>
              <a:ext cx="1295640" cy="1295280"/>
            </a:xfrm>
            <a:prstGeom prst="rect">
              <a:avLst/>
            </a:prstGeom>
            <a:noFill/>
            <a:ln w="0">
              <a:noFill/>
            </a:ln>
          </p:spPr>
        </p:pic>
      </p:grpSp>
      <p:sp>
        <p:nvSpPr>
          <p:cNvPr id="125" name="PlaceHolder 1"/>
          <p:cNvSpPr>
            <a:spLocks noGrp="1"/>
          </p:cNvSpPr>
          <p:nvPr>
            <p:ph/>
          </p:nvPr>
        </p:nvSpPr>
        <p:spPr>
          <a:xfrm>
            <a:off x="152280" y="1752480"/>
            <a:ext cx="8763120" cy="2819520"/>
          </a:xfrm>
          <a:prstGeom prst="rect">
            <a:avLst/>
          </a:prstGeom>
          <a:noFill/>
          <a:ln w="0">
            <a:noFill/>
          </a:ln>
        </p:spPr>
        <p:txBody>
          <a:bodyPr lIns="91440" rIns="91440" tIns="45720" bIns="45720" anchor="t">
            <a:normAutofit/>
          </a:bodyPr>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Establish roles, policies, and accountabilities (i.e., governance)</a:t>
            </a:r>
            <a:endParaRPr b="0" lang="en-IN" sz="2000" strike="noStrike" u="none">
              <a:solidFill>
                <a:srgbClr val="000000"/>
              </a:solidFill>
              <a:effectLst/>
              <a:uFillTx/>
              <a:latin typeface="Arial"/>
            </a:endParaRPr>
          </a:p>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Promote interagency coordination and provide leadership, incentives, and funding for segment architecture modernization by each bureau.</a:t>
            </a:r>
            <a:endParaRPr b="0" lang="en-IN" sz="2000" strike="noStrike" u="none">
              <a:solidFill>
                <a:srgbClr val="000000"/>
              </a:solidFill>
              <a:effectLst/>
              <a:uFillTx/>
              <a:latin typeface="Arial"/>
            </a:endParaRPr>
          </a:p>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Provide strong leadership and incentives to accelerate agreement on metadata and data exchange standards.</a:t>
            </a:r>
            <a:endParaRPr b="0" lang="en-IN" sz="2000" strike="noStrike" u="none">
              <a:solidFill>
                <a:srgbClr val="000000"/>
              </a:solidFill>
              <a:effectLst/>
              <a:uFillTx/>
              <a:latin typeface="Arial"/>
            </a:endParaRPr>
          </a:p>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Support funding initiatives to implement DOI data integration efforts</a:t>
            </a:r>
            <a:endParaRPr b="0" lang="en-IN" sz="2000" strike="noStrike" u="none">
              <a:solidFill>
                <a:srgbClr val="000000"/>
              </a:solidFill>
              <a:effectLst/>
              <a:uFillTx/>
              <a:latin typeface="Arial"/>
            </a:endParaRPr>
          </a:p>
        </p:txBody>
      </p:sp>
      <p:sp>
        <p:nvSpPr>
          <p:cNvPr id="126" name="Text Box 9"/>
          <p:cNvSpPr/>
          <p:nvPr/>
        </p:nvSpPr>
        <p:spPr>
          <a:xfrm>
            <a:off x="152280" y="1143000"/>
            <a:ext cx="541044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sng">
                <a:solidFill>
                  <a:srgbClr val="000000"/>
                </a:solidFill>
                <a:effectLst/>
                <a:uFillTx/>
                <a:latin typeface="Arial"/>
              </a:rPr>
              <a:t>Top-down Responsibilities of DOI</a:t>
            </a:r>
            <a:r>
              <a:rPr b="1" lang="en-US" sz="2400" strike="noStrike" u="none">
                <a:solidFill>
                  <a:srgbClr val="000000"/>
                </a:solidFill>
                <a:effectLst/>
                <a:uFillTx/>
                <a:latin typeface="Arial"/>
              </a:rPr>
              <a:t>:</a:t>
            </a:r>
            <a:endParaRPr b="0" lang="en-IN" sz="2400" strike="noStrike" u="none">
              <a:solidFill>
                <a:srgbClr val="000000"/>
              </a:solidFill>
              <a:effectLst/>
              <a:uFillTx/>
              <a:latin typeface="Arial"/>
            </a:endParaRPr>
          </a:p>
        </p:txBody>
      </p:sp>
      <p:sp>
        <p:nvSpPr>
          <p:cNvPr id="127" name="Text Box 10"/>
          <p:cNvSpPr/>
          <p:nvPr/>
        </p:nvSpPr>
        <p:spPr>
          <a:xfrm>
            <a:off x="228600" y="4038480"/>
            <a:ext cx="83818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sng">
                <a:solidFill>
                  <a:srgbClr val="000000"/>
                </a:solidFill>
                <a:effectLst/>
                <a:uFillTx/>
                <a:latin typeface="Arial"/>
              </a:rPr>
              <a:t>Bottom-up Responsibilities of each Bureau and Partner</a:t>
            </a:r>
            <a:r>
              <a:rPr b="1" lang="en-US" sz="2400" strike="noStrike" u="none">
                <a:solidFill>
                  <a:srgbClr val="000000"/>
                </a:solidFill>
                <a:effectLst/>
                <a:uFillTx/>
                <a:latin typeface="Arial"/>
              </a:rPr>
              <a:t>:</a:t>
            </a:r>
            <a:endParaRPr b="0" lang="en-IN" sz="2400" strike="noStrike" u="none">
              <a:solidFill>
                <a:srgbClr val="000000"/>
              </a:solidFill>
              <a:effectLst/>
              <a:uFillTx/>
              <a:latin typeface="Arial"/>
            </a:endParaRPr>
          </a:p>
        </p:txBody>
      </p:sp>
      <p:sp>
        <p:nvSpPr>
          <p:cNvPr id="128" name="Rectangle 11"/>
          <p:cNvSpPr/>
          <p:nvPr/>
        </p:nvSpPr>
        <p:spPr>
          <a:xfrm>
            <a:off x="152280" y="4572000"/>
            <a:ext cx="8991720" cy="281952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Define bureau business and user requirements.</a:t>
            </a:r>
            <a:endParaRPr b="0" lang="en-IN" sz="2000" strike="noStrike" u="none">
              <a:solidFill>
                <a:srgbClr val="000000"/>
              </a:solidFill>
              <a:effectLst/>
              <a:uFillTx/>
              <a:latin typeface="Arial"/>
            </a:endParaRPr>
          </a:p>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Develop and modernize data systems using federal segment architecture.</a:t>
            </a:r>
            <a:endParaRPr b="0" lang="en-IN" sz="2000" strike="noStrike" u="none">
              <a:solidFill>
                <a:srgbClr val="000000"/>
              </a:solidFill>
              <a:effectLst/>
              <a:uFillTx/>
              <a:latin typeface="Arial"/>
            </a:endParaRPr>
          </a:p>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Implement recommended metadata, data exchange, and taxonomic standards that come out of the Framework and Blueprint activities.</a:t>
            </a:r>
            <a:endParaRPr b="0" lang="en-IN" sz="2000" strike="noStrike" u="none">
              <a:solidFill>
                <a:srgbClr val="000000"/>
              </a:solidFill>
              <a:effectLst/>
              <a:uFillTx/>
              <a:latin typeface="Arial"/>
            </a:endParaRPr>
          </a:p>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Provide training and enforce use of data and metadata standards.</a:t>
            </a:r>
            <a:endParaRPr b="0" lang="en-IN" sz="2000" strike="noStrike" u="none">
              <a:solidFill>
                <a:srgbClr val="000000"/>
              </a:solidFill>
              <a:effectLst/>
              <a:uFillTx/>
              <a:latin typeface="Arial"/>
            </a:endParaRPr>
          </a:p>
          <a:p>
            <a:pPr marL="3430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Develop budget initiatives to implement the above.</a:t>
            </a:r>
            <a:endParaRPr b="0" lang="en-IN" sz="2000" strike="noStrike" u="none">
              <a:solidFill>
                <a:srgbClr val="000000"/>
              </a:solidFill>
              <a:effectLst/>
              <a:uFillTx/>
              <a:latin typeface="Arial"/>
            </a:endParaRPr>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2"/>
          <p:cNvSpPr/>
          <p:nvPr/>
        </p:nvSpPr>
        <p:spPr>
          <a:xfrm>
            <a:off x="0" y="0"/>
            <a:ext cx="9144000" cy="91440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30" name="Text Box 3"/>
          <p:cNvSpPr/>
          <p:nvPr/>
        </p:nvSpPr>
        <p:spPr>
          <a:xfrm>
            <a:off x="152280" y="152280"/>
            <a:ext cx="8077320" cy="581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Comic Sans MS"/>
              </a:rPr>
              <a:t>What the NPS and others are doing now</a:t>
            </a:r>
            <a:endParaRPr b="0" lang="en-IN" sz="3200" strike="noStrike" u="none">
              <a:solidFill>
                <a:srgbClr val="000000"/>
              </a:solidFill>
              <a:effectLst/>
              <a:uFillTx/>
              <a:latin typeface="Arial"/>
            </a:endParaRPr>
          </a:p>
        </p:txBody>
      </p:sp>
      <p:sp>
        <p:nvSpPr>
          <p:cNvPr id="131" name="Rectangle 3"/>
          <p:cNvSpPr/>
          <p:nvPr/>
        </p:nvSpPr>
        <p:spPr>
          <a:xfrm>
            <a:off x="228600" y="533520"/>
            <a:ext cx="8686800" cy="5867280"/>
          </a:xfrm>
          <a:prstGeom prst="rect">
            <a:avLst/>
          </a:prstGeom>
          <a:noFill/>
          <a:ln w="0">
            <a:noFill/>
          </a:ln>
        </p:spPr>
        <p:style>
          <a:lnRef idx="0"/>
          <a:fillRef idx="0"/>
          <a:effectRef idx="0"/>
          <a:fontRef idx="minor"/>
        </p:style>
        <p:txBody>
          <a:bodyPr lIns="90000" rIns="90000" tIns="46800" bIns="46800" anchor="t">
            <a:noAutofit/>
          </a:bodyPr>
          <a:p>
            <a:pPr lvl="1" marL="743040" indent="-285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spcBef>
                <a:spcPts val="11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IRMA system has already integrated 6 separate applications; eventually will integrate 19 applications; serious about data integr.</a:t>
            </a:r>
            <a:endParaRPr b="0" lang="en-IN" sz="2200" strike="noStrike" u="none">
              <a:solidFill>
                <a:srgbClr val="000000"/>
              </a:solidFill>
              <a:effectLst/>
              <a:uFillTx/>
              <a:latin typeface="Arial"/>
            </a:endParaRPr>
          </a:p>
          <a:p>
            <a:pPr marL="343080" indent="-343080">
              <a:spcBef>
                <a:spcPts val="11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Natural Resource Database Template</a:t>
            </a:r>
            <a:endParaRPr b="0" lang="en-IN" sz="2200" strike="noStrike" u="none">
              <a:solidFill>
                <a:srgbClr val="000000"/>
              </a:solidFill>
              <a:effectLst/>
              <a:uFillTx/>
              <a:latin typeface="Arial"/>
            </a:endParaRPr>
          </a:p>
          <a:p>
            <a:pPr lvl="1" marL="743040" indent="-285840">
              <a:lnSpc>
                <a:spcPct val="100000"/>
              </a:lnSpc>
              <a:spcBef>
                <a:spcPts val="275"/>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Consistent core data structure in MS Access</a:t>
            </a:r>
            <a:endParaRPr b="0" lang="en-IN" sz="2200" strike="noStrike" u="none">
              <a:solidFill>
                <a:srgbClr val="000000"/>
              </a:solidFill>
              <a:effectLst/>
              <a:uFillTx/>
              <a:latin typeface="Arial"/>
            </a:endParaRPr>
          </a:p>
          <a:p>
            <a:pPr lvl="1" marL="743040" indent="-285840">
              <a:lnSpc>
                <a:spcPct val="100000"/>
              </a:lnSpc>
              <a:spcBef>
                <a:spcPts val="275"/>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Hundreds of successful NRDT databases nationwide </a:t>
            </a:r>
            <a:endParaRPr b="0" lang="en-IN" sz="2200" strike="noStrike" u="none">
              <a:solidFill>
                <a:srgbClr val="000000"/>
              </a:solidFill>
              <a:effectLst/>
              <a:uFillTx/>
              <a:latin typeface="Arial"/>
            </a:endParaRPr>
          </a:p>
          <a:p>
            <a:pPr lvl="1" marL="743040" indent="-285840">
              <a:lnSpc>
                <a:spcPct val="100000"/>
              </a:lnSpc>
              <a:spcBef>
                <a:spcPts val="275"/>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Long-term datasets will be available through IRMA or  data.gov – can be discovered and accessed by others</a:t>
            </a:r>
            <a:endParaRPr b="0" lang="en-IN" sz="2200" strike="noStrike" u="none">
              <a:solidFill>
                <a:srgbClr val="000000"/>
              </a:solidFill>
              <a:effectLst/>
              <a:uFillTx/>
              <a:latin typeface="Arial"/>
            </a:endParaRPr>
          </a:p>
          <a:p>
            <a:pPr marL="343080" indent="-343080">
              <a:spcBef>
                <a:spcPts val="11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FWS I&amp;M Program co-locating with us in Fort Collins</a:t>
            </a:r>
            <a:endParaRPr b="0" lang="en-IN" sz="2200" strike="noStrike" u="none">
              <a:solidFill>
                <a:srgbClr val="000000"/>
              </a:solidFill>
              <a:effectLst/>
              <a:uFillTx/>
              <a:latin typeface="Arial"/>
            </a:endParaRPr>
          </a:p>
          <a:p>
            <a:pPr lvl="1" marL="743040" indent="-285840">
              <a:lnSpc>
                <a:spcPct val="100000"/>
              </a:lnSpc>
              <a:spcBef>
                <a:spcPts val="110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We have offered to share same contractor company and give them our modules and code if they want to “join at the hip”</a:t>
            </a:r>
            <a:endParaRPr b="0" lang="en-IN" sz="2200" strike="noStrike" u="none">
              <a:solidFill>
                <a:srgbClr val="000000"/>
              </a:solidFill>
              <a:effectLst/>
              <a:uFillTx/>
              <a:latin typeface="Arial"/>
            </a:endParaRPr>
          </a:p>
          <a:p>
            <a:pPr marL="343080" indent="-343080">
              <a:spcBef>
                <a:spcPts val="11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USGS – talking about 7-10 regional data centers where researchers would submit their data; working on web services and metadata and data structure standards.</a:t>
            </a:r>
            <a:endParaRPr b="0" lang="en-IN" sz="2200" strike="noStrike" u="none">
              <a:solidFill>
                <a:srgbClr val="000000"/>
              </a:solidFill>
              <a:effectLst/>
              <a:uFillTx/>
              <a:latin typeface="Arial"/>
            </a:endParaRPr>
          </a:p>
          <a:p>
            <a:pPr marL="343080" indent="-343080">
              <a:spcBef>
                <a:spcPts val="11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States – Western Governor’s Assn. 17 states serious about this</a:t>
            </a:r>
            <a:endParaRPr b="0" lang="en-IN" sz="2200" strike="noStrike" u="none">
              <a:solidFill>
                <a:srgbClr val="000000"/>
              </a:solidFill>
              <a:effectLst/>
              <a:uFillTx/>
              <a:latin typeface="Arial"/>
            </a:endParaRPr>
          </a:p>
        </p:txBody>
      </p:sp>
      <p:pic>
        <p:nvPicPr>
          <p:cNvPr id="132" name="Picture 7" descr="arrow-4c-shade-lg"/>
          <p:cNvPicPr/>
          <p:nvPr/>
        </p:nvPicPr>
        <p:blipFill>
          <a:blip r:embed="rId1"/>
          <a:stretch/>
        </p:blipFill>
        <p:spPr>
          <a:xfrm>
            <a:off x="8153280" y="228600"/>
            <a:ext cx="828720" cy="1066680"/>
          </a:xfrm>
          <a:prstGeom prst="rect">
            <a:avLst/>
          </a:prstGeom>
          <a:noFill/>
          <a:ln w="0">
            <a:noFill/>
          </a:ln>
        </p:spPr>
      </p:pic>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477</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2010-03-26T08:29:14Z</dcterms:created>
  <dc:creator>NPS</dc:creator>
  <dc:description/>
  <dc:language>en-IN</dc:language>
  <cp:lastModifiedBy>sfancy</cp:lastModifiedBy>
  <dcterms:modified xsi:type="dcterms:W3CDTF">2010-04-19T15:50:46Z</dcterms:modified>
  <cp:revision>31</cp:revision>
  <dc:subject/>
  <dc:title>Slide 1</dc:title>
</cp:coreProperties>
</file>