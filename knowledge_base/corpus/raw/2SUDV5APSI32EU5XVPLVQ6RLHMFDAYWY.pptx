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_rels/notesSlide10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media/image1.wmf" ContentType="image/x-wmf"/>
  <Override PartName="/ppt/media/image2.wmf" ContentType="image/x-wmf"/>
  <Override PartName="/ppt/media/image3.wmf" ContentType="image/x-wmf"/>
  <Override PartName="/ppt/media/image4.wmf" ContentType="image/x-wmf"/>
  <Override PartName="/ppt/media/image5.wmf" ContentType="image/x-wmf"/>
  <Override PartName="/ppt/media/image8.jpeg" ContentType="image/jpeg"/>
  <Override PartName="/ppt/media/image6.wmf" ContentType="image/x-wmf"/>
  <Override PartName="/ppt/media/image7.wmf" ContentType="image/x-wmf"/>
  <Override PartName="/ppt/media/image9.jpeg" ContentType="image/jpe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&lt;header&gt;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dt" idx="4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ftr" idx="5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sldNum" idx="6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1D0C8B5-7363-4125-8122-CCF42779F0D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 txBox="1"/>
          <p:nvPr/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4335AFD-CC3E-4074-99D6-1B8020B034D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&lt;header&gt;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"/>
          <p:cNvSpPr txBox="1"/>
          <p:nvPr/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484025D-EBF9-4BCA-A156-FEB693F9DC6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&lt;header&gt;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"/>
          <p:cNvSpPr txBox="1"/>
          <p:nvPr/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F53537-ED5C-4B7E-BC75-8817B1B4EDD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&lt;header&gt;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 txBox="1"/>
          <p:nvPr/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F79B663-F24A-4700-A8B0-5AD0CF6012A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&lt;header&gt;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"/>
          <p:cNvSpPr txBox="1"/>
          <p:nvPr/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E9CDAA9-0F75-4A30-98D1-22014825182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&lt;header&gt;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 txBox="1"/>
          <p:nvPr/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A028FFC-9136-4C47-8144-80824AB83C5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&lt;header&gt;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1295280" y="838080"/>
            <a:ext cx="4221360" cy="316548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09480" y="4343400"/>
            <a:ext cx="5639040" cy="411624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5000" bIns="45000" anchor="t">
            <a:noAutofit/>
          </a:bodyPr>
          <a:p>
            <a:pPr marL="228600" indent="-22860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Industrial Vision: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“To build a system capable of delivering 30¢ per hundred weight to producers.”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National procurement, processing and marketing system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spcBef>
                <a:spcPts val="45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5,300 members in 14 states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spcBef>
                <a:spcPts val="45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12 billion pounds of milk annually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Value-added Vision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 the best at providing Simple Goodness Foods that help our consumers keep life uncomplicated.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 txBox="1"/>
          <p:nvPr/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7505577-DFEF-45B6-BE85-A5BD54A7AE6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&lt;header&gt;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"/>
          <p:cNvSpPr txBox="1"/>
          <p:nvPr/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7BEF3B3-4E8A-454D-9193-037D4EE7E37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&lt;header&gt;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"/>
          <p:cNvSpPr txBox="1"/>
          <p:nvPr/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6BEFDAD-9CA2-4A10-8825-DF9835EC634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&lt;header&gt;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"/>
          <p:cNvSpPr txBox="1"/>
          <p:nvPr/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FF18575-790D-440C-B3A4-ADFB182A5FA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&lt;header&gt;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"/>
          <p:cNvSpPr txBox="1"/>
          <p:nvPr/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5B39DA0-5A11-4CB3-B6DF-7B4ED65F765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&lt;header&gt;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"/>
          <p:cNvSpPr txBox="1"/>
          <p:nvPr/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E32BF7C-559C-449E-8739-2D43700002C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&lt;header&gt;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"/>
          <p:cNvSpPr txBox="1"/>
          <p:nvPr/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C35DB82-E7B0-43F3-BDC8-3CEB1765BA7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&lt;header&gt;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"/>
          <p:cNvSpPr txBox="1"/>
          <p:nvPr/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650CF2B-041F-4553-9988-70590FEDEB9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&lt;header&gt;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Increased Attendance across all of the programs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Increased Enrollments in all program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Decreased Drop Out Rates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Teachers speak of more participation from students and even better performance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Parents feel confident that their children can learn more with a full stomach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"/>
          <p:cNvSpPr txBox="1"/>
          <p:nvPr/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107E03D-73BC-4D3E-9022-732EC55B15A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&lt;header&gt;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bl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15E5DF-6681-450E-A22E-BD4C2AAD8F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256657-B6B2-4DDB-AC49-9A7A5E156F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B6893C-BCFE-47E6-9470-8FEB4AD6E9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AE2C1D-CA37-4CDC-AE7B-2F396777BD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B0709C-8153-48CC-885D-CBEAC44C0A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chart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A3C8E0-FDB1-4031-9B55-F5899B8449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FCC53C-0DC7-4672-B95C-A1973B8134F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DA663D-DD94-4393-ACFB-D2CB54171E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02E09A2-A79F-45E7-ADAE-A6BA93903F3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3.wmf"/><Relationship Id="rId7" Type="http://schemas.openxmlformats.org/officeDocument/2006/relationships/oleObject" Target="../embeddings/oleObject4.bin"/><Relationship Id="rId8" Type="http://schemas.openxmlformats.org/officeDocument/2006/relationships/image" Target="../media/image2.wmf"/><Relationship Id="rId9" Type="http://schemas.openxmlformats.org/officeDocument/2006/relationships/slide" Target="slide34.xml"/><Relationship Id="rId10" Type="http://schemas.openxmlformats.org/officeDocument/2006/relationships/image" Target="../media/image4.wmf"/><Relationship Id="rId11" Type="http://schemas.openxmlformats.org/officeDocument/2006/relationships/slideLayout" Target="../slideLayouts/slideLayout5.xml"/><Relationship Id="rId1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5.wmf"/><Relationship Id="rId3" Type="http://schemas.openxmlformats.org/officeDocument/2006/relationships/slideLayout" Target="../slideLayouts/slideLayout6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6.wmf"/><Relationship Id="rId2" Type="http://schemas.openxmlformats.org/officeDocument/2006/relationships/image" Target="../media/image7.wmf"/><Relationship Id="rId3" Type="http://schemas.openxmlformats.org/officeDocument/2006/relationships/image" Target="../media/image8.jpeg"/><Relationship Id="rId4" Type="http://schemas.openxmlformats.org/officeDocument/2006/relationships/image" Target="../media/image8.jpeg"/><Relationship Id="rId5" Type="http://schemas.openxmlformats.org/officeDocument/2006/relationships/image" Target="../media/image8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slideLayout" Target="../slideLayouts/slideLayout4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CONFERENCIA  LACTEOS EN URUGUAY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30 de septiembre, 2003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Montevideo, Uruguay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282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Land O’Lakes</a:t>
            </a:r>
            <a:endParaRPr b="0" lang="en-IN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</a:t>
            </a: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“Land O’Lakes es una cooperativa</a:t>
            </a:r>
            <a:r>
              <a:rPr b="0" lang="es-G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nacional</a:t>
            </a:r>
            <a:r>
              <a:rPr b="0" lang="es-G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dedicada en mantener el tamaño, escala y nivel de funcionamiento  necesarios para competir, ganar y entregar </a:t>
            </a:r>
            <a:r>
              <a:rPr b="0" lang="es-GT" sz="32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un valor optimo</a:t>
            </a:r>
            <a:r>
              <a:rPr b="0" lang="es-G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s-GT" sz="32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a los miembros</a:t>
            </a:r>
            <a:r>
              <a:rPr b="0" lang="es-G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hacia el siglo 21.”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61760" y="-360"/>
            <a:ext cx="774036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 Historia y Raíces de</a:t>
            </a:r>
            <a:br>
              <a:rPr sz="4400"/>
            </a:br>
            <a:r>
              <a:rPr b="0" lang="es-GT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Land O’Lakes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914040" y="3048120"/>
            <a:ext cx="773892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0440" indent="0"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indent="-46044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Organizada en 1921 como la Asociación de Cooperativas de Lechería de Minnesota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1023840" indent="-44928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agricultores representando mas de 300 cooperativas de lecherías en Minnesota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indent="-46044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Creada para responder a las necesidades de mercadeo de  las cooperativas productoras de leche y mantequilla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1023840" indent="-449280">
              <a:spcBef>
                <a:spcPts val="601"/>
              </a:spcBef>
              <a:buNone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indent="-46044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indent="-46044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indent="-46044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indent="-46044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90720" y="2282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Land O’Lakes 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6840" y="1523880"/>
            <a:ext cx="807732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Entra al negocio de insumos agrícolas en 1929 con las  cooperativas locales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Mejorar la calidad, costo y abastecimiento de insumos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Comenzó con el establecimiento del Departamento de Forraje-Alimentación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 enfoque buscaba incrementar la productividad y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las ganancias de los miembros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  <a:effectLst>
            <a:outerShdw dist="13237" dir="2700000" blurRad="0" rotWithShape="0">
              <a:srgbClr val="808080"/>
            </a:outerShdw>
          </a:effectLst>
        </p:spPr>
        <p:txBody>
          <a:bodyPr lIns="90360" rIns="90360" tIns="44280" bIns="4428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Land O’Lakes</a:t>
            </a:r>
            <a:endParaRPr b="0" lang="en-IN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531720" y="1600200"/>
            <a:ext cx="8315280" cy="338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Visión</a:t>
            </a: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“Ser una de las mejores compañias agricolas y de alimentos en el mundo,” siendo: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>
              <a:lnSpc>
                <a:spcPct val="100000"/>
              </a:lnSpc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nuestros clientes  y nuestros empleados el núcleo principal,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>
              <a:lnSpc>
                <a:spcPct val="100000"/>
              </a:lnSpc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Responsables hacia los dueños, y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>
              <a:lnSpc>
                <a:spcPct val="100000"/>
              </a:lnSpc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Lideres en nuestras comunidades.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Misión: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“Somos una cooperativa impulsada por el mercado y el cliente con el compromiso de  optimizar el valor de la produccion agropecuaria, y lactea de nuestros miembros.”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914040" y="-360"/>
            <a:ext cx="773892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Land O’Lakes ! 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685440" y="1676520"/>
            <a:ext cx="8196120" cy="457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0440" indent="-46044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32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2002 Ventas (billones)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indent="-4604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Agrícola</a:t>
            </a:r>
            <a:r>
              <a:rPr b="0" lang="es-G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$ 2.9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indent="-4604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Lácteos</a:t>
            </a:r>
            <a:r>
              <a:rPr b="0" lang="es-G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32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$ 3.1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indent="-4604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Total</a:t>
            </a:r>
            <a:r>
              <a:rPr b="0" lang="es-G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$ 6.0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indent="-46044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indent="-46044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Empleados</a:t>
            </a: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7,000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indent="-46044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Miembros</a:t>
            </a: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6,000+ productores individuales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indent="-4604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1,300+ cooperativas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indent="-46044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Junta Directiva 24-Miembros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indent="-46044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Presidente/CEO John E. Gherty (Jack)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indent="0">
              <a:lnSpc>
                <a:spcPct val="90000"/>
              </a:lnSpc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/>
          </p:nvPr>
        </p:nvSpPr>
        <p:spPr>
          <a:xfrm>
            <a:off x="456840" y="1031760"/>
            <a:ext cx="4033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2819520" y="2479680"/>
            <a:ext cx="2743200" cy="1676520"/>
          </a:xfrm>
          <a:prstGeom prst="rightArrow">
            <a:avLst>
              <a:gd name="adj1" fmla="val 50000"/>
              <a:gd name="adj2" fmla="val 40906"/>
            </a:avLst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0" y="2742120"/>
            <a:ext cx="25909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376fa7"/>
                </a:solidFill>
                <a:effectLst/>
                <a:uFillTx/>
                <a:latin typeface="Franklin Gothic Medium"/>
              </a:rPr>
              <a:t>Compra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3" name=""/>
          <p:cNvGrpSpPr/>
          <p:nvPr/>
        </p:nvGrpSpPr>
        <p:grpSpPr>
          <a:xfrm>
            <a:off x="228600" y="1771560"/>
            <a:ext cx="987480" cy="860400"/>
            <a:chOff x="228600" y="1771560"/>
            <a:chExt cx="987480" cy="860400"/>
          </a:xfrm>
        </p:grpSpPr>
        <p:graphicFrame>
          <p:nvGraphicFramePr>
            <p:cNvPr id="44" name=""/>
            <p:cNvGraphicFramePr/>
            <p:nvPr/>
          </p:nvGraphicFramePr>
          <p:xfrm>
            <a:off x="228600" y="1771560"/>
            <a:ext cx="987480" cy="860400"/>
          </p:xfrm>
          <a:graphic>
            <a:graphicData uri="http://schemas.openxmlformats.org/presentationml/2006/ole">
              <p:oleObj r:id="rId1" spid="">
                <p:embed/>
                <p:pic>
                  <p:nvPicPr>
                    <p:cNvPr id="45" name="" descr=""/>
                    <p:cNvPicPr/>
                    <p:nvPr/>
                  </p:nvPicPr>
                  <p:blipFill>
                    <a:blip r:embed="rId2"/>
                    <a:stretch/>
                  </p:blipFill>
                  <p:spPr>
                    <a:xfrm>
                      <a:off x="228600" y="1771560"/>
                      <a:ext cx="987480" cy="860400"/>
                    </a:xfrm>
                    <a:prstGeom prst="rect">
                      <a:avLst/>
                    </a:prstGeom>
                    <a:solidFill>
                      <a:srgbClr val="ffff00"/>
                    </a:solidFill>
                    <a:ln w="0">
                      <a:noFill/>
                    </a:ln>
                  </p:spPr>
                </p:pic>
              </p:oleObj>
            </a:graphicData>
          </a:graphic>
        </p:graphicFrame>
        <p:sp>
          <p:nvSpPr>
            <p:cNvPr id="46" name=""/>
            <p:cNvSpPr/>
            <p:nvPr/>
          </p:nvSpPr>
          <p:spPr>
            <a:xfrm>
              <a:off x="250560" y="1891800"/>
              <a:ext cx="63684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600" strike="noStrike" u="none">
                  <a:solidFill>
                    <a:srgbClr val="ffffff"/>
                  </a:solidFill>
                  <a:effectLst/>
                  <a:uFillTx/>
                  <a:latin typeface="Franklin Gothic Medium"/>
                </a:rPr>
                <a:t>Farm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47" name=""/>
          <p:cNvGraphicFramePr/>
          <p:nvPr/>
        </p:nvGraphicFramePr>
        <p:xfrm>
          <a:off x="2362320" y="2590920"/>
          <a:ext cx="1763640" cy="110304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48" name="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2362320" y="2590920"/>
                    <a:ext cx="1763640" cy="11030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9" name=""/>
          <p:cNvSpPr/>
          <p:nvPr/>
        </p:nvSpPr>
        <p:spPr>
          <a:xfrm>
            <a:off x="1676520" y="1726200"/>
            <a:ext cx="312408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2000" strike="noStrike" u="none">
                <a:solidFill>
                  <a:srgbClr val="376fa7"/>
                </a:solidFill>
                <a:effectLst/>
                <a:uFillTx/>
                <a:latin typeface="Franklin Gothic Medium"/>
              </a:rPr>
              <a:t>Manufacturación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2000" strike="noStrike" u="none">
                <a:solidFill>
                  <a:srgbClr val="376fa7"/>
                </a:solidFill>
                <a:effectLst/>
                <a:uFillTx/>
                <a:latin typeface="Franklin Gothic Medium"/>
              </a:rPr>
              <a:t>Primaria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774720" y="3962520"/>
            <a:ext cx="3625920" cy="22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Acopio de Leche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Manufacturación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Venta de Producto &amp; Mercadeo.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none">
                <a:solidFill>
                  <a:srgbClr val="376fa7"/>
                </a:solidFill>
                <a:effectLst/>
                <a:uFillTx/>
                <a:latin typeface="Arial"/>
              </a:rPr>
              <a:t>#1 vendedor de suero de leche,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none">
                <a:solidFill>
                  <a:srgbClr val="376fa7"/>
                </a:solidFill>
                <a:effectLst/>
                <a:uFillTx/>
                <a:latin typeface="Arial"/>
              </a:rPr>
              <a:t>leche en polvo descremada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none">
                <a:solidFill>
                  <a:srgbClr val="376fa7"/>
                </a:solidFill>
                <a:effectLst/>
                <a:uFillTx/>
                <a:latin typeface="Arial"/>
              </a:rPr>
              <a:t>Y quesos con sabores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4419720" y="896760"/>
            <a:ext cx="0" cy="5791320"/>
          </a:xfrm>
          <a:prstGeom prst="line">
            <a:avLst/>
          </a:prstGeom>
          <a:ln w="38160">
            <a:solidFill>
              <a:srgbClr val="548dc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5029200" y="792000"/>
            <a:ext cx="3581280" cy="55584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376fa7"/>
                </a:solidFill>
                <a:effectLst/>
                <a:uFillTx/>
                <a:latin typeface="Arial"/>
              </a:rPr>
              <a:t>Valor-Agregado</a:t>
            </a:r>
            <a:r>
              <a:rPr b="0" lang="en-US" sz="2800" strike="noStrike" u="none">
                <a:solidFill>
                  <a:srgbClr val="376fa7"/>
                </a:solidFill>
                <a:effectLst/>
                <a:uFillTx/>
                <a:latin typeface="Arial"/>
              </a:rPr>
              <a:t> 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3" name=""/>
          <p:cNvGraphicFramePr/>
          <p:nvPr/>
        </p:nvGraphicFramePr>
        <p:xfrm>
          <a:off x="7696080" y="2560680"/>
          <a:ext cx="1096920" cy="1139760"/>
        </p:xfrm>
        <a:graphic>
          <a:graphicData uri="http://schemas.openxmlformats.org/presentationml/2006/ole">
            <p:oleObj r:id="rId5" spid="">
              <p:embed/>
              <p:pic>
                <p:nvPicPr>
                  <p:cNvPr id="54" name="" descr=""/>
                  <p:cNvPicPr/>
                  <p:nvPr/>
                </p:nvPicPr>
                <p:blipFill>
                  <a:blip r:embed="rId6"/>
                  <a:stretch/>
                </p:blipFill>
                <p:spPr>
                  <a:xfrm>
                    <a:off x="7696080" y="2560680"/>
                    <a:ext cx="1096920" cy="11397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55" name=""/>
          <p:cNvSpPr/>
          <p:nvPr/>
        </p:nvSpPr>
        <p:spPr>
          <a:xfrm>
            <a:off x="6019920" y="2327400"/>
            <a:ext cx="1828800" cy="1600200"/>
          </a:xfrm>
          <a:prstGeom prst="rightArrow">
            <a:avLst>
              <a:gd name="adj1" fmla="val 50000"/>
              <a:gd name="adj2" fmla="val 28571"/>
            </a:avLst>
          </a:prstGeom>
          <a:solidFill>
            <a:srgbClr val="548dc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6" name=""/>
          <p:cNvGraphicFramePr/>
          <p:nvPr/>
        </p:nvGraphicFramePr>
        <p:xfrm>
          <a:off x="4532400" y="2662200"/>
          <a:ext cx="1471680" cy="920880"/>
        </p:xfrm>
        <a:graphic>
          <a:graphicData uri="http://schemas.openxmlformats.org/presentationml/2006/ole">
            <p:oleObj r:id="rId7" spid="">
              <p:embed/>
              <p:pic>
                <p:nvPicPr>
                  <p:cNvPr id="57" name="" descr=""/>
                  <p:cNvPicPr/>
                  <p:nvPr/>
                </p:nvPicPr>
                <p:blipFill>
                  <a:blip r:embed="rId8"/>
                  <a:stretch/>
                </p:blipFill>
                <p:spPr>
                  <a:xfrm>
                    <a:off x="4532400" y="2662200"/>
                    <a:ext cx="1471680" cy="9208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58" name=""/>
          <p:cNvSpPr/>
          <p:nvPr/>
        </p:nvSpPr>
        <p:spPr>
          <a:xfrm>
            <a:off x="5931000" y="2784600"/>
            <a:ext cx="178740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ffcc66"/>
                </a:solidFill>
                <a:effectLst/>
                <a:uFillTx/>
                <a:latin typeface="Franklin Gothic Medium"/>
              </a:rPr>
              <a:t>Ventas &amp;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ffcc66"/>
                </a:solidFill>
                <a:effectLst/>
                <a:uFillTx/>
                <a:latin typeface="Franklin Gothic Medium"/>
              </a:rPr>
              <a:t>Mercadeo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7353360" y="1772280"/>
            <a:ext cx="168120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376fa7"/>
                </a:solidFill>
                <a:effectLst/>
                <a:uFillTx/>
                <a:latin typeface="Franklin Gothic Medium"/>
              </a:rPr>
              <a:t>Cliente/</a:t>
            </a:r>
            <a:br>
              <a:rPr sz="2000"/>
            </a:br>
            <a:r>
              <a:rPr b="1" lang="en-US" sz="2000" strike="noStrike" u="none">
                <a:solidFill>
                  <a:srgbClr val="376fa7"/>
                </a:solidFill>
                <a:effectLst/>
                <a:uFillTx/>
                <a:latin typeface="Franklin Gothic Medium"/>
              </a:rPr>
              <a:t>Consumidor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4700520" y="1751400"/>
            <a:ext cx="184500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376fa7"/>
                </a:solidFill>
                <a:effectLst/>
                <a:uFillTx/>
                <a:latin typeface="Franklin Gothic Medium"/>
              </a:rPr>
              <a:t>Valor Agregado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376fa7"/>
                </a:solidFill>
                <a:effectLst/>
                <a:uFillTx/>
                <a:latin typeface="Franklin Gothic Medium"/>
              </a:rPr>
              <a:t>Procesamiento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5281200" y="3851280"/>
            <a:ext cx="3826440" cy="22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Mantequilla/Queso Lácteo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Queso deli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Servicio de Alimentos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Nuevos Productos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Internacional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none">
                <a:solidFill>
                  <a:srgbClr val="376fa7"/>
                </a:solidFill>
                <a:effectLst/>
                <a:uFillTx/>
                <a:latin typeface="Arial"/>
              </a:rPr>
              <a:t>#1 vendedor de mantequilla</a:t>
            </a:r>
            <a:br>
              <a:rPr sz="1800"/>
            </a:br>
            <a:r>
              <a:rPr b="1" lang="es-GT" sz="1800" strike="noStrike" u="none">
                <a:solidFill>
                  <a:srgbClr val="376fa7"/>
                </a:solidFill>
                <a:effectLst/>
                <a:uFillTx/>
                <a:latin typeface="Arial"/>
              </a:rPr>
              <a:t>y de queso de tienda en la nación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" descr="">
            <a:hlinkClick r:id="rId9" action="ppaction://hlinksldjump"/>
          </p:cNvPr>
          <p:cNvPicPr/>
          <p:nvPr/>
        </p:nvPicPr>
        <p:blipFill>
          <a:blip r:embed="rId10"/>
          <a:stretch/>
        </p:blipFill>
        <p:spPr>
          <a:xfrm>
            <a:off x="3822840" y="5987880"/>
            <a:ext cx="1279440" cy="79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"/>
          <p:cNvSpPr/>
          <p:nvPr/>
        </p:nvSpPr>
        <p:spPr>
          <a:xfrm>
            <a:off x="237960" y="787320"/>
            <a:ext cx="3581640" cy="55584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376fa7"/>
                </a:solidFill>
                <a:effectLst/>
                <a:uFillTx/>
                <a:latin typeface="Arial"/>
              </a:rPr>
              <a:t>Industrial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3200400" y="228600"/>
            <a:ext cx="2438280" cy="82548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Alimentos Lácteos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761760" y="228240"/>
            <a:ext cx="774036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Alimentos Lácteos – Con Valor Agregado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85800" y="1600200"/>
            <a:ext cx="7740720" cy="41148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 fontScale="70000" lnSpcReduction="1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Productos vendidos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Mantequilla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Queso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Untar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Clientes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Tiendas de víveres y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Centros Súper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Servicio de Alimentos: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hoteles, restaurantes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aerolíneas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Tienda Delicatesen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914400" y="4568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58a676"/>
                </a:solidFill>
                <a:effectLst/>
                <a:uFillTx/>
                <a:latin typeface="Arial"/>
              </a:rPr>
              <a:t>Land O Lakes Servicios Ag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85800" y="1600200"/>
            <a:ext cx="678168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Negocios </a:t>
            </a: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Parte del Mercado EE.UU.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Alimento</a:t>
            </a: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#1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Aves y huevos</a:t>
            </a: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#2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Cerdo</a:t>
            </a: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#11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Semilla</a:t>
            </a: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#4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Agronomía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Nutrientes</a:t>
            </a: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#1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Protección de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cosecha</a:t>
            </a: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#1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9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9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5400" y="-360"/>
            <a:ext cx="830556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Co-Inversiones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599840"/>
            <a:ext cx="7740720" cy="525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Agriliance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Land O’Lakes 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Farmland Feed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MoArk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Ag2Ag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pull dir="r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Antecedentes de la División de Desarrollo Internacional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(IDD)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2971440" y="1981080"/>
            <a:ext cx="563868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Fundado en 1981, como un departamento de dos personas para profundizar sobre las perspectivas internacionales de LOL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Trabajo en los años ‘80 principalmente en programas de capacitacion y de agricultor a agricultor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Gradualmente se expandió a una asistencia mas técnica dentro de los sistemas agrícolas y de alimentación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Apoyado por la Junta Directiva y los dueños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wipe dir="r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Desarrollo Internacional</a:t>
            </a:r>
            <a:br>
              <a:rPr sz="3600"/>
            </a:br>
            <a:r>
              <a:rPr b="0" lang="es-GT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&amp; Asistencia a Comunidades Rurales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57200" indent="-4572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Symbol" charset="2"/>
              <a:buChar char="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Albania:  se creo una extensión vital de red en 100 pueblos, alcanzando mas de 8,000 mujeres agricultoras  </a:t>
            </a:r>
            <a:br>
              <a:rPr sz="2400"/>
            </a:b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lecheras Albaneses y se convirtió en </a:t>
            </a:r>
            <a:br>
              <a:rPr sz="2400"/>
            </a:b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 mas grande publicador de información</a:t>
            </a:r>
            <a:br>
              <a:rPr sz="2400"/>
            </a:b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agrícola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Symbol" charset="2"/>
              <a:buChar char="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Macedonia:  estableció un programa de calidad de producción, regulación, y mercadeo del consumidor en la industria lechera y carnica en todo el país 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Symbol" charset="2"/>
              <a:buChar char="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Uganda:  participo en la formación de 60 cooperativas triplicando el suministro de leche durante un periodo de cuatro años.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wipe dir="r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Desarrollo Internacional</a:t>
            </a:r>
            <a:br>
              <a:rPr sz="3600"/>
            </a:br>
            <a:r>
              <a:rPr b="0" lang="es-GT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&amp; Asistencia a Comunidades Rurales</a:t>
            </a:r>
            <a:r>
              <a:rPr b="0" lang="es-GT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 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85800" y="190512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57200" indent="-457200"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Chiapas, México:  En colaboración con Indígenas de Norte América, trabajo para fortalecer cooperativas y crear auto-determinación económica entre los indígenas Mayas</a:t>
            </a:r>
            <a:br>
              <a:rPr sz="2000"/>
            </a:b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Palestina, Ribera Occidental:  creando </a:t>
            </a:r>
            <a:br>
              <a:rPr sz="2000"/>
            </a:b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condiciones de prosperidad y productividad agrícola entre 2,000 granjeros de ovejas </a:t>
            </a:r>
            <a:br>
              <a:rPr sz="2000"/>
            </a:b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Honduras:  asistiendo al sector lechero para maximizar su contribución a la salud económica de la nación después de la devastación del Huracán Mitch en 1999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wipe dir="r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>
            <a:off x="2209680" y="457200"/>
            <a:ext cx="6400800" cy="17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Programas de Nutrición Escolar Impacto e Implementación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533520" y="2514600"/>
            <a:ext cx="7467480" cy="42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1378080" indent="-1378080"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Bangla Desh (240,000)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8080" indent="-1378080"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Indonesia (583,000)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8080" indent="-1378080"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Vietnam (330,000)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8080" indent="-1378080"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Pakistán (50,000)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8080" indent="-1378080"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Filipinas (124,000)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8080" indent="-1378080"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(anteriormente 11,000 en Uzbekistán)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8080" indent="-1378080"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Quien:</a:t>
            </a: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1.3 millón niños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8080" indent="-1378080"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Que:</a:t>
            </a: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Una bebida fortificada UHT y una galleta fortificada de trigo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8080" indent="-1378080"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Cuando:</a:t>
            </a: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Cada día de escuela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8080" indent="-1378080"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Porque:</a:t>
            </a: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mejorar la calidad de vida de los niños estos privados de una nutrición adecuada asegurando que ellos tengan la habilidad de consumir una comida balanceada regularmente.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8080" indent="-1378080"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>
            <a:off x="2362320" y="533520"/>
            <a:ext cx="7315200" cy="20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Programas de Nutrición Escolar 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Procesos y Socios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762120" y="2133720"/>
            <a:ext cx="7391160" cy="46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453960" indent="-45396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Cinco socios claves: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Donantes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IDD de Land O’Lakes  y Conceptos Avanzados de Negocios Internacionales (ABCI):  Gerencia de programas, sistemas comerciales para la venta de productos y si manejo, transferencia de tecnologia de valor-agregado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Procesadoras locales:  proveer productos nutricionales seguros y estables comercialmente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Organizaciones No-Gubernamentales locales:  Monitoreo de entrega y consumo de productos, sistemas de reportaje, cadena critica de sostenibilidad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Ministerios de Educación y de Salud:   Proveer apoyo ambiental, impactos educativos y nutricionales, compra critica sostenible a largo plazo.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1752480" y="380880"/>
            <a:ext cx="7620120" cy="20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Programas de Nutrición Escolar</a:t>
            </a:r>
            <a:br>
              <a:rPr sz="3600"/>
            </a:br>
            <a:r>
              <a:rPr b="0" lang="es-GT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Impactos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295280" y="2514600"/>
            <a:ext cx="6553440" cy="47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453960" indent="-453960"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Educacional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 Bangla Desh, aumento de asistencia 20 % y matriculados 26 %;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 Pakistán, 22 de 38 colegios previamente cerrados han reabierto gracias al incremento de matriculados y asistencia;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 Vietnam, mas de 2000 baños han sido construidos frenando la proporción de abstencionismo en las niñas.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buClr>
                <a:srgbClr val="000000"/>
              </a:buClr>
              <a:buFont typeface="Wingdings" charset="2"/>
              <a:buChar char="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buClr>
                <a:srgbClr val="000000"/>
              </a:buClr>
              <a:buFont typeface="Wingdings" charset="2"/>
              <a:buChar char="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>
            <a:off x="303120" y="395280"/>
            <a:ext cx="8839440" cy="15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Programas de Nutrición Escolar</a:t>
            </a:r>
            <a:br>
              <a:rPr sz="2800"/>
            </a:br>
            <a:r>
              <a:rPr b="0" lang="es-G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Impactos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1141560" y="2286000"/>
            <a:ext cx="7773840" cy="41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453960" indent="-453960"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Salud y Nutrición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Mejoramiento en la proporción del tamaño y peso;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Reducción de anemia por deficiencia de hierro; 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Aumento de conocimiento y practica de nutrición balanceada, e higiene;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Aumento de la demanda de leche;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Capacitación avanzada para plantas de procesamiento y socios en programas de seguridad alimentaría y calidad.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Marcar sus Creencias</a:t>
            </a:r>
            <a:br>
              <a:rPr sz="4000"/>
            </a:br>
            <a:br>
              <a:rPr sz="4000"/>
            </a:b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380520" y="609120"/>
            <a:ext cx="6782040" cy="586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0">
              <a:lnSpc>
                <a:spcPct val="80000"/>
              </a:lnSpc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Actividades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 Programas de capacitación extensiva para productores y procesadores son ofrecidos para: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Productores – capacitacion cubre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diferentes aspectos de producción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sostenible, mercadeo directo,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administración de negocios, y 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uso de la información del mercado;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Procesadores – capacitacion se enfoca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 opciones para mercadeo, expansión,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inversión.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Enfoque especial dirigido a la habilidad del procesador para lograr sus metas de registro. Programas software de computador son desarrollados ahora que detallan como cumplir con las regulaciones de seguridad alimentaría, permanecer competitivo y proveer un servicio de valor agregado a los productores.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cover dir="u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Entrada al Mercado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3059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VENTA REGIONAL a centros de poblaciones y directamente a turistas de un producto de marca de simple procesamiento.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COMERCIO INTER-REGIONAL con comunidades regionales, productos artesanales lácteos de producción única y de simple procesamiento.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EXPORTACION MERCADOS ESPECIALIDADES de procesamiento simple o productos lácteos de mayor procesamiento y de marca.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CONSOLIDACION DEL PROCESAMIENTO de productos para obtener un mayor control de precio y economía en el procesamiento, venta a   procesadores adicionales.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PROCESAMIENTO CAPTIVO de productores lácteos locales para agregar valor sobre el nivel comercial del producto, ganar control adicional del precio al por mayor.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NEGOCIACION DIRECTA con procesadores globales y mayoristas para la venta de productos, componentes (ingredientes) y productos de procesamiento adicional.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ABASTECIMIENTO LOCAL para satisfacer las necesidades (incluyendo nutrición) con productos y derivados lácteos de procesamiento simple.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Nueve Tendencias/Situación de Base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80880" indent="-38088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</a:t>
            </a: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Mercados al por mayor y al por menor están interesados en  TANGIBLES, no en los rigores de producción.”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“Mercados locales alrededor del mundo cada vez mas estan llenos de PRODUCTOS DE ORIGEN GLOBAL.”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“Estacionalidad en produccion alimentaria local, ahora es opuesto por IMPORTACION PERMANENTE, aun de productos fragiles o bastante inestables (e.g., leche, frutas y vegetales).”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“A medida que el salario domestico aumenta aunque sea  marginalmente, el alimento se compra mas por PORCION que por libras o KILOS”, y la VARIEDAD se vuelve mas importante que el VALOR absoluto.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“Conveniencia, en muchos lugares, ahora es visto como una ‘NECESIDAD’ y no simplemente como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un  ‘DESEO’.”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0">
              <a:lnSpc>
                <a:spcPct val="8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33520" y="1519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Nueve Tendencias…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0" y="15238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Font typeface="Arial"/>
              <a:buAutoNum type="arabicPeriod" startAt="6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Alguien en algún lugar siempre puede – y logra –producir un producto mas BARATO (o lo vende por menos por desesperacion,subsidios gubernamentales…).”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Font typeface="Arial"/>
              <a:buAutoNum type="arabicPeriod" startAt="6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“Cuando un nuevo producto es introducido, restaran 24-36 meses antes de que los competidores respondan reduciendolo a una MERCANCIA.”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Font typeface="Arial"/>
              <a:buAutoNum type="arabicPeriod" startAt="6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“Valor puede ser agregado a cada etapa del transcurso de un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producto, y este puede ser ampliado siempre que sea de MARCA ’.”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9.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“Para productores de productos alimentarios y productos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no-alimentarios, la mayor barrera es ACCESO AL MERCADO,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seguido por CAPACIDAD DE PROCESAMIENTO e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INFRASESTRUCTURA DEL TRANSPORTE.”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09480" indent="0">
              <a:lnSpc>
                <a:spcPct val="90000"/>
              </a:lnSpc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09480" indent="0">
              <a:lnSpc>
                <a:spcPct val="90000"/>
              </a:lnSpc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2282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Desarrollo Industria Lácteos</a:t>
            </a:r>
            <a:br>
              <a:rPr sz="4000"/>
            </a:br>
            <a:r>
              <a:rPr b="0" lang="es-GT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Nicaragua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914040" y="1924200"/>
            <a:ext cx="7620120" cy="417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Impacto</a:t>
            </a: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</a:t>
            </a:r>
            <a:br>
              <a:rPr sz="2400"/>
            </a:b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Mejoramiento de la eficiencia a lo largo de la cadena Láctea aumenta las ganancias del productor como las del procesador y la disponibilidad de un producto lácteo limpio, accesible para el consumidor.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Aproximación</a:t>
            </a: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</a:t>
            </a:r>
            <a:br>
              <a:rPr sz="2400"/>
            </a:b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Implementación de un desarrollo industrial granja-mercado sistemático y practico que construye y capitaliza sobre la maximización de los recursos y fortalezas industriales actuales.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2282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Desarrollo Industria Lácteos</a:t>
            </a:r>
            <a:br>
              <a:rPr sz="4000"/>
            </a:br>
            <a:r>
              <a:rPr b="0" lang="es-GT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Nicaragua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812520" y="1467000"/>
            <a:ext cx="8178840" cy="417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Actividades</a:t>
            </a: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Industria Láctea análisis “brecha”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Mejoramientos sin costo/bajo costo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Transferencia tecnología de punta en la industria de alimentos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Enlace de productores con capacidades de valor agregado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Establecimiento de un ambiente conducente para el desarrollo industrial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Facilitar la organización de la industria privada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Sostenibilidad</a:t>
            </a: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</a:t>
            </a:r>
            <a:br>
              <a:rPr sz="2000"/>
            </a:b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Empresa privada desde la producción, procesamiento, y abastecimiento de entrada operan lucrativamente y se inclinan a apoyar organizaciones industriales para mejorar el ambiente empresarial y del mercado para sostener la prosperidad.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Iniciativa Empresarial Láctea en Nicaragua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73152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0">
              <a:lnSpc>
                <a:spcPct val="80000"/>
              </a:lnSpc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Centros de Recolección de Leche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Acopio de Leche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Procesamiento de Queso Artesanal                 </a:t>
            </a:r>
            <a:br>
              <a:rPr sz="1800"/>
            </a:b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Subcontratos vía 2 organizaciones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Recursos Cooperativos Internacionales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Instituto Interamericano de Cooperación para la Agricultura (IICA)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Responsabilidades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Proveer Asistencia Técnica a 3 cooperativas lácteas en el sector formal: San Francisco, Masigüito y Santo Tomas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Aproximadamente 1,000 beneficiarios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Localizado en los departamentos rurales de Boaco y Chontales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7223040" y="1865160"/>
            <a:ext cx="18432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33520" y="380880"/>
            <a:ext cx="7772400" cy="64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Distribución de Leche Cruda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552600" y="876240"/>
            <a:ext cx="8153280" cy="12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Basado en la producción de 300 millones de litros de leche cruda producida al año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2" name=""/>
          <p:cNvGrpSpPr/>
          <p:nvPr/>
        </p:nvGrpSpPr>
        <p:grpSpPr>
          <a:xfrm>
            <a:off x="762120" y="1687680"/>
            <a:ext cx="8381880" cy="5173560"/>
            <a:chOff x="762120" y="1687680"/>
            <a:chExt cx="8381880" cy="5173560"/>
          </a:xfrm>
        </p:grpSpPr>
        <p:graphicFrame>
          <p:nvGraphicFramePr>
            <p:cNvPr id="103" name=""/>
            <p:cNvGraphicFramePr/>
            <p:nvPr/>
          </p:nvGraphicFramePr>
          <p:xfrm>
            <a:off x="2057400" y="1916280"/>
            <a:ext cx="6096240" cy="4067280"/>
          </p:xfrm>
          <a:graphic>
            <a:graphicData uri="http://schemas.openxmlformats.org/presentationml/2006/ole">
              <p:oleObj r:id="rId1" spid="">
                <p:embed/>
                <p:pic>
                  <p:nvPicPr>
                    <p:cNvPr id="104" name="" descr=""/>
                    <p:cNvPicPr/>
                    <p:nvPr/>
                  </p:nvPicPr>
                  <p:blipFill>
                    <a:blip r:embed="rId2"/>
                    <a:stretch/>
                  </p:blipFill>
                  <p:spPr>
                    <a:xfrm>
                      <a:off x="2057400" y="1916280"/>
                      <a:ext cx="6096240" cy="406728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</p:pic>
              </p:oleObj>
            </a:graphicData>
          </a:graphic>
        </p:graphicFrame>
        <p:sp>
          <p:nvSpPr>
            <p:cNvPr id="105" name=""/>
            <p:cNvSpPr/>
            <p:nvPr/>
          </p:nvSpPr>
          <p:spPr>
            <a:xfrm>
              <a:off x="6858000" y="1687680"/>
              <a:ext cx="2210040" cy="192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spcBef>
                  <a:spcPts val="1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s-GT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Approx. 40 plantas registradas e inspeccionadas por MAGFOR (pasteurizada y no-pasteurizada)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spcBef>
                  <a:spcPts val="1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"/>
            <p:cNvSpPr/>
            <p:nvPr/>
          </p:nvSpPr>
          <p:spPr>
            <a:xfrm flipH="1">
              <a:off x="5638680" y="2144880"/>
              <a:ext cx="1066680" cy="6858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"/>
            <p:cNvSpPr/>
            <p:nvPr/>
          </p:nvSpPr>
          <p:spPr>
            <a:xfrm>
              <a:off x="7239240" y="3364200"/>
              <a:ext cx="1904760" cy="145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PARMALAT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ESKIMO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PROLACSA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(</a:t>
              </a:r>
              <a:r>
                <a:rPr b="0" lang="es-GT" sz="16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pasteurezida)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"/>
            <p:cNvSpPr/>
            <p:nvPr/>
          </p:nvSpPr>
          <p:spPr>
            <a:xfrm>
              <a:off x="5181840" y="5421600"/>
              <a:ext cx="2361960" cy="143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s-GT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Consumo Casero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s-GT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Venta de puerta-a-puerta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s-GT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(no-pasteurizada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spcBef>
                  <a:spcPts val="1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"/>
            <p:cNvSpPr/>
            <p:nvPr/>
          </p:nvSpPr>
          <p:spPr>
            <a:xfrm>
              <a:off x="762120" y="1992600"/>
              <a:ext cx="2286000" cy="1439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s-GT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Approx. 1200 plantas operando en sector informal 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s-GT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(no-pasteurizada)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spcBef>
                  <a:spcPts val="1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"/>
            <p:cNvSpPr/>
            <p:nvPr/>
          </p:nvSpPr>
          <p:spPr>
            <a:xfrm>
              <a:off x="2819520" y="2602080"/>
              <a:ext cx="685800" cy="6858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"/>
            <p:cNvSpPr/>
            <p:nvPr/>
          </p:nvSpPr>
          <p:spPr>
            <a:xfrm flipH="1">
              <a:off x="5943240" y="3973680"/>
              <a:ext cx="11430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"/>
            <p:cNvSpPr/>
            <p:nvPr/>
          </p:nvSpPr>
          <p:spPr>
            <a:xfrm flipV="1">
              <a:off x="4724640" y="5193000"/>
              <a:ext cx="0" cy="4572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3" name=""/>
          <p:cNvSpPr/>
          <p:nvPr/>
        </p:nvSpPr>
        <p:spPr>
          <a:xfrm>
            <a:off x="152280" y="5791320"/>
            <a:ext cx="251460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Información suministrada por: MAGFOR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79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Sector de Procesamiento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571680" y="990720"/>
            <a:ext cx="830556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Exportaciones de Queso: Aproximadamente $US 30 </a:t>
            </a: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	</a:t>
            </a: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	</a:t>
            </a: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	</a:t>
            </a: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	</a:t>
            </a: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	</a:t>
            </a: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	</a:t>
            </a: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millón anuales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 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228600" y="6143760"/>
            <a:ext cx="25146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Informacion Subministratda por: MAGFOR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7" name=""/>
          <p:cNvGraphicFramePr/>
          <p:nvPr/>
        </p:nvGraphicFramePr>
        <p:xfrm>
          <a:off x="457200" y="1828800"/>
          <a:ext cx="8229600" cy="4336920"/>
        </p:xfrm>
        <a:graphic>
          <a:graphicData uri="http://schemas.openxmlformats.org/drawingml/2006/table">
            <a:tbl>
              <a:tblPr/>
              <a:tblGrid>
                <a:gridCol w="905040"/>
                <a:gridCol w="2962080"/>
                <a:gridCol w="4362480"/>
              </a:tblGrid>
              <a:tr h="36828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%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s-GT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SECTOR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s-GT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PROCESADORES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280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508400">
                <a:tc rowSpan="2"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60 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  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s-GT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Formal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s-GT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    Pasteurizada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s-GT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 procesadores privados mas grandes y 10 otros (cooperativas/empresas privadas)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280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s-GT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    No-pasteurizada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s-GT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30 otros (principalmente  artesanal)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7464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40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s-GT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Informal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s-GT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    No-pasteurizada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s-GT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1200 plantas 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s-GT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Consumo Casero Venta puerta-a-puerta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99760" y="533160"/>
            <a:ext cx="8163000" cy="64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Enfoque Integral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9" name=""/>
          <p:cNvGrpSpPr/>
          <p:nvPr/>
        </p:nvGrpSpPr>
        <p:grpSpPr>
          <a:xfrm>
            <a:off x="914400" y="1981080"/>
            <a:ext cx="7315200" cy="4070160"/>
            <a:chOff x="914400" y="1981080"/>
            <a:chExt cx="7315200" cy="4070160"/>
          </a:xfrm>
        </p:grpSpPr>
        <p:sp>
          <p:nvSpPr>
            <p:cNvPr id="120" name=""/>
            <p:cNvSpPr/>
            <p:nvPr/>
          </p:nvSpPr>
          <p:spPr>
            <a:xfrm>
              <a:off x="990360" y="2012760"/>
              <a:ext cx="1752840" cy="95220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s-GT" sz="16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Acceso a mercados estables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"/>
            <p:cNvSpPr/>
            <p:nvPr/>
          </p:nvSpPr>
          <p:spPr>
            <a:xfrm>
              <a:off x="914400" y="3432240"/>
              <a:ext cx="1847880" cy="106884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spcBef>
                  <a:spcPts val="1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s-GT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Fortalecimiento el poder de decisión cooperativo y estratégico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"/>
            <p:cNvSpPr/>
            <p:nvPr/>
          </p:nvSpPr>
          <p:spPr>
            <a:xfrm>
              <a:off x="990360" y="4984560"/>
              <a:ext cx="1752840" cy="82512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s-GT" sz="16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Incremento en la productividad en la granja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"/>
            <p:cNvSpPr/>
            <p:nvPr/>
          </p:nvSpPr>
          <p:spPr>
            <a:xfrm>
              <a:off x="4572000" y="1981080"/>
              <a:ext cx="160020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125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IICA/LOL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"/>
            <p:cNvSpPr/>
            <p:nvPr/>
          </p:nvSpPr>
          <p:spPr>
            <a:xfrm>
              <a:off x="4362480" y="3736800"/>
              <a:ext cx="160020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125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CRI/LOL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"/>
            <p:cNvSpPr/>
            <p:nvPr/>
          </p:nvSpPr>
          <p:spPr>
            <a:xfrm>
              <a:off x="4152600" y="5184720"/>
              <a:ext cx="160020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125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CRI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"/>
            <p:cNvSpPr/>
            <p:nvPr/>
          </p:nvSpPr>
          <p:spPr>
            <a:xfrm>
              <a:off x="6019560" y="1987560"/>
              <a:ext cx="221004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(</a:t>
              </a:r>
              <a:r>
                <a:rPr b="0" lang="es-GT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Exportación y los mercados locales)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"/>
            <p:cNvSpPr/>
            <p:nvPr/>
          </p:nvSpPr>
          <p:spPr>
            <a:xfrm>
              <a:off x="5638680" y="3759120"/>
              <a:ext cx="220968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(</a:t>
              </a:r>
              <a:r>
                <a:rPr b="0" lang="es-GT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Plantación de Negocios</a:t>
              </a: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)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"/>
            <p:cNvSpPr/>
            <p:nvPr/>
          </p:nvSpPr>
          <p:spPr>
            <a:xfrm>
              <a:off x="5333760" y="5226120"/>
              <a:ext cx="2210040" cy="82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spcBef>
                  <a:spcPts val="1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(</a:t>
              </a:r>
              <a:r>
                <a:rPr b="0" lang="es-GT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inseminación Artificial y mejoramiento de forrajes)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"/>
            <p:cNvSpPr/>
            <p:nvPr/>
          </p:nvSpPr>
          <p:spPr>
            <a:xfrm flipV="1">
              <a:off x="1771560" y="4533840"/>
              <a:ext cx="0" cy="457200"/>
            </a:xfrm>
            <a:prstGeom prst="line">
              <a:avLst/>
            </a:prstGeom>
            <a:ln w="5724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"/>
            <p:cNvSpPr/>
            <p:nvPr/>
          </p:nvSpPr>
          <p:spPr>
            <a:xfrm flipV="1">
              <a:off x="1771560" y="2981160"/>
              <a:ext cx="0" cy="457200"/>
            </a:xfrm>
            <a:prstGeom prst="line">
              <a:avLst/>
            </a:prstGeom>
            <a:ln w="5724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"/>
            <p:cNvSpPr/>
            <p:nvPr/>
          </p:nvSpPr>
          <p:spPr>
            <a:xfrm flipH="1">
              <a:off x="2838240" y="5429160"/>
              <a:ext cx="1828800" cy="0"/>
            </a:xfrm>
            <a:prstGeom prst="line">
              <a:avLst/>
            </a:prstGeom>
            <a:ln w="9360">
              <a:solidFill>
                <a:srgbClr val="000000"/>
              </a:solidFill>
              <a:prstDash val="dashDot"/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"/>
            <p:cNvSpPr/>
            <p:nvPr/>
          </p:nvSpPr>
          <p:spPr>
            <a:xfrm flipH="1">
              <a:off x="2762280" y="3981240"/>
              <a:ext cx="1828800" cy="0"/>
            </a:xfrm>
            <a:prstGeom prst="line">
              <a:avLst/>
            </a:prstGeom>
            <a:ln w="9360">
              <a:solidFill>
                <a:srgbClr val="000000"/>
              </a:solidFill>
              <a:prstDash val="dashDot"/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"/>
            <p:cNvSpPr/>
            <p:nvPr/>
          </p:nvSpPr>
          <p:spPr>
            <a:xfrm flipH="1">
              <a:off x="2914560" y="2190600"/>
              <a:ext cx="1828800" cy="0"/>
            </a:xfrm>
            <a:prstGeom prst="line">
              <a:avLst/>
            </a:prstGeom>
            <a:ln w="9360">
              <a:solidFill>
                <a:srgbClr val="000000"/>
              </a:solidFill>
              <a:prstDash val="dashDot"/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"/>
            <p:cNvSpPr/>
            <p:nvPr/>
          </p:nvSpPr>
          <p:spPr>
            <a:xfrm flipV="1">
              <a:off x="4971960" y="4286160"/>
              <a:ext cx="0" cy="990720"/>
            </a:xfrm>
            <a:prstGeom prst="line">
              <a:avLst/>
            </a:prstGeom>
            <a:ln w="9360">
              <a:solidFill>
                <a:srgbClr val="000000"/>
              </a:solidFill>
              <a:prstDash val="dashDot"/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"/>
            <p:cNvSpPr/>
            <p:nvPr/>
          </p:nvSpPr>
          <p:spPr>
            <a:xfrm flipV="1">
              <a:off x="4971960" y="2457360"/>
              <a:ext cx="0" cy="1371600"/>
            </a:xfrm>
            <a:prstGeom prst="line">
              <a:avLst/>
            </a:prstGeom>
            <a:ln w="9360">
              <a:solidFill>
                <a:srgbClr val="000000"/>
              </a:solidFill>
              <a:prstDash val="dashDot"/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6" name=""/>
          <p:cNvSpPr/>
          <p:nvPr/>
        </p:nvSpPr>
        <p:spPr>
          <a:xfrm>
            <a:off x="5754960" y="6724800"/>
            <a:ext cx="244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>
            <a:off x="-1359000" y="563400"/>
            <a:ext cx="1035072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CALIDAD, PROCESAMIENTO VALOR-AGREGADO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685800" y="688320"/>
            <a:ext cx="7620120" cy="64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marL="914400" indent="-914400"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-914400"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-914400"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Paso #1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Land O’Lakes personal inspecciona la planta y prepara un informe sobre lo que se requiere para mejorar la calidad del producto y la contribucion que se hara por parte de Land O’Lakes una vez las medidas correctivas son tomadas;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-914400"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Paso #2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Land O’Lakes presenta el informe formalmente a los dueños/gerentes de la planta con una discusion sobre los puntos principales;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-914400"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Paso #3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 acuerdo contractual detallando los términos de colaboración es redactado y ejecutado;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-914400"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Paso #4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 planta emprende una serie de mejoramientos que pueden ser realizados sin necesidad de nuevos equipos o una gran inversión de capital para demostrar su compromiso con los objetivos del proyecto;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-914400"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Paso #5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Land O’Lakes inspecciona y aprueba los pasos de mejoramiento iniciales tomados por la planta; y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-914400"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Paso #6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 equipo es enviado y se da inicio a la segunda fase del mejoramiento de la planta.  Adicionalmente, se espera que las plantas destinatarias iniciaran provisiones en el contrato que requieren la provisión del aumento en valor/servicios a proveedores de leche cruda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-914400"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Programa de Sello De Calidad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 programa dirigido a desarrollar un cambio estructural en la curva de demanda del consumidor, cambiando la demanda del consumidor de productos de baja calidad y productos alternos como importados y substitutos, hacia una preferencia por alimentos superiores de producción domestica.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Sello de Calidad 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lvl="1" marL="743040" indent="-28584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Como: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8080" indent="-463680"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Impulsado por la Industria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8080" indent="-463680"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implementando un programa de calidad de producto  a través de un enfoque intensivo integrado a nivel de asistencia técnica dirigido al desarrollo empresarial, tecnología de mercadeo y producción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8080" indent="-463680"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Simultáneamente llevar a cabo una campaña de concientizacion del consumidor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Vehículo a la delantera: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8080" indent="-463680"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 sello de marca de Calidad y un símbolo de marca otorgado a empresas a través de un proceso transparente de haber cumplido con estándares superiores de calidad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0"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Sello de Calidad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lvl="1" marL="743040" indent="-28584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Quien: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 sello y el proceso son “propiedad” de una asociasion industrial.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Beneficios: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8080" indent="-463680"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 sello se convierte en una reconocida y extensamente preferida y acreditada “marca” en el mercado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8080" indent="-463680"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Productos del Sello de Calidad tienen un incremento estable en la proporción del  mercado supliendo la demanda del consumidor por productos seguros, saludables, que reúnen estándares de calidad y son examinados independientemente.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Modelo del Sello Calidad en Macedonia </a:t>
            </a:r>
            <a:br>
              <a:rPr sz="3600"/>
            </a:b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1998 - 2003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Empresas participantes del sector lácteo y carnico han: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aumentado sus ventas en un 53 por ciento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desarrollo nuevas formulaciones y empaques para 138 productos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voluntariamente cumplió con estándares de calidad de diseño industrial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Sesenta y seis por ciento de consumidores reconocen el Sello de Calidad como un símbolo de marca de calidad superior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Procesadores lácteos con el Sello de Calidad han comenzado a dar voluntariamente un pago de incentivo por calidad, aumentando el precio pagado a los granjeros en 12 por ciento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 Asociación, con 125 miembros y 80 por ciento del mercado es la asociación voluntaria mas grande, gobernada democráticamente en  Macedonia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 Asociación es dueña de un laboratorio para el examen de alimentos que es auto-sostenible y es el único laboratorio independiente en Macedonia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 Asociación y Land O’Lakes recivieron el premio “Compre Macedonia” del Gobierno de Macedonia por la mejor campaña promocional nacional dirigida para productos de Macedonia.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>
            <a:off x="990720" y="3375000"/>
            <a:ext cx="7238880" cy="30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lvl="4" marL="18288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Suministro de productos/servicios a traves      de la cadena lactea de los EE.UU.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72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Produccion costo-efectiva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72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Calidad, produccion valor-agregado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Promocion y mercadeo del consumidor 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72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1280" indent="-341280"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1676520" y="304920"/>
            <a:ext cx="5632200" cy="13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Actividades Dairy Link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Honduras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4327560" y="1865160"/>
            <a:ext cx="18396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609480" y="1657440"/>
            <a:ext cx="7918560" cy="40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marL="461880" indent="-461880">
              <a:buClr>
                <a:srgbClr val="000000"/>
              </a:buClr>
              <a:buFont typeface="Arial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Evaluación económica de las nuevas tecnologías, productos o procesos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1880" indent="-461880">
              <a:buClr>
                <a:srgbClr val="000000"/>
              </a:buClr>
              <a:buFont typeface="Arial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Estudios de factibilidad para instalación de equipos, inversiones en nuevos productos o procesos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1880" indent="-461880">
              <a:buClr>
                <a:srgbClr val="000000"/>
              </a:buClr>
              <a:buFont typeface="Arial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Visitas de capacitación de proveedores de E.U.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1880" indent="-461880">
              <a:buClr>
                <a:srgbClr val="000000"/>
              </a:buClr>
              <a:buFont typeface="Arial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Diseño y coordinación de capacitaciones especificas para personal clave de lácteos en Honduras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1880" indent="-461880">
              <a:buClr>
                <a:srgbClr val="000000"/>
              </a:buClr>
              <a:buFont typeface="Arial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Investigación de Mercadeo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1880" indent="-461880">
              <a:buClr>
                <a:srgbClr val="000000"/>
              </a:buClr>
              <a:buFont typeface="Arial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Organizar e implementar talleres y visitas de campo para diseminar resultados o introducir nuevas tecnologías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1880" indent="-461880">
              <a:buClr>
                <a:srgbClr val="000000"/>
              </a:buClr>
              <a:buFont typeface="Arial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G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Identificar servicios financieros y/o crediticios de recursos privados y gubernamentales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1880" indent="-461880">
              <a:spcAft>
                <a:spcPts val="624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1147320" y="304920"/>
            <a:ext cx="734436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Actividades del US Dairy Link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" descr=""/>
          <p:cNvPicPr/>
          <p:nvPr/>
        </p:nvPicPr>
        <p:blipFill>
          <a:blip r:embed="rId1"/>
          <a:stretch/>
        </p:blipFill>
        <p:spPr>
          <a:xfrm>
            <a:off x="6019920" y="5030640"/>
            <a:ext cx="2387520" cy="137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" descr=""/>
          <p:cNvPicPr/>
          <p:nvPr/>
        </p:nvPicPr>
        <p:blipFill>
          <a:blip r:embed="rId2"/>
          <a:stretch/>
        </p:blipFill>
        <p:spPr>
          <a:xfrm>
            <a:off x="685800" y="762120"/>
            <a:ext cx="2590920" cy="177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"/>
          <p:cNvSpPr/>
          <p:nvPr/>
        </p:nvSpPr>
        <p:spPr>
          <a:xfrm>
            <a:off x="3200400" y="3505320"/>
            <a:ext cx="1981080" cy="761760"/>
          </a:xfrm>
          <a:prstGeom prst="rect">
            <a:avLst/>
          </a:prstGeom>
          <a:solidFill>
            <a:srgbClr val="ffff00"/>
          </a:solidFill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Dairy Link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609480" y="2057400"/>
            <a:ext cx="762120" cy="838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6" name=""/>
          <p:cNvGrpSpPr/>
          <p:nvPr/>
        </p:nvGrpSpPr>
        <p:grpSpPr>
          <a:xfrm>
            <a:off x="3608640" y="-255600"/>
            <a:ext cx="5755680" cy="5911920"/>
            <a:chOff x="3608640" y="-255600"/>
            <a:chExt cx="5755680" cy="5911920"/>
          </a:xfrm>
        </p:grpSpPr>
        <p:sp>
          <p:nvSpPr>
            <p:cNvPr id="157" name=""/>
            <p:cNvSpPr/>
            <p:nvPr/>
          </p:nvSpPr>
          <p:spPr>
            <a:xfrm flipV="1" rot="8176800">
              <a:off x="5662440" y="-601560"/>
              <a:ext cx="1648080" cy="6604200"/>
            </a:xfrm>
            <a:custGeom>
              <a:avLst/>
              <a:gdLst>
                <a:gd name="textAreaLeft" fmla="*/ 220680 w 1648080"/>
                <a:gd name="textAreaRight" fmla="*/ 1427400 w 1648080"/>
                <a:gd name="textAreaTop" fmla="*/ 1410480 h 6604200"/>
                <a:gd name="textAreaBottom" fmla="*/ 4533480 h 6604200"/>
                <a:gd name="GluePoint1X" fmla="*/ 0 w 21600"/>
                <a:gd name="GluePoint1Y" fmla="*/ 17 h 21600"/>
                <a:gd name="GluePoint2X" fmla="*/ 2 w 21600"/>
                <a:gd name="GluePoint2Y" fmla="*/ 14 h 21600"/>
                <a:gd name="GluePoint3X" fmla="*/ 22 w 21600"/>
                <a:gd name="GluePoint3Y" fmla="*/ 8 h 21600"/>
                <a:gd name="GluePoint4X" fmla="*/ 2 w 21600"/>
                <a:gd name="GluePoint4Y" fmla="*/ 12 h 21600"/>
                <a:gd name="GluePoint5X" fmla="*/ 22 w 21600"/>
                <a:gd name="GluePoint5Y" fmla="*/ 16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1600" h="21600">
                  <a:moveTo>
                    <a:pt x="21600" y="0"/>
                  </a:moveTo>
                  <a:arcTo wR="21600" hR="9227" stAng="-5400000" swAng="-5400000"/>
                  <a:lnTo>
                    <a:pt x="0" y="10214"/>
                  </a:lnTo>
                  <a:arcTo wR="21600" hR="9227" stAng="10800000" swAng="-3023131"/>
                  <a:lnTo>
                    <a:pt x="14400" y="21072"/>
                  </a:lnTo>
                  <a:lnTo>
                    <a:pt x="21600" y="18947"/>
                  </a:lnTo>
                  <a:lnTo>
                    <a:pt x="14400" y="15765"/>
                  </a:lnTo>
                  <a:lnTo>
                    <a:pt x="14400" y="17925"/>
                  </a:lnTo>
                  <a:arcTo wR="21600" hR="9227" stAng="7776869" swAng="2944489"/>
                  <a:lnTo>
                    <a:pt x="31" y="9720"/>
                  </a:lnTo>
                  <a:arcTo wR="21600" hR="9227" stAng="-10721358" swAng="5321358"/>
                  <a:close/>
                </a:path>
                <a:path fill="darkenLess" w="21600" h="21600">
                  <a:moveTo>
                    <a:pt x="21600" y="0"/>
                  </a:moveTo>
                  <a:arcTo wR="21600" hR="9227" stAng="-5400000" swAng="-5400000"/>
                  <a:lnTo>
                    <a:pt x="0" y="9227"/>
                  </a:lnTo>
                  <a:arcTo wR="21600" hR="9227" stAng="10800000" swAng="-78642"/>
                  <a:lnTo>
                    <a:pt x="31" y="9720"/>
                  </a:lnTo>
                  <a:arcTo wR="21600" hR="9227" stAng="-10721358" swAng="5321358"/>
                  <a:close/>
                </a:path>
              </a:pathLst>
            </a:custGeom>
            <a:blipFill rotWithShape="0">
              <a:blip r:embed="rId3"/>
              <a:srcRect/>
              <a:tile tx="0" ty="0" sx="100000" sy="100000" algn="ctr"/>
            </a:blip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"/>
            <p:cNvSpPr/>
            <p:nvPr/>
          </p:nvSpPr>
          <p:spPr>
            <a:xfrm>
              <a:off x="6233040" y="925560"/>
              <a:ext cx="2259360" cy="100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Conecte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USA Supplidores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       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9" name=""/>
          <p:cNvSpPr/>
          <p:nvPr/>
        </p:nvSpPr>
        <p:spPr>
          <a:xfrm flipH="1" rot="7858200">
            <a:off x="1562760" y="1103040"/>
            <a:ext cx="1648080" cy="6603840"/>
          </a:xfrm>
          <a:custGeom>
            <a:avLst/>
            <a:gdLst>
              <a:gd name="textAreaLeft" fmla="*/ 220680 w 1648080"/>
              <a:gd name="textAreaRight" fmla="*/ 1427400 w 1648080"/>
              <a:gd name="textAreaTop" fmla="*/ 1410480 h 6603840"/>
              <a:gd name="textAreaBottom" fmla="*/ 4533120 h 6603840"/>
              <a:gd name="GluePoint1X" fmla="*/ 0 w 21600"/>
              <a:gd name="GluePoint1Y" fmla="*/ 17 h 21600"/>
              <a:gd name="GluePoint2X" fmla="*/ 2 w 21600"/>
              <a:gd name="GluePoint2Y" fmla="*/ 14 h 21600"/>
              <a:gd name="GluePoint3X" fmla="*/ 22 w 21600"/>
              <a:gd name="GluePoint3Y" fmla="*/ 8 h 21600"/>
              <a:gd name="GluePoint4X" fmla="*/ 2 w 21600"/>
              <a:gd name="GluePoint4Y" fmla="*/ 12 h 21600"/>
              <a:gd name="GluePoint5X" fmla="*/ 22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arcTo wR="21600" hR="9227" stAng="-5400000" swAng="-5400000"/>
                <a:lnTo>
                  <a:pt x="0" y="10214"/>
                </a:lnTo>
                <a:arcTo wR="21600" hR="9227" stAng="10800000" swAng="-3023131"/>
                <a:lnTo>
                  <a:pt x="14400" y="21072"/>
                </a:lnTo>
                <a:lnTo>
                  <a:pt x="21600" y="18947"/>
                </a:lnTo>
                <a:lnTo>
                  <a:pt x="14400" y="15765"/>
                </a:lnTo>
                <a:lnTo>
                  <a:pt x="14400" y="17925"/>
                </a:lnTo>
                <a:arcTo wR="21600" hR="9227" stAng="7776869" swAng="2944489"/>
                <a:lnTo>
                  <a:pt x="31" y="9720"/>
                </a:lnTo>
                <a:arcTo wR="21600" hR="9227" stAng="-10721358" swAng="5321358"/>
                <a:close/>
              </a:path>
              <a:path fill="darkenLess" w="21600" h="21600">
                <a:moveTo>
                  <a:pt x="21600" y="0"/>
                </a:moveTo>
                <a:arcTo wR="21600" hR="9227" stAng="-5400000" swAng="-5400000"/>
                <a:lnTo>
                  <a:pt x="0" y="9227"/>
                </a:lnTo>
                <a:arcTo wR="21600" hR="9227" stAng="10800000" swAng="-78642"/>
                <a:lnTo>
                  <a:pt x="31" y="9720"/>
                </a:lnTo>
                <a:arcTo wR="21600" hR="9227" stAng="-10721358" swAng="5321358"/>
                <a:close/>
              </a:path>
            </a:pathLst>
          </a:custGeom>
          <a:blipFill rotWithShape="0">
            <a:blip r:embed="rId4"/>
            <a:srcRect/>
            <a:tile tx="0" ty="0" sx="100000" sy="100000" algn="ctr"/>
          </a:blip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228600" y="4724280"/>
            <a:ext cx="177912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Embajadores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Comerciates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1" name=""/>
          <p:cNvGrpSpPr/>
          <p:nvPr/>
        </p:nvGrpSpPr>
        <p:grpSpPr>
          <a:xfrm>
            <a:off x="1029600" y="2095200"/>
            <a:ext cx="2848320" cy="2111760"/>
            <a:chOff x="1029600" y="2095200"/>
            <a:chExt cx="2848320" cy="2111760"/>
          </a:xfrm>
        </p:grpSpPr>
        <p:sp>
          <p:nvSpPr>
            <p:cNvPr id="162" name=""/>
            <p:cNvSpPr/>
            <p:nvPr/>
          </p:nvSpPr>
          <p:spPr>
            <a:xfrm flipV="1" rot="18976200">
              <a:off x="1828440" y="1904760"/>
              <a:ext cx="449280" cy="2492280"/>
            </a:xfrm>
            <a:custGeom>
              <a:avLst/>
              <a:gdLst>
                <a:gd name="textAreaLeft" fmla="*/ 60120 w 449280"/>
                <a:gd name="textAreaRight" fmla="*/ 389160 w 449280"/>
                <a:gd name="textAreaTop" fmla="*/ 531720 h 2492280"/>
                <a:gd name="textAreaBottom" fmla="*/ 1710360 h 2492280"/>
                <a:gd name="GluePoint1X" fmla="*/ 0 w 21600"/>
                <a:gd name="GluePoint1Y" fmla="*/ 17 h 21600"/>
                <a:gd name="GluePoint2X" fmla="*/ 2 w 21600"/>
                <a:gd name="GluePoint2Y" fmla="*/ 14 h 21600"/>
                <a:gd name="GluePoint3X" fmla="*/ 22 w 21600"/>
                <a:gd name="GluePoint3Y" fmla="*/ 8 h 21600"/>
                <a:gd name="GluePoint4X" fmla="*/ 2 w 21600"/>
                <a:gd name="GluePoint4Y" fmla="*/ 12 h 21600"/>
                <a:gd name="GluePoint5X" fmla="*/ 22 w 21600"/>
                <a:gd name="GluePoint5Y" fmla="*/ 16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1600" h="21600">
                  <a:moveTo>
                    <a:pt x="21600" y="0"/>
                  </a:moveTo>
                  <a:arcTo wR="21600" hR="9227" stAng="-5400000" swAng="-5400000"/>
                  <a:lnTo>
                    <a:pt x="0" y="10214"/>
                  </a:lnTo>
                  <a:arcTo wR="21600" hR="9227" stAng="10800000" swAng="-3023131"/>
                  <a:lnTo>
                    <a:pt x="14400" y="21072"/>
                  </a:lnTo>
                  <a:lnTo>
                    <a:pt x="21600" y="18947"/>
                  </a:lnTo>
                  <a:lnTo>
                    <a:pt x="14400" y="15765"/>
                  </a:lnTo>
                  <a:lnTo>
                    <a:pt x="14400" y="17925"/>
                  </a:lnTo>
                  <a:arcTo wR="21600" hR="9227" stAng="7776869" swAng="2944489"/>
                  <a:lnTo>
                    <a:pt x="31" y="9720"/>
                  </a:lnTo>
                  <a:arcTo wR="21600" hR="9227" stAng="-10721358" swAng="5321358"/>
                  <a:close/>
                </a:path>
                <a:path fill="darkenLess" w="21600" h="21600">
                  <a:moveTo>
                    <a:pt x="21600" y="0"/>
                  </a:moveTo>
                  <a:arcTo wR="21600" hR="9227" stAng="-5400000" swAng="-5400000"/>
                  <a:lnTo>
                    <a:pt x="0" y="9227"/>
                  </a:lnTo>
                  <a:arcTo wR="21600" hR="9227" stAng="10800000" swAng="-78642"/>
                  <a:lnTo>
                    <a:pt x="31" y="9720"/>
                  </a:lnTo>
                  <a:arcTo wR="21600" hR="9227" stAng="-10721358" swAng="5321358"/>
                  <a:close/>
                </a:path>
              </a:pathLst>
            </a:custGeom>
            <a:blipFill rotWithShape="0">
              <a:blip r:embed="rId5"/>
              <a:srcRect/>
              <a:tile tx="0" ty="0" sx="100000" sy="100000" algn="ctr"/>
            </a:blip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"/>
            <p:cNvSpPr/>
            <p:nvPr/>
          </p:nvSpPr>
          <p:spPr>
            <a:xfrm>
              <a:off x="1677960" y="2514600"/>
              <a:ext cx="21999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- Info de Honduras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4" name=""/>
          <p:cNvGrpSpPr/>
          <p:nvPr/>
        </p:nvGrpSpPr>
        <p:grpSpPr>
          <a:xfrm>
            <a:off x="4878360" y="3390480"/>
            <a:ext cx="2437560" cy="2111760"/>
            <a:chOff x="4878360" y="3390480"/>
            <a:chExt cx="2437560" cy="2111760"/>
          </a:xfrm>
        </p:grpSpPr>
        <p:sp>
          <p:nvSpPr>
            <p:cNvPr id="165" name=""/>
            <p:cNvSpPr/>
            <p:nvPr/>
          </p:nvSpPr>
          <p:spPr>
            <a:xfrm flipV="1" rot="8176800">
              <a:off x="6067440" y="3200040"/>
              <a:ext cx="449280" cy="2492280"/>
            </a:xfrm>
            <a:custGeom>
              <a:avLst/>
              <a:gdLst>
                <a:gd name="textAreaLeft" fmla="*/ 60120 w 449280"/>
                <a:gd name="textAreaRight" fmla="*/ 389160 w 449280"/>
                <a:gd name="textAreaTop" fmla="*/ 531720 h 2492280"/>
                <a:gd name="textAreaBottom" fmla="*/ 1710360 h 2492280"/>
                <a:gd name="GluePoint1X" fmla="*/ 0 w 21600"/>
                <a:gd name="GluePoint1Y" fmla="*/ 17 h 21600"/>
                <a:gd name="GluePoint2X" fmla="*/ 2 w 21600"/>
                <a:gd name="GluePoint2Y" fmla="*/ 14 h 21600"/>
                <a:gd name="GluePoint3X" fmla="*/ 22 w 21600"/>
                <a:gd name="GluePoint3Y" fmla="*/ 8 h 21600"/>
                <a:gd name="GluePoint4X" fmla="*/ 2 w 21600"/>
                <a:gd name="GluePoint4Y" fmla="*/ 12 h 21600"/>
                <a:gd name="GluePoint5X" fmla="*/ 22 w 21600"/>
                <a:gd name="GluePoint5Y" fmla="*/ 16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1600" h="21600">
                  <a:moveTo>
                    <a:pt x="21600" y="0"/>
                  </a:moveTo>
                  <a:arcTo wR="21600" hR="9227" stAng="-5400000" swAng="-5400000"/>
                  <a:lnTo>
                    <a:pt x="0" y="10214"/>
                  </a:lnTo>
                  <a:arcTo wR="21600" hR="9227" stAng="10800000" swAng="-3023131"/>
                  <a:lnTo>
                    <a:pt x="14400" y="21072"/>
                  </a:lnTo>
                  <a:lnTo>
                    <a:pt x="21600" y="18947"/>
                  </a:lnTo>
                  <a:lnTo>
                    <a:pt x="14400" y="15765"/>
                  </a:lnTo>
                  <a:lnTo>
                    <a:pt x="14400" y="17925"/>
                  </a:lnTo>
                  <a:arcTo wR="21600" hR="9227" stAng="7776869" swAng="2944489"/>
                  <a:lnTo>
                    <a:pt x="31" y="9720"/>
                  </a:lnTo>
                  <a:arcTo wR="21600" hR="9227" stAng="-10721358" swAng="5321358"/>
                  <a:close/>
                </a:path>
                <a:path fill="darkenLess" w="21600" h="21600">
                  <a:moveTo>
                    <a:pt x="21600" y="0"/>
                  </a:moveTo>
                  <a:arcTo wR="21600" hR="9227" stAng="-5400000" swAng="-5400000"/>
                  <a:lnTo>
                    <a:pt x="0" y="9227"/>
                  </a:lnTo>
                  <a:arcTo wR="21600" hR="9227" stAng="10800000" swAng="-78642"/>
                  <a:lnTo>
                    <a:pt x="31" y="9720"/>
                  </a:lnTo>
                  <a:arcTo wR="21600" hR="9227" stAng="-10721358" swAng="5321358"/>
                  <a:close/>
                </a:path>
              </a:pathLst>
            </a:custGeom>
            <a:blipFill rotWithShape="0">
              <a:blip r:embed="rId6"/>
              <a:srcRect/>
              <a:tile tx="0" ty="0" sx="100000" sy="100000" algn="ctr"/>
            </a:blip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" name=""/>
            <p:cNvSpPr/>
            <p:nvPr/>
          </p:nvSpPr>
          <p:spPr>
            <a:xfrm>
              <a:off x="4878360" y="4321080"/>
              <a:ext cx="19713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- Info sobre USA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7" name=""/>
          <p:cNvSpPr/>
          <p:nvPr/>
        </p:nvSpPr>
        <p:spPr>
          <a:xfrm>
            <a:off x="1906200" y="2819520"/>
            <a:ext cx="4474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Relación con Cooperantes y Gobierno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3809880" y="4572000"/>
            <a:ext cx="4019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b="1" lang="es-G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Ensayos de Campo/ Investigación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7772400" y="5715000"/>
            <a:ext cx="990720" cy="114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0" y="5867280"/>
            <a:ext cx="1981080" cy="762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1" name="" descr=""/>
          <p:cNvPicPr/>
          <p:nvPr/>
        </p:nvPicPr>
        <p:blipFill>
          <a:blip r:embed="rId7"/>
          <a:stretch/>
        </p:blipFill>
        <p:spPr>
          <a:xfrm>
            <a:off x="380880" y="5867280"/>
            <a:ext cx="1143000" cy="770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/>
          <p:nvPr/>
        </p:nvSpPr>
        <p:spPr>
          <a:xfrm>
            <a:off x="914400" y="1143000"/>
            <a:ext cx="7315200" cy="44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marL="401760" indent="-401760">
              <a:buClr>
                <a:srgbClr val="000000"/>
              </a:buClr>
              <a:buFont typeface="Arial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Productos de alto valor-agregado e ingredientes;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1760" indent="-401760">
              <a:buClr>
                <a:srgbClr val="000000"/>
              </a:buClr>
              <a:buFont typeface="Arial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Productos nuevos e innovadores, procesos, o tecnologías; 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1760" indent="-401760">
              <a:buClr>
                <a:srgbClr val="000000"/>
              </a:buClr>
              <a:buFont typeface="Arial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Nuevos usos para productos existentes o nuevos materiales de empaque;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1760" indent="-401760">
              <a:buClr>
                <a:srgbClr val="000000"/>
              </a:buClr>
              <a:buFont typeface="Arial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Superando obstáculos que dificultan la obtención de productos lácteos de EU en el  mercado Hondureño (impuestos, barreras comerciales, temas de seguridad de alimentos, etc.);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1760" indent="-401760">
              <a:buClr>
                <a:srgbClr val="000000"/>
              </a:buClr>
              <a:buFont typeface="Arial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G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Equipo lácteo usado y hecho a la medida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923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2003-09-23T18:30:51Z</dcterms:created>
  <dc:creator>19351</dc:creator>
  <dc:description/>
  <dc:language>en-IN</dc:language>
  <cp:lastModifiedBy>PuenteM</cp:lastModifiedBy>
  <dcterms:modified xsi:type="dcterms:W3CDTF">2003-10-07T09:53:01Z</dcterms:modified>
  <cp:revision>70</cp:revision>
  <dc:subject/>
  <dc:title>Uruguay Dairy Conference</dc:title>
</cp:coreProperties>
</file>