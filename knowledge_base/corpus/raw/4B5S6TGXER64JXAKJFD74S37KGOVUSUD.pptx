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embeddings/oleObject1.xlsx" ContentType="application/vnd.openxmlformats-officedocument.spreadsheetml.sheet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  <Override PartName="/ppt/media/image1.wmf" ContentType="image/x-wmf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6858000" cy="91805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D2B4B8-79B0-4F6D-934F-6C27CBEF104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60912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title text format</a:t>
            </a:r>
            <a:endParaRPr b="0" lang="en-IN" sz="4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85800" y="1981080"/>
            <a:ext cx="7772400" cy="411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b="0" lang="en-IN" sz="3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A9C60EB-7D93-4723-AD9B-7FA72AAC4102}" type="slidenum"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package" Target="../embeddings/oleObject1.xlsx"/><Relationship Id="rId2" Type="http://schemas.openxmlformats.org/officeDocument/2006/relationships/image" Target="../media/image1.wmf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2982960" y="1828800"/>
            <a:ext cx="18396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2821680" y="228600"/>
            <a:ext cx="348300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COBRA NPV Comparison</a:t>
            </a:r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838080" y="762120"/>
            <a:ext cx="7467840" cy="13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The Navy’s COBRA run for Scenario DON-0033B understates one-time costs by $441.8 million and overstates total savings by $2.2 billion through 2025.  The Connecticut corrected COBRA run shows that the NPV for DON-0033B is actually a cost of $641 million, not the savings of $1.6 billion proposed by the Navy.  Recurring savings are an immaterial $35 million a year rather than the Navy’s $193 million.  The corrected COBRA run shows that scenario DON-0033B does not break even for “100+ years.”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8" name=""/>
          <p:cNvGrpSpPr/>
          <p:nvPr/>
        </p:nvGrpSpPr>
        <p:grpSpPr>
          <a:xfrm>
            <a:off x="762120" y="2133720"/>
            <a:ext cx="6867000" cy="4219200"/>
            <a:chOff x="762120" y="2133720"/>
            <a:chExt cx="6867000" cy="4219200"/>
          </a:xfrm>
        </p:grpSpPr>
        <p:graphicFrame>
          <p:nvGraphicFramePr>
            <p:cNvPr id="9" name=""/>
            <p:cNvGraphicFramePr/>
            <p:nvPr/>
          </p:nvGraphicFramePr>
          <p:xfrm>
            <a:off x="762120" y="2133720"/>
            <a:ext cx="6867000" cy="4219200"/>
          </p:xfrm>
          <a:graphic>
            <a:graphicData uri="http://schemas.openxmlformats.org/presentationml/2006/ole">
              <p:oleObj progId="Excel.Sheet.12" r:id="rId1" spid="">
                <p:embed/>
                <p:pic>
                  <p:nvPicPr>
                    <p:cNvPr id="10" name="" descr=""/>
                    <p:cNvPicPr/>
                    <p:nvPr/>
                  </p:nvPicPr>
                  <p:blipFill>
                    <a:blip r:embed="rId2"/>
                    <a:stretch/>
                  </p:blipFill>
                  <p:spPr>
                    <a:xfrm>
                      <a:off x="762120" y="2133720"/>
                      <a:ext cx="6867000" cy="4219200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</p:pic>
              </p:oleObj>
            </a:graphicData>
          </a:graphic>
        </p:graphicFrame>
        <p:sp>
          <p:nvSpPr>
            <p:cNvPr id="11" name=""/>
            <p:cNvSpPr/>
            <p:nvPr/>
          </p:nvSpPr>
          <p:spPr>
            <a:xfrm flipH="1">
              <a:off x="3908160" y="2795040"/>
              <a:ext cx="3549600" cy="1443240"/>
            </a:xfrm>
            <a:prstGeom prst="rtTriangle">
              <a:avLst/>
            </a:prstGeom>
            <a:solidFill>
              <a:srgbClr val="ffff66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ctr">
              <a:noAutofit/>
            </a:bodyPr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6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    Overstated Savings</a:t>
              </a: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  <a:p>
              <a:pPr algn="ctr"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6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$1.6 Billion</a:t>
              </a: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1810800" y="4238280"/>
              <a:ext cx="5646960" cy="0"/>
            </a:xfrm>
            <a:prstGeom prst="line">
              <a:avLst/>
            </a:prstGeom>
            <a:ln w="381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3" name=""/>
            <p:cNvSpPr/>
            <p:nvPr/>
          </p:nvSpPr>
          <p:spPr>
            <a:xfrm flipV="1">
              <a:off x="3908160" y="2794680"/>
              <a:ext cx="3549600" cy="1443240"/>
            </a:xfrm>
            <a:prstGeom prst="line">
              <a:avLst/>
            </a:prstGeom>
            <a:ln w="2844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3980520" y="4464000"/>
              <a:ext cx="2894400" cy="33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6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Understated Costs - $641 Million</a:t>
              </a:r>
              <a:endParaRPr b="0" lang="en-IN" sz="16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3167280" y="3075480"/>
              <a:ext cx="152064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Navy COBRA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5038920" y="5200200"/>
              <a:ext cx="2130120" cy="36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6800" bIns="46800" anchor="t">
              <a:spAutoFit/>
            </a:bodyPr>
            <a:p>
              <a:pPr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1800" strike="noStrike" u="none">
                  <a:solidFill>
                    <a:srgbClr val="000000"/>
                  </a:solidFill>
                  <a:effectLst/>
                  <a:uFillTx/>
                  <a:latin typeface="Times New Roman"/>
                </a:rPr>
                <a:t>Connecticut COBRA</a:t>
              </a:r>
              <a:endParaRPr b="0" lang="en-IN" sz="18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7" name=""/>
            <p:cNvSpPr/>
            <p:nvPr/>
          </p:nvSpPr>
          <p:spPr>
            <a:xfrm flipH="1" flipV="1">
              <a:off x="4553640" y="5120280"/>
              <a:ext cx="564120" cy="24048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3827880" y="3516480"/>
              <a:ext cx="725760" cy="320760"/>
            </a:xfrm>
            <a:prstGeom prst="line">
              <a:avLst/>
            </a:prstGeom>
            <a:ln w="19080">
              <a:solidFill>
                <a:srgbClr val="000000"/>
              </a:solidFill>
              <a:miter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en-IN" sz="24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19" name=""/>
            <p:cNvSpPr/>
            <p:nvPr/>
          </p:nvSpPr>
          <p:spPr>
            <a:xfrm rot="16200000">
              <a:off x="398520" y="4080960"/>
              <a:ext cx="1244520" cy="198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rIns="0" tIns="0" bIns="0" anchor="t">
              <a:spAutoFit/>
            </a:bodyPr>
            <a:p>
              <a:pPr>
                <a:lnSpc>
                  <a:spcPct val="10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1" lang="en-IN" sz="1300" strike="noStrike" u="none">
                  <a:solidFill>
                    <a:srgbClr val="000000"/>
                  </a:solidFill>
                  <a:effectLst/>
                  <a:uFillTx/>
                  <a:latin typeface="Arial"/>
                </a:rPr>
                <a:t>(Cost) / Savings</a:t>
              </a:r>
              <a:endParaRPr b="0" lang="en-IN" sz="1300" strike="noStrike" u="non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0" name=""/>
          <p:cNvSpPr/>
          <p:nvPr/>
        </p:nvSpPr>
        <p:spPr>
          <a:xfrm flipH="1" flipV="1">
            <a:off x="7467120" y="4876920"/>
            <a:ext cx="381240" cy="304560"/>
          </a:xfrm>
          <a:prstGeom prst="line">
            <a:avLst/>
          </a:prstGeom>
          <a:ln w="9360">
            <a:solidFill>
              <a:srgbClr val="000000"/>
            </a:solidFill>
            <a:miter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7620120" y="2743200"/>
            <a:ext cx="152280" cy="2057400"/>
          </a:xfrm>
          <a:custGeom>
            <a:avLst/>
            <a:gdLst>
              <a:gd name="textAreaLeft" fmla="*/ 0 w 152280"/>
              <a:gd name="textAreaRight" fmla="*/ 55080 w 152280"/>
              <a:gd name="textAreaTop" fmla="*/ 53640 h 2057400"/>
              <a:gd name="textAreaBottom" fmla="*/ 2003760 h 2057400"/>
              <a:gd name="GluePoint1X" fmla="*/ 0 w 21600"/>
              <a:gd name="GluePoint1Y" fmla="*/ 0 h 21600"/>
              <a:gd name="GluePoint2X" fmla="*/ 0 w 21600"/>
              <a:gd name="GluePoint2Y" fmla="*/ 21600 h 21600"/>
              <a:gd name="GluePoint3X" fmla="*/ 21600 w 21600"/>
              <a:gd name="GluePoint3Y" fmla="*/ 10800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</a:cxnLst>
            <a:rect l="textAreaLeft" t="textAreaTop" r="textAreaRight" b="textAreaBottom"/>
            <a:pathLst>
              <a:path w="21600" h="21600">
                <a:moveTo>
                  <a:pt x="0" y="0"/>
                </a:moveTo>
                <a:cubicBezTo>
                  <a:pt x="5400" y="0"/>
                  <a:pt x="10800" y="900"/>
                  <a:pt x="10800" y="1800"/>
                </a:cubicBezTo>
                <a:lnTo>
                  <a:pt x="10800" y="9000"/>
                </a:lnTo>
                <a:cubicBezTo>
                  <a:pt x="10800" y="9900"/>
                  <a:pt x="16200" y="10800"/>
                  <a:pt x="21600" y="10800"/>
                </a:cubicBezTo>
                <a:cubicBezTo>
                  <a:pt x="16200" y="10800"/>
                  <a:pt x="10800" y="11700"/>
                  <a:pt x="10800" y="12600"/>
                </a:cubicBezTo>
                <a:lnTo>
                  <a:pt x="10800" y="19800"/>
                </a:lnTo>
                <a:cubicBezTo>
                  <a:pt x="10800" y="20700"/>
                  <a:pt x="5400" y="21600"/>
                  <a:pt x="0" y="21600"/>
                </a:cubicBezTo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7848720" y="3657600"/>
            <a:ext cx="228600" cy="228600"/>
          </a:xfrm>
          <a:prstGeom prst="triangle">
            <a:avLst>
              <a:gd name="adj" fmla="val 50000"/>
            </a:avLst>
          </a:prstGeom>
          <a:noFill/>
          <a:ln w="2844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29520" bIns="29520" anchor="ctr">
            <a:noAutofit/>
          </a:bodyPr>
          <a:p>
            <a:endParaRPr b="0" lang="en-IN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7696080" y="3581280"/>
            <a:ext cx="1447920" cy="5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      = $2.2 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6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          Billion</a:t>
            </a:r>
            <a:endParaRPr b="0" lang="en-IN" sz="16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7772400" y="5181480"/>
            <a:ext cx="1143000" cy="9144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COBRA 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Break-Even 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“100+ years”</a:t>
            </a:r>
            <a:endParaRPr b="0" lang="en-IN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2927</TotalTime>
  <Application>LibreOffice/25.2.3.2$Windows_X86_64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2005-08-09T06:55:34Z</dcterms:created>
  <dc:creator>Paul Lobo</dc:creator>
  <dc:description/>
  <dc:language>en-IN</dc:language>
  <cp:lastModifiedBy>Paul Lobo</cp:lastModifiedBy>
  <dcterms:modified xsi:type="dcterms:W3CDTF">2005-08-12T07:44:27Z</dcterms:modified>
  <cp:revision>10</cp:revision>
  <dc:subject/>
  <dc:title>PowerPoint Presentation</dc:title>
</cp:coreProperties>
</file>