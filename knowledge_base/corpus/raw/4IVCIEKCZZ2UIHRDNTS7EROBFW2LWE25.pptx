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8.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28.xml.rels" ContentType="application/vnd.openxmlformats-package.relationships+xml"/>
  <Override PartName="/ppt/slideLayouts/slideLayout1.xml" ContentType="application/vnd.openxmlformats-officedocument.presentationml.slideLayout+xml"/>
  <Override PartName="/ppt/slideLayouts/_rels/slideLayout1.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media/image1.wmf" ContentType="image/x-wmf"/>
  <Override PartName="/ppt/media/image2.wmf" ContentType="image/x-wmf"/>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Lst>
  <p:sldSz cx="9144000" cy="6858000"/>
  <p:notesSz cx="7315200" cy="96012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 name=""/>
          <p:cNvSpPr/>
          <p:nvPr/>
        </p:nvSpPr>
        <p:spPr>
          <a:xfrm>
            <a:off x="0" y="0"/>
            <a:ext cx="7315200" cy="9601200"/>
          </a:xfrm>
          <a:prstGeom prst="rect">
            <a:avLst/>
          </a:prstGeom>
          <a:solidFill>
            <a:srgbClr val="ffffff"/>
          </a:solidFill>
          <a:ln w="0">
            <a:noFill/>
          </a:ln>
        </p:spPr>
        <p:txBody>
          <a:bodyPr lIns="90000" rIns="90000" tIns="45000" bIns="45000" anchor="ctr" anchorCtr="1">
            <a:noAutofit/>
          </a:bodyPr>
          <a:p>
            <a:endParaRPr b="0" lang="en-IN" sz="2400" strike="noStrike" u="none">
              <a:solidFill>
                <a:srgbClr val="ffffff"/>
              </a:solidFill>
              <a:effectLst/>
              <a:uFillTx/>
              <a:latin typeface="Arial Narrow"/>
            </a:endParaRPr>
          </a:p>
        </p:txBody>
      </p:sp>
      <p:sp>
        <p:nvSpPr>
          <p:cNvPr id="6" name="PlaceHolder 1"/>
          <p:cNvSpPr>
            <a:spLocks noGrp="1"/>
          </p:cNvSpPr>
          <p:nvPr>
            <p:ph type="hdr"/>
          </p:nvPr>
        </p:nvSpPr>
        <p:spPr>
          <a:xfrm>
            <a:off x="0" y="0"/>
            <a:ext cx="3170160" cy="479520"/>
          </a:xfrm>
          <a:prstGeom prst="rect">
            <a:avLst/>
          </a:prstGeom>
          <a:noFill/>
          <a:ln w="0">
            <a:noFill/>
          </a:ln>
        </p:spPr>
        <p:txBody>
          <a:bodyPr lIns="97200" rIns="97200" tIns="48600" bIns="48600" anchor="t">
            <a:noAutofit/>
          </a:bodyPr>
          <a:p>
            <a:pPr indent="0">
              <a:lnSpc>
                <a:spcPct val="100000"/>
              </a:lnSpc>
              <a:buNone/>
              <a:tabLst>
                <a:tab algn="l" pos="0"/>
                <a:tab algn="l" pos="966960"/>
                <a:tab algn="l" pos="1933560"/>
                <a:tab algn="l" pos="2900520"/>
                <a:tab algn="l" pos="3867120"/>
                <a:tab algn="l" pos="4834080"/>
                <a:tab algn="l" pos="5800680"/>
                <a:tab algn="l" pos="6767640"/>
                <a:tab algn="l" pos="7734240"/>
                <a:tab algn="l" pos="8701200"/>
                <a:tab algn="l" pos="9667800"/>
                <a:tab algn="l" pos="10634760"/>
              </a:tabLst>
            </a:pPr>
            <a:r>
              <a:rPr b="0" lang="en-IN" sz="1200" strike="noStrike" u="none">
                <a:solidFill>
                  <a:srgbClr val="000000"/>
                </a:solidFill>
                <a:effectLst/>
                <a:uFillTx/>
                <a:latin typeface="Times New Roman"/>
              </a:rPr>
              <a:t>&lt;header&gt;</a:t>
            </a:r>
            <a:endParaRPr b="0" lang="en-IN" sz="1200" strike="noStrike" u="none">
              <a:solidFill>
                <a:srgbClr val="000000"/>
              </a:solidFill>
              <a:effectLst/>
              <a:uFillTx/>
              <a:latin typeface="Arial Narrow"/>
            </a:endParaRPr>
          </a:p>
        </p:txBody>
      </p:sp>
      <p:sp>
        <p:nvSpPr>
          <p:cNvPr id="7" name="PlaceHolder 2"/>
          <p:cNvSpPr>
            <a:spLocks noGrp="1"/>
          </p:cNvSpPr>
          <p:nvPr>
            <p:ph type="dt" idx="4"/>
          </p:nvPr>
        </p:nvSpPr>
        <p:spPr>
          <a:xfrm>
            <a:off x="4145040" y="0"/>
            <a:ext cx="3170160" cy="479520"/>
          </a:xfrm>
          <a:prstGeom prst="rect">
            <a:avLst/>
          </a:prstGeom>
          <a:noFill/>
          <a:ln w="0">
            <a:noFill/>
          </a:ln>
        </p:spPr>
        <p:txBody>
          <a:bodyPr lIns="97200" rIns="97200" tIns="48600" bIns="48600" anchor="t">
            <a:noAutofit/>
          </a:bodyPr>
          <a:lstStyle>
            <a:lvl1pPr indent="0" algn="r">
              <a:lnSpc>
                <a:spcPct val="100000"/>
              </a:lnSpc>
              <a:buNone/>
              <a:tabLst>
                <a:tab algn="l" pos="0"/>
                <a:tab algn="l" pos="966960"/>
                <a:tab algn="l" pos="1933560"/>
                <a:tab algn="l" pos="2900520"/>
                <a:tab algn="l" pos="3867120"/>
                <a:tab algn="l" pos="4834080"/>
                <a:tab algn="l" pos="5800680"/>
                <a:tab algn="l" pos="6767640"/>
                <a:tab algn="l" pos="7734240"/>
                <a:tab algn="l" pos="8701200"/>
                <a:tab algn="l" pos="9667800"/>
                <a:tab algn="l" pos="10634760"/>
              </a:tabLst>
              <a:defRPr b="0" lang="en-IN" sz="1200" strike="noStrike" u="none">
                <a:solidFill>
                  <a:srgbClr val="000000"/>
                </a:solidFill>
                <a:effectLst/>
                <a:uFillTx/>
                <a:latin typeface="Times New Roman"/>
              </a:defRPr>
            </a:lvl1pPr>
          </a:lstStyle>
          <a:p>
            <a:pPr indent="0" algn="r">
              <a:lnSpc>
                <a:spcPct val="100000"/>
              </a:lnSpc>
              <a:buNone/>
              <a:tabLst>
                <a:tab algn="l" pos="0"/>
                <a:tab algn="l" pos="966960"/>
                <a:tab algn="l" pos="1933560"/>
                <a:tab algn="l" pos="2900520"/>
                <a:tab algn="l" pos="3867120"/>
                <a:tab algn="l" pos="4834080"/>
                <a:tab algn="l" pos="5800680"/>
                <a:tab algn="l" pos="6767640"/>
                <a:tab algn="l" pos="7734240"/>
                <a:tab algn="l" pos="8701200"/>
                <a:tab algn="l" pos="9667800"/>
                <a:tab algn="l" pos="10634760"/>
              </a:tabLst>
            </a:pPr>
            <a:r>
              <a:rPr b="0" lang="en-IN" sz="1200" strike="noStrike" u="none">
                <a:solidFill>
                  <a:srgbClr val="000000"/>
                </a:solidFill>
                <a:effectLst/>
                <a:uFillTx/>
                <a:latin typeface="Times New Roman"/>
              </a:rPr>
              <a:t>&lt;date/time&gt;</a:t>
            </a:r>
            <a:endParaRPr b="0" lang="en-IN" sz="1200" strike="noStrike" u="none">
              <a:solidFill>
                <a:srgbClr val="000000"/>
              </a:solidFill>
              <a:effectLst/>
              <a:uFillTx/>
              <a:latin typeface="Arial Narrow"/>
            </a:endParaRPr>
          </a:p>
        </p:txBody>
      </p:sp>
      <p:sp>
        <p:nvSpPr>
          <p:cNvPr id="8" name="PlaceHolder 3"/>
          <p:cNvSpPr>
            <a:spLocks noGrp="1"/>
          </p:cNvSpPr>
          <p:nvPr>
            <p:ph type="sldImg"/>
          </p:nvPr>
        </p:nvSpPr>
        <p:spPr>
          <a:xfrm>
            <a:off x="1258920" y="721800"/>
            <a:ext cx="4797360" cy="3597480"/>
          </a:xfrm>
          <a:prstGeom prst="rect">
            <a:avLst/>
          </a:prstGeom>
          <a:noFill/>
          <a:ln w="12600">
            <a:solidFill>
              <a:srgbClr val="000000"/>
            </a:solidFill>
            <a:miter/>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Click to move the slide</a:t>
            </a:r>
            <a:endParaRPr b="0" lang="en-IN" sz="4400" strike="noStrike" u="none">
              <a:solidFill>
                <a:srgbClr val="ffff66"/>
              </a:solidFill>
              <a:effectLst/>
              <a:uFillTx/>
              <a:latin typeface="Tahoma"/>
            </a:endParaRPr>
          </a:p>
        </p:txBody>
      </p:sp>
      <p:sp>
        <p:nvSpPr>
          <p:cNvPr id="9" name="PlaceHolder 4"/>
          <p:cNvSpPr>
            <a:spLocks noGrp="1"/>
          </p:cNvSpPr>
          <p:nvPr>
            <p:ph type="body"/>
          </p:nvPr>
        </p:nvSpPr>
        <p:spPr>
          <a:xfrm>
            <a:off x="974880" y="4560480"/>
            <a:ext cx="5365440" cy="4319640"/>
          </a:xfrm>
          <a:prstGeom prst="rect">
            <a:avLst/>
          </a:prstGeom>
          <a:noFill/>
          <a:ln w="0">
            <a:noFill/>
          </a:ln>
        </p:spPr>
        <p:txBody>
          <a:bodyPr lIns="97200" rIns="97200" tIns="48600" bIns="486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Click to edit the notes format</a:t>
            </a:r>
            <a:endParaRPr b="0" lang="en-IN" sz="1200" strike="noStrike" u="none">
              <a:solidFill>
                <a:srgbClr val="000000"/>
              </a:solidFill>
              <a:effectLst/>
              <a:uFillTx/>
              <a:latin typeface="Times New Roman"/>
            </a:endParaRPr>
          </a:p>
        </p:txBody>
      </p:sp>
      <p:sp>
        <p:nvSpPr>
          <p:cNvPr id="10" name="PlaceHolder 5"/>
          <p:cNvSpPr>
            <a:spLocks noGrp="1"/>
          </p:cNvSpPr>
          <p:nvPr>
            <p:ph type="ftr" idx="5"/>
          </p:nvPr>
        </p:nvSpPr>
        <p:spPr>
          <a:xfrm>
            <a:off x="406440" y="8880480"/>
            <a:ext cx="3819600" cy="480960"/>
          </a:xfrm>
          <a:prstGeom prst="rect">
            <a:avLst/>
          </a:prstGeom>
          <a:noFill/>
          <a:ln w="0">
            <a:noFill/>
          </a:ln>
        </p:spPr>
        <p:txBody>
          <a:bodyPr lIns="97200" rIns="97200" tIns="48600" bIns="48600" anchor="b">
            <a:noAutofit/>
          </a:bodyPr>
          <a:lstStyle>
            <a:lvl1pPr indent="0">
              <a:lnSpc>
                <a:spcPct val="100000"/>
              </a:lnSpc>
              <a:buNone/>
              <a:tabLst>
                <a:tab algn="l" pos="0"/>
                <a:tab algn="l" pos="966960"/>
                <a:tab algn="l" pos="1933560"/>
                <a:tab algn="l" pos="2900520"/>
                <a:tab algn="l" pos="3867120"/>
                <a:tab algn="l" pos="4834080"/>
                <a:tab algn="l" pos="5800680"/>
                <a:tab algn="l" pos="6767640"/>
                <a:tab algn="l" pos="7734240"/>
                <a:tab algn="l" pos="8701200"/>
                <a:tab algn="l" pos="9667800"/>
                <a:tab algn="l" pos="10634760"/>
              </a:tabLst>
              <a:defRPr b="0" lang="en-IN" sz="1200" strike="noStrike" u="none">
                <a:solidFill>
                  <a:srgbClr val="000000"/>
                </a:solidFill>
                <a:effectLst/>
                <a:uFillTx/>
                <a:latin typeface="Times New Roman"/>
              </a:defRPr>
            </a:lvl1pPr>
          </a:lstStyle>
          <a:p>
            <a:pPr indent="0">
              <a:lnSpc>
                <a:spcPct val="100000"/>
              </a:lnSpc>
              <a:buNone/>
              <a:tabLst>
                <a:tab algn="l" pos="0"/>
                <a:tab algn="l" pos="966960"/>
                <a:tab algn="l" pos="1933560"/>
                <a:tab algn="l" pos="2900520"/>
                <a:tab algn="l" pos="3867120"/>
                <a:tab algn="l" pos="4834080"/>
                <a:tab algn="l" pos="5800680"/>
                <a:tab algn="l" pos="6767640"/>
                <a:tab algn="l" pos="7734240"/>
                <a:tab algn="l" pos="8701200"/>
                <a:tab algn="l" pos="9667800"/>
                <a:tab algn="l" pos="10634760"/>
              </a:tabLst>
            </a:pPr>
            <a:r>
              <a:rPr b="0" lang="en-IN" sz="1200" strike="noStrike" u="none">
                <a:solidFill>
                  <a:srgbClr val="000000"/>
                </a:solidFill>
                <a:effectLst/>
                <a:uFillTx/>
                <a:latin typeface="Times New Roman"/>
              </a:rPr>
              <a:t>&lt;footer&gt;</a:t>
            </a:r>
            <a:endParaRPr b="0" lang="en-IN" sz="1200" strike="noStrike" u="none">
              <a:solidFill>
                <a:srgbClr val="000000"/>
              </a:solidFill>
              <a:effectLst/>
              <a:uFillTx/>
              <a:latin typeface="Arial Narrow"/>
            </a:endParaRPr>
          </a:p>
        </p:txBody>
      </p:sp>
      <p:sp>
        <p:nvSpPr>
          <p:cNvPr id="11" name="PlaceHolder 6"/>
          <p:cNvSpPr>
            <a:spLocks noGrp="1"/>
          </p:cNvSpPr>
          <p:nvPr>
            <p:ph type="sldNum" idx="6"/>
          </p:nvPr>
        </p:nvSpPr>
        <p:spPr>
          <a:xfrm>
            <a:off x="4308480" y="8880480"/>
            <a:ext cx="2031840" cy="480960"/>
          </a:xfrm>
          <a:prstGeom prst="rect">
            <a:avLst/>
          </a:prstGeom>
          <a:noFill/>
          <a:ln w="0">
            <a:noFill/>
          </a:ln>
        </p:spPr>
        <p:txBody>
          <a:bodyPr lIns="97200" rIns="97200" tIns="48600" bIns="48600" anchor="b">
            <a:noAutofit/>
          </a:bodyPr>
          <a:lstStyle>
            <a:lvl1pPr indent="0" algn="r">
              <a:lnSpc>
                <a:spcPct val="100000"/>
              </a:lnSpc>
              <a:buNone/>
              <a:tabLst>
                <a:tab algn="l" pos="0"/>
                <a:tab algn="l" pos="966960"/>
                <a:tab algn="l" pos="1933560"/>
                <a:tab algn="l" pos="2900520"/>
                <a:tab algn="l" pos="3867120"/>
                <a:tab algn="l" pos="4834080"/>
                <a:tab algn="l" pos="5800680"/>
                <a:tab algn="l" pos="6767640"/>
                <a:tab algn="l" pos="7734240"/>
                <a:tab algn="l" pos="8701200"/>
                <a:tab algn="l" pos="9667800"/>
                <a:tab algn="l" pos="10634760"/>
              </a:tabLst>
              <a:defRPr b="0" lang="en-IN" sz="1200" strike="noStrike" u="none">
                <a:solidFill>
                  <a:srgbClr val="000000"/>
                </a:solidFill>
                <a:effectLst/>
                <a:uFillTx/>
                <a:latin typeface="Times New Roman"/>
              </a:defRPr>
            </a:lvl1pPr>
          </a:lstStyle>
          <a:p>
            <a:pPr indent="0" algn="r">
              <a:lnSpc>
                <a:spcPct val="100000"/>
              </a:lnSpc>
              <a:buNone/>
              <a:tabLst>
                <a:tab algn="l" pos="0"/>
                <a:tab algn="l" pos="966960"/>
                <a:tab algn="l" pos="1933560"/>
                <a:tab algn="l" pos="2900520"/>
                <a:tab algn="l" pos="3867120"/>
                <a:tab algn="l" pos="4834080"/>
                <a:tab algn="l" pos="5800680"/>
                <a:tab algn="l" pos="6767640"/>
                <a:tab algn="l" pos="7734240"/>
                <a:tab algn="l" pos="8701200"/>
                <a:tab algn="l" pos="9667800"/>
                <a:tab algn="l" pos="10634760"/>
              </a:tabLst>
            </a:pPr>
            <a:fld id="{34FE730D-0504-4B7A-9B8D-68E01CB152DD}" type="slidenum">
              <a:rPr b="0" lang="en-IN" sz="1200" strike="noStrike" u="none">
                <a:solidFill>
                  <a:srgbClr val="000000"/>
                </a:solidFill>
                <a:effectLst/>
                <a:uFillTx/>
                <a:latin typeface="Times New Roman"/>
              </a:rPr>
              <a:t>&lt;number&gt;</a:t>
            </a:fld>
            <a:endParaRPr b="0" lang="en-IN" sz="1200" strike="noStrike" u="none">
              <a:solidFill>
                <a:srgbClr val="000000"/>
              </a:solidFill>
              <a:effectLst/>
              <a:uFillTx/>
              <a:latin typeface="Arial Narrow"/>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sldImg"/>
          </p:nvPr>
        </p:nvSpPr>
        <p:spPr>
          <a:xfrm>
            <a:off x="1258920" y="239760"/>
            <a:ext cx="4795920" cy="3597120"/>
          </a:xfrm>
          <a:prstGeom prst="rect">
            <a:avLst/>
          </a:prstGeom>
          <a:ln w="0">
            <a:noFill/>
          </a:ln>
        </p:spPr>
      </p:sp>
      <p:sp>
        <p:nvSpPr>
          <p:cNvPr id="256" name="PlaceHolder 2"/>
          <p:cNvSpPr>
            <a:spLocks noGrp="1"/>
          </p:cNvSpPr>
          <p:nvPr>
            <p:ph type="body"/>
          </p:nvPr>
        </p:nvSpPr>
        <p:spPr>
          <a:xfrm>
            <a:off x="244080" y="4000320"/>
            <a:ext cx="6583320" cy="5360760"/>
          </a:xfrm>
          <a:prstGeom prst="rect">
            <a:avLst/>
          </a:prstGeom>
          <a:noFill/>
          <a:ln w="0">
            <a:noFill/>
          </a:ln>
        </p:spPr>
        <p:txBody>
          <a:bodyPr lIns="97200" rIns="97200" tIns="48600" bIns="48600" anchor="t">
            <a:noAutofit/>
          </a:bodyPr>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rPr>
              <a:t>Holdings Session 6 -- Recording Complex Holdings</a:t>
            </a:r>
            <a:endParaRPr b="0" lang="en-IN" sz="1200" strike="noStrike" u="none">
              <a:solidFill>
                <a:srgbClr val="000000"/>
              </a:solidFill>
              <a:effectLst/>
              <a:uFillTx/>
              <a:latin typeface="Times New Roman"/>
            </a:endParaRPr>
          </a:p>
          <a:p>
            <a:pPr indent="0" algn="ctr">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rPr>
              <a:t>Contents</a:t>
            </a:r>
            <a:endParaRPr b="0" lang="en-IN" sz="1200" strike="noStrike" u="none">
              <a:solidFill>
                <a:srgbClr val="000000"/>
              </a:solidFill>
              <a:effectLst/>
              <a:uFillTx/>
              <a:latin typeface="Times New Roman"/>
            </a:endParaRPr>
          </a:p>
          <a:p>
            <a:pPr indent="0">
              <a:lnSpc>
                <a:spcPct val="7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Preliminary note: Captions not ending in a period</a:t>
            </a:r>
            <a:endParaRPr b="0" lang="en-IN" sz="1200" strike="noStrike" u="none">
              <a:solidFill>
                <a:srgbClr val="000000"/>
              </a:solidFill>
              <a:effectLst/>
              <a:uFillTx/>
              <a:latin typeface="Times New Roman"/>
            </a:endParaRPr>
          </a:p>
          <a:p>
            <a:pPr indent="0">
              <a:lnSpc>
                <a:spcPct val="7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A.  Base Volumes, Supplements, and Indexes (86X)  (Slides 2-7)</a:t>
            </a:r>
            <a:endParaRPr b="0" lang="en-IN" sz="1200" strike="noStrike" u="none">
              <a:solidFill>
                <a:srgbClr val="000000"/>
              </a:solidFill>
              <a:effectLst/>
              <a:uFillTx/>
              <a:latin typeface="Times New Roman"/>
            </a:endParaRPr>
          </a:p>
          <a:p>
            <a:pPr indent="0">
              <a:lnSpc>
                <a:spcPct val="7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B.  Dates as Enumeration (Slide 8)</a:t>
            </a:r>
            <a:endParaRPr b="0" lang="en-IN" sz="1200" strike="noStrike" u="none">
              <a:solidFill>
                <a:srgbClr val="000000"/>
              </a:solidFill>
              <a:effectLst/>
              <a:uFillTx/>
              <a:latin typeface="Times New Roman"/>
            </a:endParaRPr>
          </a:p>
          <a:p>
            <a:pPr indent="0">
              <a:lnSpc>
                <a:spcPct val="7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C.  Dates with Divisions  (Slides 11-12</a:t>
            </a:r>
            <a:endParaRPr b="0" lang="en-IN" sz="1200" strike="noStrike" u="none">
              <a:solidFill>
                <a:srgbClr val="000000"/>
              </a:solidFill>
              <a:effectLst/>
              <a:uFillTx/>
              <a:latin typeface="Times New Roman"/>
            </a:endParaRPr>
          </a:p>
          <a:p>
            <a:pPr indent="0">
              <a:lnSpc>
                <a:spcPct val="7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D.  Series Designations (Slide 13)</a:t>
            </a:r>
            <a:endParaRPr b="0" lang="en-IN" sz="1200" strike="noStrike" u="none">
              <a:solidFill>
                <a:srgbClr val="000000"/>
              </a:solidFill>
              <a:effectLst/>
              <a:uFillTx/>
              <a:latin typeface="Times New Roman"/>
            </a:endParaRPr>
          </a:p>
          <a:p>
            <a:pPr indent="0">
              <a:lnSpc>
                <a:spcPct val="7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E.  Ordinal Numbers (Slides 14-15)</a:t>
            </a:r>
            <a:endParaRPr b="0" lang="en-IN" sz="1200" strike="noStrike" u="none">
              <a:solidFill>
                <a:srgbClr val="000000"/>
              </a:solidFill>
              <a:effectLst/>
              <a:uFillTx/>
              <a:latin typeface="Times New Roman"/>
            </a:endParaRPr>
          </a:p>
          <a:p>
            <a:pPr indent="0">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F.  Gaps  (Slide 15)</a:t>
            </a:r>
            <a:endParaRPr b="0" lang="en-IN" sz="1200" strike="noStrike" u="none">
              <a:solidFill>
                <a:srgbClr val="000000"/>
              </a:solidFill>
              <a:effectLst/>
              <a:uFillTx/>
              <a:latin typeface="Times New Roman"/>
            </a:endParaRPr>
          </a:p>
          <a:p>
            <a:pPr indent="0">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G. Roman Numerals</a:t>
            </a:r>
            <a:endParaRPr b="0" lang="en-IN" sz="1200" strike="noStrike" u="none">
              <a:solidFill>
                <a:srgbClr val="000000"/>
              </a:solidFill>
              <a:effectLst/>
              <a:uFillTx/>
              <a:latin typeface="Times New Roman"/>
            </a:endParaRPr>
          </a:p>
          <a:p>
            <a:pPr indent="0">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H.  Captionless Enumeration (Slide 16)</a:t>
            </a:r>
            <a:endParaRPr b="0" lang="en-IN" sz="1200" strike="noStrike" u="none">
              <a:solidFill>
                <a:srgbClr val="000000"/>
              </a:solidFill>
              <a:effectLst/>
              <a:uFillTx/>
              <a:latin typeface="Times New Roman"/>
            </a:endParaRPr>
          </a:p>
          <a:p>
            <a:pPr indent="0">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I.  Enumeration with Symbols and Internal Hyphens (Slide 17)</a:t>
            </a:r>
            <a:endParaRPr b="0" lang="en-IN" sz="1200" strike="noStrike" u="none">
              <a:solidFill>
                <a:srgbClr val="000000"/>
              </a:solidFill>
              <a:effectLst/>
              <a:uFillTx/>
              <a:latin typeface="Times New Roman"/>
            </a:endParaRPr>
          </a:p>
          <a:p>
            <a:pPr indent="0">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J.  Alphabetic Enumeration (Slide 18)</a:t>
            </a:r>
            <a:endParaRPr b="0" lang="en-IN" sz="1200" strike="noStrike" u="none">
              <a:solidFill>
                <a:srgbClr val="000000"/>
              </a:solidFill>
              <a:effectLst/>
              <a:uFillTx/>
              <a:latin typeface="Times New Roman"/>
            </a:endParaRPr>
          </a:p>
          <a:p>
            <a:pPr indent="0">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K.  Alternative Enumeration (Slide 19)</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rPr>
              <a:t>Warm Up Exercises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Ask attendees to talk about the “problem holdings” that have been most bothersome in their local libraries.  If any of the topics that arise are not  covered here, note them down for possible later discussion or research.</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lnSpc>
                <a:spcPct val="5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lnSpc>
                <a:spcPct val="5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sldImg"/>
          </p:nvPr>
        </p:nvSpPr>
        <p:spPr>
          <a:xfrm>
            <a:off x="1258920" y="722160"/>
            <a:ext cx="4797360" cy="3597480"/>
          </a:xfrm>
          <a:prstGeom prst="rect">
            <a:avLst/>
          </a:prstGeom>
          <a:ln w="0">
            <a:noFill/>
          </a:ln>
        </p:spPr>
      </p:sp>
      <p:sp>
        <p:nvSpPr>
          <p:cNvPr id="258" name="PlaceHolder 2"/>
          <p:cNvSpPr>
            <a:spLocks noGrp="1"/>
          </p:cNvSpPr>
          <p:nvPr>
            <p:ph type="body"/>
          </p:nvPr>
        </p:nvSpPr>
        <p:spPr>
          <a:xfrm>
            <a:off x="974880" y="4560480"/>
            <a:ext cx="5365440" cy="4319640"/>
          </a:xfrm>
          <a:prstGeom prst="rect">
            <a:avLst/>
          </a:prstGeom>
          <a:noFill/>
          <a:ln w="0">
            <a:noFill/>
          </a:ln>
        </p:spPr>
        <p:txBody>
          <a:bodyPr lIns="97200" rIns="97200" tIns="48600" bIns="486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&lt;Instructors:  This above is just a cautionary note.&gt;</a:t>
            </a:r>
            <a:endParaRPr b="0" lang="en-IN"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sldImg"/>
          </p:nvPr>
        </p:nvSpPr>
        <p:spPr>
          <a:xfrm>
            <a:off x="1258920" y="722160"/>
            <a:ext cx="4797360" cy="3597480"/>
          </a:xfrm>
          <a:prstGeom prst="rect">
            <a:avLst/>
          </a:prstGeom>
          <a:ln w="0">
            <a:noFill/>
          </a:ln>
        </p:spPr>
      </p:sp>
      <p:sp>
        <p:nvSpPr>
          <p:cNvPr id="260" name="PlaceHolder 2"/>
          <p:cNvSpPr>
            <a:spLocks noGrp="1"/>
          </p:cNvSpPr>
          <p:nvPr>
            <p:ph type="body"/>
          </p:nvPr>
        </p:nvSpPr>
        <p:spPr>
          <a:xfrm>
            <a:off x="974880" y="4560480"/>
            <a:ext cx="5365440" cy="4319640"/>
          </a:xfrm>
          <a:prstGeom prst="rect">
            <a:avLst/>
          </a:prstGeom>
          <a:noFill/>
          <a:ln w="0">
            <a:noFill/>
          </a:ln>
        </p:spPr>
        <p:txBody>
          <a:bodyPr lIns="97200" rIns="97200" tIns="48600" bIns="486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Times New Roman"/>
              </a:rPr>
              <a:t>A.  Base volumes, supplements, and indexes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We have covered the separate tags for base volumes, supplements, and indexes.  Now we will look at them in operation.</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1. In this title (Genealogy bulletin),</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There are base volumes made of quarterly issues,</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Each volume has two semiannual numbered supplements</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An index covers ten volumes.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sldImg"/>
          </p:nvPr>
        </p:nvSpPr>
        <p:spPr>
          <a:xfrm>
            <a:off x="1258920" y="722160"/>
            <a:ext cx="4797360" cy="3597480"/>
          </a:xfrm>
          <a:prstGeom prst="rect">
            <a:avLst/>
          </a:prstGeom>
          <a:ln w="0">
            <a:noFill/>
          </a:ln>
        </p:spPr>
      </p:sp>
      <p:sp>
        <p:nvSpPr>
          <p:cNvPr id="262" name="PlaceHolder 2"/>
          <p:cNvSpPr>
            <a:spLocks noGrp="1"/>
          </p:cNvSpPr>
          <p:nvPr>
            <p:ph type="body"/>
          </p:nvPr>
        </p:nvSpPr>
        <p:spPr>
          <a:xfrm>
            <a:off x="893880" y="4721040"/>
            <a:ext cx="5364000" cy="3439800"/>
          </a:xfrm>
          <a:prstGeom prst="rect">
            <a:avLst/>
          </a:prstGeom>
          <a:noFill/>
          <a:ln w="0">
            <a:noFill/>
          </a:ln>
        </p:spPr>
        <p:txBody>
          <a:bodyPr lIns="97200" rIns="97200" tIns="48600" bIns="486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200" strike="noStrike" u="none">
                <a:solidFill>
                  <a:srgbClr val="000000"/>
                </a:solidFill>
                <a:effectLst/>
                <a:uFillTx/>
                <a:latin typeface="Times New Roman"/>
              </a:rPr>
              <a:t>&lt;Animated slide&gt;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2. Holdings statements for supplements.  (854/864)</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  This designation has two levels of enumeration and one level of chronology. The supplement is numbered and the volume it supplements is also numbered.</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  Note subfield $o, Type of supplement.</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 Indicators are 41, indicating Level 4, fully uncompressed holdings.</a:t>
            </a:r>
            <a:endParaRPr b="0" lang="en-IN" sz="1200" strike="noStrike" u="none">
              <a:solidFill>
                <a:srgbClr val="000000"/>
              </a:solidFill>
              <a:effectLst/>
              <a:uFillTx/>
              <a:latin typeface="Times New Roman"/>
            </a:endParaRPr>
          </a:p>
          <a:p>
            <a:pPr indent="0">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sldImg"/>
          </p:nvPr>
        </p:nvSpPr>
        <p:spPr>
          <a:xfrm>
            <a:off x="1258920" y="722160"/>
            <a:ext cx="4797360" cy="3597480"/>
          </a:xfrm>
          <a:prstGeom prst="rect">
            <a:avLst/>
          </a:prstGeom>
          <a:ln w="0">
            <a:noFill/>
          </a:ln>
        </p:spPr>
      </p:sp>
      <p:sp>
        <p:nvSpPr>
          <p:cNvPr id="264" name="PlaceHolder 2"/>
          <p:cNvSpPr>
            <a:spLocks noGrp="1"/>
          </p:cNvSpPr>
          <p:nvPr>
            <p:ph type="body"/>
          </p:nvPr>
        </p:nvSpPr>
        <p:spPr>
          <a:xfrm>
            <a:off x="893880" y="4721040"/>
            <a:ext cx="5364000" cy="3439800"/>
          </a:xfrm>
          <a:prstGeom prst="rect">
            <a:avLst/>
          </a:prstGeom>
          <a:noFill/>
          <a:ln w="0">
            <a:noFill/>
          </a:ln>
        </p:spPr>
        <p:txBody>
          <a:bodyPr lIns="97200" rIns="97200" tIns="48600" bIns="486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200" strike="noStrike" u="none">
                <a:solidFill>
                  <a:srgbClr val="000000"/>
                </a:solidFill>
                <a:effectLst/>
                <a:uFillTx/>
                <a:latin typeface="Times New Roman"/>
              </a:rPr>
              <a:t>&lt;Animated slide&gt;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2.  Supplements.  (854/864  continued)</a:t>
            </a:r>
            <a:endParaRPr b="0" lang="en-IN" sz="1200" strike="noStrike" u="none">
              <a:solidFill>
                <a:srgbClr val="000000"/>
              </a:solidFill>
              <a:effectLst/>
              <a:uFillTx/>
              <a:latin typeface="Times New Roman"/>
            </a:endParaRPr>
          </a:p>
          <a:p>
            <a:pPr indent="0">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Not all systems are capable of displaying the complete holdings of this supplement from one field by parsing around the hyphen. Some would require two fields: vols. 1 through 4, and a separate vol. 5 no. 1.  However, since at least one is capable giving a logical display to correspond to a legitimate Z39.71 display, we show the way it is done, and the results.  Needless to say, this capability gives a library much more flexibility in inputting holdings.</a:t>
            </a:r>
            <a:endParaRPr b="0" lang="en-IN" sz="1200" strike="noStrike" u="none">
              <a:solidFill>
                <a:srgbClr val="000000"/>
              </a:solidFill>
              <a:effectLst/>
              <a:uFillTx/>
              <a:latin typeface="Times New Roman"/>
            </a:endParaRPr>
          </a:p>
          <a:p>
            <a:pPr indent="0">
              <a:lnSpc>
                <a:spcPct val="90000"/>
              </a:lnSpc>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sldImg"/>
          </p:nvPr>
        </p:nvSpPr>
        <p:spPr>
          <a:xfrm>
            <a:off x="1258920" y="722160"/>
            <a:ext cx="4797360" cy="3597480"/>
          </a:xfrm>
          <a:prstGeom prst="rect">
            <a:avLst/>
          </a:prstGeom>
          <a:ln w="0">
            <a:noFill/>
          </a:ln>
        </p:spPr>
      </p:sp>
      <p:sp>
        <p:nvSpPr>
          <p:cNvPr id="266" name="PlaceHolder 2"/>
          <p:cNvSpPr>
            <a:spLocks noGrp="1"/>
          </p:cNvSpPr>
          <p:nvPr>
            <p:ph type="body"/>
          </p:nvPr>
        </p:nvSpPr>
        <p:spPr>
          <a:xfrm>
            <a:off x="974880" y="4560480"/>
            <a:ext cx="5365440" cy="4319640"/>
          </a:xfrm>
          <a:prstGeom prst="rect">
            <a:avLst/>
          </a:prstGeom>
          <a:noFill/>
          <a:ln w="0">
            <a:noFill/>
          </a:ln>
        </p:spPr>
        <p:txBody>
          <a:bodyPr lIns="97200" rIns="97200" tIns="48600" bIns="486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200" strike="noStrike" u="none">
                <a:solidFill>
                  <a:srgbClr val="000000"/>
                </a:solidFill>
                <a:effectLst/>
                <a:uFillTx/>
                <a:latin typeface="Times New Roman"/>
              </a:rPr>
              <a:t>&lt;Animated slide&gt;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3.   Index</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The index is a single piece containing an index to the parts given.  Index holdings cannot be summarized in the regular holdings field--only in Textual Holdings fields.</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No indicators in the 855. </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A slash rather than a dash separates both the enumeration and the chronology of the first and last volume indexed.  This is the NISO standard’s way of indicating one bibliographic unit or any combined numbering. </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Indicators of the 865 are 41, marking a detailed, uncompressed holding.  The only valid second indicator for the 865 is 1 or 3.</a:t>
            </a:r>
            <a:endParaRPr b="0" lang="en-IN" sz="1200" strike="noStrike" u="none">
              <a:solidFill>
                <a:srgbClr val="000000"/>
              </a:solidFill>
              <a:effectLst/>
              <a:uFillTx/>
              <a:latin typeface="Times New Roman"/>
            </a:endParaRPr>
          </a:p>
          <a:p>
            <a:pPr indent="0">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sldImg"/>
          </p:nvPr>
        </p:nvSpPr>
        <p:spPr>
          <a:xfrm>
            <a:off x="1258920" y="722160"/>
            <a:ext cx="4797360" cy="3597480"/>
          </a:xfrm>
          <a:prstGeom prst="rect">
            <a:avLst/>
          </a:prstGeom>
          <a:ln w="0">
            <a:noFill/>
          </a:ln>
        </p:spPr>
      </p:sp>
      <p:sp>
        <p:nvSpPr>
          <p:cNvPr id="268" name="PlaceHolder 2"/>
          <p:cNvSpPr>
            <a:spLocks noGrp="1"/>
          </p:cNvSpPr>
          <p:nvPr>
            <p:ph type="body"/>
          </p:nvPr>
        </p:nvSpPr>
        <p:spPr>
          <a:xfrm>
            <a:off x="974880" y="4560480"/>
            <a:ext cx="5365440" cy="4319640"/>
          </a:xfrm>
          <a:prstGeom prst="rect">
            <a:avLst/>
          </a:prstGeom>
          <a:noFill/>
          <a:ln w="0">
            <a:noFill/>
          </a:ln>
        </p:spPr>
        <p:txBody>
          <a:bodyPr lIns="97200" rIns="97200" tIns="48600" bIns="486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Though not documented in MFHD, captions like this have been used in many libraries.  There is no reason why they should cause a problem, though the online system which has implemented MFHD would ordinarily display the words “Indexes” or “Supplements” so that specific captions would not be necessary.</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If you do use such locally determined captions, document your practice and use them consistently.</a:t>
            </a:r>
            <a:endParaRPr b="0" lang="en-IN"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sldImg"/>
          </p:nvPr>
        </p:nvSpPr>
        <p:spPr>
          <a:xfrm>
            <a:off x="1258920" y="722160"/>
            <a:ext cx="4797360" cy="3597480"/>
          </a:xfrm>
          <a:prstGeom prst="rect">
            <a:avLst/>
          </a:prstGeom>
          <a:ln w="0">
            <a:noFill/>
          </a:ln>
        </p:spPr>
      </p:sp>
      <p:sp>
        <p:nvSpPr>
          <p:cNvPr id="270" name="PlaceHolder 2"/>
          <p:cNvSpPr>
            <a:spLocks noGrp="1"/>
          </p:cNvSpPr>
          <p:nvPr>
            <p:ph type="body"/>
          </p:nvPr>
        </p:nvSpPr>
        <p:spPr>
          <a:xfrm>
            <a:off x="974880" y="4560480"/>
            <a:ext cx="5365440" cy="4319640"/>
          </a:xfrm>
          <a:prstGeom prst="rect">
            <a:avLst/>
          </a:prstGeom>
          <a:noFill/>
          <a:ln w="0">
            <a:noFill/>
          </a:ln>
        </p:spPr>
        <p:txBody>
          <a:bodyPr lIns="97200" rIns="97200" tIns="48600" bIns="486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200" strike="noStrike" u="none">
                <a:solidFill>
                  <a:srgbClr val="000000"/>
                </a:solidFill>
                <a:effectLst/>
                <a:uFillTx/>
                <a:latin typeface="Times New Roman"/>
              </a:rPr>
              <a:t>&lt;Animated slide&gt;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Times New Roman"/>
              </a:rPr>
              <a:t>Combined holdings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This MARC display is for holdings of</a:t>
            </a:r>
            <a:endParaRPr b="0" lang="en-IN" sz="1200" strike="noStrike" u="none">
              <a:solidFill>
                <a:srgbClr val="000000"/>
              </a:solidFill>
              <a:effectLst/>
              <a:uFillTx/>
              <a:latin typeface="Times New Roman"/>
            </a:endParaRPr>
          </a:p>
          <a:p>
            <a:pPr lvl="1" marL="457200">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base volumes, </a:t>
            </a:r>
            <a:endParaRPr b="0" lang="en-IN" sz="1200" strike="noStrike" u="none">
              <a:solidFill>
                <a:srgbClr val="000000"/>
              </a:solidFill>
              <a:effectLst/>
              <a:uFillTx/>
              <a:latin typeface="Times New Roman"/>
            </a:endParaRPr>
          </a:p>
          <a:p>
            <a:pPr lvl="1" marL="457200">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supplements,</a:t>
            </a:r>
            <a:endParaRPr b="0" lang="en-IN" sz="1200" strike="noStrike" u="none">
              <a:solidFill>
                <a:srgbClr val="000000"/>
              </a:solidFill>
              <a:effectLst/>
              <a:uFillTx/>
              <a:latin typeface="Times New Roman"/>
            </a:endParaRPr>
          </a:p>
          <a:p>
            <a:pPr lvl="1" marL="457200">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and indexes.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This process assumes that all of the accompanying items are cataloged on the main record.  Supplements and indexes cataloged separately will have their basic units coded in the 853/863, rather than 854/864 and 855/865.</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Special note:  </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Most systems can repeat sequence numbers as long as the tags are different.</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However, most will also allow you to continue incrementing the sequence numbers: i.e., the 864s and 865’s could be numbered 1.2, 1.3, and 1.4.</a:t>
            </a:r>
            <a:endParaRPr b="0" lang="en-IN" sz="1200" strike="noStrike" u="none">
              <a:solidFill>
                <a:srgbClr val="000000"/>
              </a:solidFill>
              <a:effectLst/>
              <a:uFillTx/>
              <a:latin typeface="Times New Roman"/>
            </a:endParaRPr>
          </a:p>
          <a:p>
            <a:pPr indent="0">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&lt;Is the latter a better method?  The author believes so, since it makes for a clearer record that is easier to sequence.&gt;</a:t>
            </a:r>
            <a:endParaRPr b="0" lang="en-IN"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sldImg"/>
          </p:nvPr>
        </p:nvSpPr>
        <p:spPr>
          <a:xfrm>
            <a:off x="1258920" y="722160"/>
            <a:ext cx="4797360" cy="3597480"/>
          </a:xfrm>
          <a:prstGeom prst="rect">
            <a:avLst/>
          </a:prstGeom>
          <a:ln w="0">
            <a:noFill/>
          </a:ln>
        </p:spPr>
      </p:sp>
      <p:sp>
        <p:nvSpPr>
          <p:cNvPr id="272" name="PlaceHolder 2"/>
          <p:cNvSpPr>
            <a:spLocks noGrp="1"/>
          </p:cNvSpPr>
          <p:nvPr>
            <p:ph type="body"/>
          </p:nvPr>
        </p:nvSpPr>
        <p:spPr>
          <a:xfrm>
            <a:off x="974880" y="4560480"/>
            <a:ext cx="5365440" cy="4319640"/>
          </a:xfrm>
          <a:prstGeom prst="rect">
            <a:avLst/>
          </a:prstGeom>
          <a:noFill/>
          <a:ln w="0">
            <a:noFill/>
          </a:ln>
        </p:spPr>
        <p:txBody>
          <a:bodyPr lIns="97200" rIns="97200" tIns="48600" bIns="486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Times New Roman"/>
              </a:rPr>
              <a:t>Combined OPAC display</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This screen shows how the previous holdings might display to the public.</a:t>
            </a:r>
            <a:endParaRPr b="0" lang="en-IN"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sldImg"/>
          </p:nvPr>
        </p:nvSpPr>
        <p:spPr>
          <a:xfrm>
            <a:off x="1258920" y="722160"/>
            <a:ext cx="4797360" cy="3597480"/>
          </a:xfrm>
          <a:prstGeom prst="rect">
            <a:avLst/>
          </a:prstGeom>
          <a:ln w="0">
            <a:noFill/>
          </a:ln>
        </p:spPr>
      </p:sp>
      <p:sp>
        <p:nvSpPr>
          <p:cNvPr id="274" name="PlaceHolder 2"/>
          <p:cNvSpPr>
            <a:spLocks noGrp="1"/>
          </p:cNvSpPr>
          <p:nvPr>
            <p:ph type="body"/>
          </p:nvPr>
        </p:nvSpPr>
        <p:spPr>
          <a:xfrm>
            <a:off x="974880" y="4640040"/>
            <a:ext cx="5365440" cy="4321080"/>
          </a:xfrm>
          <a:prstGeom prst="rect">
            <a:avLst/>
          </a:prstGeom>
          <a:noFill/>
          <a:ln w="0">
            <a:noFill/>
          </a:ln>
        </p:spPr>
        <p:txBody>
          <a:bodyPr lIns="97200" rIns="97200" tIns="48600" bIns="486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200" strike="noStrike" u="none">
                <a:solidFill>
                  <a:srgbClr val="000000"/>
                </a:solidFill>
                <a:effectLst/>
                <a:uFillTx/>
                <a:latin typeface="Times New Roman"/>
              </a:rPr>
              <a:t>&lt;Animated slide&gt;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Times New Roman"/>
              </a:rPr>
              <a:t>B. Dates as enumeration</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As stated in Session 3, dates may be used in enumeration subfields when there is no enumeration on the item.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 </a:t>
            </a:r>
            <a:endParaRPr b="0" lang="en-IN"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sldImg"/>
          </p:nvPr>
        </p:nvSpPr>
        <p:spPr>
          <a:xfrm>
            <a:off x="1258920" y="722160"/>
            <a:ext cx="4797360" cy="3597480"/>
          </a:xfrm>
          <a:prstGeom prst="rect">
            <a:avLst/>
          </a:prstGeom>
          <a:ln w="0">
            <a:noFill/>
          </a:ln>
        </p:spPr>
      </p:sp>
      <p:sp>
        <p:nvSpPr>
          <p:cNvPr id="276" name="PlaceHolder 2"/>
          <p:cNvSpPr>
            <a:spLocks noGrp="1"/>
          </p:cNvSpPr>
          <p:nvPr>
            <p:ph type="body"/>
          </p:nvPr>
        </p:nvSpPr>
        <p:spPr>
          <a:xfrm>
            <a:off x="974880" y="4560480"/>
            <a:ext cx="5365440" cy="4319640"/>
          </a:xfrm>
          <a:prstGeom prst="rect">
            <a:avLst/>
          </a:prstGeom>
          <a:noFill/>
          <a:ln w="0">
            <a:noFill/>
          </a:ln>
        </p:spPr>
        <p:txBody>
          <a:bodyPr lIns="97200" rIns="97200" tIns="48600" bIns="486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200" strike="noStrike" u="none">
                <a:solidFill>
                  <a:srgbClr val="000000"/>
                </a:solidFill>
                <a:effectLst/>
                <a:uFillTx/>
                <a:latin typeface="Times New Roman"/>
              </a:rPr>
              <a:t>&lt;Animated slide&gt;</a:t>
            </a:r>
            <a:r>
              <a:rPr b="0" lang="en-IN" sz="1200" strike="noStrike" u="none">
                <a:solidFill>
                  <a:srgbClr val="000000"/>
                </a:solidFill>
                <a:effectLst/>
                <a:uFillTx/>
                <a:latin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Times New Roman"/>
              </a:rPr>
              <a:t>C.  Dates as primary enumeration with a second level of regular numbers (CD-ROM example)</a:t>
            </a:r>
            <a:endParaRPr b="0" lang="en-IN" sz="1200" strike="noStrike" u="none">
              <a:solidFill>
                <a:srgbClr val="000000"/>
              </a:solidFill>
              <a:effectLst/>
              <a:uFillTx/>
              <a:latin typeface="Times New Roman"/>
            </a:endParaRPr>
          </a:p>
          <a:p>
            <a:pPr indent="0">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Some non-print formats are especially likely to have a date as the primary division, with secondary divisions which are not chronological.</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This example is a  CD-ROM serial.</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There is a second-level division (here, disc) which is not chronological.</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In the case where there is no enumeration, and all the chronology elements move into subfields $a-h, then the chronology pattern elements such as $w $x and $y follow the enumeration pattern elements such as $u and $v</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Of course, this holding, if complete, could also be compressed.</a:t>
            </a:r>
            <a:endParaRPr b="0" lang="en-IN" sz="1200" strike="noStrike" u="none">
              <a:solidFill>
                <a:srgbClr val="000000"/>
              </a:solidFill>
              <a:effectLst/>
              <a:uFillTx/>
              <a:latin typeface="Times New Roman"/>
            </a:endParaRPr>
          </a:p>
          <a:p>
            <a:pPr indent="0">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sldImg"/>
          </p:nvPr>
        </p:nvSpPr>
        <p:spPr>
          <a:xfrm>
            <a:off x="1258920" y="720720"/>
            <a:ext cx="4794120" cy="3595680"/>
          </a:xfrm>
          <a:prstGeom prst="rect">
            <a:avLst/>
          </a:prstGeom>
          <a:ln w="0">
            <a:noFill/>
          </a:ln>
        </p:spPr>
      </p:sp>
      <p:sp>
        <p:nvSpPr>
          <p:cNvPr id="278" name="PlaceHolder 2"/>
          <p:cNvSpPr>
            <a:spLocks noGrp="1"/>
          </p:cNvSpPr>
          <p:nvPr>
            <p:ph type="body"/>
          </p:nvPr>
        </p:nvSpPr>
        <p:spPr>
          <a:xfrm>
            <a:off x="974880" y="4560480"/>
            <a:ext cx="5365440" cy="4319640"/>
          </a:xfrm>
          <a:prstGeom prst="rect">
            <a:avLst/>
          </a:prstGeom>
          <a:noFill/>
          <a:ln w="0">
            <a:noFill/>
          </a:ln>
        </p:spPr>
        <p:txBody>
          <a:bodyPr lIns="97200" rIns="97200" tIns="48600" bIns="486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200" strike="noStrike" u="none">
                <a:solidFill>
                  <a:srgbClr val="000000"/>
                </a:solidFill>
                <a:effectLst/>
                <a:uFillTx/>
                <a:latin typeface="Times New Roman"/>
              </a:rPr>
              <a:t>&lt;Animated slide&gt;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Times New Roman"/>
              </a:rPr>
              <a:t>Dates as primary enumeration with internal divisions that are both chronological and non-chronological</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 If the primary division is chronological (by year), but the internal divisions have both a number and a date designation, the year is repeated on both the enumeration side and the chronological side.  </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When the statement is compressed, the entire chronology can be dropped, and the holdings statement for a complete volume will consist of the year only.  For an incomplete year, the year and number will be given.  (Programming would have to accommodate dropping chronology in compressed statements where $a and $i are both (year).</a:t>
            </a:r>
            <a:endParaRPr b="0" lang="en-IN"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PlaceHolder 1"/>
          <p:cNvSpPr>
            <a:spLocks noGrp="1"/>
          </p:cNvSpPr>
          <p:nvPr>
            <p:ph type="sldImg"/>
          </p:nvPr>
        </p:nvSpPr>
        <p:spPr>
          <a:xfrm>
            <a:off x="1258920" y="722160"/>
            <a:ext cx="4797360" cy="3597480"/>
          </a:xfrm>
          <a:prstGeom prst="rect">
            <a:avLst/>
          </a:prstGeom>
          <a:ln w="0">
            <a:noFill/>
          </a:ln>
        </p:spPr>
      </p:sp>
      <p:sp>
        <p:nvSpPr>
          <p:cNvPr id="280" name="PlaceHolder 2"/>
          <p:cNvSpPr>
            <a:spLocks noGrp="1"/>
          </p:cNvSpPr>
          <p:nvPr>
            <p:ph type="body"/>
          </p:nvPr>
        </p:nvSpPr>
        <p:spPr>
          <a:xfrm>
            <a:off x="974880" y="4560480"/>
            <a:ext cx="5365440" cy="4319640"/>
          </a:xfrm>
          <a:prstGeom prst="rect">
            <a:avLst/>
          </a:prstGeom>
          <a:noFill/>
          <a:ln w="0">
            <a:noFill/>
          </a:ln>
        </p:spPr>
        <p:txBody>
          <a:bodyPr lIns="97200" rIns="97200" tIns="48600" bIns="486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rPr>
              <a:t>D.  Series designations</a:t>
            </a:r>
            <a:endParaRPr b="0" lang="en-IN" sz="1200" strike="noStrike" u="none">
              <a:solidFill>
                <a:srgbClr val="000000"/>
              </a:solidFill>
              <a:effectLst/>
              <a:uFillTx/>
              <a:latin typeface="Times New Roman"/>
            </a:endParaRPr>
          </a:p>
          <a:p>
            <a:pPr indent="0">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Series designations are common within numbering schemes, particularly those for scholarly and society publications from abroad; many are nineteenth-century or earlier publications.</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This is a German designation and its MFHD-coded equivalent.</a:t>
            </a:r>
            <a:endParaRPr b="0" lang="en-IN" sz="1200" strike="noStrike" u="none">
              <a:solidFill>
                <a:srgbClr val="000000"/>
              </a:solidFill>
              <a:effectLst/>
              <a:uFillTx/>
              <a:latin typeface="Times New Roman"/>
            </a:endParaRPr>
          </a:p>
          <a:p>
            <a:pPr lvl="1" marL="457200">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Note the combination of the series designation with the volume designation.:  n.F.:Bd.  Because they represent two hierarchical levels, a colon separates them.</a:t>
            </a:r>
            <a:endParaRPr b="0" lang="en-IN" sz="1200" strike="noStrike" u="none">
              <a:solidFill>
                <a:srgbClr val="000000"/>
              </a:solidFill>
              <a:effectLst/>
              <a:uFillTx/>
              <a:latin typeface="Times New Roman"/>
            </a:endParaRPr>
          </a:p>
          <a:p>
            <a:pPr lvl="1" marL="457200">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Also note the change from Roman numeral to Arabic, and the fact that  Roman numeral IV. is an ordinal number but is not transcribed as such in the record.  (Roman numerals will be discussed shortly).</a:t>
            </a:r>
            <a:endParaRPr b="0" lang="en-IN" sz="1200" strike="noStrike" u="none">
              <a:solidFill>
                <a:srgbClr val="000000"/>
              </a:solidFill>
              <a:effectLst/>
              <a:uFillTx/>
              <a:latin typeface="Times New Roman"/>
            </a:endParaRPr>
          </a:p>
          <a:p>
            <a:pPr lvl="1" marL="457200">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&lt;The next slide takes up ordinal numbers.&gt;</a:t>
            </a:r>
            <a:endParaRPr b="0" lang="en-IN"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sldImg"/>
          </p:nvPr>
        </p:nvSpPr>
        <p:spPr>
          <a:xfrm>
            <a:off x="1258920" y="722160"/>
            <a:ext cx="4797360" cy="3597480"/>
          </a:xfrm>
          <a:prstGeom prst="rect">
            <a:avLst/>
          </a:prstGeom>
          <a:ln w="0">
            <a:noFill/>
          </a:ln>
        </p:spPr>
      </p:sp>
      <p:sp>
        <p:nvSpPr>
          <p:cNvPr id="282" name="PlaceHolder 2"/>
          <p:cNvSpPr>
            <a:spLocks noGrp="1"/>
          </p:cNvSpPr>
          <p:nvPr>
            <p:ph type="body"/>
          </p:nvPr>
        </p:nvSpPr>
        <p:spPr>
          <a:xfrm>
            <a:off x="974880" y="4560480"/>
            <a:ext cx="5365440" cy="4319640"/>
          </a:xfrm>
          <a:prstGeom prst="rect">
            <a:avLst/>
          </a:prstGeom>
          <a:noFill/>
          <a:ln w="0">
            <a:noFill/>
          </a:ln>
        </p:spPr>
        <p:txBody>
          <a:bodyPr lIns="97200" rIns="97200" tIns="48600" bIns="486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Times New Roman"/>
              </a:rPr>
              <a:t>E.  Ordinal Numbers</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If we combine designations, we really have to use the syntax n.F.:Bd.4, rather than n.F.:4.Bd., which is on the piece.  Usually both word orders are acceptable.</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In most cases, we can use the special provisions for ordinal numbers so that we can transcribe the numbering as we find it.</a:t>
            </a:r>
            <a:endParaRPr b="0" lang="en-IN" sz="12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sldImg"/>
          </p:nvPr>
        </p:nvSpPr>
        <p:spPr>
          <a:xfrm>
            <a:off x="1258920" y="722160"/>
            <a:ext cx="4797360" cy="3597480"/>
          </a:xfrm>
          <a:prstGeom prst="rect">
            <a:avLst/>
          </a:prstGeom>
          <a:ln w="0">
            <a:noFill/>
          </a:ln>
        </p:spPr>
      </p:sp>
      <p:sp>
        <p:nvSpPr>
          <p:cNvPr id="284" name="PlaceHolder 2"/>
          <p:cNvSpPr>
            <a:spLocks noGrp="1"/>
          </p:cNvSpPr>
          <p:nvPr>
            <p:ph type="body"/>
          </p:nvPr>
        </p:nvSpPr>
        <p:spPr>
          <a:xfrm>
            <a:off x="974880" y="4560840"/>
            <a:ext cx="5365440" cy="4640400"/>
          </a:xfrm>
          <a:prstGeom prst="rect">
            <a:avLst/>
          </a:prstGeom>
          <a:noFill/>
          <a:ln w="0">
            <a:noFill/>
          </a:ln>
        </p:spPr>
        <p:txBody>
          <a:bodyPr lIns="97200" rIns="97200" tIns="48600" bIns="486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1200" strike="noStrike" u="none">
                <a:solidFill>
                  <a:srgbClr val="000000"/>
                </a:solidFill>
                <a:effectLst/>
                <a:uFillTx/>
                <a:latin typeface="Times New Roman"/>
              </a:rPr>
              <a:t>&lt;Animated slide&gt;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rPr>
              <a:t>Ordinal numbers, cont’d.</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The screen shows how to code the holding of an edition with a reversal of the usual syntax and an ordinal number (This is an irregular, so there is no pattern).</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In order to change the form of the number and its position, insert a </a:t>
            </a:r>
            <a:r>
              <a:rPr b="0" i="1" lang="en-US" sz="1200" strike="noStrike" u="none">
                <a:solidFill>
                  <a:srgbClr val="000000"/>
                </a:solidFill>
                <a:effectLst/>
                <a:uFillTx/>
                <a:latin typeface="Times New Roman"/>
              </a:rPr>
              <a:t>plus sign</a:t>
            </a:r>
            <a:r>
              <a:rPr b="0" lang="en-US" sz="1200" strike="noStrike" u="none">
                <a:solidFill>
                  <a:srgbClr val="000000"/>
                </a:solidFill>
                <a:effectLst/>
                <a:uFillTx/>
                <a:latin typeface="Times New Roman"/>
              </a:rPr>
              <a:t> before the caption in the 85X.</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With programming, the online system uses the ordinal form of the number and changes its position to preceding the caption.  The language code determines the form of the ordinal:  whether, e.g.,   1st, or  1.  </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This slide also shows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rPr>
              <a:t>F.  Gaps</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In order to show a </a:t>
            </a:r>
            <a:r>
              <a:rPr b="1" lang="en-US" sz="1200" strike="noStrike" u="none">
                <a:solidFill>
                  <a:srgbClr val="000000"/>
                </a:solidFill>
                <a:effectLst/>
                <a:uFillTx/>
                <a:latin typeface="Times New Roman"/>
              </a:rPr>
              <a:t>break</a:t>
            </a:r>
            <a:r>
              <a:rPr b="0" lang="en-US" sz="1200" strike="noStrike" u="none">
                <a:solidFill>
                  <a:srgbClr val="000000"/>
                </a:solidFill>
                <a:effectLst/>
                <a:uFillTx/>
                <a:latin typeface="Times New Roman"/>
              </a:rPr>
              <a:t> (displayed in the OPAC as a punctuation mark), insert a subfield $w in the 86X:  </a:t>
            </a:r>
            <a:endParaRPr b="0" lang="en-IN" sz="1200" strike="noStrike" u="none">
              <a:solidFill>
                <a:srgbClr val="000000"/>
              </a:solidFill>
              <a:effectLst/>
              <a:uFillTx/>
              <a:latin typeface="Times New Roman"/>
            </a:endParaRPr>
          </a:p>
          <a:p>
            <a:pPr lvl="1" marL="457200">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value </a:t>
            </a:r>
            <a:r>
              <a:rPr b="0" i="1" lang="en-US" sz="1200" strike="noStrike" u="none">
                <a:solidFill>
                  <a:srgbClr val="000000"/>
                </a:solidFill>
                <a:effectLst/>
                <a:uFillTx/>
                <a:latin typeface="Times New Roman"/>
              </a:rPr>
              <a:t>g</a:t>
            </a:r>
            <a:r>
              <a:rPr b="0" lang="en-US" sz="1200" strike="noStrike" u="none">
                <a:solidFill>
                  <a:srgbClr val="000000"/>
                </a:solidFill>
                <a:effectLst/>
                <a:uFillTx/>
                <a:latin typeface="Times New Roman"/>
              </a:rPr>
              <a:t> for </a:t>
            </a:r>
            <a:r>
              <a:rPr b="1" lang="en-US" sz="1200" strike="noStrike" u="none">
                <a:solidFill>
                  <a:srgbClr val="000000"/>
                </a:solidFill>
                <a:effectLst/>
                <a:uFillTx/>
                <a:latin typeface="Times New Roman"/>
              </a:rPr>
              <a:t>gap </a:t>
            </a:r>
            <a:r>
              <a:rPr b="0" lang="en-US" sz="1200" strike="noStrike" u="none">
                <a:solidFill>
                  <a:srgbClr val="000000"/>
                </a:solidFill>
                <a:effectLst/>
                <a:uFillTx/>
                <a:latin typeface="Times New Roman"/>
              </a:rPr>
              <a:t>(displaying as a comma),</a:t>
            </a:r>
            <a:endParaRPr b="0" lang="en-IN" sz="1200" strike="noStrike" u="none">
              <a:solidFill>
                <a:srgbClr val="000000"/>
              </a:solidFill>
              <a:effectLst/>
              <a:uFillTx/>
              <a:latin typeface="Times New Roman"/>
            </a:endParaRPr>
          </a:p>
          <a:p>
            <a:pPr lvl="1" marL="457200">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 </a:t>
            </a:r>
            <a:r>
              <a:rPr b="0" i="1" lang="en-US" sz="1200" strike="noStrike" u="none">
                <a:solidFill>
                  <a:srgbClr val="000000"/>
                </a:solidFill>
                <a:effectLst/>
                <a:uFillTx/>
                <a:latin typeface="Times New Roman"/>
              </a:rPr>
              <a:t>n</a:t>
            </a:r>
            <a:r>
              <a:rPr b="0" lang="en-US" sz="1200" strike="noStrike" u="none">
                <a:solidFill>
                  <a:srgbClr val="000000"/>
                </a:solidFill>
                <a:effectLst/>
                <a:uFillTx/>
                <a:latin typeface="Times New Roman"/>
              </a:rPr>
              <a:t> for </a:t>
            </a:r>
            <a:r>
              <a:rPr b="1" lang="en-US" sz="1200" strike="noStrike" u="none">
                <a:solidFill>
                  <a:srgbClr val="000000"/>
                </a:solidFill>
                <a:effectLst/>
                <a:uFillTx/>
                <a:latin typeface="Times New Roman"/>
              </a:rPr>
              <a:t>non-gap break </a:t>
            </a:r>
            <a:r>
              <a:rPr b="0" lang="en-US" sz="1200" strike="noStrike" u="none">
                <a:solidFill>
                  <a:srgbClr val="000000"/>
                </a:solidFill>
                <a:effectLst/>
                <a:uFillTx/>
                <a:latin typeface="Times New Roman"/>
              </a:rPr>
              <a:t>or “issue(s) not published”</a:t>
            </a:r>
            <a:r>
              <a:rPr b="1" lang="en-US" sz="1200" strike="noStrike" u="none">
                <a:solidFill>
                  <a:srgbClr val="000000"/>
                </a:solidFill>
                <a:effectLst/>
                <a:uFillTx/>
                <a:latin typeface="Times New Roman"/>
              </a:rPr>
              <a:t> </a:t>
            </a:r>
            <a:r>
              <a:rPr b="0" lang="en-US" sz="1200" strike="noStrike" u="none">
                <a:solidFill>
                  <a:srgbClr val="000000"/>
                </a:solidFill>
                <a:effectLst/>
                <a:uFillTx/>
                <a:latin typeface="Times New Roman"/>
              </a:rPr>
              <a:t>(displaying as a semicolon).</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 It’s even allowable to code gap and non-gap breaks together if that’s the situation! i.e., with multiple subfields $w generating both commas and semicolons.</a:t>
            </a:r>
            <a:endParaRPr b="0" lang="en-IN" sz="12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sldImg"/>
          </p:nvPr>
        </p:nvSpPr>
        <p:spPr>
          <a:xfrm>
            <a:off x="1177920" y="239760"/>
            <a:ext cx="4795920" cy="3597120"/>
          </a:xfrm>
          <a:prstGeom prst="rect">
            <a:avLst/>
          </a:prstGeom>
          <a:ln w="0">
            <a:noFill/>
          </a:ln>
        </p:spPr>
      </p:sp>
      <p:sp>
        <p:nvSpPr>
          <p:cNvPr id="286" name="PlaceHolder 2"/>
          <p:cNvSpPr>
            <a:spLocks noGrp="1"/>
          </p:cNvSpPr>
          <p:nvPr>
            <p:ph type="body"/>
          </p:nvPr>
        </p:nvSpPr>
        <p:spPr>
          <a:xfrm>
            <a:off x="1057320" y="4160880"/>
            <a:ext cx="5851440" cy="4719600"/>
          </a:xfrm>
          <a:prstGeom prst="rect">
            <a:avLst/>
          </a:prstGeom>
          <a:noFill/>
          <a:ln w="0">
            <a:noFill/>
          </a:ln>
        </p:spPr>
        <p:txBody>
          <a:bodyPr lIns="97200" rIns="97200" tIns="48600" bIns="486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1200" strike="noStrike" u="none">
                <a:solidFill>
                  <a:srgbClr val="000000"/>
                </a:solidFill>
                <a:effectLst/>
                <a:uFillTx/>
                <a:latin typeface="Times New Roman"/>
              </a:rPr>
              <a:t>&lt;Animated slide&gt;</a:t>
            </a:r>
            <a:r>
              <a:rPr b="0" lang="en-US" sz="1200" strike="noStrike" u="none">
                <a:solidFill>
                  <a:srgbClr val="000000"/>
                </a:solidFill>
                <a:effectLst/>
                <a:uFillTx/>
                <a:latin typeface="Times New Roman"/>
              </a:rPr>
              <a: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rPr>
              <a:t>G.  Roman numerals (and other issues)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We saw this slide before in Session 3.  Here it is again to illustrate some more common problems:</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Roman numerals should be changed to Arabic according to the NISO display standards.  This issue is under examination (Individual systems may allow either </a:t>
            </a:r>
            <a:r>
              <a:rPr b="0" lang="en-US" sz="1200" strike="noStrike" u="sng">
                <a:solidFill>
                  <a:srgbClr val="000000"/>
                </a:solidFill>
                <a:effectLst/>
                <a:uFillTx/>
                <a:latin typeface="Times New Roman"/>
              </a:rPr>
              <a:t>input</a:t>
            </a:r>
            <a:r>
              <a:rPr b="0" lang="en-US" sz="1200" strike="noStrike" u="none">
                <a:solidFill>
                  <a:srgbClr val="000000"/>
                </a:solidFill>
                <a:effectLst/>
                <a:uFillTx/>
                <a:latin typeface="Times New Roman"/>
              </a:rPr>
              <a:t> or </a:t>
            </a:r>
            <a:r>
              <a:rPr b="0" lang="en-US" sz="1200" strike="noStrike" u="sng">
                <a:solidFill>
                  <a:srgbClr val="000000"/>
                </a:solidFill>
                <a:effectLst/>
                <a:uFillTx/>
                <a:latin typeface="Times New Roman"/>
              </a:rPr>
              <a:t>output</a:t>
            </a:r>
            <a:r>
              <a:rPr b="0" lang="en-US" sz="1200" strike="noStrike" u="none">
                <a:solidFill>
                  <a:srgbClr val="000000"/>
                </a:solidFill>
                <a:effectLst/>
                <a:uFillTx/>
                <a:latin typeface="Times New Roman"/>
              </a:rPr>
              <a:t> (i.e., display) in Roman numerals and use a translation table to effect the translation).</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The online system has translated the 863 $j from a numeric value 01 (numeric values are necessary for prediction), into the Italian abbreviation for January. There is a third level of chronology, “day”, in this statement, which is also translated from 01 to 1 in display.</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No colon displays between the month and the day according to the NISO standard. </a:t>
            </a:r>
            <a:endParaRPr b="0" lang="en-IN" sz="1200" strike="noStrike" u="none">
              <a:solidFill>
                <a:srgbClr val="000000"/>
              </a:solidFill>
              <a:effectLst/>
              <a:uFillTx/>
              <a:latin typeface="Times New Roman"/>
            </a:endParaRPr>
          </a:p>
          <a:p>
            <a:pPr>
              <a:lnSpc>
                <a:spcPct val="110000"/>
              </a:lnSpc>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NISO standard does not render foreign chronology according to vernacular rules (1 gennaio becomes genn.1.)</a:t>
            </a:r>
            <a:endParaRPr b="0" lang="en-IN" sz="1200" strike="noStrike" u="non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sldImg"/>
          </p:nvPr>
        </p:nvSpPr>
        <p:spPr>
          <a:xfrm>
            <a:off x="1258920" y="722160"/>
            <a:ext cx="4797360" cy="3597480"/>
          </a:xfrm>
          <a:prstGeom prst="rect">
            <a:avLst/>
          </a:prstGeom>
          <a:ln w="0">
            <a:noFill/>
          </a:ln>
        </p:spPr>
      </p:sp>
      <p:sp>
        <p:nvSpPr>
          <p:cNvPr id="288" name="PlaceHolder 2"/>
          <p:cNvSpPr>
            <a:spLocks noGrp="1"/>
          </p:cNvSpPr>
          <p:nvPr>
            <p:ph type="body"/>
          </p:nvPr>
        </p:nvSpPr>
        <p:spPr>
          <a:xfrm>
            <a:off x="974880" y="4560480"/>
            <a:ext cx="5365440" cy="4319640"/>
          </a:xfrm>
          <a:prstGeom prst="rect">
            <a:avLst/>
          </a:prstGeom>
          <a:noFill/>
          <a:ln w="0">
            <a:noFill/>
          </a:ln>
        </p:spPr>
        <p:txBody>
          <a:bodyPr lIns="97200" rIns="97200" tIns="48600" bIns="486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1200" strike="noStrike" u="none">
                <a:solidFill>
                  <a:srgbClr val="000000"/>
                </a:solidFill>
                <a:effectLst/>
                <a:uFillTx/>
                <a:latin typeface="Times New Roman"/>
              </a:rPr>
              <a:t>&lt;Animated slide&gt;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rPr>
              <a:t>H.  Captionless enumeration</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This is an irregular with no pattern and a single issue held.  The library displays the holding without captions by enclosing an asterisk, denoting “no caption,” inside parentheses.</a:t>
            </a:r>
            <a:endParaRPr b="0" lang="en-IN" sz="1200" strike="noStrike" u="non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sldImg"/>
          </p:nvPr>
        </p:nvSpPr>
        <p:spPr>
          <a:xfrm>
            <a:off x="1177920" y="800280"/>
            <a:ext cx="4795920" cy="3597120"/>
          </a:xfrm>
          <a:prstGeom prst="rect">
            <a:avLst/>
          </a:prstGeom>
          <a:ln w="0">
            <a:noFill/>
          </a:ln>
        </p:spPr>
      </p:sp>
      <p:sp>
        <p:nvSpPr>
          <p:cNvPr id="290" name="PlaceHolder 2"/>
          <p:cNvSpPr>
            <a:spLocks noGrp="1"/>
          </p:cNvSpPr>
          <p:nvPr>
            <p:ph type="body"/>
          </p:nvPr>
        </p:nvSpPr>
        <p:spPr>
          <a:xfrm>
            <a:off x="974880" y="4560480"/>
            <a:ext cx="5365440" cy="4319640"/>
          </a:xfrm>
          <a:prstGeom prst="rect">
            <a:avLst/>
          </a:prstGeom>
          <a:noFill/>
          <a:ln w="0">
            <a:noFill/>
          </a:ln>
        </p:spPr>
        <p:txBody>
          <a:bodyPr lIns="97200" rIns="97200" tIns="48600" bIns="486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Times New Roman"/>
              </a:rPr>
              <a:t>I.  Enumerations with symbols as captions, internal hyphens</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Sometimes the “caption” is not a word but a symbol.   One common symbol is the number sign, #.   It is allowable as contents of a caption subfield.</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NISO standards prescribe the hyphen as a connector between the beginning and the end of a holdings statement expressed as a range. </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 But hyphens are also found as part of printed enumerations. </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We suggest using the period as a substitute for the hyphen.  A computer will try to interpret the hyphen as signifying a compressed holdings statement.</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Note:  This is one of the many cases where a compressed statement could not be given in coded fields, because it would be ambiguous.  It would have to be given in textual holdings fields (perhaps with explanatory notes).  Ideally, MFHD and NISO would have reserved punctuation such as hyphens to prevent ambiguity.</a:t>
            </a:r>
            <a:endParaRPr b="0" lang="en-IN" sz="1200" strike="noStrike" u="none">
              <a:solidFill>
                <a:srgbClr val="000000"/>
              </a:solidFill>
              <a:effectLst/>
              <a:uFillTx/>
              <a:latin typeface="Times New Roman"/>
            </a:endParaRPr>
          </a:p>
          <a:p>
            <a:pPr indent="0">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sldImg"/>
          </p:nvPr>
        </p:nvSpPr>
        <p:spPr>
          <a:xfrm>
            <a:off x="1258920" y="722160"/>
            <a:ext cx="4797360" cy="3597480"/>
          </a:xfrm>
          <a:prstGeom prst="rect">
            <a:avLst/>
          </a:prstGeom>
          <a:ln w="0">
            <a:noFill/>
          </a:ln>
        </p:spPr>
      </p:sp>
      <p:sp>
        <p:nvSpPr>
          <p:cNvPr id="292" name="PlaceHolder 2"/>
          <p:cNvSpPr>
            <a:spLocks noGrp="1"/>
          </p:cNvSpPr>
          <p:nvPr>
            <p:ph type="body"/>
          </p:nvPr>
        </p:nvSpPr>
        <p:spPr>
          <a:xfrm>
            <a:off x="974880" y="4560480"/>
            <a:ext cx="5365440" cy="4319640"/>
          </a:xfrm>
          <a:prstGeom prst="rect">
            <a:avLst/>
          </a:prstGeom>
          <a:noFill/>
          <a:ln w="0">
            <a:noFill/>
          </a:ln>
        </p:spPr>
        <p:txBody>
          <a:bodyPr lIns="97200" rIns="97200" tIns="48600" bIns="486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Times New Roman"/>
              </a:rPr>
              <a:t>J.  Alphabetic enumeration</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&lt;The instructor might ask the attendees to do this 853/ 863 enumeration orally, in order to build confidence for the coming exercise.&gt;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[There is now a pattern subfield in the format designed to handle </a:t>
            </a:r>
            <a:r>
              <a:rPr b="0" i="1" lang="en-IN" sz="1200" strike="noStrike" u="none">
                <a:solidFill>
                  <a:srgbClr val="000000"/>
                </a:solidFill>
                <a:effectLst/>
                <a:uFillTx/>
                <a:latin typeface="Times New Roman"/>
              </a:rPr>
              <a:t>prediction</a:t>
            </a:r>
            <a:r>
              <a:rPr b="0" lang="en-IN" sz="1200" strike="noStrike" u="none">
                <a:solidFill>
                  <a:srgbClr val="000000"/>
                </a:solidFill>
                <a:effectLst/>
                <a:uFillTx/>
                <a:latin typeface="Times New Roman"/>
              </a:rPr>
              <a:t> of this type of numbering (853 $z), which is found in Appendix 2—if there is time it can be looked at.]</a:t>
            </a:r>
            <a:endParaRPr b="0" lang="en-IN" sz="1200" strike="noStrike" u="non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sldImg"/>
          </p:nvPr>
        </p:nvSpPr>
        <p:spPr>
          <a:xfrm>
            <a:off x="1258920" y="722160"/>
            <a:ext cx="4797360" cy="3597480"/>
          </a:xfrm>
          <a:prstGeom prst="rect">
            <a:avLst/>
          </a:prstGeom>
          <a:ln w="0">
            <a:noFill/>
          </a:ln>
        </p:spPr>
      </p:sp>
      <p:sp>
        <p:nvSpPr>
          <p:cNvPr id="294" name="PlaceHolder 2"/>
          <p:cNvSpPr>
            <a:spLocks noGrp="1"/>
          </p:cNvSpPr>
          <p:nvPr>
            <p:ph type="body"/>
          </p:nvPr>
        </p:nvSpPr>
        <p:spPr>
          <a:xfrm>
            <a:off x="974880" y="4560480"/>
            <a:ext cx="5365440" cy="4319640"/>
          </a:xfrm>
          <a:prstGeom prst="rect">
            <a:avLst/>
          </a:prstGeom>
          <a:noFill/>
          <a:ln w="0">
            <a:noFill/>
          </a:ln>
        </p:spPr>
        <p:txBody>
          <a:bodyPr lIns="97200" rIns="97200" tIns="48600" bIns="486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000000"/>
                </a:solidFill>
                <a:effectLst/>
                <a:uFillTx/>
                <a:latin typeface="Times New Roman"/>
              </a:rPr>
              <a:t>K.  Alternative enumeration.</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In  special cases, as with monographic or other series, and some foreign scholarly or legal publications, there is more than one numeric system at work.</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Particularly where there is a broader and a narrower aspect to the publication, both systems may be important.</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Subfields $g and $h are for alternative enumeration.</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Subfield $m is for a single level of alternative chronology..</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The NISO display of the two systems together is with an equals sign to show the equivalency.  Therefore, it is important that the two numbers cover the same unit of publication.</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True alternative numbering is illustrated by an overall series which is divided into chronological series 1, series 2, series 3, etc.  Each volume bears its number in both the larger and the smaller series.  </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sldImg"/>
          </p:nvPr>
        </p:nvSpPr>
        <p:spPr>
          <a:xfrm>
            <a:off x="1258920" y="722160"/>
            <a:ext cx="4797360" cy="3597480"/>
          </a:xfrm>
          <a:prstGeom prst="rect">
            <a:avLst/>
          </a:prstGeom>
          <a:ln w="0">
            <a:noFill/>
          </a:ln>
        </p:spPr>
      </p:sp>
      <p:sp>
        <p:nvSpPr>
          <p:cNvPr id="296" name="PlaceHolder 2"/>
          <p:cNvSpPr>
            <a:spLocks noGrp="1"/>
          </p:cNvSpPr>
          <p:nvPr>
            <p:ph type="body"/>
          </p:nvPr>
        </p:nvSpPr>
        <p:spPr>
          <a:xfrm>
            <a:off x="974880" y="4560480"/>
            <a:ext cx="5365440" cy="4319640"/>
          </a:xfrm>
          <a:prstGeom prst="rect">
            <a:avLst/>
          </a:prstGeom>
          <a:noFill/>
          <a:ln w="0">
            <a:noFill/>
          </a:ln>
        </p:spPr>
        <p:txBody>
          <a:bodyPr lIns="97200" rIns="97200" tIns="48600" bIns="486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Rectangle 6"/>
          <p:cNvSpPr/>
          <p:nvPr/>
        </p:nvSpPr>
        <p:spPr>
          <a:xfrm>
            <a:off x="406440" y="8880480"/>
            <a:ext cx="3819600" cy="480960"/>
          </a:xfrm>
          <a:prstGeom prst="rect">
            <a:avLst/>
          </a:prstGeom>
          <a:noFill/>
          <a:ln w="0">
            <a:noFill/>
          </a:ln>
        </p:spPr>
        <p:style>
          <a:lnRef idx="0"/>
          <a:fillRef idx="0"/>
          <a:effectRef idx="0"/>
          <a:fontRef idx="minor"/>
        </p:style>
        <p:txBody>
          <a:bodyPr lIns="97200" rIns="97200" tIns="48600" bIns="48600" anchor="b">
            <a:noAutofit/>
          </a:bodyPr>
          <a:p>
            <a:pPr>
              <a:lnSpc>
                <a:spcPct val="100000"/>
              </a:lnSpc>
              <a:tabLst>
                <a:tab algn="l" pos="0"/>
                <a:tab algn="l" pos="966960"/>
                <a:tab algn="l" pos="1933560"/>
                <a:tab algn="l" pos="2900520"/>
                <a:tab algn="l" pos="3867120"/>
                <a:tab algn="l" pos="4834080"/>
                <a:tab algn="l" pos="5800680"/>
                <a:tab algn="l" pos="6767640"/>
                <a:tab algn="l" pos="7734240"/>
                <a:tab algn="l" pos="8701200"/>
                <a:tab algn="l" pos="9667800"/>
                <a:tab algn="l" pos="10634760"/>
              </a:tabLst>
            </a:pPr>
            <a:r>
              <a:rPr b="0" lang="en-IN" sz="1200" strike="noStrike" u="none">
                <a:solidFill>
                  <a:srgbClr val="ffffff"/>
                </a:solidFill>
                <a:effectLst/>
                <a:uFillTx/>
                <a:latin typeface="Times New Roman"/>
              </a:rPr>
              <a:t>SCCTP Serial Holdings Workshop</a:t>
            </a:r>
            <a:endParaRPr b="0" lang="en-IN" sz="1200" strike="noStrike" u="none">
              <a:solidFill>
                <a:srgbClr val="ffffff"/>
              </a:solidFill>
              <a:effectLst/>
              <a:uFillTx/>
              <a:latin typeface="Arial Narrow"/>
            </a:endParaRPr>
          </a:p>
        </p:txBody>
      </p:sp>
      <p:sp>
        <p:nvSpPr>
          <p:cNvPr id="298" name="PlaceHolder 1"/>
          <p:cNvSpPr>
            <a:spLocks noGrp="1"/>
          </p:cNvSpPr>
          <p:nvPr>
            <p:ph type="sldImg"/>
          </p:nvPr>
        </p:nvSpPr>
        <p:spPr>
          <a:xfrm>
            <a:off x="1258920" y="722160"/>
            <a:ext cx="4797360" cy="3597480"/>
          </a:xfrm>
          <a:prstGeom prst="rect">
            <a:avLst/>
          </a:prstGeom>
          <a:ln w="0">
            <a:noFill/>
          </a:ln>
        </p:spPr>
      </p:sp>
      <p:sp>
        <p:nvSpPr>
          <p:cNvPr id="299" name="PlaceHolder 2"/>
          <p:cNvSpPr>
            <a:spLocks noGrp="1"/>
          </p:cNvSpPr>
          <p:nvPr>
            <p:ph type="body"/>
          </p:nvPr>
        </p:nvSpPr>
        <p:spPr>
          <a:xfrm>
            <a:off x="974880" y="4560480"/>
            <a:ext cx="5365440" cy="4319640"/>
          </a:xfrm>
          <a:prstGeom prst="rect">
            <a:avLst/>
          </a:prstGeom>
          <a:noFill/>
          <a:ln w="0">
            <a:noFill/>
          </a:ln>
        </p:spPr>
        <p:txBody>
          <a:bodyPr lIns="97200" rIns="97200" tIns="48600" bIns="486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Instructors:  We no longer recommend doubling the year.  It may affect functionality in certain systems.</a:t>
            </a:r>
            <a:endParaRPr b="0" lang="en-IN"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9795A88D-8D6B-4C65-99BA-1E0A635CDCCB}" type="slidenum">
              <a:t>&lt;#&gt;</a:t>
            </a:fld>
          </a:p>
        </p:txBody>
      </p:sp>
      <p:sp>
        <p:nvSpPr>
          <p:cNvPr id="4" name="PlaceHolder 3"/>
          <p:cNvSpPr>
            <a:spLocks noGrp="1"/>
          </p:cNvSpPr>
          <p:nvPr>
            <p:ph type="dt" idx="1"/>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Click to edit the title text format</a:t>
            </a:r>
            <a:endParaRPr b="0" lang="en-IN" sz="4400" strike="noStrike" u="none">
              <a:solidFill>
                <a:srgbClr val="ffff66"/>
              </a:solidFill>
              <a:effectLst/>
              <a:uFillTx/>
              <a:latin typeface="Tahoma"/>
            </a:endParaRPr>
          </a:p>
        </p:txBody>
      </p:sp>
      <p:sp>
        <p:nvSpPr>
          <p:cNvPr id="1" name="PlaceHolder 2"/>
          <p:cNvSpPr>
            <a:spLocks noGrp="1"/>
          </p:cNvSpPr>
          <p:nvPr>
            <p:ph type="body"/>
          </p:nvPr>
        </p:nvSpPr>
        <p:spPr>
          <a:xfrm>
            <a:off x="0" y="914040"/>
            <a:ext cx="9144000" cy="5181480"/>
          </a:xfrm>
          <a:prstGeom prst="rect">
            <a:avLst/>
          </a:prstGeom>
          <a:noFill/>
          <a:ln w="0">
            <a:noFill/>
          </a:ln>
        </p:spPr>
        <p:txBody>
          <a:bodyPr lIns="92160" rIns="92160" tIns="46080" bIns="4608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Click to edit the outline text format</a:t>
            </a:r>
            <a:endParaRPr b="0" lang="en-IN" sz="3200" strike="noStrike" u="none">
              <a:solidFill>
                <a:srgbClr val="ffffff"/>
              </a:solidFill>
              <a:effectLst/>
              <a:uFillTx/>
              <a:latin typeface="Tahoma"/>
            </a:endParaRPr>
          </a:p>
          <a:p>
            <a:pPr lvl="1" marL="743040" indent="-28584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Second Outline Level</a:t>
            </a:r>
            <a:endParaRPr b="0" lang="en-IN" sz="3200" strike="noStrike" u="none">
              <a:solidFill>
                <a:srgbClr val="ffffff"/>
              </a:solidFill>
              <a:effectLst/>
              <a:uFillTx/>
              <a:latin typeface="Tahoma"/>
            </a:endParaRPr>
          </a:p>
          <a:p>
            <a:pPr lvl="2" marL="11430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Third Outline Level</a:t>
            </a:r>
            <a:endParaRPr b="0" lang="en-IN" sz="3200" strike="noStrike" u="none">
              <a:solidFill>
                <a:srgbClr val="ffffff"/>
              </a:solidFill>
              <a:effectLst/>
              <a:uFillTx/>
              <a:latin typeface="Tahoma"/>
            </a:endParaRPr>
          </a:p>
          <a:p>
            <a:pPr lvl="3" marL="16002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Fourth Outline Level</a:t>
            </a:r>
            <a:endParaRPr b="0" lang="en-IN" sz="3200" strike="noStrike" u="none">
              <a:solidFill>
                <a:srgbClr val="ffffff"/>
              </a:solidFill>
              <a:effectLst/>
              <a:uFillTx/>
              <a:latin typeface="Tahoma"/>
            </a:endParaRPr>
          </a:p>
          <a:p>
            <a:pPr lvl="4" marL="20574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Fifth Outline Level</a:t>
            </a:r>
            <a:endParaRPr b="0" lang="en-IN" sz="3200" strike="noStrike" u="none">
              <a:solidFill>
                <a:srgbClr val="ffffff"/>
              </a:solidFill>
              <a:effectLst/>
              <a:uFillTx/>
              <a:latin typeface="Tahoma"/>
            </a:endParaRPr>
          </a:p>
          <a:p>
            <a:pPr lvl="5" marL="20574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Sixth Outline Level</a:t>
            </a:r>
            <a:endParaRPr b="0" lang="en-IN" sz="3200" strike="noStrike" u="none">
              <a:solidFill>
                <a:srgbClr val="ffffff"/>
              </a:solidFill>
              <a:effectLst/>
              <a:uFillTx/>
              <a:latin typeface="Tahoma"/>
            </a:endParaRPr>
          </a:p>
          <a:p>
            <a:pPr lvl="6" marL="20574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Seventh Outline Level</a:t>
            </a:r>
            <a:endParaRPr b="0" lang="en-IN" sz="3200" strike="noStrike" u="none">
              <a:solidFill>
                <a:srgbClr val="ffffff"/>
              </a:solidFill>
              <a:effectLst/>
              <a:uFillTx/>
              <a:latin typeface="Tahoma"/>
            </a:endParaRPr>
          </a:p>
        </p:txBody>
      </p:sp>
      <p:sp>
        <p:nvSpPr>
          <p:cNvPr id="2" name="PlaceHolder 3"/>
          <p:cNvSpPr>
            <a:spLocks noGrp="1"/>
          </p:cNvSpPr>
          <p:nvPr>
            <p:ph type="dt" idx="1"/>
          </p:nvPr>
        </p:nvSpPr>
        <p:spPr>
          <a:xfrm>
            <a:off x="1676520" y="6171840"/>
            <a:ext cx="2209680" cy="685800"/>
          </a:xfrm>
          <a:prstGeom prst="rect">
            <a:avLst/>
          </a:prstGeom>
          <a:noFill/>
          <a:ln w="0">
            <a:noFill/>
          </a:ln>
        </p:spPr>
        <p:txBody>
          <a:bodyPr lIns="92160" rIns="92160" tIns="46080" bIns="46080" anchor="t">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302B15A-7459-4688-B8F5-294EFE3DE07D}" type="datetime">
              <a:rPr b="0" lang="en-IN" sz="1400" strike="noStrike" u="none">
                <a:solidFill>
                  <a:srgbClr val="ffffff"/>
                </a:solidFill>
                <a:effectLst/>
                <a:uFillTx/>
                <a:latin typeface="Times New Roman"/>
              </a:rPr>
              <a:t>03/06/25</a:t>
            </a:fld>
            <a:endParaRPr b="0" lang="en-IN" sz="1400" strike="noStrike" u="none">
              <a:solidFill>
                <a:srgbClr val="000000"/>
              </a:solidFill>
              <a:effectLst/>
              <a:uFillTx/>
              <a:latin typeface="Arial Narrow"/>
            </a:endParaRPr>
          </a:p>
        </p:txBody>
      </p:sp>
      <p:sp>
        <p:nvSpPr>
          <p:cNvPr id="3" name="PlaceHolder 4"/>
          <p:cNvSpPr>
            <a:spLocks noGrp="1"/>
          </p:cNvSpPr>
          <p:nvPr>
            <p:ph type="ftr" idx="2"/>
          </p:nvPr>
        </p:nvSpPr>
        <p:spPr>
          <a:xfrm>
            <a:off x="4495680" y="6477120"/>
            <a:ext cx="4648320" cy="380880"/>
          </a:xfrm>
          <a:prstGeom prst="rect">
            <a:avLst/>
          </a:prstGeom>
          <a:noFill/>
          <a:ln w="0">
            <a:noFill/>
          </a:ln>
        </p:spPr>
        <p:txBody>
          <a:bodyPr lIns="92160" rIns="92160" tIns="46080" bIns="46080" anchor="t">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&lt;footer&gt;</a:t>
            </a:r>
            <a:r>
              <a:rPr b="0" lang="en-IN" sz="1400" strike="noStrike" u="none">
                <a:solidFill>
                  <a:srgbClr val="ffffff"/>
                </a:solidFill>
                <a:effectLst/>
                <a:uFillTx/>
                <a:latin typeface="Times New Roman"/>
              </a:rPr>
              <a:t>SCCTP Serial Holdings Workshop </a:t>
            </a:r>
            <a:endParaRPr b="0" lang="en-IN" sz="1400" strike="noStrike" u="none">
              <a:solidFill>
                <a:srgbClr val="000000"/>
              </a:solidFill>
              <a:effectLst/>
              <a:uFillTx/>
              <a:latin typeface="Arial Narrow"/>
            </a:endParaRPr>
          </a:p>
        </p:txBody>
      </p:sp>
      <p:sp>
        <p:nvSpPr>
          <p:cNvPr id="4" name="PlaceHolder 5"/>
          <p:cNvSpPr>
            <a:spLocks noGrp="1"/>
          </p:cNvSpPr>
          <p:nvPr>
            <p:ph type="sldNum" idx="3"/>
          </p:nvPr>
        </p:nvSpPr>
        <p:spPr>
          <a:xfrm>
            <a:off x="-360" y="6400800"/>
            <a:ext cx="762120" cy="457200"/>
          </a:xfrm>
          <a:prstGeom prst="rect">
            <a:avLst/>
          </a:prstGeom>
          <a:noFill/>
          <a:ln w="0">
            <a:noFill/>
          </a:ln>
        </p:spPr>
        <p:txBody>
          <a:bodyPr lIns="92160" rIns="92160" tIns="46080" bIns="46080" anchor="t">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Times New Roman"/>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7047F47-6D23-49CE-84D9-CFB076161311}" type="slidenum">
              <a:rPr b="0" lang="en-IN" sz="1400" strike="noStrike" u="none">
                <a:solidFill>
                  <a:srgbClr val="000000"/>
                </a:solidFill>
                <a:effectLst/>
                <a:uFillTx/>
                <a:latin typeface="Times New Roman"/>
              </a:rPr>
              <a:t>&lt;number&gt;</a:t>
            </a:fld>
            <a:endParaRPr b="0" lang="en-IN" sz="1400" strike="noStrike" u="none">
              <a:solidFill>
                <a:srgbClr val="000000"/>
              </a:solidFill>
              <a:effectLst/>
              <a:uFillTx/>
              <a:latin typeface="Arial Narrow"/>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wmf"/><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2.wmf"/><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12"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13"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C967FA4-7412-41B9-9A0B-E0CC2AA78EC8}"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14" name="PlaceHolder 1"/>
          <p:cNvSpPr>
            <a:spLocks noGrp="1"/>
          </p:cNvSpPr>
          <p:nvPr>
            <p:ph type="title"/>
          </p:nvPr>
        </p:nvSpPr>
        <p:spPr>
          <a:xfrm>
            <a:off x="0" y="145800"/>
            <a:ext cx="9144000" cy="996840"/>
          </a:xfrm>
          <a:prstGeom prst="rect">
            <a:avLst/>
          </a:prstGeom>
          <a:solidFill>
            <a:srgbClr val="006666"/>
          </a:solidFill>
          <a:ln w="0">
            <a:noFill/>
          </a:ln>
        </p:spPr>
        <p:txBody>
          <a:bodyPr lIns="92160" rIns="92160" tIns="46080" bIns="46080" anchor="ctr">
            <a:noAutofit/>
          </a:bodyPr>
          <a:p>
            <a:pPr indent="0" algn="ctr">
              <a:lnSpc>
                <a:spcPct val="8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Holdings Session 6 --</a:t>
            </a:r>
            <a:br>
              <a:rPr sz="4000"/>
            </a:br>
            <a:r>
              <a:rPr b="0" lang="en-IN" sz="3600" strike="noStrike" u="none">
                <a:solidFill>
                  <a:srgbClr val="ffff66"/>
                </a:solidFill>
                <a:effectLst/>
                <a:uFillTx/>
                <a:latin typeface="Tahoma"/>
              </a:rPr>
              <a:t>Special Problems</a:t>
            </a:r>
            <a:endParaRPr b="0" lang="en-IN" sz="3600" strike="noStrike" u="none">
              <a:solidFill>
                <a:srgbClr val="ffff66"/>
              </a:solidFill>
              <a:effectLst/>
              <a:uFillTx/>
              <a:latin typeface="Tahoma"/>
            </a:endParaRPr>
          </a:p>
        </p:txBody>
      </p:sp>
      <p:sp>
        <p:nvSpPr>
          <p:cNvPr id="15" name="PlaceHolder 2"/>
          <p:cNvSpPr>
            <a:spLocks noGrp="1"/>
          </p:cNvSpPr>
          <p:nvPr>
            <p:ph/>
          </p:nvPr>
        </p:nvSpPr>
        <p:spPr>
          <a:xfrm>
            <a:off x="762120" y="1371240"/>
            <a:ext cx="7696080" cy="5181480"/>
          </a:xfrm>
          <a:prstGeom prst="rect">
            <a:avLst/>
          </a:prstGeom>
          <a:noFill/>
          <a:ln w="0">
            <a:noFill/>
          </a:ln>
        </p:spPr>
        <p:txBody>
          <a:bodyPr lIns="92160" rIns="92160" tIns="46080" bIns="46080" anchor="t">
            <a:normAutofit/>
          </a:bodyPr>
          <a:p>
            <a:pPr marL="343080" indent="-343080">
              <a:lnSpc>
                <a:spcPct val="7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3200" strike="noStrike" u="none">
                <a:solidFill>
                  <a:srgbClr val="ffcc66"/>
                </a:solidFill>
                <a:effectLst/>
                <a:uFillTx/>
                <a:latin typeface="Tahoma"/>
              </a:rPr>
              <a:t>How do we deal with</a:t>
            </a:r>
            <a:r>
              <a:rPr b="0" i="1" lang="en-IN" sz="2800" strike="noStrike" u="none">
                <a:solidFill>
                  <a:srgbClr val="ffcc66"/>
                </a:solidFill>
                <a:effectLst/>
                <a:uFillTx/>
                <a:latin typeface="Tahoma"/>
              </a:rPr>
              <a:t>…</a:t>
            </a:r>
            <a:endParaRPr b="0" lang="en-IN" sz="2800" strike="noStrike" u="none">
              <a:solidFill>
                <a:srgbClr val="ffffff"/>
              </a:solidFill>
              <a:effectLst/>
              <a:uFillTx/>
              <a:latin typeface="Tahoma"/>
            </a:endParaRPr>
          </a:p>
          <a:p>
            <a:pPr lvl="1" marL="743040" indent="-285840">
              <a:lnSpc>
                <a:spcPct val="7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800" strike="noStrike" u="none">
                <a:solidFill>
                  <a:srgbClr val="ffffff"/>
                </a:solidFill>
                <a:effectLst/>
                <a:uFillTx/>
                <a:latin typeface="Tahoma"/>
              </a:rPr>
              <a:t>captions not ending in a period?</a:t>
            </a:r>
            <a:endParaRPr b="0" lang="en-IN" sz="2800" strike="noStrike" u="none">
              <a:solidFill>
                <a:srgbClr val="ffffff"/>
              </a:solidFill>
              <a:effectLst/>
              <a:uFillTx/>
              <a:latin typeface="Tahoma"/>
            </a:endParaRPr>
          </a:p>
          <a:p>
            <a:pPr lvl="1" marL="743040" indent="-28584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800" strike="noStrike" u="none">
                <a:solidFill>
                  <a:srgbClr val="ffffff"/>
                </a:solidFill>
                <a:effectLst/>
                <a:uFillTx/>
                <a:latin typeface="Tahoma"/>
              </a:rPr>
              <a:t>supplements and indexes?</a:t>
            </a:r>
            <a:endParaRPr b="0" lang="en-IN" sz="2800" strike="noStrike" u="none">
              <a:solidFill>
                <a:srgbClr val="ffffff"/>
              </a:solidFill>
              <a:effectLst/>
              <a:uFillTx/>
              <a:latin typeface="Tahoma"/>
            </a:endParaRPr>
          </a:p>
          <a:p>
            <a:pPr lvl="1" marL="743040" indent="-28584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800" strike="noStrike" u="none">
                <a:solidFill>
                  <a:srgbClr val="ffffff"/>
                </a:solidFill>
                <a:effectLst/>
                <a:uFillTx/>
                <a:latin typeface="Tahoma"/>
              </a:rPr>
              <a:t>ordinal numbers?</a:t>
            </a:r>
            <a:endParaRPr b="0" lang="en-IN" sz="2800" strike="noStrike" u="none">
              <a:solidFill>
                <a:srgbClr val="ffffff"/>
              </a:solidFill>
              <a:effectLst/>
              <a:uFillTx/>
              <a:latin typeface="Tahoma"/>
            </a:endParaRPr>
          </a:p>
          <a:p>
            <a:pPr lvl="1" marL="743040" indent="-28584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800" strike="noStrike" u="none">
                <a:solidFill>
                  <a:srgbClr val="ffffff"/>
                </a:solidFill>
                <a:effectLst/>
                <a:uFillTx/>
                <a:latin typeface="Tahoma"/>
              </a:rPr>
              <a:t>numbers without captions?</a:t>
            </a:r>
            <a:endParaRPr b="0" lang="en-IN" sz="2800" strike="noStrike" u="none">
              <a:solidFill>
                <a:srgbClr val="ffffff"/>
              </a:solidFill>
              <a:effectLst/>
              <a:uFillTx/>
              <a:latin typeface="Tahoma"/>
            </a:endParaRPr>
          </a:p>
          <a:p>
            <a:pPr lvl="1" marL="743040" indent="-28584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800" strike="noStrike" u="none">
                <a:solidFill>
                  <a:srgbClr val="ffffff"/>
                </a:solidFill>
                <a:effectLst/>
                <a:uFillTx/>
                <a:latin typeface="Tahoma"/>
              </a:rPr>
              <a:t>dates with internal numbering?</a:t>
            </a:r>
            <a:endParaRPr b="0" lang="en-IN" sz="2800" strike="noStrike" u="none">
              <a:solidFill>
                <a:srgbClr val="ffffff"/>
              </a:solidFill>
              <a:effectLst/>
              <a:uFillTx/>
              <a:latin typeface="Tahoma"/>
            </a:endParaRPr>
          </a:p>
          <a:p>
            <a:pPr lvl="1" marL="743040" indent="-28584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800" strike="noStrike" u="none">
                <a:solidFill>
                  <a:srgbClr val="ffffff"/>
                </a:solidFill>
                <a:effectLst/>
                <a:uFillTx/>
                <a:latin typeface="Tahoma"/>
              </a:rPr>
              <a:t>symbols, hyphens, coding challenges?</a:t>
            </a:r>
            <a:endParaRPr b="0" lang="en-IN" sz="2800" strike="noStrike" u="none">
              <a:solidFill>
                <a:srgbClr val="ffffff"/>
              </a:solidFill>
              <a:effectLst/>
              <a:uFillTx/>
              <a:latin typeface="Tahoma"/>
            </a:endParaRPr>
          </a:p>
          <a:p>
            <a:pPr lvl="1" marL="743040" indent="-28584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800" strike="noStrike" u="none">
                <a:solidFill>
                  <a:srgbClr val="ffffff"/>
                </a:solidFill>
                <a:effectLst/>
                <a:uFillTx/>
                <a:latin typeface="Tahoma"/>
              </a:rPr>
              <a:t>“new series” designations?</a:t>
            </a:r>
            <a:endParaRPr b="0" lang="en-IN" sz="2800" strike="noStrike" u="none">
              <a:solidFill>
                <a:srgbClr val="ffffff"/>
              </a:solidFill>
              <a:effectLst/>
              <a:uFillTx/>
              <a:latin typeface="Tahoma"/>
            </a:endParaRPr>
          </a:p>
          <a:p>
            <a:pPr lvl="1" marL="743040" indent="-28584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800" strike="noStrike" u="none">
                <a:solidFill>
                  <a:srgbClr val="ffffff"/>
                </a:solidFill>
                <a:effectLst/>
                <a:uFillTx/>
                <a:latin typeface="Tahoma"/>
              </a:rPr>
              <a:t>alphabetic enumeration?</a:t>
            </a:r>
            <a:endParaRPr b="0" lang="en-IN" sz="2800" strike="noStrike" u="none">
              <a:solidFill>
                <a:srgbClr val="ffffff"/>
              </a:solidFill>
              <a:effectLst/>
              <a:uFillTx/>
              <a:latin typeface="Tahoma"/>
            </a:endParaRPr>
          </a:p>
          <a:p>
            <a:pPr lvl="1" marL="743040" indent="-28584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800" strike="noStrike" u="none">
                <a:solidFill>
                  <a:srgbClr val="ffffff"/>
                </a:solidFill>
                <a:effectLst/>
                <a:uFillTx/>
                <a:latin typeface="Tahoma"/>
              </a:rPr>
              <a:t>alternative enumeration and chronology?</a:t>
            </a:r>
            <a:endParaRPr b="0" lang="en-IN" sz="2800" strike="noStrike" u="none">
              <a:solidFill>
                <a:srgbClr val="ffffff"/>
              </a:solidFill>
              <a:effectLst/>
              <a:uFillTx/>
              <a:latin typeface="Tahoma"/>
            </a:endParaRPr>
          </a:p>
          <a:p>
            <a:pPr lvl="1" marL="743040" indent="-28584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800" strike="noStrike" u="none">
                <a:solidFill>
                  <a:srgbClr val="ffcc66"/>
                </a:solidFill>
                <a:effectLst/>
                <a:uFillTx/>
                <a:latin typeface="Tahoma"/>
              </a:rPr>
              <a:t>what’s</a:t>
            </a:r>
            <a:r>
              <a:rPr b="0" i="1" lang="en-IN" sz="2800" strike="noStrike" u="none">
                <a:solidFill>
                  <a:srgbClr val="ffff00"/>
                </a:solidFill>
                <a:effectLst/>
                <a:uFillTx/>
                <a:latin typeface="Tahoma"/>
              </a:rPr>
              <a:t> </a:t>
            </a:r>
            <a:r>
              <a:rPr b="0" i="1" lang="en-IN" sz="2800" strike="noStrike" u="sng">
                <a:solidFill>
                  <a:srgbClr val="ffff00"/>
                </a:solidFill>
                <a:effectLst/>
                <a:uFillTx/>
                <a:latin typeface="Tahoma"/>
              </a:rPr>
              <a:t>your </a:t>
            </a:r>
            <a:r>
              <a:rPr b="0" i="1" lang="en-IN" sz="2800" strike="noStrike" u="none">
                <a:solidFill>
                  <a:srgbClr val="ffcc66"/>
                </a:solidFill>
                <a:effectLst/>
                <a:uFillTx/>
                <a:latin typeface="Tahoma"/>
              </a:rPr>
              <a:t>worst nightmare?</a:t>
            </a:r>
            <a:r>
              <a:rPr b="0" lang="en-IN" sz="2400" strike="noStrike" u="none">
                <a:solidFill>
                  <a:srgbClr val="ffff00"/>
                </a:solidFill>
                <a:effectLst/>
                <a:uFillTx/>
                <a:latin typeface="Arial Narrow"/>
              </a:rPr>
              <a:t> </a:t>
            </a:r>
            <a:endParaRPr b="0" lang="en-IN" sz="2400" strike="noStrike" u="none">
              <a:solidFill>
                <a:srgbClr val="ffffff"/>
              </a:solidFill>
              <a:effectLst/>
              <a:uFillTx/>
              <a:latin typeface="Tahoma"/>
            </a:endParaRPr>
          </a:p>
        </p:txBody>
      </p:sp>
      <p:sp>
        <p:nvSpPr>
          <p:cNvPr id="4" name="PlaceHolder 3"/>
          <p:cNvSpPr>
            <a:spLocks noGrp="1"/>
          </p:cNvSpPr>
          <p:nvPr>
            <p:ph type="sldNum" idx="3"/>
          </p:nvPr>
        </p:nvSpPr>
        <p:spPr/>
        <p:txBody>
          <a:bodyPr/>
          <a:p>
            <a:fld id="{88B7386C-C116-4C8B-80F5-F517AAA41C3C}" type="slidenum">
              <a:t>1</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16"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17"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213AD4B-EFCA-43DF-A343-74FF8F2F400A}"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18"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Captions not ending in a period</a:t>
            </a:r>
            <a:endParaRPr b="0" lang="en-IN" sz="4400" strike="noStrike" u="none">
              <a:solidFill>
                <a:srgbClr val="ffff66"/>
              </a:solidFill>
              <a:effectLst/>
              <a:uFillTx/>
              <a:latin typeface="Tahoma"/>
            </a:endParaRPr>
          </a:p>
        </p:txBody>
      </p:sp>
      <p:sp>
        <p:nvSpPr>
          <p:cNvPr id="19" name="PlaceHolder 2"/>
          <p:cNvSpPr>
            <a:spLocks noGrp="1"/>
          </p:cNvSpPr>
          <p:nvPr>
            <p:ph/>
          </p:nvPr>
        </p:nvSpPr>
        <p:spPr>
          <a:xfrm>
            <a:off x="0" y="1066680"/>
            <a:ext cx="9144000" cy="5181840"/>
          </a:xfrm>
          <a:prstGeom prst="rect">
            <a:avLst/>
          </a:prstGeom>
          <a:noFill/>
          <a:ln w="0">
            <a:noFill/>
          </a:ln>
        </p:spPr>
        <p:txBody>
          <a:bodyPr lIns="92160" rIns="92160" tIns="46080" bIns="46080" anchor="t">
            <a:normAutofit/>
          </a:bodyPr>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ahoma"/>
              </a:rPr>
              <a:t>Preliminary note!  </a:t>
            </a:r>
            <a:endParaRPr b="0" lang="en-IN" sz="2800" strike="noStrike" u="none">
              <a:solidFill>
                <a:srgbClr val="ffffff"/>
              </a:solidFill>
              <a:effectLst/>
              <a:uFillTx/>
              <a:latin typeface="Tahoma"/>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ahoma"/>
              </a:rPr>
              <a:t>	</a:t>
            </a:r>
            <a:r>
              <a:rPr b="0" lang="en-US" sz="2400" strike="noStrike" u="none">
                <a:solidFill>
                  <a:srgbClr val="ffffff"/>
                </a:solidFill>
                <a:effectLst/>
                <a:uFillTx/>
                <a:latin typeface="Tahoma"/>
              </a:rPr>
              <a:t>	</a:t>
            </a:r>
            <a:r>
              <a:rPr b="0" lang="en-US" sz="2400" strike="noStrike" u="none">
                <a:solidFill>
                  <a:srgbClr val="ffffff"/>
                </a:solidFill>
                <a:effectLst/>
                <a:uFillTx/>
                <a:latin typeface="Tahoma"/>
              </a:rPr>
              <a:t> </a:t>
            </a:r>
            <a:r>
              <a:rPr b="1" lang="en-US" sz="2400" strike="noStrike" u="none">
                <a:solidFill>
                  <a:srgbClr val="ffff66"/>
                </a:solidFill>
                <a:effectLst/>
                <a:uFillTx/>
                <a:latin typeface="Arial"/>
              </a:rPr>
              <a:t>Año </a:t>
            </a:r>
            <a:r>
              <a:rPr b="1" lang="en-US" sz="2400" strike="noStrike" u="none">
                <a:solidFill>
                  <a:srgbClr val="ffff66"/>
                </a:solidFill>
                <a:effectLst/>
                <a:uFillTx/>
                <a:latin typeface="Arial Narrow"/>
              </a:rPr>
              <a:t>1</a:t>
            </a:r>
            <a:r>
              <a:rPr b="0" lang="en-US" sz="2400" strike="noStrike" u="none">
                <a:solidFill>
                  <a:srgbClr val="fce9d0"/>
                </a:solidFill>
                <a:effectLst/>
                <a:uFillTx/>
                <a:latin typeface="Tahoma"/>
              </a:rPr>
              <a:t>  </a:t>
            </a:r>
            <a:r>
              <a:rPr b="0" lang="en-US" sz="2400" strike="noStrike" u="none">
                <a:solidFill>
                  <a:srgbClr val="ffffff"/>
                </a:solidFill>
                <a:effectLst/>
                <a:uFillTx/>
                <a:latin typeface="Tahoma"/>
              </a:rPr>
              <a:t>looks a lot better than</a:t>
            </a:r>
            <a:r>
              <a:rPr b="0" lang="en-US" sz="2400" strike="noStrike" u="none">
                <a:solidFill>
                  <a:srgbClr val="ffffff"/>
                </a:solidFill>
                <a:effectLst/>
                <a:uFillTx/>
                <a:latin typeface="Arial"/>
              </a:rPr>
              <a:t> </a:t>
            </a:r>
            <a:r>
              <a:rPr b="1" lang="en-US" sz="2400" strike="noStrike" u="none">
                <a:solidFill>
                  <a:srgbClr val="ffff66"/>
                </a:solidFill>
                <a:effectLst/>
                <a:uFillTx/>
                <a:latin typeface="Arial"/>
              </a:rPr>
              <a:t>Año</a:t>
            </a:r>
            <a:r>
              <a:rPr b="1" lang="en-US" sz="2400" strike="noStrike" u="none">
                <a:solidFill>
                  <a:srgbClr val="ffff66"/>
                </a:solidFill>
                <a:effectLst/>
                <a:uFillTx/>
                <a:latin typeface="Arial Narrow"/>
              </a:rPr>
              <a:t>1</a:t>
            </a:r>
            <a:r>
              <a:rPr b="1" lang="en-US" sz="2400" strike="noStrike" u="none">
                <a:solidFill>
                  <a:srgbClr val="fce9d0"/>
                </a:solidFill>
                <a:effectLst/>
                <a:uFillTx/>
                <a:latin typeface="Arial"/>
              </a:rPr>
              <a:t> </a:t>
            </a:r>
            <a:r>
              <a:rPr b="0" lang="en-US" sz="2400" strike="noStrike" u="none">
                <a:solidFill>
                  <a:srgbClr val="fce9d0"/>
                </a:solidFill>
                <a:effectLst/>
                <a:uFillTx/>
                <a:latin typeface="Arial"/>
              </a:rPr>
              <a:t>!</a:t>
            </a:r>
            <a:r>
              <a:rPr b="0" lang="en-US" sz="2400" strike="noStrike" u="none">
                <a:solidFill>
                  <a:srgbClr val="fce9d0"/>
                </a:solidFill>
                <a:effectLst/>
                <a:uFillTx/>
                <a:latin typeface="Tahoma"/>
              </a:rPr>
              <a:t> </a:t>
            </a:r>
            <a:endParaRPr b="0" lang="en-IN" sz="2400" strike="noStrike" u="none">
              <a:solidFill>
                <a:srgbClr val="ffffff"/>
              </a:solidFill>
              <a:effectLst/>
              <a:uFillTx/>
              <a:latin typeface="Tahoma"/>
            </a:endParaRPr>
          </a:p>
          <a:p>
            <a:pPr marL="343080" indent="-343080">
              <a:lnSpc>
                <a:spcPct val="13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ahoma"/>
              </a:rPr>
              <a:t>This is a small problem that simply needs to be provided for in a system that uses NISO-style display. </a:t>
            </a:r>
            <a:endParaRPr b="0" lang="en-IN" sz="2800" strike="noStrike" u="none">
              <a:solidFill>
                <a:srgbClr val="ffffff"/>
              </a:solidFill>
              <a:effectLst/>
              <a:uFillTx/>
              <a:latin typeface="Tahoma"/>
            </a:endParaRPr>
          </a:p>
          <a:p>
            <a:pPr marL="343080" indent="-343080">
              <a:lnSpc>
                <a:spcPct val="14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ahoma"/>
              </a:rPr>
              <a:t>Programmers must tell the system to add a space at the end of any caption that lacks a final period.  See Z39.71-1999, Section 5.5.4.2., caption examples.  Having this programmed in will save lots of work! </a:t>
            </a:r>
            <a:endParaRPr b="0" lang="en-IN" sz="2800" strike="noStrike" u="none">
              <a:solidFill>
                <a:srgbClr val="ffffff"/>
              </a:solidFill>
              <a:effectLst/>
              <a:uFillTx/>
              <a:latin typeface="Tahoma"/>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ahoma"/>
            </a:endParaRPr>
          </a:p>
          <a:p>
            <a:pPr marL="343080" indent="-343080">
              <a:lnSpc>
                <a:spcPct val="11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ahoma"/>
            </a:endParaRPr>
          </a:p>
        </p:txBody>
      </p:sp>
      <p:sp>
        <p:nvSpPr>
          <p:cNvPr id="4" name="PlaceHolder 3"/>
          <p:cNvSpPr>
            <a:spLocks noGrp="1"/>
          </p:cNvSpPr>
          <p:nvPr>
            <p:ph type="sldNum" idx="3"/>
          </p:nvPr>
        </p:nvSpPr>
        <p:spPr/>
        <p:txBody>
          <a:bodyPr/>
          <a:p>
            <a:fld id="{942F2BA2-1213-474D-86E7-050A87762271}"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20" name="Footer Placeholder 2"/>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21" name="Slide Number Placeholder 3"/>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E906A62-BB0F-48F0-BE60-A27CE15A7C8C}"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22" name="Rectangle 2"/>
          <p:cNvSpPr/>
          <p:nvPr/>
        </p:nvSpPr>
        <p:spPr>
          <a:xfrm>
            <a:off x="609480" y="533520"/>
            <a:ext cx="3124440" cy="45720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Arial Narrow"/>
            </a:endParaRPr>
          </a:p>
        </p:txBody>
      </p:sp>
      <p:sp>
        <p:nvSpPr>
          <p:cNvPr id="23" name="Rectangle 3"/>
          <p:cNvSpPr/>
          <p:nvPr/>
        </p:nvSpPr>
        <p:spPr>
          <a:xfrm>
            <a:off x="457200" y="1676520"/>
            <a:ext cx="3505320" cy="959040"/>
          </a:xfrm>
          <a:prstGeom prst="rect">
            <a:avLst/>
          </a:prstGeom>
          <a:solidFill>
            <a:srgbClr val="ffffff"/>
          </a:solidFill>
          <a:ln w="12600">
            <a:solidFill>
              <a:srgbClr val="000000"/>
            </a:solidFill>
            <a:miter/>
          </a:ln>
        </p:spPr>
        <p:style>
          <a:lnRef idx="0"/>
          <a:fillRef idx="0"/>
          <a:effectRef idx="0"/>
          <a:fontRef idx="minor"/>
        </p:style>
        <p:txBody>
          <a:bodyPr lIns="92160" rIns="92160" tIns="46080" bIns="46080" anchor="t">
            <a:spAutoFit/>
          </a:bodyPr>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Bookman Old Style"/>
              </a:rPr>
              <a:t>GENEALOGY BULLETIN</a:t>
            </a:r>
            <a:endParaRPr b="0" lang="en-IN" sz="2000" strike="noStrike" u="none">
              <a:solidFill>
                <a:srgbClr val="ffffff"/>
              </a:solidFill>
              <a:effectLst/>
              <a:uFillTx/>
              <a:latin typeface="Arial Narrow"/>
            </a:endParaRPr>
          </a:p>
          <a:p>
            <a:pPr algn="ctr">
              <a:lnSpc>
                <a:spcPct val="4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Bookman Old Style"/>
              </a:rPr>
              <a:t>Volume  2, no. 1</a:t>
            </a:r>
            <a:endParaRPr b="0" lang="en-IN" sz="2000" strike="noStrike" u="none">
              <a:solidFill>
                <a:srgbClr val="ffffff"/>
              </a:solidFill>
              <a:effectLst/>
              <a:uFillTx/>
              <a:latin typeface="Arial Narrow"/>
            </a:endParaRPr>
          </a:p>
          <a:p>
            <a:pPr algn="ctr">
              <a:lnSpc>
                <a:spcPct val="4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Bookman Old Style"/>
              </a:rPr>
              <a:t>Jan./Mar. 1986</a:t>
            </a:r>
            <a:endParaRPr b="0" lang="en-IN" sz="2000" strike="noStrike" u="none">
              <a:solidFill>
                <a:srgbClr val="ffffff"/>
              </a:solidFill>
              <a:effectLst/>
              <a:uFillTx/>
              <a:latin typeface="Arial Narrow"/>
            </a:endParaRPr>
          </a:p>
        </p:txBody>
      </p:sp>
      <p:sp>
        <p:nvSpPr>
          <p:cNvPr id="24" name="Rectangle 4"/>
          <p:cNvSpPr/>
          <p:nvPr/>
        </p:nvSpPr>
        <p:spPr>
          <a:xfrm flipH="1">
            <a:off x="461880" y="2900520"/>
            <a:ext cx="3648240" cy="1447200"/>
          </a:xfrm>
          <a:prstGeom prst="rect">
            <a:avLst/>
          </a:prstGeom>
          <a:solidFill>
            <a:srgbClr val="ffffff"/>
          </a:solidFill>
          <a:ln w="12600">
            <a:solidFill>
              <a:srgbClr val="000000"/>
            </a:solidFill>
            <a:miter/>
          </a:ln>
        </p:spPr>
        <p:style>
          <a:lnRef idx="0"/>
          <a:fillRef idx="0"/>
          <a:effectRef idx="0"/>
          <a:fontRef idx="minor"/>
        </p:style>
        <p:txBody>
          <a:bodyPr lIns="92160" rIns="92160" tIns="46080" bIns="4608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Bookman Old Style"/>
              </a:rPr>
              <a:t>GENEALOGY BULLETIN</a:t>
            </a:r>
            <a:endParaRPr b="0" lang="en-IN" sz="2000" strike="noStrike" u="none">
              <a:solidFill>
                <a:srgbClr val="ffffff"/>
              </a:solidFill>
              <a:effectLst/>
              <a:uFillTx/>
              <a:latin typeface="Arial Narrow"/>
            </a:endParaRPr>
          </a:p>
          <a:p>
            <a:pPr algn="ctr">
              <a:lnSpc>
                <a:spcPct val="8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000" strike="noStrike" u="none">
                <a:solidFill>
                  <a:srgbClr val="000000"/>
                </a:solidFill>
                <a:effectLst/>
                <a:uFillTx/>
                <a:latin typeface="Bookman Old Style"/>
              </a:rPr>
              <a:t>Research Notes Volume 2        1986 </a:t>
            </a:r>
            <a:endParaRPr b="0" lang="en-IN" sz="2000" strike="noStrike" u="none">
              <a:solidFill>
                <a:srgbClr val="ffffff"/>
              </a:solidFill>
              <a:effectLst/>
              <a:uFillTx/>
              <a:latin typeface="Arial Narrow"/>
            </a:endParaRPr>
          </a:p>
          <a:p>
            <a:pPr algn="ctr">
              <a:lnSpc>
                <a:spcPct val="8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000" strike="noStrike" u="none">
                <a:solidFill>
                  <a:srgbClr val="000000"/>
                </a:solidFill>
                <a:effectLst/>
                <a:uFillTx/>
                <a:latin typeface="Bookman Old Style"/>
              </a:rPr>
              <a:t>Supplement 1</a:t>
            </a:r>
            <a:endParaRPr b="0" lang="en-IN" sz="2000" strike="noStrike" u="none">
              <a:solidFill>
                <a:srgbClr val="ffffff"/>
              </a:solidFill>
              <a:effectLst/>
              <a:uFillTx/>
              <a:latin typeface="Arial Narrow"/>
            </a:endParaRPr>
          </a:p>
        </p:txBody>
      </p:sp>
      <p:sp>
        <p:nvSpPr>
          <p:cNvPr id="25" name="Rectangle 5"/>
          <p:cNvSpPr/>
          <p:nvPr/>
        </p:nvSpPr>
        <p:spPr>
          <a:xfrm>
            <a:off x="457200" y="4572000"/>
            <a:ext cx="3581280" cy="1687680"/>
          </a:xfrm>
          <a:prstGeom prst="rect">
            <a:avLst/>
          </a:prstGeom>
          <a:solidFill>
            <a:srgbClr val="ffffff"/>
          </a:solidFill>
          <a:ln w="12600">
            <a:solidFill>
              <a:srgbClr val="000000"/>
            </a:solidFill>
            <a:miter/>
          </a:ln>
        </p:spPr>
        <p:style>
          <a:lnRef idx="0"/>
          <a:fillRef idx="0"/>
          <a:effectRef idx="0"/>
          <a:fontRef idx="minor"/>
        </p:style>
        <p:txBody>
          <a:bodyPr lIns="92160" rIns="92160" tIns="46080" bIns="46080" anchor="t">
            <a:spAutoFit/>
          </a:bodyPr>
          <a:p>
            <a:pPr algn="ctr">
              <a:lnSpc>
                <a:spcPct val="7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Bookman Old Style"/>
              </a:rPr>
              <a:t>Genealogy Bulletin</a:t>
            </a:r>
            <a:endParaRPr b="0" lang="en-IN" sz="2400" strike="noStrike" u="none">
              <a:solidFill>
                <a:srgbClr val="ffffff"/>
              </a:solidFill>
              <a:effectLst/>
              <a:uFillTx/>
              <a:latin typeface="Arial Narrow"/>
            </a:endParaRPr>
          </a:p>
          <a:p>
            <a:pPr algn="ctr">
              <a:lnSpc>
                <a:spcPct val="7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Bookman Old Style"/>
              </a:rPr>
              <a:t>Index</a:t>
            </a:r>
            <a:endParaRPr b="0" lang="en-IN" sz="2400" strike="noStrike" u="none">
              <a:solidFill>
                <a:srgbClr val="ffffff"/>
              </a:solidFill>
              <a:effectLst/>
              <a:uFillTx/>
              <a:latin typeface="Arial Narrow"/>
            </a:endParaRPr>
          </a:p>
          <a:p>
            <a:pPr algn="ctr">
              <a:lnSpc>
                <a:spcPct val="7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Narrow"/>
              </a:rPr>
              <a:t>Volumes 1 to 10</a:t>
            </a:r>
            <a:endParaRPr b="0" lang="en-IN" sz="2400" strike="noStrike" u="none">
              <a:solidFill>
                <a:srgbClr val="ffffff"/>
              </a:solidFill>
              <a:effectLst/>
              <a:uFillTx/>
              <a:latin typeface="Arial Narrow"/>
            </a:endParaRPr>
          </a:p>
          <a:p>
            <a:pPr algn="ctr">
              <a:lnSpc>
                <a:spcPct val="7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Narrow"/>
              </a:rPr>
              <a:t>1985-1994</a:t>
            </a:r>
            <a:endParaRPr b="0" lang="en-IN" sz="2400" strike="noStrike" u="none">
              <a:solidFill>
                <a:srgbClr val="ffffff"/>
              </a:solidFill>
              <a:effectLst/>
              <a:uFillTx/>
              <a:latin typeface="Arial Narrow"/>
            </a:endParaRPr>
          </a:p>
        </p:txBody>
      </p:sp>
      <p:sp>
        <p:nvSpPr>
          <p:cNvPr id="26" name="Rectangle 6"/>
          <p:cNvSpPr/>
          <p:nvPr/>
        </p:nvSpPr>
        <p:spPr>
          <a:xfrm>
            <a:off x="457200" y="228600"/>
            <a:ext cx="8153280" cy="1311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trike="noStrike" u="none">
                <a:solidFill>
                  <a:srgbClr val="ffff66"/>
                </a:solidFill>
                <a:effectLst/>
                <a:uFillTx/>
                <a:latin typeface="Tahoma"/>
              </a:rPr>
              <a:t>Base Volume, Supplement, Index</a:t>
            </a:r>
            <a:endParaRPr b="0" lang="en-IN" sz="4000" strike="noStrike" u="none">
              <a:solidFill>
                <a:srgbClr val="ffffff"/>
              </a:solidFill>
              <a:effectLst/>
              <a:uFillTx/>
              <a:latin typeface="Arial Narrow"/>
            </a:endParaRPr>
          </a:p>
        </p:txBody>
      </p:sp>
      <p:sp>
        <p:nvSpPr>
          <p:cNvPr id="27" name="Rectangle 7"/>
          <p:cNvSpPr/>
          <p:nvPr/>
        </p:nvSpPr>
        <p:spPr>
          <a:xfrm>
            <a:off x="4191120" y="1752480"/>
            <a:ext cx="4495680" cy="385200"/>
          </a:xfrm>
          <a:prstGeom prst="rect">
            <a:avLst/>
          </a:prstGeom>
          <a:noFill/>
          <a:ln w="0">
            <a:noFill/>
          </a:ln>
        </p:spPr>
        <p:style>
          <a:lnRef idx="0"/>
          <a:fillRef idx="0"/>
          <a:effectRef idx="0"/>
          <a:fontRef idx="minor"/>
        </p:style>
        <p:txBody>
          <a:bodyPr lIns="92160" rIns="92160" tIns="46080" bIns="46080" anchor="t">
            <a:spAutoFit/>
          </a:bodyPr>
          <a:p>
            <a:pPr>
              <a:lnSpc>
                <a:spcPct val="8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Tahoma"/>
              </a:rPr>
              <a:t>Bulletin-- quarterly</a:t>
            </a:r>
            <a:endParaRPr b="0" lang="en-IN" sz="2400" strike="noStrike" u="none">
              <a:solidFill>
                <a:srgbClr val="ffffff"/>
              </a:solidFill>
              <a:effectLst/>
              <a:uFillTx/>
              <a:latin typeface="Arial Narrow"/>
            </a:endParaRPr>
          </a:p>
        </p:txBody>
      </p:sp>
      <p:sp>
        <p:nvSpPr>
          <p:cNvPr id="28" name="Rectangle 8"/>
          <p:cNvSpPr/>
          <p:nvPr/>
        </p:nvSpPr>
        <p:spPr>
          <a:xfrm>
            <a:off x="4343400" y="2971800"/>
            <a:ext cx="4495680" cy="138024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Tahoma"/>
              </a:rPr>
              <a:t>Supplement-- semiannual</a:t>
            </a:r>
            <a:endParaRPr b="0" lang="en-IN" sz="2400" strike="noStrike" u="none">
              <a:solidFill>
                <a:srgbClr val="ffffff"/>
              </a:solidFill>
              <a:effectLst/>
              <a:uFillTx/>
              <a:latin typeface="Arial Narrow"/>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Tahoma"/>
              </a:rPr>
              <a:t>(arriving June and December)</a:t>
            </a:r>
            <a:endParaRPr b="0" lang="en-IN" sz="2400" strike="noStrike" u="none">
              <a:solidFill>
                <a:srgbClr val="ffffff"/>
              </a:solidFill>
              <a:effectLst/>
              <a:uFillTx/>
              <a:latin typeface="Arial Narrow"/>
            </a:endParaRPr>
          </a:p>
        </p:txBody>
      </p:sp>
      <p:sp>
        <p:nvSpPr>
          <p:cNvPr id="29" name="Rectangle 9"/>
          <p:cNvSpPr/>
          <p:nvPr/>
        </p:nvSpPr>
        <p:spPr>
          <a:xfrm>
            <a:off x="4343400" y="4724280"/>
            <a:ext cx="4267080" cy="10144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Tahoma"/>
              </a:rPr>
              <a:t>Index:  every ten years</a:t>
            </a:r>
            <a:endParaRPr b="0" lang="en-IN" sz="2400" strike="noStrike" u="none">
              <a:solidFill>
                <a:srgbClr val="ffffff"/>
              </a:solidFill>
              <a:effectLst/>
              <a:uFillTx/>
              <a:latin typeface="Arial Narrow"/>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Arial Narrow"/>
            </a:endParaRPr>
          </a:p>
        </p:txBody>
      </p:sp>
      <p:sp>
        <p:nvSpPr>
          <p:cNvPr id="2" name="PlaceHolder 1"/>
          <p:cNvSpPr>
            <a:spLocks noGrp="1"/>
          </p:cNvSpPr>
          <p:nvPr>
            <p:ph type="sldNum" idx="3"/>
          </p:nvPr>
        </p:nvSpPr>
        <p:spPr/>
        <p:txBody>
          <a:bodyPr/>
          <a:p>
            <a:fld id="{EACA4E35-8BBB-4AFF-8974-CB879CF25917}"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30" name="Footer Placeholder 2"/>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31" name="Slide Number Placeholder 3"/>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385461E-C963-48E5-9DB8-DF8F7390E92C}"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32" name="Rectangle 2"/>
          <p:cNvSpPr/>
          <p:nvPr/>
        </p:nvSpPr>
        <p:spPr>
          <a:xfrm>
            <a:off x="228600" y="0"/>
            <a:ext cx="8915400" cy="654120"/>
          </a:xfrm>
          <a:prstGeom prst="rect">
            <a:avLst/>
          </a:prstGeom>
          <a:no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Arial Narrow"/>
            </a:endParaRPr>
          </a:p>
        </p:txBody>
      </p:sp>
      <p:sp>
        <p:nvSpPr>
          <p:cNvPr id="33" name="Rectangle 3"/>
          <p:cNvSpPr/>
          <p:nvPr/>
        </p:nvSpPr>
        <p:spPr>
          <a:xfrm>
            <a:off x="425520" y="0"/>
            <a:ext cx="8718480" cy="70200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trike="noStrike" u="none">
                <a:solidFill>
                  <a:srgbClr val="ffff66"/>
                </a:solidFill>
                <a:effectLst/>
                <a:uFillTx/>
                <a:latin typeface="Tahoma"/>
              </a:rPr>
              <a:t>Supplement Holding</a:t>
            </a:r>
            <a:endParaRPr b="0" lang="en-IN" sz="4000" strike="noStrike" u="none">
              <a:solidFill>
                <a:srgbClr val="ffffff"/>
              </a:solidFill>
              <a:effectLst/>
              <a:uFillTx/>
              <a:latin typeface="Arial Narrow"/>
            </a:endParaRPr>
          </a:p>
        </p:txBody>
      </p:sp>
      <p:sp>
        <p:nvSpPr>
          <p:cNvPr id="34" name="Rectangle 4"/>
          <p:cNvSpPr/>
          <p:nvPr/>
        </p:nvSpPr>
        <p:spPr>
          <a:xfrm>
            <a:off x="304920" y="1143000"/>
            <a:ext cx="8839080" cy="51912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Arial Narrow"/>
            </a:endParaRPr>
          </a:p>
        </p:txBody>
      </p:sp>
      <p:sp>
        <p:nvSpPr>
          <p:cNvPr id="35" name="Rectangle 5"/>
          <p:cNvSpPr/>
          <p:nvPr/>
        </p:nvSpPr>
        <p:spPr>
          <a:xfrm>
            <a:off x="380880" y="2209680"/>
            <a:ext cx="8458200" cy="628920"/>
          </a:xfrm>
          <a:prstGeom prst="rect">
            <a:avLst/>
          </a:prstGeom>
          <a:noFill/>
          <a:ln w="0">
            <a:noFill/>
          </a:ln>
        </p:spPr>
        <p:style>
          <a:lnRef idx="0"/>
          <a:fillRef idx="0"/>
          <a:effectRef idx="0"/>
          <a:fontRef idx="minor"/>
        </p:style>
        <p:txBody>
          <a:bodyPr lIns="92160" rIns="92160" tIns="46080" bIns="46080" anchor="t">
            <a:spAutoFit/>
          </a:bodyPr>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Arial Narrow"/>
            </a:endParaRPr>
          </a:p>
        </p:txBody>
      </p:sp>
      <p:sp>
        <p:nvSpPr>
          <p:cNvPr id="36" name="Rectangle 6"/>
          <p:cNvSpPr/>
          <p:nvPr/>
        </p:nvSpPr>
        <p:spPr>
          <a:xfrm>
            <a:off x="380880" y="3429000"/>
            <a:ext cx="8763120" cy="860760"/>
          </a:xfrm>
          <a:prstGeom prst="rect">
            <a:avLst/>
          </a:prstGeom>
          <a:noFill/>
          <a:ln w="0">
            <a:noFill/>
          </a:ln>
        </p:spPr>
        <p:style>
          <a:lnRef idx="0"/>
          <a:fillRef idx="0"/>
          <a:effectRef idx="0"/>
          <a:fontRef idx="minor"/>
        </p:style>
        <p:txBody>
          <a:bodyPr lIns="92160" rIns="92160" tIns="46080" bIns="46080" anchor="t">
            <a:spAutoFit/>
          </a:bodyPr>
          <a:p>
            <a:pPr>
              <a:lnSpc>
                <a:spcPct val="9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ahoma"/>
              </a:rPr>
              <a:t>854 20   $8 1  $a  v. $b suppl. $o Research Notes $u 2 $v r $i (year) $j (month) $w f $x 06</a:t>
            </a:r>
            <a:endParaRPr b="0" lang="en-IN" sz="2800" strike="noStrike" u="none">
              <a:solidFill>
                <a:srgbClr val="ffffff"/>
              </a:solidFill>
              <a:effectLst/>
              <a:uFillTx/>
              <a:latin typeface="Arial Narrow"/>
            </a:endParaRPr>
          </a:p>
        </p:txBody>
      </p:sp>
      <p:sp>
        <p:nvSpPr>
          <p:cNvPr id="37" name="Rectangle 7"/>
          <p:cNvSpPr/>
          <p:nvPr/>
        </p:nvSpPr>
        <p:spPr>
          <a:xfrm>
            <a:off x="380880" y="4419720"/>
            <a:ext cx="8763120" cy="482760"/>
          </a:xfrm>
          <a:prstGeom prst="rect">
            <a:avLst/>
          </a:prstGeom>
          <a:noFill/>
          <a:ln w="0">
            <a:noFill/>
          </a:ln>
        </p:spPr>
        <p:style>
          <a:lnRef idx="0"/>
          <a:fillRef idx="0"/>
          <a:effectRef idx="0"/>
          <a:fontRef idx="minor"/>
        </p:style>
        <p:txBody>
          <a:bodyPr lIns="92160" rIns="92160" tIns="46080" bIns="46080" anchor="t">
            <a:spAutoFit/>
          </a:bodyPr>
          <a:p>
            <a:pPr>
              <a:lnSpc>
                <a:spcPct val="8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cc66"/>
                </a:solidFill>
                <a:effectLst/>
                <a:uFillTx/>
                <a:latin typeface="Tahoma"/>
              </a:rPr>
              <a:t>864 </a:t>
            </a:r>
            <a:r>
              <a:rPr b="0" lang="en-IN" sz="3200" strike="noStrike" u="none">
                <a:solidFill>
                  <a:srgbClr val="ffff00"/>
                </a:solidFill>
                <a:effectLst/>
                <a:uFillTx/>
                <a:latin typeface="Tahoma"/>
              </a:rPr>
              <a:t>41</a:t>
            </a:r>
            <a:r>
              <a:rPr b="0" lang="en-IN" sz="3200" strike="noStrike" u="none">
                <a:solidFill>
                  <a:srgbClr val="ffcc66"/>
                </a:solidFill>
                <a:effectLst/>
                <a:uFillTx/>
                <a:latin typeface="Tahoma"/>
              </a:rPr>
              <a:t>   $8 1.1  $a 2 $b 1  $i 1986 $j 06</a:t>
            </a:r>
            <a:endParaRPr b="0" lang="en-IN" sz="3200" strike="noStrike" u="none">
              <a:solidFill>
                <a:srgbClr val="ffffff"/>
              </a:solidFill>
              <a:effectLst/>
              <a:uFillTx/>
              <a:latin typeface="Arial Narrow"/>
            </a:endParaRPr>
          </a:p>
        </p:txBody>
      </p:sp>
      <p:sp>
        <p:nvSpPr>
          <p:cNvPr id="38" name="Rectangle 8"/>
          <p:cNvSpPr/>
          <p:nvPr/>
        </p:nvSpPr>
        <p:spPr>
          <a:xfrm>
            <a:off x="1523880" y="5029200"/>
            <a:ext cx="4648320" cy="1527480"/>
          </a:xfrm>
          <a:prstGeom prst="rect">
            <a:avLst/>
          </a:prstGeom>
          <a:noFill/>
          <a:ln w="0">
            <a:noFill/>
          </a:ln>
        </p:spPr>
        <p:style>
          <a:lnRef idx="0"/>
          <a:fillRef idx="0"/>
          <a:effectRef idx="0"/>
          <a:fontRef idx="minor"/>
        </p:style>
        <p:txBody>
          <a:bodyPr lIns="92160" rIns="92160" tIns="46080" bIns="46080" anchor="t">
            <a:spAutoFit/>
          </a:bodyPr>
          <a:p>
            <a:pPr>
              <a:lnSpc>
                <a:spcPct val="11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00"/>
                </a:solidFill>
                <a:effectLst/>
                <a:uFillTx/>
                <a:latin typeface="Tahoma"/>
              </a:rPr>
              <a:t>May display as</a:t>
            </a:r>
            <a:r>
              <a:rPr b="0" lang="en-IN" sz="3200" strike="noStrike" u="none">
                <a:solidFill>
                  <a:srgbClr val="ffffff"/>
                </a:solidFill>
                <a:effectLst/>
                <a:uFillTx/>
                <a:latin typeface="Tahoma"/>
              </a:rPr>
              <a:t>:</a:t>
            </a:r>
            <a:endParaRPr b="0" lang="en-IN" sz="3200" strike="noStrike" u="none">
              <a:solidFill>
                <a:srgbClr val="ffffff"/>
              </a:solidFill>
              <a:effectLst/>
              <a:uFillTx/>
              <a:latin typeface="Arial Narrow"/>
            </a:endParaRPr>
          </a:p>
          <a:p>
            <a:pPr>
              <a:lnSpc>
                <a:spcPct val="4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v.2:suppl.1(1986:June)</a:t>
            </a:r>
            <a:endParaRPr b="0" lang="en-IN" sz="3200" strike="noStrike" u="none">
              <a:solidFill>
                <a:srgbClr val="ffffff"/>
              </a:solidFill>
              <a:effectLst/>
              <a:uFillTx/>
              <a:latin typeface="Arial Narrow"/>
            </a:endParaRPr>
          </a:p>
          <a:p>
            <a:pPr>
              <a:lnSpc>
                <a:spcPct val="4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“Research Notes”</a:t>
            </a:r>
            <a:endParaRPr b="0" lang="en-IN" sz="3200" strike="noStrike" u="none">
              <a:solidFill>
                <a:srgbClr val="ffffff"/>
              </a:solidFill>
              <a:effectLst/>
              <a:uFillTx/>
              <a:latin typeface="Arial Narrow"/>
            </a:endParaRPr>
          </a:p>
        </p:txBody>
      </p:sp>
      <p:sp>
        <p:nvSpPr>
          <p:cNvPr id="39" name="Rectangle 9"/>
          <p:cNvSpPr/>
          <p:nvPr/>
        </p:nvSpPr>
        <p:spPr>
          <a:xfrm>
            <a:off x="4267080" y="1805040"/>
            <a:ext cx="4496040" cy="82404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ff"/>
                </a:solidFill>
                <a:effectLst/>
                <a:uFillTx/>
                <a:latin typeface="Tahoma"/>
              </a:rPr>
              <a:t>Designation: </a:t>
            </a:r>
            <a:r>
              <a:rPr b="0" lang="en-US" sz="2400" strike="noStrike" u="none">
                <a:solidFill>
                  <a:srgbClr val="ffffff"/>
                </a:solidFill>
                <a:effectLst/>
                <a:uFillTx/>
                <a:latin typeface="Tahoma"/>
              </a:rPr>
              <a:t>v.:suppl.(year:month)</a:t>
            </a:r>
            <a:endParaRPr b="0" lang="en-IN" sz="2400" strike="noStrike" u="none">
              <a:solidFill>
                <a:srgbClr val="ffffff"/>
              </a:solidFill>
              <a:effectLst/>
              <a:uFillTx/>
              <a:latin typeface="Arial Narrow"/>
            </a:endParaRPr>
          </a:p>
        </p:txBody>
      </p:sp>
      <p:sp>
        <p:nvSpPr>
          <p:cNvPr id="40" name="Rectangle 10"/>
          <p:cNvSpPr/>
          <p:nvPr/>
        </p:nvSpPr>
        <p:spPr>
          <a:xfrm>
            <a:off x="304920" y="990720"/>
            <a:ext cx="3581280" cy="1666800"/>
          </a:xfrm>
          <a:prstGeom prst="rect">
            <a:avLst/>
          </a:prstGeom>
          <a:solidFill>
            <a:srgbClr val="ffffff"/>
          </a:solidFill>
          <a:ln w="0">
            <a:noFill/>
          </a:ln>
        </p:spPr>
        <p:style>
          <a:lnRef idx="0"/>
          <a:fillRef idx="0"/>
          <a:effectRef idx="0"/>
          <a:fontRef idx="minor"/>
        </p:style>
        <p:txBody>
          <a:bodyPr lIns="92160" rIns="92160" tIns="46080" bIns="4608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Bookman Old Style"/>
              </a:rPr>
              <a:t>GENEALOGY BULLETIN</a:t>
            </a:r>
            <a:endParaRPr b="0" lang="en-IN" sz="2000" strike="noStrike" u="none">
              <a:solidFill>
                <a:srgbClr val="ffffff"/>
              </a:solidFill>
              <a:effectLst/>
              <a:uFillTx/>
              <a:latin typeface="Arial Narrow"/>
            </a:endParaRPr>
          </a:p>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000" strike="noStrike" u="none">
                <a:solidFill>
                  <a:srgbClr val="000000"/>
                </a:solidFill>
                <a:effectLst/>
                <a:uFillTx/>
                <a:latin typeface="Bookman Old Style"/>
              </a:rPr>
              <a:t>Volume 2        1986</a:t>
            </a:r>
            <a:endParaRPr b="0" lang="en-IN" sz="2000" strike="noStrike" u="none">
              <a:solidFill>
                <a:srgbClr val="ffffff"/>
              </a:solidFill>
              <a:effectLst/>
              <a:uFillTx/>
              <a:latin typeface="Arial Narrow"/>
            </a:endParaRPr>
          </a:p>
          <a:p>
            <a:pPr algn="ctr">
              <a:lnSpc>
                <a:spcPct val="8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000" strike="noStrike" u="none">
                <a:solidFill>
                  <a:srgbClr val="000000"/>
                </a:solidFill>
                <a:effectLst/>
                <a:uFillTx/>
                <a:latin typeface="Bookman Old Style"/>
              </a:rPr>
              <a:t>Supplement 1 </a:t>
            </a:r>
            <a:endParaRPr b="0" lang="en-IN" sz="2000" strike="noStrike" u="none">
              <a:solidFill>
                <a:srgbClr val="ffffff"/>
              </a:solidFill>
              <a:effectLst/>
              <a:uFillTx/>
              <a:latin typeface="Arial Narrow"/>
            </a:endParaRPr>
          </a:p>
          <a:p>
            <a:pPr algn="ctr">
              <a:lnSpc>
                <a:spcPct val="8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000" strike="noStrike" u="none">
                <a:solidFill>
                  <a:srgbClr val="000000"/>
                </a:solidFill>
                <a:effectLst/>
                <a:uFillTx/>
                <a:latin typeface="Bookman Old Style"/>
              </a:rPr>
              <a:t>Research Notes -- June</a:t>
            </a:r>
            <a:endParaRPr b="0" lang="en-IN" sz="2000" strike="noStrike" u="none">
              <a:solidFill>
                <a:srgbClr val="ffffff"/>
              </a:solidFill>
              <a:effectLst/>
              <a:uFillTx/>
              <a:latin typeface="Arial Narrow"/>
            </a:endParaRPr>
          </a:p>
        </p:txBody>
      </p:sp>
      <p:sp>
        <p:nvSpPr>
          <p:cNvPr id="41" name="Rectangle 11"/>
          <p:cNvSpPr/>
          <p:nvPr/>
        </p:nvSpPr>
        <p:spPr>
          <a:xfrm>
            <a:off x="380880" y="2819520"/>
            <a:ext cx="8382240" cy="4582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400" strike="noStrike" u="none">
                <a:solidFill>
                  <a:srgbClr val="ffffff"/>
                </a:solidFill>
                <a:effectLst/>
                <a:uFillTx/>
                <a:latin typeface="Tahoma"/>
              </a:rPr>
              <a:t>Entering the holding for a single supplement:</a:t>
            </a:r>
            <a:endParaRPr b="0" lang="en-IN" sz="2400" strike="noStrike" u="none">
              <a:solidFill>
                <a:srgbClr val="ffffff"/>
              </a:solidFill>
              <a:effectLst/>
              <a:uFillTx/>
              <a:latin typeface="Arial Narrow"/>
            </a:endParaRPr>
          </a:p>
        </p:txBody>
      </p:sp>
      <p:sp>
        <p:nvSpPr>
          <p:cNvPr id="42" name="Rectangle 12"/>
          <p:cNvSpPr/>
          <p:nvPr/>
        </p:nvSpPr>
        <p:spPr>
          <a:xfrm>
            <a:off x="4343400" y="1066680"/>
            <a:ext cx="2666880" cy="4582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Tahoma"/>
              </a:rPr>
              <a:t>Semiannual</a:t>
            </a:r>
            <a:endParaRPr b="0" lang="en-IN" sz="2400" strike="noStrike" u="none">
              <a:solidFill>
                <a:srgbClr val="ffffff"/>
              </a:solidFill>
              <a:effectLst/>
              <a:uFillTx/>
              <a:latin typeface="Arial Narrow"/>
            </a:endParaRPr>
          </a:p>
        </p:txBody>
      </p:sp>
      <p:sp>
        <p:nvSpPr>
          <p:cNvPr id="2" name="PlaceHolder 1"/>
          <p:cNvSpPr>
            <a:spLocks noGrp="1"/>
          </p:cNvSpPr>
          <p:nvPr>
            <p:ph type="sldNum" idx="3"/>
          </p:nvPr>
        </p:nvSpPr>
        <p:spPr/>
        <p:txBody>
          <a:bodyPr/>
          <a:p>
            <a:fld id="{B7625AE8-C243-4A43-A584-6C8989EC8A0F}" type="slidenum">
              <a:t>4</a:t>
            </a:fld>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endCondLst>
                                    <p:cond evt="begin"/>
                                  </p:endCondLst>
                                  <p:childTnLst>
                                    <p:set>
                                      <p:cBhvr>
                                        <p:cTn id="6" dur="1" fill="hold">
                                          <p:stCondLst>
                                            <p:cond delay="499"/>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fill="hold" presetClass="entr" presetID="1">
                                  <p:stCondLst>
                                    <p:cond delay="0"/>
                                  </p:stCondLst>
                                  <p:childTnLst>
                                    <p:set>
                                      <p:cBhvr>
                                        <p:cTn id="10" dur="1" fill="hold">
                                          <p:stCondLst>
                                            <p:cond delay="499"/>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nodeType="clickEffect" fill="hold" presetClass="entr" presetID="1">
                                  <p:stCondLst>
                                    <p:cond delay="0"/>
                                  </p:stCondLst>
                                  <p:endCondLst>
                                    <p:cond evt="begin"/>
                                  </p:endCondLst>
                                  <p:childTnLst>
                                    <p:set>
                                      <p:cBhvr>
                                        <p:cTn id="14" dur="1" fill="hold">
                                          <p:stCondLst>
                                            <p:cond delay="499"/>
                                          </p:stCondLst>
                                        </p:cTn>
                                        <p:tgtEl>
                                          <p:spTgt spid="35"/>
                                        </p:tgtEl>
                                        <p:attrNameLst>
                                          <p:attrName>style.visibility</p:attrName>
                                        </p:attrNameLst>
                                      </p:cBhvr>
                                      <p:to>
                                        <p:strVal val="visible"/>
                                      </p:to>
                                    </p:set>
                                  </p:childTnLst>
                                </p:cTn>
                              </p:par>
                            </p:childTnLst>
                          </p:cTn>
                        </p:par>
                        <p:par>
                          <p:cTn id="15" fill="hold">
                            <p:stCondLst>
                              <p:cond delay="500"/>
                            </p:stCondLst>
                            <p:childTnLst>
                              <p:par>
                                <p:cTn id="16" nodeType="afterEffect" fill="hold" presetClass="entr" presetID="1">
                                  <p:stCondLst>
                                    <p:cond delay="0"/>
                                  </p:stCondLst>
                                  <p:childTnLst>
                                    <p:set>
                                      <p:cBhvr>
                                        <p:cTn id="17" dur="1" fill="hold">
                                          <p:stCondLst>
                                            <p:cond delay="499"/>
                                          </p:stCondLst>
                                        </p:cTn>
                                        <p:tgtEl>
                                          <p:spTgt spid="37"/>
                                        </p:tgtEl>
                                        <p:attrNameLst>
                                          <p:attrName>style.visibility</p:attrName>
                                        </p:attrNameLst>
                                      </p:cBhvr>
                                      <p:to>
                                        <p:strVal val="visible"/>
                                      </p:to>
                                    </p:set>
                                  </p:childTnLst>
                                </p:cTn>
                              </p:par>
                            </p:childTnLst>
                          </p:cTn>
                        </p:par>
                        <p:par>
                          <p:cTn id="18" fill="hold">
                            <p:stCondLst>
                              <p:cond delay="1000"/>
                            </p:stCondLst>
                            <p:childTnLst>
                              <p:par>
                                <p:cTn id="19" nodeType="afterEffect" fill="hold" presetClass="entr" presetID="2" presetSubtype="8">
                                  <p:stCondLst>
                                    <p:cond delay="0"/>
                                  </p:stCondLst>
                                  <p:childTnLst>
                                    <p:set>
                                      <p:cBhvr>
                                        <p:cTn id="20" dur="1" fill="hold">
                                          <p:stCondLst>
                                            <p:cond delay="0"/>
                                          </p:stCondLst>
                                        </p:cTn>
                                        <p:tgtEl>
                                          <p:spTgt spid="38"/>
                                        </p:tgtEl>
                                        <p:attrNameLst>
                                          <p:attrName>style.visibility</p:attrName>
                                        </p:attrNameLst>
                                      </p:cBhvr>
                                      <p:to>
                                        <p:strVal val="visible"/>
                                      </p:to>
                                    </p:set>
                                    <p:anim calcmode="lin" valueType="num">
                                      <p:cBhvr additive="base">
                                        <p:cTn id="21" dur="500" fill="hold"/>
                                        <p:tgtEl>
                                          <p:spTgt spid="38"/>
                                        </p:tgtEl>
                                        <p:attrNameLst>
                                          <p:attrName>ppt_x</p:attrName>
                                        </p:attrNameLst>
                                      </p:cBhvr>
                                      <p:tavLst>
                                        <p:tav tm="0">
                                          <p:val>
                                            <p:strVal val="0-#ppt_w/2"/>
                                          </p:val>
                                        </p:tav>
                                        <p:tav tm="100000">
                                          <p:val>
                                            <p:strVal val="#ppt_x"/>
                                          </p:val>
                                        </p:tav>
                                      </p:tavLst>
                                    </p:anim>
                                    <p:anim calcmode="lin" valueType="num">
                                      <p:cBhvr additive="base">
                                        <p:cTn id="22" dur="500" fill="hold"/>
                                        <p:tgtEl>
                                          <p:spTgt spid="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43" name="Footer Placeholder 2"/>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44" name="Slide Number Placeholder 3"/>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D720858-D301-4C86-BBA5-78D43546AA46}"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45" name="Rectangle 2"/>
          <p:cNvSpPr/>
          <p:nvPr/>
        </p:nvSpPr>
        <p:spPr>
          <a:xfrm>
            <a:off x="228600" y="0"/>
            <a:ext cx="8915400" cy="654120"/>
          </a:xfrm>
          <a:prstGeom prst="rect">
            <a:avLst/>
          </a:prstGeom>
          <a:no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Arial Narrow"/>
            </a:endParaRPr>
          </a:p>
        </p:txBody>
      </p:sp>
      <p:sp>
        <p:nvSpPr>
          <p:cNvPr id="46" name="Rectangle 3"/>
          <p:cNvSpPr/>
          <p:nvPr/>
        </p:nvSpPr>
        <p:spPr>
          <a:xfrm>
            <a:off x="425520" y="0"/>
            <a:ext cx="8718480" cy="70200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trike="noStrike" u="none">
                <a:solidFill>
                  <a:srgbClr val="ffff66"/>
                </a:solidFill>
                <a:effectLst/>
                <a:uFillTx/>
                <a:latin typeface="Tahoma"/>
              </a:rPr>
              <a:t>Supplement Summary</a:t>
            </a:r>
            <a:endParaRPr b="0" lang="en-IN" sz="4000" strike="noStrike" u="none">
              <a:solidFill>
                <a:srgbClr val="ffffff"/>
              </a:solidFill>
              <a:effectLst/>
              <a:uFillTx/>
              <a:latin typeface="Arial Narrow"/>
            </a:endParaRPr>
          </a:p>
        </p:txBody>
      </p:sp>
      <p:sp>
        <p:nvSpPr>
          <p:cNvPr id="47" name="Rectangle 4"/>
          <p:cNvSpPr/>
          <p:nvPr/>
        </p:nvSpPr>
        <p:spPr>
          <a:xfrm>
            <a:off x="304920" y="1143000"/>
            <a:ext cx="8839080" cy="51912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Arial Narrow"/>
            </a:endParaRPr>
          </a:p>
        </p:txBody>
      </p:sp>
      <p:sp>
        <p:nvSpPr>
          <p:cNvPr id="48" name="Rectangle 5"/>
          <p:cNvSpPr/>
          <p:nvPr/>
        </p:nvSpPr>
        <p:spPr>
          <a:xfrm>
            <a:off x="304920" y="3429000"/>
            <a:ext cx="8839080" cy="775800"/>
          </a:xfrm>
          <a:prstGeom prst="rect">
            <a:avLst/>
          </a:prstGeom>
          <a:noFill/>
          <a:ln w="0">
            <a:noFill/>
          </a:ln>
        </p:spPr>
        <p:style>
          <a:lnRef idx="0"/>
          <a:fillRef idx="0"/>
          <a:effectRef idx="0"/>
          <a:fontRef idx="minor"/>
        </p:style>
        <p:txBody>
          <a:bodyPr lIns="92160" rIns="92160" tIns="46080" bIns="46080" anchor="t">
            <a:spAutoFit/>
          </a:bodyPr>
          <a:p>
            <a:pPr>
              <a:lnSpc>
                <a:spcPct val="8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854 20   $8 1  $a  v. $b suppl. $o Research Notes $u 2   $v r   $i (year) $j (month)  $w  f  $x 06</a:t>
            </a:r>
            <a:endParaRPr b="0" lang="en-IN" sz="2800" strike="noStrike" u="none">
              <a:solidFill>
                <a:srgbClr val="ffffff"/>
              </a:solidFill>
              <a:effectLst/>
              <a:uFillTx/>
              <a:latin typeface="Arial Narrow"/>
            </a:endParaRPr>
          </a:p>
        </p:txBody>
      </p:sp>
      <p:sp>
        <p:nvSpPr>
          <p:cNvPr id="49" name="Rectangle 6"/>
          <p:cNvSpPr/>
          <p:nvPr/>
        </p:nvSpPr>
        <p:spPr>
          <a:xfrm>
            <a:off x="380880" y="4343400"/>
            <a:ext cx="8534520" cy="391320"/>
          </a:xfrm>
          <a:prstGeom prst="rect">
            <a:avLst/>
          </a:prstGeom>
          <a:noFill/>
          <a:ln w="0">
            <a:noFill/>
          </a:ln>
        </p:spPr>
        <p:style>
          <a:lnRef idx="0"/>
          <a:fillRef idx="0"/>
          <a:effectRef idx="0"/>
          <a:fontRef idx="minor"/>
        </p:style>
        <p:txBody>
          <a:bodyPr lIns="92160" rIns="92160" tIns="46080" bIns="46080" anchor="t">
            <a:spAutoFit/>
          </a:bodyPr>
          <a:p>
            <a:pPr>
              <a:lnSpc>
                <a:spcPct val="7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cc66"/>
                </a:solidFill>
                <a:effectLst/>
                <a:uFillTx/>
                <a:latin typeface="Tahoma"/>
              </a:rPr>
              <a:t>864 </a:t>
            </a:r>
            <a:r>
              <a:rPr b="0" lang="en-IN" sz="2800" strike="noStrike" u="none">
                <a:solidFill>
                  <a:srgbClr val="ffff66"/>
                </a:solidFill>
                <a:effectLst/>
                <a:uFillTx/>
                <a:latin typeface="Tahoma"/>
              </a:rPr>
              <a:t>40</a:t>
            </a:r>
            <a:r>
              <a:rPr b="0" lang="en-IN" sz="2800" strike="noStrike" u="none">
                <a:solidFill>
                  <a:srgbClr val="ffcc66"/>
                </a:solidFill>
                <a:effectLst/>
                <a:uFillTx/>
                <a:latin typeface="Tahoma"/>
              </a:rPr>
              <a:t>   $8 1.1  $a 1-5  $b1-1 $i 1985-1988 $j06-06</a:t>
            </a:r>
            <a:endParaRPr b="0" lang="en-IN" sz="2800" strike="noStrike" u="none">
              <a:solidFill>
                <a:srgbClr val="ffffff"/>
              </a:solidFill>
              <a:effectLst/>
              <a:uFillTx/>
              <a:latin typeface="Arial Narrow"/>
            </a:endParaRPr>
          </a:p>
        </p:txBody>
      </p:sp>
      <p:sp>
        <p:nvSpPr>
          <p:cNvPr id="50" name="Rectangle 7"/>
          <p:cNvSpPr/>
          <p:nvPr/>
        </p:nvSpPr>
        <p:spPr>
          <a:xfrm>
            <a:off x="533520" y="914400"/>
            <a:ext cx="3504960" cy="1465200"/>
          </a:xfrm>
          <a:prstGeom prst="rect">
            <a:avLst/>
          </a:prstGeom>
          <a:solidFill>
            <a:srgbClr val="ffffff"/>
          </a:solidFill>
          <a:ln w="0">
            <a:noFill/>
          </a:ln>
        </p:spPr>
        <p:style>
          <a:lnRef idx="0"/>
          <a:fillRef idx="0"/>
          <a:effectRef idx="0"/>
          <a:fontRef idx="minor"/>
        </p:style>
        <p:txBody>
          <a:bodyPr lIns="92160" rIns="92160" tIns="46080" bIns="46080" anchor="t">
            <a:spAutoFit/>
          </a:bodyPr>
          <a:p>
            <a:pPr>
              <a:lnSpc>
                <a:spcPct val="7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Bookman Old Style"/>
              </a:rPr>
              <a:t>GENEALOGY BULLETIN</a:t>
            </a:r>
            <a:endParaRPr b="0" lang="en-IN" sz="2000" strike="noStrike" u="none">
              <a:solidFill>
                <a:srgbClr val="ffffff"/>
              </a:solidFill>
              <a:effectLst/>
              <a:uFillTx/>
              <a:latin typeface="Arial Narrow"/>
            </a:endParaRPr>
          </a:p>
          <a:p>
            <a:pPr>
              <a:lnSpc>
                <a:spcPct val="7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000" strike="noStrike" u="none">
                <a:solidFill>
                  <a:srgbClr val="000000"/>
                </a:solidFill>
                <a:effectLst/>
                <a:uFillTx/>
                <a:latin typeface="Bookman Old Style"/>
              </a:rPr>
              <a:t>Volume 2        1986 </a:t>
            </a:r>
            <a:endParaRPr b="0" lang="en-IN" sz="2000" strike="noStrike" u="none">
              <a:solidFill>
                <a:srgbClr val="ffffff"/>
              </a:solidFill>
              <a:effectLst/>
              <a:uFillTx/>
              <a:latin typeface="Arial Narrow"/>
            </a:endParaRPr>
          </a:p>
          <a:p>
            <a:pPr algn="ctr">
              <a:lnSpc>
                <a:spcPct val="7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000" strike="noStrike" u="none">
                <a:solidFill>
                  <a:srgbClr val="000000"/>
                </a:solidFill>
                <a:effectLst/>
                <a:uFillTx/>
                <a:latin typeface="Bookman Old Style"/>
              </a:rPr>
              <a:t>Supplement 1</a:t>
            </a:r>
            <a:endParaRPr b="0" lang="en-IN" sz="2000" strike="noStrike" u="none">
              <a:solidFill>
                <a:srgbClr val="ffffff"/>
              </a:solidFill>
              <a:effectLst/>
              <a:uFillTx/>
              <a:latin typeface="Arial Narrow"/>
            </a:endParaRPr>
          </a:p>
          <a:p>
            <a:pPr algn="ctr">
              <a:lnSpc>
                <a:spcPct val="7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Arial Narrow"/>
              </a:rPr>
              <a:t> </a:t>
            </a:r>
            <a:r>
              <a:rPr b="1" i="1" lang="en-IN" sz="2000" strike="noStrike" u="none">
                <a:solidFill>
                  <a:srgbClr val="000000"/>
                </a:solidFill>
                <a:effectLst/>
                <a:uFillTx/>
                <a:latin typeface="Bookman Old Style"/>
              </a:rPr>
              <a:t>Research Notes--June</a:t>
            </a:r>
            <a:endParaRPr b="0" lang="en-IN" sz="2000" strike="noStrike" u="none">
              <a:solidFill>
                <a:srgbClr val="ffffff"/>
              </a:solidFill>
              <a:effectLst/>
              <a:uFillTx/>
              <a:latin typeface="Arial Narrow"/>
            </a:endParaRPr>
          </a:p>
        </p:txBody>
      </p:sp>
      <p:sp>
        <p:nvSpPr>
          <p:cNvPr id="51" name="Rectangle 8"/>
          <p:cNvSpPr/>
          <p:nvPr/>
        </p:nvSpPr>
        <p:spPr>
          <a:xfrm>
            <a:off x="380880" y="2514600"/>
            <a:ext cx="8382240" cy="750600"/>
          </a:xfrm>
          <a:prstGeom prst="rect">
            <a:avLst/>
          </a:prstGeom>
          <a:noFill/>
          <a:ln w="0">
            <a:noFill/>
          </a:ln>
        </p:spPr>
        <p:style>
          <a:lnRef idx="0"/>
          <a:fillRef idx="0"/>
          <a:effectRef idx="0"/>
          <a:fontRef idx="minor"/>
        </p:style>
        <p:txBody>
          <a:bodyPr lIns="92160" rIns="92160" tIns="46080" bIns="46080" anchor="t">
            <a:spAutoFit/>
          </a:bodyPr>
          <a:p>
            <a:pPr>
              <a:lnSpc>
                <a:spcPct val="9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400" strike="noStrike" u="none">
                <a:solidFill>
                  <a:srgbClr val="ffffff"/>
                </a:solidFill>
                <a:effectLst/>
                <a:uFillTx/>
                <a:latin typeface="Tahoma"/>
              </a:rPr>
              <a:t>If we have holdings from v.1, supplement 1, 1985 to v.5, supplement 1,  1989...</a:t>
            </a:r>
            <a:endParaRPr b="0" lang="en-IN" sz="2400" strike="noStrike" u="none">
              <a:solidFill>
                <a:srgbClr val="ffffff"/>
              </a:solidFill>
              <a:effectLst/>
              <a:uFillTx/>
              <a:latin typeface="Arial Narrow"/>
            </a:endParaRPr>
          </a:p>
        </p:txBody>
      </p:sp>
      <p:sp>
        <p:nvSpPr>
          <p:cNvPr id="52" name="Rectangle 9"/>
          <p:cNvSpPr/>
          <p:nvPr/>
        </p:nvSpPr>
        <p:spPr>
          <a:xfrm>
            <a:off x="4343400" y="1066680"/>
            <a:ext cx="2666880" cy="4582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Tahoma"/>
              </a:rPr>
              <a:t>Semiannual</a:t>
            </a:r>
            <a:endParaRPr b="0" lang="en-IN" sz="2400" strike="noStrike" u="none">
              <a:solidFill>
                <a:srgbClr val="ffffff"/>
              </a:solidFill>
              <a:effectLst/>
              <a:uFillTx/>
              <a:latin typeface="Arial Narrow"/>
            </a:endParaRPr>
          </a:p>
        </p:txBody>
      </p:sp>
      <p:sp>
        <p:nvSpPr>
          <p:cNvPr id="53" name="Rectangle 10"/>
          <p:cNvSpPr/>
          <p:nvPr/>
        </p:nvSpPr>
        <p:spPr>
          <a:xfrm>
            <a:off x="0" y="5029200"/>
            <a:ext cx="9144000" cy="1282320"/>
          </a:xfrm>
          <a:prstGeom prst="rect">
            <a:avLst/>
          </a:prstGeom>
          <a:noFill/>
          <a:ln w="0">
            <a:noFill/>
          </a:ln>
        </p:spPr>
        <p:style>
          <a:lnRef idx="0"/>
          <a:fillRef idx="0"/>
          <a:effectRef idx="0"/>
          <a:fontRef idx="minor"/>
        </p:style>
        <p:txBody>
          <a:bodyPr lIns="92160" rIns="92160" tIns="46080" bIns="46080" anchor="t">
            <a:spAutoFit/>
          </a:bodyPr>
          <a:p>
            <a:pPr>
              <a:lnSpc>
                <a:spcPct val="7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00"/>
                </a:solidFill>
                <a:effectLst/>
                <a:uFillTx/>
                <a:latin typeface="Tahoma"/>
              </a:rPr>
              <a:t>	</a:t>
            </a:r>
            <a:r>
              <a:rPr b="1" lang="en-IN" sz="2400" strike="noStrike" u="none">
                <a:solidFill>
                  <a:srgbClr val="ffff00"/>
                </a:solidFill>
                <a:effectLst/>
                <a:uFillTx/>
                <a:latin typeface="Tahoma"/>
              </a:rPr>
              <a:t>May</a:t>
            </a:r>
            <a:r>
              <a:rPr b="1" lang="en-IN" sz="2400" strike="noStrike" u="none">
                <a:solidFill>
                  <a:srgbClr val="ffffff"/>
                </a:solidFill>
                <a:effectLst/>
                <a:uFillTx/>
                <a:latin typeface="Tahoma"/>
              </a:rPr>
              <a:t> </a:t>
            </a:r>
            <a:r>
              <a:rPr b="1" lang="en-IN" sz="2400" strike="noStrike" u="none">
                <a:solidFill>
                  <a:srgbClr val="ffff00"/>
                </a:solidFill>
                <a:effectLst/>
                <a:uFillTx/>
                <a:latin typeface="Tahoma"/>
              </a:rPr>
              <a:t>display as:</a:t>
            </a:r>
            <a:endParaRPr b="0" lang="en-IN" sz="2400" strike="noStrike" u="none">
              <a:solidFill>
                <a:srgbClr val="ffffff"/>
              </a:solidFill>
              <a:effectLst/>
              <a:uFillTx/>
              <a:latin typeface="Arial Narrow"/>
            </a:endParaRPr>
          </a:p>
          <a:p>
            <a:pPr>
              <a:lnSpc>
                <a:spcPct val="9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SUPPLEMENTS:   v.1:no.1(1985:June)-5:1(1989:June) “Research </a:t>
            </a:r>
            <a:r>
              <a:rPr b="0" lang="en-IN" sz="2400" strike="noStrike" u="none">
                <a:solidFill>
                  <a:srgbClr val="ffffff"/>
                </a:solidFill>
                <a:effectLst/>
                <a:uFillTx/>
                <a:latin typeface="Tahoma"/>
              </a:rPr>
              <a:t>	</a:t>
            </a:r>
            <a:r>
              <a:rPr b="0" lang="en-IN" sz="2400" strike="noStrike" u="none">
                <a:solidFill>
                  <a:srgbClr val="ffffff"/>
                </a:solidFill>
                <a:effectLst/>
                <a:uFillTx/>
                <a:latin typeface="Tahoma"/>
              </a:rPr>
              <a:t>	</a:t>
            </a:r>
            <a:r>
              <a:rPr b="0" lang="en-IN" sz="2400" strike="noStrike" u="none">
                <a:solidFill>
                  <a:srgbClr val="ffffff"/>
                </a:solidFill>
                <a:effectLst/>
                <a:uFillTx/>
                <a:latin typeface="Tahoma"/>
              </a:rPr>
              <a:t>      Notes” </a:t>
            </a:r>
            <a:r>
              <a:rPr b="0" lang="en-IN" sz="2400" strike="noStrike" u="none">
                <a:solidFill>
                  <a:srgbClr val="ffffff"/>
                </a:solidFill>
                <a:effectLst/>
                <a:uFillTx/>
                <a:latin typeface="Tahoma"/>
              </a:rPr>
              <a:t>	</a:t>
            </a:r>
            <a:endParaRPr b="0" lang="en-IN" sz="2400" strike="noStrike" u="none">
              <a:solidFill>
                <a:srgbClr val="ffffff"/>
              </a:solidFill>
              <a:effectLst/>
              <a:uFillTx/>
              <a:latin typeface="Arial Narrow"/>
            </a:endParaRPr>
          </a:p>
        </p:txBody>
      </p:sp>
      <p:sp>
        <p:nvSpPr>
          <p:cNvPr id="2" name="PlaceHolder 1"/>
          <p:cNvSpPr>
            <a:spLocks noGrp="1"/>
          </p:cNvSpPr>
          <p:nvPr>
            <p:ph type="sldNum" idx="3"/>
          </p:nvPr>
        </p:nvSpPr>
        <p:spPr/>
        <p:txBody>
          <a:bodyPr/>
          <a:p>
            <a:fld id="{B9FA9212-9077-4DAB-B6C4-9FAAD4C880E6}" type="slidenum">
              <a:t>5</a:t>
            </a:fld>
          </a:p>
        </p:txBody>
      </p:sp>
    </p:spTree>
  </p:cSld>
  <mc:AlternateContent>
    <mc:Choice Requires="p14">
      <p:transition spd="slow" p14:dur="2000"/>
    </mc:Choice>
    <mc:Fallback>
      <p:transition spd="slow"/>
    </mc:Fallback>
  </mc:AlternateContent>
  <p:timing>
    <p:tnLst>
      <p:par>
        <p:cTn id="23" dur="indefinite" restart="never" nodeType="tmRoot">
          <p:childTnLst>
            <p:seq>
              <p:cTn id="24" dur="indefinite" nodeType="mainSeq">
                <p:childTnLst>
                  <p:par>
                    <p:cTn id="25" fill="hold">
                      <p:stCondLst>
                        <p:cond delay="indefinite"/>
                      </p:stCondLst>
                      <p:childTnLst>
                        <p:par>
                          <p:cTn id="26" fill="hold">
                            <p:stCondLst>
                              <p:cond delay="0"/>
                            </p:stCondLst>
                            <p:childTnLst>
                              <p:par>
                                <p:cTn id="27" nodeType="clickEffect" fill="hold" presetClass="entr" presetID="1">
                                  <p:stCondLst>
                                    <p:cond delay="0"/>
                                  </p:stCondLst>
                                  <p:endCondLst>
                                    <p:cond evt="begin"/>
                                  </p:endCondLst>
                                  <p:childTnLst>
                                    <p:set>
                                      <p:cBhvr>
                                        <p:cTn id="28" dur="1" fill="hold">
                                          <p:stCondLst>
                                            <p:cond delay="499"/>
                                          </p:stCondLst>
                                        </p:cTn>
                                        <p:tgtEl>
                                          <p:spTgt spid="4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nodeType="clickEffect" fill="hold" presetClass="entr" presetID="1">
                                  <p:stCondLst>
                                    <p:cond delay="0"/>
                                  </p:stCondLst>
                                  <p:childTnLst>
                                    <p:set>
                                      <p:cBhvr>
                                        <p:cTn id="32" dur="1" fill="hold">
                                          <p:stCondLst>
                                            <p:cond delay="499"/>
                                          </p:stCondLst>
                                        </p:cTn>
                                        <p:tgtEl>
                                          <p:spTgt spid="4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nodeType="clickEffect" fill="hold" presetClass="entr" presetID="1">
                                  <p:stCondLst>
                                    <p:cond delay="0"/>
                                  </p:stCondLst>
                                  <p:childTnLst>
                                    <p:set>
                                      <p:cBhvr>
                                        <p:cTn id="36" dur="1" fill="hold">
                                          <p:stCondLst>
                                            <p:cond delay="499"/>
                                          </p:stCondLst>
                                        </p:cTn>
                                        <p:tgtEl>
                                          <p:spTgt spid="4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nodeType="clickEffect" fill="hold" presetClass="entr" presetID="2" presetSubtype="8">
                                  <p:stCondLst>
                                    <p:cond delay="0"/>
                                  </p:stCondLst>
                                  <p:childTnLst>
                                    <p:set>
                                      <p:cBhvr>
                                        <p:cTn id="40" dur="1" fill="hold">
                                          <p:stCondLst>
                                            <p:cond delay="0"/>
                                          </p:stCondLst>
                                        </p:cTn>
                                        <p:tgtEl>
                                          <p:spTgt spid="53"/>
                                        </p:tgtEl>
                                        <p:attrNameLst>
                                          <p:attrName>style.visibility</p:attrName>
                                        </p:attrNameLst>
                                      </p:cBhvr>
                                      <p:to>
                                        <p:strVal val="visible"/>
                                      </p:to>
                                    </p:set>
                                    <p:anim calcmode="lin" valueType="num">
                                      <p:cBhvr additive="base">
                                        <p:cTn id="41" dur="500" fill="hold"/>
                                        <p:tgtEl>
                                          <p:spTgt spid="53"/>
                                        </p:tgtEl>
                                        <p:attrNameLst>
                                          <p:attrName>ppt_x</p:attrName>
                                        </p:attrNameLst>
                                      </p:cBhvr>
                                      <p:tavLst>
                                        <p:tav tm="0">
                                          <p:val>
                                            <p:strVal val="0-#ppt_w/2"/>
                                          </p:val>
                                        </p:tav>
                                        <p:tav tm="100000">
                                          <p:val>
                                            <p:strVal val="#ppt_x"/>
                                          </p:val>
                                        </p:tav>
                                      </p:tavLst>
                                    </p:anim>
                                    <p:anim calcmode="lin" valueType="num">
                                      <p:cBhvr additive="base">
                                        <p:cTn id="42" dur="500" fill="hold"/>
                                        <p:tgtEl>
                                          <p:spTgt spid="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54" name="Footer Placeholder 2"/>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55" name="Slide Number Placeholder 3"/>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27E0DFF-1C89-4343-941A-325E9992E128}"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56" name="Rectangle 2"/>
          <p:cNvSpPr/>
          <p:nvPr/>
        </p:nvSpPr>
        <p:spPr>
          <a:xfrm>
            <a:off x="685800" y="2209680"/>
            <a:ext cx="7848720" cy="45720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Arial Narrow"/>
            </a:endParaRPr>
          </a:p>
        </p:txBody>
      </p:sp>
      <p:sp>
        <p:nvSpPr>
          <p:cNvPr id="57" name="Rectangle 3"/>
          <p:cNvSpPr/>
          <p:nvPr/>
        </p:nvSpPr>
        <p:spPr>
          <a:xfrm>
            <a:off x="380880" y="3657600"/>
            <a:ext cx="8763120" cy="434160"/>
          </a:xfrm>
          <a:prstGeom prst="rect">
            <a:avLst/>
          </a:prstGeom>
          <a:noFill/>
          <a:ln w="0">
            <a:noFill/>
          </a:ln>
        </p:spPr>
        <p:style>
          <a:lnRef idx="0"/>
          <a:fillRef idx="0"/>
          <a:effectRef idx="0"/>
          <a:fontRef idx="minor"/>
        </p:style>
        <p:txBody>
          <a:bodyPr lIns="92160" rIns="92160" tIns="46080" bIns="46080" anchor="t">
            <a:spAutoFit/>
          </a:bodyPr>
          <a:p>
            <a:pPr>
              <a:lnSpc>
                <a:spcPct val="8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855       $8 1  $a  v.  $i (year)</a:t>
            </a:r>
            <a:endParaRPr b="0" lang="en-IN" sz="2800" strike="noStrike" u="none">
              <a:solidFill>
                <a:srgbClr val="ffffff"/>
              </a:solidFill>
              <a:effectLst/>
              <a:uFillTx/>
              <a:latin typeface="Arial Narrow"/>
            </a:endParaRPr>
          </a:p>
        </p:txBody>
      </p:sp>
      <p:sp>
        <p:nvSpPr>
          <p:cNvPr id="58" name="Rectangle 4"/>
          <p:cNvSpPr/>
          <p:nvPr/>
        </p:nvSpPr>
        <p:spPr>
          <a:xfrm>
            <a:off x="380880" y="4191120"/>
            <a:ext cx="8763120" cy="58032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cc66"/>
                </a:solidFill>
                <a:effectLst/>
                <a:uFillTx/>
                <a:latin typeface="Tahoma"/>
              </a:rPr>
              <a:t>865 </a:t>
            </a:r>
            <a:r>
              <a:rPr b="0" lang="en-IN" sz="3200" strike="noStrike" u="none">
                <a:solidFill>
                  <a:srgbClr val="ffff00"/>
                </a:solidFill>
                <a:effectLst/>
                <a:uFillTx/>
                <a:latin typeface="Tahoma"/>
              </a:rPr>
              <a:t>41</a:t>
            </a:r>
            <a:r>
              <a:rPr b="0" lang="en-IN" sz="3200" strike="noStrike" u="none">
                <a:solidFill>
                  <a:srgbClr val="ffcc66"/>
                </a:solidFill>
                <a:effectLst/>
                <a:uFillTx/>
                <a:latin typeface="Tahoma"/>
              </a:rPr>
              <a:t>  $8 1.1  $a 1/10  $i  1985/1994</a:t>
            </a:r>
            <a:endParaRPr b="0" lang="en-IN" sz="3200" strike="noStrike" u="none">
              <a:solidFill>
                <a:srgbClr val="ffffff"/>
              </a:solidFill>
              <a:effectLst/>
              <a:uFillTx/>
              <a:latin typeface="Arial Narrow"/>
            </a:endParaRPr>
          </a:p>
        </p:txBody>
      </p:sp>
      <p:sp>
        <p:nvSpPr>
          <p:cNvPr id="59" name="Rectangle 5"/>
          <p:cNvSpPr/>
          <p:nvPr/>
        </p:nvSpPr>
        <p:spPr>
          <a:xfrm>
            <a:off x="457200" y="1219320"/>
            <a:ext cx="3657600" cy="1687680"/>
          </a:xfrm>
          <a:prstGeom prst="rect">
            <a:avLst/>
          </a:prstGeom>
          <a:solidFill>
            <a:srgbClr val="ffffff"/>
          </a:solidFill>
          <a:ln w="0">
            <a:noFill/>
          </a:ln>
        </p:spPr>
        <p:style>
          <a:lnRef idx="0"/>
          <a:fillRef idx="0"/>
          <a:effectRef idx="0"/>
          <a:fontRef idx="minor"/>
        </p:style>
        <p:txBody>
          <a:bodyPr lIns="92160" rIns="92160" tIns="46080" bIns="46080" anchor="t">
            <a:spAutoFit/>
          </a:bodyPr>
          <a:p>
            <a:pPr>
              <a:lnSpc>
                <a:spcPct val="7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Bookman Old Style"/>
              </a:rPr>
              <a:t>Genealogy Bulletin</a:t>
            </a:r>
            <a:endParaRPr b="0" lang="en-IN" sz="2400" strike="noStrike" u="none">
              <a:solidFill>
                <a:srgbClr val="ffffff"/>
              </a:solidFill>
              <a:effectLst/>
              <a:uFillTx/>
              <a:latin typeface="Arial Narrow"/>
            </a:endParaRPr>
          </a:p>
          <a:p>
            <a:pPr>
              <a:lnSpc>
                <a:spcPct val="7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Bookman Old Style"/>
              </a:rPr>
              <a:t>Index</a:t>
            </a:r>
            <a:endParaRPr b="0" lang="en-IN" sz="2400" strike="noStrike" u="none">
              <a:solidFill>
                <a:srgbClr val="ffffff"/>
              </a:solidFill>
              <a:effectLst/>
              <a:uFillTx/>
              <a:latin typeface="Arial Narrow"/>
            </a:endParaRPr>
          </a:p>
          <a:p>
            <a:pPr algn="ctr">
              <a:lnSpc>
                <a:spcPct val="7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Narrow"/>
              </a:rPr>
              <a:t>Volumes 1 to 10</a:t>
            </a:r>
            <a:endParaRPr b="0" lang="en-IN" sz="2400" strike="noStrike" u="none">
              <a:solidFill>
                <a:srgbClr val="ffffff"/>
              </a:solidFill>
              <a:effectLst/>
              <a:uFillTx/>
              <a:latin typeface="Arial Narrow"/>
            </a:endParaRPr>
          </a:p>
          <a:p>
            <a:pPr algn="ctr">
              <a:lnSpc>
                <a:spcPct val="7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Narrow"/>
              </a:rPr>
              <a:t>1985-1994</a:t>
            </a:r>
            <a:endParaRPr b="0" lang="en-IN" sz="2400" strike="noStrike" u="none">
              <a:solidFill>
                <a:srgbClr val="ffffff"/>
              </a:solidFill>
              <a:effectLst/>
              <a:uFillTx/>
              <a:latin typeface="Arial Narrow"/>
            </a:endParaRPr>
          </a:p>
        </p:txBody>
      </p:sp>
      <p:sp>
        <p:nvSpPr>
          <p:cNvPr id="60" name="Rectangle 6"/>
          <p:cNvSpPr/>
          <p:nvPr/>
        </p:nvSpPr>
        <p:spPr>
          <a:xfrm>
            <a:off x="5029200" y="990720"/>
            <a:ext cx="3276720" cy="4582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Ten-year index</a:t>
            </a:r>
            <a:endParaRPr b="0" lang="en-IN" sz="2400" strike="noStrike" u="none">
              <a:solidFill>
                <a:srgbClr val="ffffff"/>
              </a:solidFill>
              <a:effectLst/>
              <a:uFillTx/>
              <a:latin typeface="Arial Narrow"/>
            </a:endParaRPr>
          </a:p>
        </p:txBody>
      </p:sp>
      <p:sp>
        <p:nvSpPr>
          <p:cNvPr id="61" name="Rectangle 7"/>
          <p:cNvSpPr/>
          <p:nvPr/>
        </p:nvSpPr>
        <p:spPr>
          <a:xfrm>
            <a:off x="5105520" y="1447920"/>
            <a:ext cx="3504960" cy="155556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Designation requires slash rather than hyphen between units/dates covered</a:t>
            </a:r>
            <a:endParaRPr b="0" lang="en-IN" sz="2400" strike="noStrike" u="none">
              <a:solidFill>
                <a:srgbClr val="ffffff"/>
              </a:solidFill>
              <a:effectLst/>
              <a:uFillTx/>
              <a:latin typeface="Arial Narrow"/>
            </a:endParaRPr>
          </a:p>
        </p:txBody>
      </p:sp>
      <p:sp>
        <p:nvSpPr>
          <p:cNvPr id="62" name="Rectangle 8"/>
          <p:cNvSpPr/>
          <p:nvPr/>
        </p:nvSpPr>
        <p:spPr>
          <a:xfrm>
            <a:off x="609480" y="228600"/>
            <a:ext cx="7315200" cy="70200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trike="noStrike" u="none">
                <a:solidFill>
                  <a:srgbClr val="ffff66"/>
                </a:solidFill>
                <a:effectLst/>
                <a:uFillTx/>
                <a:latin typeface="Tahoma"/>
              </a:rPr>
              <a:t>Cumulative Index Holding</a:t>
            </a:r>
            <a:endParaRPr b="0" lang="en-IN" sz="4000" strike="noStrike" u="none">
              <a:solidFill>
                <a:srgbClr val="ffffff"/>
              </a:solidFill>
              <a:effectLst/>
              <a:uFillTx/>
              <a:latin typeface="Arial Narrow"/>
            </a:endParaRPr>
          </a:p>
        </p:txBody>
      </p:sp>
      <p:sp>
        <p:nvSpPr>
          <p:cNvPr id="63" name="Rectangle 9"/>
          <p:cNvSpPr/>
          <p:nvPr/>
        </p:nvSpPr>
        <p:spPr>
          <a:xfrm>
            <a:off x="380880" y="5334120"/>
            <a:ext cx="8077320" cy="827280"/>
          </a:xfrm>
          <a:prstGeom prst="rect">
            <a:avLst/>
          </a:prstGeom>
          <a:noFill/>
          <a:ln w="0">
            <a:noFill/>
          </a:ln>
        </p:spPr>
        <p:style>
          <a:lnRef idx="0"/>
          <a:fillRef idx="0"/>
          <a:effectRef idx="0"/>
          <a:fontRef idx="minor"/>
        </p:style>
        <p:txBody>
          <a:bodyPr lIns="92160" rIns="92160" tIns="46080" bIns="46080" anchor="t">
            <a:spAutoFit/>
          </a:bodyPr>
          <a:p>
            <a:pPr>
              <a:lnSpc>
                <a:spcPct val="6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00"/>
                </a:solidFill>
                <a:effectLst/>
                <a:uFillTx/>
                <a:latin typeface="Tahoma"/>
              </a:rPr>
              <a:t>May display as:</a:t>
            </a:r>
            <a:r>
              <a:rPr b="1" lang="en-IN" sz="2800" strike="noStrike" u="none">
                <a:solidFill>
                  <a:srgbClr val="ffffff"/>
                </a:solidFill>
                <a:effectLst/>
                <a:uFillTx/>
                <a:latin typeface="Tahoma"/>
              </a:rPr>
              <a:t> </a:t>
            </a:r>
            <a:endParaRPr b="0" lang="en-IN" sz="2800" strike="noStrike" u="none">
              <a:solidFill>
                <a:srgbClr val="ffffff"/>
              </a:solidFill>
              <a:effectLst/>
              <a:uFillTx/>
              <a:latin typeface="Arial Narrow"/>
            </a:endParaRPr>
          </a:p>
          <a:p>
            <a:pPr>
              <a:lnSpc>
                <a:spcPct val="6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Tahoma"/>
              </a:rPr>
              <a:t> </a:t>
            </a:r>
            <a:r>
              <a:rPr b="0" lang="en-IN" sz="2800" strike="noStrike" u="none">
                <a:solidFill>
                  <a:srgbClr val="ffffff"/>
                </a:solidFill>
                <a:effectLst/>
                <a:uFillTx/>
                <a:latin typeface="Tahoma"/>
              </a:rPr>
              <a:t>INDEXES: v.1/10(1985/1994)</a:t>
            </a:r>
            <a:endParaRPr b="0" lang="en-IN" sz="2800" strike="noStrike" u="none">
              <a:solidFill>
                <a:srgbClr val="ffffff"/>
              </a:solidFill>
              <a:effectLst/>
              <a:uFillTx/>
              <a:latin typeface="Arial Narrow"/>
            </a:endParaRPr>
          </a:p>
        </p:txBody>
      </p:sp>
      <p:sp>
        <p:nvSpPr>
          <p:cNvPr id="2" name="PlaceHolder 1"/>
          <p:cNvSpPr>
            <a:spLocks noGrp="1"/>
          </p:cNvSpPr>
          <p:nvPr>
            <p:ph type="sldNum" idx="3"/>
          </p:nvPr>
        </p:nvSpPr>
        <p:spPr/>
        <p:txBody>
          <a:bodyPr/>
          <a:p>
            <a:fld id="{D453467E-38E7-4930-848A-38ED8A0D0D57}" type="slidenum">
              <a:t>6</a:t>
            </a:fld>
          </a:p>
        </p:txBody>
      </p:sp>
    </p:spTree>
  </p:cSld>
  <mc:AlternateContent>
    <mc:Choice Requires="p14">
      <p:transition spd="slow" p14:dur="2000"/>
    </mc:Choice>
    <mc:Fallback>
      <p:transition spd="slow"/>
    </mc:Fallback>
  </mc:AlternateContent>
  <p:timing>
    <p:tnLst>
      <p:par>
        <p:cTn id="43" dur="indefinite" restart="never" nodeType="tmRoot">
          <p:childTnLst>
            <p:seq>
              <p:cTn id="44" dur="indefinite" nodeType="mainSeq">
                <p:childTnLst>
                  <p:par>
                    <p:cTn id="45" fill="hold">
                      <p:stCondLst>
                        <p:cond delay="indefinite"/>
                      </p:stCondLst>
                      <p:childTnLst>
                        <p:par>
                          <p:cTn id="46" fill="hold">
                            <p:stCondLst>
                              <p:cond delay="0"/>
                            </p:stCondLst>
                            <p:childTnLst>
                              <p:par>
                                <p:cTn id="47" nodeType="clickEffect" fill="hold" presetClass="entr" presetID="1">
                                  <p:stCondLst>
                                    <p:cond delay="0"/>
                                  </p:stCondLst>
                                  <p:childTnLst>
                                    <p:set>
                                      <p:cBhvr>
                                        <p:cTn id="48" dur="1" fill="hold">
                                          <p:stCondLst>
                                            <p:cond delay="499"/>
                                          </p:stCondLst>
                                        </p:cTn>
                                        <p:tgtEl>
                                          <p:spTgt spid="5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nodeType="clickEffect" fill="hold" presetClass="entr" presetID="1">
                                  <p:stCondLst>
                                    <p:cond delay="0"/>
                                  </p:stCondLst>
                                  <p:childTnLst>
                                    <p:set>
                                      <p:cBhvr>
                                        <p:cTn id="52" dur="1" fill="hold">
                                          <p:stCondLst>
                                            <p:cond delay="499"/>
                                          </p:stCondLst>
                                        </p:cTn>
                                        <p:tgtEl>
                                          <p:spTgt spid="58"/>
                                        </p:tgtEl>
                                        <p:attrNameLst>
                                          <p:attrName>style.visibility</p:attrName>
                                        </p:attrNameLst>
                                      </p:cBhvr>
                                      <p:to>
                                        <p:strVal val="visible"/>
                                      </p:to>
                                    </p:set>
                                  </p:childTnLst>
                                </p:cTn>
                              </p:par>
                            </p:childTnLst>
                          </p:cTn>
                        </p:par>
                        <p:par>
                          <p:cTn id="53" fill="hold">
                            <p:stCondLst>
                              <p:cond delay="500"/>
                            </p:stCondLst>
                            <p:childTnLst>
                              <p:par>
                                <p:cTn id="54" nodeType="afterEffect" fill="hold" presetClass="entr" presetID="2" presetSubtype="8">
                                  <p:stCondLst>
                                    <p:cond delay="0"/>
                                  </p:stCondLst>
                                  <p:childTnLst>
                                    <p:set>
                                      <p:cBhvr>
                                        <p:cTn id="55" dur="1" fill="hold">
                                          <p:stCondLst>
                                            <p:cond delay="0"/>
                                          </p:stCondLst>
                                        </p:cTn>
                                        <p:tgtEl>
                                          <p:spTgt spid="63"/>
                                        </p:tgtEl>
                                        <p:attrNameLst>
                                          <p:attrName>style.visibility</p:attrName>
                                        </p:attrNameLst>
                                      </p:cBhvr>
                                      <p:to>
                                        <p:strVal val="visible"/>
                                      </p:to>
                                    </p:set>
                                    <p:anim calcmode="lin" valueType="num">
                                      <p:cBhvr additive="base">
                                        <p:cTn id="56" dur="500" fill="hold"/>
                                        <p:tgtEl>
                                          <p:spTgt spid="63"/>
                                        </p:tgtEl>
                                        <p:attrNameLst>
                                          <p:attrName>ppt_x</p:attrName>
                                        </p:attrNameLst>
                                      </p:cBhvr>
                                      <p:tavLst>
                                        <p:tav tm="0">
                                          <p:val>
                                            <p:strVal val="0-#ppt_w/2"/>
                                          </p:val>
                                        </p:tav>
                                        <p:tav tm="100000">
                                          <p:val>
                                            <p:strVal val="#ppt_x"/>
                                          </p:val>
                                        </p:tav>
                                      </p:tavLst>
                                    </p:anim>
                                    <p:anim calcmode="lin" valueType="num">
                                      <p:cBhvr additive="base">
                                        <p:cTn id="57" dur="500" fill="hold"/>
                                        <p:tgtEl>
                                          <p:spTgt spid="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64"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65"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85DA8E9-2364-47B0-A987-9C1B3577337A}"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66"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Captions for supplements &amp; indexes</a:t>
            </a:r>
            <a:endParaRPr b="0" lang="en-IN" sz="4400" strike="noStrike" u="none">
              <a:solidFill>
                <a:srgbClr val="ffff66"/>
              </a:solidFill>
              <a:effectLst/>
              <a:uFillTx/>
              <a:latin typeface="Tahoma"/>
            </a:endParaRPr>
          </a:p>
        </p:txBody>
      </p:sp>
      <p:sp>
        <p:nvSpPr>
          <p:cNvPr id="67" name="PlaceHolder 2"/>
          <p:cNvSpPr>
            <a:spLocks noGrp="1"/>
          </p:cNvSpPr>
          <p:nvPr>
            <p:ph/>
          </p:nvPr>
        </p:nvSpPr>
        <p:spPr>
          <a:xfrm>
            <a:off x="0" y="914040"/>
            <a:ext cx="9144000" cy="5181480"/>
          </a:xfrm>
          <a:prstGeom prst="rect">
            <a:avLst/>
          </a:prstGeom>
          <a:noFill/>
          <a:ln w="0">
            <a:noFill/>
          </a:ln>
        </p:spPr>
        <p:txBody>
          <a:bodyPr lIns="92160" rIns="92160" tIns="46080" bIns="46080" anchor="t">
            <a:normAutofit/>
          </a:bodyPr>
          <a:p>
            <a:pPr marL="343080"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ahoma"/>
            </a:endParaRPr>
          </a:p>
          <a:p>
            <a:pPr marL="343080"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Tahoma"/>
              </a:rPr>
              <a:t>  Note:  It is allowable to use</a:t>
            </a:r>
            <a:endParaRPr b="0" lang="en-IN" sz="3200" strike="noStrike" u="none">
              <a:solidFill>
                <a:srgbClr val="ffffff"/>
              </a:solidFill>
              <a:effectLst/>
              <a:uFillTx/>
              <a:latin typeface="Tahoma"/>
            </a:endParaRPr>
          </a:p>
          <a:p>
            <a:pPr lvl="1" marL="743040" indent="-28584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ahoma"/>
              </a:rPr>
              <a:t>Suppl. to v.         and</a:t>
            </a:r>
            <a:endParaRPr b="0" lang="en-IN" sz="2800" strike="noStrike" u="none">
              <a:solidFill>
                <a:srgbClr val="ffffff"/>
              </a:solidFill>
              <a:effectLst/>
              <a:uFillTx/>
              <a:latin typeface="Tahoma"/>
            </a:endParaRPr>
          </a:p>
          <a:p>
            <a:pPr lvl="1" marL="743040" indent="-28584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ahoma"/>
              </a:rPr>
              <a:t>Index to v.          as captions for clarity.</a:t>
            </a:r>
            <a:endParaRPr b="0" lang="en-IN" sz="2800" strike="noStrike" u="none">
              <a:solidFill>
                <a:srgbClr val="ffffff"/>
              </a:solidFill>
              <a:effectLst/>
              <a:uFillTx/>
              <a:latin typeface="Tahoma"/>
            </a:endParaRPr>
          </a:p>
          <a:p>
            <a:pPr lvl="1" marL="743040" indent="-28584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ahoma"/>
            </a:endParaRPr>
          </a:p>
          <a:p>
            <a:pPr lvl="1" marL="743040" indent="-28584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ahoma"/>
              </a:rPr>
              <a:t>However, it is preferable that the system clearly show that the holdings are for indexes or supplements through interpretation of the coding.</a:t>
            </a:r>
            <a:endParaRPr b="0" lang="en-IN" sz="2800" strike="noStrike" u="none">
              <a:solidFill>
                <a:srgbClr val="ffffff"/>
              </a:solidFill>
              <a:effectLst/>
              <a:uFillTx/>
              <a:latin typeface="Tahoma"/>
            </a:endParaRPr>
          </a:p>
        </p:txBody>
      </p:sp>
      <p:sp>
        <p:nvSpPr>
          <p:cNvPr id="4" name="PlaceHolder 3"/>
          <p:cNvSpPr>
            <a:spLocks noGrp="1"/>
          </p:cNvSpPr>
          <p:nvPr>
            <p:ph type="sldNum" idx="3"/>
          </p:nvPr>
        </p:nvSpPr>
        <p:spPr/>
        <p:txBody>
          <a:bodyPr/>
          <a:p>
            <a:fld id="{B5774C80-0E42-4ADD-805E-F24460495190}"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68"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69"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1ECD97D-ADEF-40DA-BCF0-1D40F6E3538C}"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70"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Combined holdings...</a:t>
            </a:r>
            <a:endParaRPr b="0" lang="en-IN" sz="4400" strike="noStrike" u="none">
              <a:solidFill>
                <a:srgbClr val="ffff66"/>
              </a:solidFill>
              <a:effectLst/>
              <a:uFillTx/>
              <a:latin typeface="Tahoma"/>
            </a:endParaRPr>
          </a:p>
        </p:txBody>
      </p:sp>
      <p:sp>
        <p:nvSpPr>
          <p:cNvPr id="71" name="PlaceHolder 2"/>
          <p:cNvSpPr>
            <a:spLocks noGrp="1"/>
          </p:cNvSpPr>
          <p:nvPr>
            <p:ph/>
          </p:nvPr>
        </p:nvSpPr>
        <p:spPr>
          <a:xfrm>
            <a:off x="0" y="914400"/>
            <a:ext cx="9144000" cy="1371600"/>
          </a:xfrm>
          <a:prstGeom prst="rect">
            <a:avLst/>
          </a:prstGeom>
          <a:noFill/>
          <a:ln w="0">
            <a:noFill/>
          </a:ln>
        </p:spPr>
        <p:txBody>
          <a:bodyPr lIns="92160" rIns="92160" tIns="46080" bIns="46080" anchor="t">
            <a:normAutofit fontScale="92500" lnSpcReduction="9999"/>
          </a:bodyPr>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    853 20  $8 1 $a v. $b no. $u 4 $v r $i (year) $j (month) $w q $x 01</a:t>
            </a:r>
            <a:endParaRPr b="0" lang="en-IN" sz="2800" strike="noStrike" u="none">
              <a:solidFill>
                <a:srgbClr val="ffffff"/>
              </a:solidFill>
              <a:effectLst/>
              <a:uFillTx/>
              <a:latin typeface="Tahoma"/>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cc66"/>
                </a:solidFill>
                <a:effectLst/>
                <a:uFillTx/>
                <a:latin typeface="Tahoma"/>
              </a:rPr>
              <a:t>   863 40 $8 1.1 $a 2- $i 1986-</a:t>
            </a:r>
            <a:endParaRPr b="0" lang="en-IN" sz="2800" strike="noStrike" u="none">
              <a:solidFill>
                <a:srgbClr val="ffffff"/>
              </a:solidFill>
              <a:effectLst/>
              <a:uFillTx/>
              <a:latin typeface="Tahoma"/>
            </a:endParaRPr>
          </a:p>
        </p:txBody>
      </p:sp>
      <p:sp>
        <p:nvSpPr>
          <p:cNvPr id="72" name="Rectangle 4"/>
          <p:cNvSpPr/>
          <p:nvPr/>
        </p:nvSpPr>
        <p:spPr>
          <a:xfrm>
            <a:off x="304920" y="4952880"/>
            <a:ext cx="8534160" cy="946440"/>
          </a:xfrm>
          <a:prstGeom prst="rect">
            <a:avLst/>
          </a:prstGeom>
          <a:noFill/>
          <a:ln w="0">
            <a:noFill/>
          </a:ln>
        </p:spPr>
        <p:style>
          <a:lnRef idx="0"/>
          <a:fillRef idx="0"/>
          <a:effectRef idx="0"/>
          <a:fontRef idx="minor"/>
        </p:style>
        <p:txBody>
          <a:bodyPr lIns="92160" rIns="92160" tIns="46080" bIns="4608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855     $8 1 $a v. $i (year)</a:t>
            </a:r>
            <a:r>
              <a:rPr b="0" lang="en-IN" sz="2800" strike="noStrike" u="none">
                <a:solidFill>
                  <a:srgbClr val="ffffff"/>
                </a:solidFill>
                <a:effectLst/>
                <a:uFillTx/>
                <a:latin typeface="Times New Roman"/>
              </a:rPr>
              <a:t> </a:t>
            </a:r>
            <a:endParaRPr b="0" lang="en-IN" sz="2800" strike="noStrike" u="none">
              <a:solidFill>
                <a:srgbClr val="ffffff"/>
              </a:solidFill>
              <a:effectLst/>
              <a:uFillTx/>
              <a:latin typeface="Arial Narrow"/>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cc66"/>
                </a:solidFill>
                <a:effectLst/>
                <a:uFillTx/>
                <a:latin typeface="Tahoma"/>
              </a:rPr>
              <a:t>865 41  $8 1.1 $a 1/10 $i 1985/1994</a:t>
            </a:r>
            <a:endParaRPr b="0" lang="en-IN" sz="2800" strike="noStrike" u="none">
              <a:solidFill>
                <a:srgbClr val="ffffff"/>
              </a:solidFill>
              <a:effectLst/>
              <a:uFillTx/>
              <a:latin typeface="Arial Narrow"/>
            </a:endParaRPr>
          </a:p>
        </p:txBody>
      </p:sp>
      <p:sp>
        <p:nvSpPr>
          <p:cNvPr id="73" name="Rectangle 5"/>
          <p:cNvSpPr/>
          <p:nvPr/>
        </p:nvSpPr>
        <p:spPr>
          <a:xfrm>
            <a:off x="380880" y="2590920"/>
            <a:ext cx="8763120" cy="2141640"/>
          </a:xfrm>
          <a:prstGeom prst="rect">
            <a:avLst/>
          </a:prstGeom>
          <a:noFill/>
          <a:ln w="0">
            <a:noFill/>
          </a:ln>
        </p:spPr>
        <p:style>
          <a:lnRef idx="0"/>
          <a:fillRef idx="0"/>
          <a:effectRef idx="0"/>
          <a:fontRef idx="minor"/>
        </p:style>
        <p:txBody>
          <a:bodyPr lIns="92160" rIns="92160" tIns="46080" bIns="46080" anchor="t">
            <a:spAutoFit/>
          </a:bodyPr>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ahoma"/>
              </a:rPr>
              <a:t>854 20  $8 1 $a v. $b suppl. $o Research Notes $u 2 $v r $i (year) $j  (month) $w f $x 06                                                                                           </a:t>
            </a:r>
            <a:r>
              <a:rPr b="0" lang="en-US" sz="2800" strike="noStrike" u="none">
                <a:solidFill>
                  <a:srgbClr val="ffcc66"/>
                </a:solidFill>
                <a:effectLst/>
                <a:uFillTx/>
                <a:latin typeface="Tahoma"/>
              </a:rPr>
              <a:t>864 40  $8 1.1 $a 1-5 $b 1-1 $i 1985-1988 $ 06-06</a:t>
            </a:r>
            <a:endParaRPr b="0" lang="en-IN" sz="2800" strike="noStrike" u="none">
              <a:solidFill>
                <a:srgbClr val="ffffff"/>
              </a:solidFill>
              <a:effectLst/>
              <a:uFillTx/>
              <a:latin typeface="Arial Narrow"/>
            </a:endParaRPr>
          </a:p>
        </p:txBody>
      </p:sp>
      <p:sp>
        <p:nvSpPr>
          <p:cNvPr id="4" name="PlaceHolder 3"/>
          <p:cNvSpPr>
            <a:spLocks noGrp="1"/>
          </p:cNvSpPr>
          <p:nvPr>
            <p:ph type="sldNum" idx="3"/>
          </p:nvPr>
        </p:nvSpPr>
        <p:spPr/>
        <p:txBody>
          <a:bodyPr/>
          <a:p>
            <a:fld id="{B885F0EF-A001-42C7-8655-704D3A44EB35}" type="slidenum">
              <a:t>8</a:t>
            </a:fld>
          </a:p>
        </p:txBody>
      </p:sp>
    </p:spTree>
  </p:cSld>
  <mc:AlternateContent>
    <mc:Choice Requires="p14">
      <p:transition spd="slow" p14:dur="2000"/>
    </mc:Choice>
    <mc:Fallback>
      <p:transition spd="slow"/>
    </mc:Fallback>
  </mc:AlternateContent>
  <p:timing>
    <p:tnLst>
      <p:par>
        <p:cTn id="58" dur="indefinite" restart="never" nodeType="tmRoot">
          <p:childTnLst>
            <p:seq>
              <p:cTn id="59" dur="indefinite" nodeType="mainSeq">
                <p:childTnLst>
                  <p:par>
                    <p:cTn id="60" fill="hold">
                      <p:stCondLst>
                        <p:cond delay="indefinite"/>
                      </p:stCondLst>
                      <p:childTnLst>
                        <p:par>
                          <p:cTn id="61" fill="hold">
                            <p:stCondLst>
                              <p:cond delay="0"/>
                            </p:stCondLst>
                            <p:childTnLst>
                              <p:par>
                                <p:cTn id="62" nodeType="clickEffect" fill="hold" presetClass="entr" presetID="1">
                                  <p:stCondLst>
                                    <p:cond delay="0"/>
                                  </p:stCondLst>
                                  <p:childTnLst>
                                    <p:set>
                                      <p:cBhvr>
                                        <p:cTn id="63" dur="1" fill="hold">
                                          <p:stCondLst>
                                            <p:cond delay="499"/>
                                          </p:stCondLst>
                                        </p:cTn>
                                        <p:tgtEl>
                                          <p:spTgt spid="71">
                                            <p:txEl>
                                              <p:pRg st="0" end="0"/>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nodeType="clickEffect" fill="hold" presetClass="entr" presetID="1">
                                  <p:stCondLst>
                                    <p:cond delay="0"/>
                                  </p:stCondLst>
                                  <p:childTnLst>
                                    <p:set>
                                      <p:cBhvr>
                                        <p:cTn id="67" dur="1" fill="hold">
                                          <p:stCondLst>
                                            <p:cond delay="499"/>
                                          </p:stCondLst>
                                        </p:cTn>
                                        <p:tgtEl>
                                          <p:spTgt spid="71">
                                            <p:txEl>
                                              <p:pRg st="1" end="1"/>
                                            </p:txEl>
                                          </p:spTgt>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nodeType="clickEffect" fill="hold" presetClass="entr" presetID="1">
                                  <p:stCondLst>
                                    <p:cond delay="0"/>
                                  </p:stCondLst>
                                  <p:childTnLst>
                                    <p:set>
                                      <p:cBhvr>
                                        <p:cTn id="71" dur="1" fill="hold">
                                          <p:stCondLst>
                                            <p:cond delay="499"/>
                                          </p:stCondLst>
                                        </p:cTn>
                                        <p:tgtEl>
                                          <p:spTgt spid="73"/>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nodeType="clickEffect" fill="hold" presetClass="entr" presetID="1">
                                  <p:stCondLst>
                                    <p:cond delay="0"/>
                                  </p:stCondLst>
                                  <p:childTnLst>
                                    <p:set>
                                      <p:cBhvr>
                                        <p:cTn id="75" dur="1" fill="hold">
                                          <p:stCondLst>
                                            <p:cond delay="499"/>
                                          </p:stCondLst>
                                        </p:cTn>
                                        <p:tgtEl>
                                          <p:spTgt spid="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74"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75"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5E51238-F61A-4A12-B5EF-5A0ED9B5824E}"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76" name="PlaceHolder 1"/>
          <p:cNvSpPr>
            <a:spLocks noGrp="1"/>
          </p:cNvSpPr>
          <p:nvPr>
            <p:ph type="title"/>
          </p:nvPr>
        </p:nvSpPr>
        <p:spPr>
          <a:xfrm>
            <a:off x="0" y="0"/>
            <a:ext cx="9144000" cy="137160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Combined OPAC display</a:t>
            </a:r>
            <a:br>
              <a:rPr sz="4400"/>
            </a:br>
            <a:r>
              <a:rPr b="0" lang="en-IN" sz="4400" strike="noStrike" u="none">
                <a:solidFill>
                  <a:srgbClr val="ffff66"/>
                </a:solidFill>
                <a:effectLst/>
                <a:uFillTx/>
                <a:latin typeface="Tahoma"/>
              </a:rPr>
              <a:t>(if cataloged together) </a:t>
            </a:r>
            <a:endParaRPr b="0" lang="en-IN" sz="4400" strike="noStrike" u="none">
              <a:solidFill>
                <a:srgbClr val="ffff66"/>
              </a:solidFill>
              <a:effectLst/>
              <a:uFillTx/>
              <a:latin typeface="Tahoma"/>
            </a:endParaRPr>
          </a:p>
        </p:txBody>
      </p:sp>
      <p:sp>
        <p:nvSpPr>
          <p:cNvPr id="77" name="PlaceHolder 2"/>
          <p:cNvSpPr>
            <a:spLocks noGrp="1"/>
          </p:cNvSpPr>
          <p:nvPr>
            <p:ph/>
          </p:nvPr>
        </p:nvSpPr>
        <p:spPr>
          <a:xfrm>
            <a:off x="761760" y="914040"/>
            <a:ext cx="7010280" cy="5181480"/>
          </a:xfrm>
          <a:prstGeom prst="rect">
            <a:avLst/>
          </a:prstGeom>
          <a:noFill/>
          <a:ln w="0">
            <a:noFill/>
          </a:ln>
        </p:spPr>
        <p:txBody>
          <a:bodyPr lIns="92160" rIns="92160" tIns="46080" bIns="46080" anchor="t">
            <a:normAutofit/>
          </a:bodyPr>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ahoma"/>
            </a:endParaRPr>
          </a:p>
        </p:txBody>
      </p:sp>
      <p:sp>
        <p:nvSpPr>
          <p:cNvPr id="78" name="Rectangle 4"/>
          <p:cNvSpPr/>
          <p:nvPr/>
        </p:nvSpPr>
        <p:spPr>
          <a:xfrm>
            <a:off x="0" y="1905120"/>
            <a:ext cx="9144000" cy="403596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3200" strike="noStrike" u="none">
                <a:solidFill>
                  <a:srgbClr val="ffcc99"/>
                </a:solidFill>
                <a:effectLst/>
                <a:uFillTx/>
                <a:latin typeface="Tahoma"/>
              </a:rPr>
              <a:t>Again—just </a:t>
            </a:r>
            <a:r>
              <a:rPr b="0" i="1" lang="en-IN" sz="3200" strike="noStrike" u="sng">
                <a:solidFill>
                  <a:srgbClr val="ffcc99"/>
                </a:solidFill>
                <a:effectLst/>
                <a:uFillTx/>
                <a:latin typeface="Tahoma"/>
              </a:rPr>
              <a:t>one</a:t>
            </a:r>
            <a:r>
              <a:rPr b="0" i="1" lang="en-IN" sz="3200" strike="noStrike" u="none">
                <a:solidFill>
                  <a:srgbClr val="ffcc99"/>
                </a:solidFill>
                <a:effectLst/>
                <a:uFillTx/>
                <a:latin typeface="Tahoma"/>
              </a:rPr>
              <a:t> possibility for display:</a:t>
            </a:r>
            <a:endParaRPr b="0" lang="en-IN" sz="3200" strike="noStrike" u="none">
              <a:solidFill>
                <a:srgbClr val="ffffff"/>
              </a:solidFill>
              <a:effectLst/>
              <a:uFillTx/>
              <a:latin typeface="Arial Narrow"/>
            </a:endParaRPr>
          </a:p>
          <a:p>
            <a:pP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HOLDINGS:    v.2(1986)-</a:t>
            </a:r>
            <a:endParaRPr b="0" lang="en-IN" sz="3200" strike="noStrike" u="none">
              <a:solidFill>
                <a:srgbClr val="ffffff"/>
              </a:solidFill>
              <a:effectLst/>
              <a:uFillTx/>
              <a:latin typeface="Arial Narrow"/>
            </a:endParaRPr>
          </a:p>
          <a:p>
            <a:pPr>
              <a:lnSpc>
                <a:spcPct val="9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SUPPLS: </a:t>
            </a: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“Research Notes” </a:t>
            </a:r>
            <a:endParaRPr b="0" lang="en-IN" sz="3200" strike="noStrike" u="none">
              <a:solidFill>
                <a:srgbClr val="ffffff"/>
              </a:solidFill>
              <a:effectLst/>
              <a:uFillTx/>
              <a:latin typeface="Arial Narrow"/>
            </a:endParaRPr>
          </a:p>
          <a:p>
            <a:pP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v.1:suppl.1(1985:June)-</a:t>
            </a: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v.5:suppl.1(1989:June)</a:t>
            </a:r>
            <a:endParaRPr b="0" lang="en-IN" sz="3200" strike="noStrike" u="none">
              <a:solidFill>
                <a:srgbClr val="ffffff"/>
              </a:solidFill>
              <a:effectLst/>
              <a:uFillTx/>
              <a:latin typeface="Arial Narrow"/>
            </a:endParaRPr>
          </a:p>
          <a:p>
            <a:pPr>
              <a:lnSpc>
                <a:spcPct val="11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INDEXES:</a:t>
            </a: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v.1/10(1985/1994)</a:t>
            </a:r>
            <a:endParaRPr b="0" lang="en-IN" sz="3200" strike="noStrike" u="none">
              <a:solidFill>
                <a:srgbClr val="ffffff"/>
              </a:solidFill>
              <a:effectLst/>
              <a:uFillTx/>
              <a:latin typeface="Arial Narrow"/>
            </a:endParaRPr>
          </a:p>
        </p:txBody>
      </p:sp>
      <p:sp>
        <p:nvSpPr>
          <p:cNvPr id="4" name="PlaceHolder 3"/>
          <p:cNvSpPr>
            <a:spLocks noGrp="1"/>
          </p:cNvSpPr>
          <p:nvPr>
            <p:ph type="sldNum" idx="3"/>
          </p:nvPr>
        </p:nvSpPr>
        <p:spPr/>
        <p:txBody>
          <a:bodyPr/>
          <a:p>
            <a:fld id="{73A005B7-04FC-4F16-8B4F-9DB4E67D3A70}"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79"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80"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8C91711-40F7-4E51-B396-491CD45D30A0}"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81" name="Rectangle 2"/>
          <p:cNvSpPr/>
          <p:nvPr/>
        </p:nvSpPr>
        <p:spPr>
          <a:xfrm>
            <a:off x="304920" y="1066680"/>
            <a:ext cx="2511360" cy="1380240"/>
          </a:xfrm>
          <a:prstGeom prst="rect">
            <a:avLst/>
          </a:prstGeom>
          <a:solidFill>
            <a:srgbClr val="ffcc99"/>
          </a:solidFill>
          <a:ln w="12600">
            <a:solidFill>
              <a:srgbClr val="333399"/>
            </a:solidFill>
            <a:miter/>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ahoma"/>
              </a:rPr>
              <a:t>1996</a:t>
            </a:r>
            <a:endParaRPr b="0" lang="en-IN" sz="2400" strike="noStrike" u="none">
              <a:solidFill>
                <a:srgbClr val="ffffff"/>
              </a:solidFill>
              <a:effectLst/>
              <a:uFillTx/>
              <a:latin typeface="Arial Narrow"/>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ahoma"/>
              </a:rPr>
              <a:t>Annual </a:t>
            </a:r>
            <a:br>
              <a:rPr sz="2400"/>
            </a:br>
            <a:r>
              <a:rPr b="1" lang="en-IN" sz="2400" strike="noStrike" u="none">
                <a:solidFill>
                  <a:srgbClr val="000000"/>
                </a:solidFill>
                <a:effectLst/>
                <a:uFillTx/>
                <a:latin typeface="Tahoma"/>
              </a:rPr>
              <a:t>Report</a:t>
            </a:r>
            <a:endParaRPr b="0" lang="en-IN" sz="2400" strike="noStrike" u="none">
              <a:solidFill>
                <a:srgbClr val="ffffff"/>
              </a:solidFill>
              <a:effectLst/>
              <a:uFillTx/>
              <a:latin typeface="Arial Narrow"/>
            </a:endParaRPr>
          </a:p>
        </p:txBody>
      </p:sp>
      <p:sp>
        <p:nvSpPr>
          <p:cNvPr id="82" name="PlaceHolder 1"/>
          <p:cNvSpPr>
            <a:spLocks noGrp="1"/>
          </p:cNvSpPr>
          <p:nvPr>
            <p:ph type="title"/>
          </p:nvPr>
        </p:nvSpPr>
        <p:spPr>
          <a:xfrm>
            <a:off x="0" y="0"/>
            <a:ext cx="9144000" cy="59832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Holdings with Dates</a:t>
            </a:r>
            <a:endParaRPr b="0" lang="en-IN" sz="4400" strike="noStrike" u="none">
              <a:solidFill>
                <a:srgbClr val="ffff66"/>
              </a:solidFill>
              <a:effectLst/>
              <a:uFillTx/>
              <a:latin typeface="Tahoma"/>
            </a:endParaRPr>
          </a:p>
        </p:txBody>
      </p:sp>
      <p:sp>
        <p:nvSpPr>
          <p:cNvPr id="83" name="PlaceHolder 2"/>
          <p:cNvSpPr>
            <a:spLocks noGrp="1"/>
          </p:cNvSpPr>
          <p:nvPr>
            <p:ph/>
          </p:nvPr>
        </p:nvSpPr>
        <p:spPr>
          <a:xfrm>
            <a:off x="0" y="914400"/>
            <a:ext cx="9144000" cy="2782800"/>
          </a:xfrm>
          <a:prstGeom prst="rect">
            <a:avLst/>
          </a:prstGeom>
          <a:noFill/>
          <a:ln w="0">
            <a:noFill/>
          </a:ln>
        </p:spPr>
        <p:txBody>
          <a:bodyPr lIns="92160" rIns="92160" tIns="46080" bIns="46080" anchor="t">
            <a:normAutofit/>
          </a:bodyPr>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ahoma"/>
            </a:endParaRPr>
          </a:p>
        </p:txBody>
      </p:sp>
      <p:sp>
        <p:nvSpPr>
          <p:cNvPr id="84" name="Rectangle 5"/>
          <p:cNvSpPr/>
          <p:nvPr/>
        </p:nvSpPr>
        <p:spPr>
          <a:xfrm>
            <a:off x="1371600" y="1295280"/>
            <a:ext cx="2438280" cy="1380240"/>
          </a:xfrm>
          <a:prstGeom prst="rect">
            <a:avLst/>
          </a:prstGeom>
          <a:solidFill>
            <a:srgbClr val="993300"/>
          </a:solidFill>
          <a:ln w="12600">
            <a:solidFill>
              <a:srgbClr val="6600ff"/>
            </a:solidFill>
            <a:miter/>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Tahoma"/>
              </a:rPr>
              <a:t>1998</a:t>
            </a:r>
            <a:endParaRPr b="0" lang="en-IN" sz="2400" strike="noStrike" u="none">
              <a:solidFill>
                <a:srgbClr val="ffffff"/>
              </a:solidFill>
              <a:effectLst/>
              <a:uFillTx/>
              <a:latin typeface="Arial Narrow"/>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Tahoma"/>
              </a:rPr>
              <a:t>Annual </a:t>
            </a:r>
            <a:br>
              <a:rPr sz="2400"/>
            </a:br>
            <a:r>
              <a:rPr b="1" lang="en-IN" sz="2400" strike="noStrike" u="none">
                <a:solidFill>
                  <a:srgbClr val="ffffff"/>
                </a:solidFill>
                <a:effectLst/>
                <a:uFillTx/>
                <a:latin typeface="Tahoma"/>
              </a:rPr>
              <a:t>Report</a:t>
            </a:r>
            <a:endParaRPr b="0" lang="en-IN" sz="2400" strike="noStrike" u="none">
              <a:solidFill>
                <a:srgbClr val="ffffff"/>
              </a:solidFill>
              <a:effectLst/>
              <a:uFillTx/>
              <a:latin typeface="Arial Narrow"/>
            </a:endParaRPr>
          </a:p>
        </p:txBody>
      </p:sp>
      <p:sp>
        <p:nvSpPr>
          <p:cNvPr id="85" name="Rectangle 6"/>
          <p:cNvSpPr/>
          <p:nvPr/>
        </p:nvSpPr>
        <p:spPr>
          <a:xfrm>
            <a:off x="914400" y="3200400"/>
            <a:ext cx="4648320" cy="2043720"/>
          </a:xfrm>
          <a:prstGeom prst="rect">
            <a:avLst/>
          </a:prstGeom>
          <a:noFill/>
          <a:ln w="0">
            <a:noFill/>
          </a:ln>
        </p:spPr>
        <p:style>
          <a:lnRef idx="0"/>
          <a:fillRef idx="0"/>
          <a:effectRef idx="0"/>
          <a:fontRef idx="minor"/>
        </p:style>
        <p:txBody>
          <a:bodyPr lIns="92160" rIns="92160" tIns="46080" bIns="4608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853 20   $8 1  $a (year)</a:t>
            </a:r>
            <a:endParaRPr b="0" lang="en-IN" sz="3200" strike="noStrike" u="none">
              <a:solidFill>
                <a:srgbClr val="ffffff"/>
              </a:solidFill>
              <a:effectLst/>
              <a:uFillTx/>
              <a:latin typeface="Arial Narrow"/>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863 41   $8 1.1 $a 1996 </a:t>
            </a:r>
            <a:endParaRPr b="0" lang="en-IN" sz="3200" strike="noStrike" u="none">
              <a:solidFill>
                <a:srgbClr val="ffffff"/>
              </a:solidFill>
              <a:effectLst/>
              <a:uFillTx/>
              <a:latin typeface="Arial Narrow"/>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863 41   $8 1.2 $a 1998</a:t>
            </a:r>
            <a:endParaRPr b="0" lang="en-IN" sz="3200" strike="noStrike" u="none">
              <a:solidFill>
                <a:srgbClr val="ffffff"/>
              </a:solidFill>
              <a:effectLst/>
              <a:uFillTx/>
              <a:latin typeface="Arial Narrow"/>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863 41   $8 1.3 $a 2000 </a:t>
            </a:r>
            <a:endParaRPr b="0" lang="en-IN" sz="3200" strike="noStrike" u="none">
              <a:solidFill>
                <a:srgbClr val="ffffff"/>
              </a:solidFill>
              <a:effectLst/>
              <a:uFillTx/>
              <a:latin typeface="Arial Narrow"/>
            </a:endParaRPr>
          </a:p>
        </p:txBody>
      </p:sp>
      <p:sp>
        <p:nvSpPr>
          <p:cNvPr id="86" name="Rectangle 7"/>
          <p:cNvSpPr/>
          <p:nvPr/>
        </p:nvSpPr>
        <p:spPr>
          <a:xfrm>
            <a:off x="2592360" y="1525680"/>
            <a:ext cx="2389320" cy="1570680"/>
          </a:xfrm>
          <a:prstGeom prst="rect">
            <a:avLst/>
          </a:prstGeom>
          <a:solidFill>
            <a:srgbClr val="666699"/>
          </a:solidFill>
          <a:ln w="12600">
            <a:solidFill>
              <a:srgbClr val="333399"/>
            </a:solidFill>
            <a:miter/>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Tahoma"/>
              </a:rPr>
              <a:t>2000</a:t>
            </a:r>
            <a:endParaRPr b="0" lang="en-IN" sz="2400" strike="noStrike" u="none">
              <a:solidFill>
                <a:srgbClr val="ffffff"/>
              </a:solidFill>
              <a:effectLst/>
              <a:uFillTx/>
              <a:latin typeface="Arial Narrow"/>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Tahoma"/>
              </a:rPr>
              <a:t>Annual Report</a:t>
            </a:r>
            <a:endParaRPr b="0" lang="en-IN" sz="2400" strike="noStrike" u="none">
              <a:solidFill>
                <a:srgbClr val="ffffff"/>
              </a:solidFill>
              <a:effectLst/>
              <a:uFillTx/>
              <a:latin typeface="Arial Narrow"/>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Arial Narrow"/>
            </a:endParaRPr>
          </a:p>
        </p:txBody>
      </p:sp>
      <p:sp>
        <p:nvSpPr>
          <p:cNvPr id="87" name="Rectangle 8"/>
          <p:cNvSpPr/>
          <p:nvPr/>
        </p:nvSpPr>
        <p:spPr>
          <a:xfrm>
            <a:off x="5638680" y="3200400"/>
            <a:ext cx="1371600" cy="156636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$w a $w g</a:t>
            </a:r>
            <a:endParaRPr b="0" lang="en-IN" sz="3200" strike="noStrike" u="none">
              <a:solidFill>
                <a:srgbClr val="ffffff"/>
              </a:solidFill>
              <a:effectLst/>
              <a:uFillTx/>
              <a:latin typeface="Arial Narrow"/>
            </a:endParaRPr>
          </a:p>
          <a:p>
            <a:pPr>
              <a:lnSpc>
                <a:spcPct val="5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$w n</a:t>
            </a:r>
            <a:endParaRPr b="0" lang="en-IN" sz="3200" strike="noStrike" u="none">
              <a:solidFill>
                <a:srgbClr val="ffffff"/>
              </a:solidFill>
              <a:effectLst/>
              <a:uFillTx/>
              <a:latin typeface="Arial Narrow"/>
            </a:endParaRPr>
          </a:p>
        </p:txBody>
      </p:sp>
      <p:sp>
        <p:nvSpPr>
          <p:cNvPr id="88" name="Rectangle 9"/>
          <p:cNvSpPr/>
          <p:nvPr/>
        </p:nvSpPr>
        <p:spPr>
          <a:xfrm>
            <a:off x="914400" y="5105520"/>
            <a:ext cx="2895480" cy="1257120"/>
          </a:xfrm>
          <a:prstGeom prst="rect">
            <a:avLst/>
          </a:prstGeom>
          <a:noFill/>
          <a:ln w="0">
            <a:noFill/>
          </a:ln>
        </p:spPr>
        <p:style>
          <a:lnRef idx="0"/>
          <a:fillRef idx="0"/>
          <a:effectRef idx="0"/>
          <a:fontRef idx="minor"/>
        </p:style>
        <p:txBody>
          <a:bodyPr lIns="92160" rIns="92160" tIns="46080" bIns="46080" anchor="t">
            <a:spAutoFit/>
          </a:bodyPr>
          <a:p>
            <a:pPr>
              <a:lnSpc>
                <a:spcPct val="15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66ff66"/>
                </a:solidFill>
                <a:effectLst/>
                <a:uFillTx/>
                <a:latin typeface="Tahoma"/>
              </a:rPr>
              <a:t>May display as:</a:t>
            </a:r>
            <a:endParaRPr b="0" lang="en-IN" sz="2400" strike="noStrike" u="none">
              <a:solidFill>
                <a:srgbClr val="ffffff"/>
              </a:solidFill>
              <a:effectLst/>
              <a:uFillTx/>
              <a:latin typeface="Arial Narrow"/>
            </a:endParaRPr>
          </a:p>
          <a:p>
            <a:pPr>
              <a:lnSpc>
                <a:spcPct val="15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1996,1998;2000</a:t>
            </a:r>
            <a:endParaRPr b="0" lang="en-IN" sz="2000" strike="noStrike" u="none">
              <a:solidFill>
                <a:srgbClr val="ffffff"/>
              </a:solidFill>
              <a:effectLst/>
              <a:uFillTx/>
              <a:latin typeface="Arial Narrow"/>
            </a:endParaRPr>
          </a:p>
        </p:txBody>
      </p:sp>
      <p:sp>
        <p:nvSpPr>
          <p:cNvPr id="4" name="PlaceHolder 3"/>
          <p:cNvSpPr>
            <a:spLocks noGrp="1"/>
          </p:cNvSpPr>
          <p:nvPr>
            <p:ph type="sldNum" idx="3"/>
          </p:nvPr>
        </p:nvSpPr>
        <p:spPr/>
        <p:txBody>
          <a:bodyPr/>
          <a:p>
            <a:fld id="{21A73798-4498-490D-BD7A-4BC58A0E677D}" type="slidenum">
              <a:t>10</a:t>
            </a:fld>
          </a:p>
        </p:txBody>
      </p:sp>
    </p:spTree>
  </p:cSld>
  <mc:AlternateContent>
    <mc:Choice Requires="p14">
      <p:transition spd="slow" p14:dur="2000"/>
    </mc:Choice>
    <mc:Fallback>
      <p:transition spd="slow"/>
    </mc:Fallback>
  </mc:AlternateContent>
  <p:timing>
    <p:tnLst>
      <p:par>
        <p:cTn id="76" dur="indefinite" restart="never" nodeType="tmRoot">
          <p:childTnLst>
            <p:seq>
              <p:cTn id="77" dur="indefinite" nodeType="mainSeq">
                <p:childTnLst>
                  <p:par>
                    <p:cTn id="78" fill="hold">
                      <p:stCondLst>
                        <p:cond delay="indefinite"/>
                      </p:stCondLst>
                      <p:childTnLst>
                        <p:par>
                          <p:cTn id="79" fill="hold">
                            <p:stCondLst>
                              <p:cond delay="0"/>
                            </p:stCondLst>
                            <p:childTnLst>
                              <p:par>
                                <p:cTn id="80" nodeType="clickEffect" fill="hold" presetClass="entr" presetID="2" presetSubtype="8">
                                  <p:stCondLst>
                                    <p:cond delay="0"/>
                                  </p:stCondLst>
                                  <p:childTnLst>
                                    <p:set>
                                      <p:cBhvr>
                                        <p:cTn id="81" dur="1" fill="hold">
                                          <p:stCondLst>
                                            <p:cond delay="0"/>
                                          </p:stCondLst>
                                        </p:cTn>
                                        <p:tgtEl>
                                          <p:spTgt spid="88"/>
                                        </p:tgtEl>
                                        <p:attrNameLst>
                                          <p:attrName>style.visibility</p:attrName>
                                        </p:attrNameLst>
                                      </p:cBhvr>
                                      <p:to>
                                        <p:strVal val="visible"/>
                                      </p:to>
                                    </p:set>
                                    <p:anim calcmode="lin" valueType="num">
                                      <p:cBhvr additive="base">
                                        <p:cTn id="82" dur="500" fill="hold"/>
                                        <p:tgtEl>
                                          <p:spTgt spid="88"/>
                                        </p:tgtEl>
                                        <p:attrNameLst>
                                          <p:attrName>ppt_x</p:attrName>
                                        </p:attrNameLst>
                                      </p:cBhvr>
                                      <p:tavLst>
                                        <p:tav tm="0">
                                          <p:val>
                                            <p:strVal val="0-#ppt_w/2"/>
                                          </p:val>
                                        </p:tav>
                                        <p:tav tm="100000">
                                          <p:val>
                                            <p:strVal val="#ppt_x"/>
                                          </p:val>
                                        </p:tav>
                                      </p:tavLst>
                                    </p:anim>
                                    <p:anim calcmode="lin" valueType="num">
                                      <p:cBhvr additive="base">
                                        <p:cTn id="83" dur="500" fill="hold"/>
                                        <p:tgtEl>
                                          <p:spTgt spid="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89"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90"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35CE1D7-6C24-4B6F-B5E6-67B14982FA8F}"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91" name="PlaceHolder 1"/>
          <p:cNvSpPr>
            <a:spLocks noGrp="1"/>
          </p:cNvSpPr>
          <p:nvPr>
            <p:ph type="title"/>
          </p:nvPr>
        </p:nvSpPr>
        <p:spPr>
          <a:xfrm>
            <a:off x="0" y="-360"/>
            <a:ext cx="9144000" cy="76212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ffff66"/>
                </a:solidFill>
                <a:effectLst/>
                <a:uFillTx/>
                <a:latin typeface="Tahoma"/>
              </a:rPr>
              <a:t>Dates with divisions: Non-chronological</a:t>
            </a:r>
            <a:endParaRPr b="0" lang="en-IN" sz="3600" strike="noStrike" u="none">
              <a:solidFill>
                <a:srgbClr val="ffff66"/>
              </a:solidFill>
              <a:effectLst/>
              <a:uFillTx/>
              <a:latin typeface="Tahoma"/>
            </a:endParaRPr>
          </a:p>
        </p:txBody>
      </p:sp>
      <p:sp>
        <p:nvSpPr>
          <p:cNvPr id="92" name="PlaceHolder 2"/>
          <p:cNvSpPr>
            <a:spLocks noGrp="1"/>
          </p:cNvSpPr>
          <p:nvPr>
            <p:ph/>
          </p:nvPr>
        </p:nvSpPr>
        <p:spPr>
          <a:xfrm>
            <a:off x="685800" y="1066680"/>
            <a:ext cx="7391520" cy="2819520"/>
          </a:xfrm>
          <a:prstGeom prst="rect">
            <a:avLst/>
          </a:prstGeom>
          <a:noFill/>
          <a:ln w="0">
            <a:noFill/>
          </a:ln>
        </p:spPr>
        <p:txBody>
          <a:bodyPr lIns="92160" rIns="92160" tIns="46080" bIns="46080" anchor="t">
            <a:normAutofit lnSpcReduction="9999"/>
          </a:bodyPr>
          <a:p>
            <a:pPr marL="343080" indent="-34308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853 20  $8 1 $a (year) $b disc $u 2 $v r $w f</a:t>
            </a:r>
            <a:endParaRPr b="0" lang="en-IN" sz="2800" strike="noStrike" u="none">
              <a:solidFill>
                <a:srgbClr val="ffffff"/>
              </a:solidFill>
              <a:effectLst/>
              <a:uFillTx/>
              <a:latin typeface="Tahoma"/>
            </a:endParaRPr>
          </a:p>
          <a:p>
            <a:pPr marL="343080" indent="-34308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863 41  $8 1.1 $a 1998 $b </a:t>
            </a:r>
            <a:r>
              <a:rPr b="0" lang="en-IN" sz="2800" strike="noStrike" u="none">
                <a:solidFill>
                  <a:srgbClr val="ffcc00"/>
                </a:solidFill>
                <a:effectLst/>
                <a:uFillTx/>
                <a:latin typeface="Tahoma"/>
              </a:rPr>
              <a:t>1</a:t>
            </a:r>
            <a:endParaRPr b="0" lang="en-IN" sz="2800" strike="noStrike" u="none">
              <a:solidFill>
                <a:srgbClr val="ffffff"/>
              </a:solidFill>
              <a:effectLst/>
              <a:uFillTx/>
              <a:latin typeface="Tahoma"/>
            </a:endParaRPr>
          </a:p>
          <a:p>
            <a:pPr marL="343080" indent="-34308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863 41  $8 1.2 $a 1998 $b </a:t>
            </a:r>
            <a:r>
              <a:rPr b="0" lang="en-IN" sz="2800" strike="noStrike" u="none">
                <a:solidFill>
                  <a:srgbClr val="ffcc00"/>
                </a:solidFill>
                <a:effectLst/>
                <a:uFillTx/>
                <a:latin typeface="Tahoma"/>
              </a:rPr>
              <a:t>2</a:t>
            </a:r>
            <a:endParaRPr b="0" lang="en-IN" sz="2800" strike="noStrike" u="none">
              <a:solidFill>
                <a:srgbClr val="ffffff"/>
              </a:solidFill>
              <a:effectLst/>
              <a:uFillTx/>
              <a:latin typeface="Tahoma"/>
            </a:endParaRPr>
          </a:p>
          <a:p>
            <a:pPr marL="343080" indent="-34308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863 41  $8 1.3 $a 1999 $b </a:t>
            </a:r>
            <a:r>
              <a:rPr b="0" lang="en-IN" sz="2800" strike="noStrike" u="none">
                <a:solidFill>
                  <a:srgbClr val="ffcc00"/>
                </a:solidFill>
                <a:effectLst/>
                <a:uFillTx/>
                <a:latin typeface="Tahoma"/>
              </a:rPr>
              <a:t>1</a:t>
            </a:r>
            <a:endParaRPr b="0" lang="en-IN" sz="2800" strike="noStrike" u="none">
              <a:solidFill>
                <a:srgbClr val="ffffff"/>
              </a:solidFill>
              <a:effectLst/>
              <a:uFillTx/>
              <a:latin typeface="Tahoma"/>
            </a:endParaRPr>
          </a:p>
          <a:p>
            <a:pPr marL="343080" indent="-34308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863 41  $8 1.4 $a 1999 $b </a:t>
            </a:r>
            <a:r>
              <a:rPr b="0" lang="en-IN" sz="2800" strike="noStrike" u="none">
                <a:solidFill>
                  <a:srgbClr val="ffcc00"/>
                </a:solidFill>
                <a:effectLst/>
                <a:uFillTx/>
                <a:latin typeface="Tahoma"/>
              </a:rPr>
              <a:t>2</a:t>
            </a:r>
            <a:endParaRPr b="0" lang="en-IN" sz="2800" strike="noStrike" u="none">
              <a:solidFill>
                <a:srgbClr val="ffffff"/>
              </a:solidFill>
              <a:effectLst/>
              <a:uFillTx/>
              <a:latin typeface="Tahoma"/>
            </a:endParaRPr>
          </a:p>
          <a:p>
            <a:pPr marL="343080" indent="-34308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ahoma"/>
            </a:endParaRPr>
          </a:p>
          <a:p>
            <a:pPr marL="343080" indent="-343080">
              <a:lnSpc>
                <a:spcPct val="6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800" strike="noStrike" u="none">
                <a:solidFill>
                  <a:srgbClr val="ffcc99"/>
                </a:solidFill>
                <a:effectLst/>
                <a:uFillTx/>
                <a:latin typeface="Tahoma"/>
              </a:rPr>
              <a:t> </a:t>
            </a:r>
            <a:endParaRPr b="0" lang="en-IN" sz="2800" strike="noStrike" u="none">
              <a:solidFill>
                <a:srgbClr val="ffffff"/>
              </a:solidFill>
              <a:effectLst/>
              <a:uFillTx/>
              <a:latin typeface="Tahoma"/>
            </a:endParaRPr>
          </a:p>
        </p:txBody>
      </p:sp>
      <p:sp>
        <p:nvSpPr>
          <p:cNvPr id="93" name="Rectangle 4"/>
          <p:cNvSpPr/>
          <p:nvPr/>
        </p:nvSpPr>
        <p:spPr>
          <a:xfrm>
            <a:off x="6324480" y="3809880"/>
            <a:ext cx="2514600" cy="2679480"/>
          </a:xfrm>
          <a:prstGeom prst="rect">
            <a:avLst/>
          </a:prstGeom>
          <a:solidFill>
            <a:srgbClr val="969696"/>
          </a:solidFill>
          <a:ln w="12600">
            <a:solidFill>
              <a:srgbClr val="99ff33"/>
            </a:solidFill>
            <a:miter/>
          </a:ln>
        </p:spPr>
        <p:style>
          <a:lnRef idx="0"/>
          <a:fillRef idx="0"/>
          <a:effectRef idx="0"/>
          <a:fontRef idx="minor"/>
        </p:style>
        <p:txBody>
          <a:bodyPr lIns="92160" rIns="92160" tIns="46080" bIns="46080" anchor="t">
            <a:spAutoFit/>
          </a:bodyPr>
          <a:p>
            <a:pPr>
              <a:lnSpc>
                <a:spcPct val="2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Arial Narrow"/>
            </a:endParaRPr>
          </a:p>
          <a:p>
            <a:pPr>
              <a:lnSpc>
                <a:spcPct val="2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000" strike="noStrike" u="none">
                <a:solidFill>
                  <a:srgbClr val="993300"/>
                </a:solidFill>
                <a:effectLst/>
                <a:uFillTx/>
                <a:latin typeface="Calisto MT"/>
              </a:rPr>
              <a:t>EVENING STAR</a:t>
            </a:r>
            <a:endParaRPr b="0" lang="en-IN" sz="2000" strike="noStrike" u="none">
              <a:solidFill>
                <a:srgbClr val="ffffff"/>
              </a:solidFill>
              <a:effectLst/>
              <a:uFillTx/>
              <a:latin typeface="Arial Narrow"/>
            </a:endParaRPr>
          </a:p>
          <a:p>
            <a:pPr>
              <a:lnSpc>
                <a:spcPct val="5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1800" strike="noStrike" u="none">
                <a:solidFill>
                  <a:srgbClr val="000000"/>
                </a:solidFill>
                <a:effectLst/>
                <a:uFillTx/>
                <a:latin typeface="Tahoma"/>
              </a:rPr>
              <a:t>MarketShare</a:t>
            </a:r>
            <a:endParaRPr b="0" lang="en-IN" sz="1800" strike="noStrike" u="none">
              <a:solidFill>
                <a:srgbClr val="ffffff"/>
              </a:solidFill>
              <a:effectLst/>
              <a:uFillTx/>
              <a:latin typeface="Arial Narrow"/>
            </a:endParaRPr>
          </a:p>
          <a:p>
            <a:pPr>
              <a:lnSpc>
                <a:spcPct val="5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1800" strike="noStrike" u="none">
                <a:solidFill>
                  <a:srgbClr val="000000"/>
                </a:solidFill>
                <a:effectLst/>
                <a:uFillTx/>
                <a:latin typeface="Tahoma"/>
              </a:rPr>
              <a:t>Database</a:t>
            </a:r>
            <a:endParaRPr b="0" lang="en-IN" sz="1800" strike="noStrike" u="none">
              <a:solidFill>
                <a:srgbClr val="ffffff"/>
              </a:solidFill>
              <a:effectLst/>
              <a:uFillTx/>
              <a:latin typeface="Arial Narrow"/>
            </a:endParaRPr>
          </a:p>
          <a:p>
            <a:pPr>
              <a:lnSpc>
                <a:spcPct val="2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1800" strike="noStrike" u="none">
                <a:solidFill>
                  <a:srgbClr val="000000"/>
                </a:solidFill>
                <a:effectLst/>
                <a:uFillTx/>
                <a:latin typeface="Tahoma"/>
              </a:rPr>
              <a:t> </a:t>
            </a:r>
            <a:r>
              <a:rPr b="1" i="1" lang="en-US" sz="1600" strike="noStrike" u="none">
                <a:solidFill>
                  <a:srgbClr val="000000"/>
                </a:solidFill>
                <a:effectLst/>
                <a:uFillTx/>
                <a:latin typeface="Tahoma"/>
              </a:rPr>
              <a:t>on </a:t>
            </a:r>
            <a:endParaRPr b="0" lang="en-IN" sz="1600" strike="noStrike" u="none">
              <a:solidFill>
                <a:srgbClr val="ffffff"/>
              </a:solidFill>
              <a:effectLst/>
              <a:uFillTx/>
              <a:latin typeface="Arial Narrow"/>
            </a:endParaRPr>
          </a:p>
          <a:p>
            <a:pPr>
              <a:lnSpc>
                <a:spcPct val="3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1600" strike="noStrike" u="none">
                <a:solidFill>
                  <a:srgbClr val="000000"/>
                </a:solidFill>
                <a:effectLst/>
                <a:uFillTx/>
                <a:latin typeface="Tahoma"/>
              </a:rPr>
              <a:t>CD-ROM</a:t>
            </a:r>
            <a:endParaRPr b="0" lang="en-IN" sz="1600" strike="noStrike" u="none">
              <a:solidFill>
                <a:srgbClr val="ffffff"/>
              </a:solidFill>
              <a:effectLst/>
              <a:uFillTx/>
              <a:latin typeface="Arial Narrow"/>
            </a:endParaRPr>
          </a:p>
          <a:p>
            <a:pPr>
              <a:lnSpc>
                <a:spcPct val="3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Arial Narrow"/>
            </a:endParaRPr>
          </a:p>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1800" strike="noStrike" u="none">
                <a:solidFill>
                  <a:srgbClr val="000000"/>
                </a:solidFill>
                <a:effectLst/>
                <a:uFillTx/>
                <a:latin typeface="Tahoma"/>
              </a:rPr>
              <a:t>1998</a:t>
            </a:r>
            <a:endParaRPr b="0" lang="en-IN" sz="1800" strike="noStrike" u="none">
              <a:solidFill>
                <a:srgbClr val="ffffff"/>
              </a:solidFill>
              <a:effectLst/>
              <a:uFillTx/>
              <a:latin typeface="Arial Narrow"/>
            </a:endParaRPr>
          </a:p>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Tahoma"/>
              </a:rPr>
              <a:t>           </a:t>
            </a:r>
            <a:r>
              <a:rPr b="1" i="1" lang="en-US" sz="1800" strike="noStrike" u="none">
                <a:solidFill>
                  <a:srgbClr val="000000"/>
                </a:solidFill>
                <a:effectLst/>
                <a:uFillTx/>
                <a:latin typeface="Tahoma"/>
              </a:rPr>
              <a:t>disc 1</a:t>
            </a:r>
            <a:endParaRPr b="0" lang="en-IN" sz="1800" strike="noStrike" u="none">
              <a:solidFill>
                <a:srgbClr val="ffffff"/>
              </a:solidFill>
              <a:effectLst/>
              <a:uFillTx/>
              <a:latin typeface="Arial Narrow"/>
            </a:endParaRPr>
          </a:p>
        </p:txBody>
      </p:sp>
      <p:sp>
        <p:nvSpPr>
          <p:cNvPr id="94" name="Freeform 5"/>
          <p:cNvSpPr/>
          <p:nvPr/>
        </p:nvSpPr>
        <p:spPr>
          <a:xfrm>
            <a:off x="7543800" y="4648320"/>
            <a:ext cx="687240" cy="915840"/>
          </a:xfrm>
          <a:custGeom>
            <a:avLst/>
            <a:gdLst>
              <a:gd name="textAreaLeft" fmla="*/ 0 w 687240"/>
              <a:gd name="textAreaRight" fmla="*/ 687600 w 687240"/>
              <a:gd name="textAreaTop" fmla="*/ 0 h 915840"/>
              <a:gd name="textAreaBottom" fmla="*/ 916200 h 915840"/>
              <a:gd name="GluePoint1X" fmla="*/ 1088708382 w 433"/>
              <a:gd name="GluePoint1Y" fmla="*/ 725805288 h 577"/>
              <a:gd name="GluePoint2X" fmla="*/ 640120171 w 433"/>
              <a:gd name="GluePoint2Y" fmla="*/ 597278097 h 577"/>
              <a:gd name="GluePoint3X" fmla="*/ 544354191 w 433"/>
              <a:gd name="GluePoint3Y" fmla="*/ 0 h 577"/>
              <a:gd name="GluePoint4X" fmla="*/ 448588211 w 433"/>
              <a:gd name="GluePoint4Y" fmla="*/ 597278097 h 577"/>
              <a:gd name="GluePoint5X" fmla="*/ 0 w 433"/>
              <a:gd name="GluePoint5Y" fmla="*/ 725805288 h 577"/>
              <a:gd name="GluePoint6X" fmla="*/ 448588211 w 433"/>
              <a:gd name="GluePoint6Y" fmla="*/ 854334264 h 577"/>
              <a:gd name="GluePoint7X" fmla="*/ 544354191 w 433"/>
              <a:gd name="GluePoint7Y" fmla="*/ 1451610575 h 577"/>
              <a:gd name="GluePoint8X" fmla="*/ 640120171 w 433"/>
              <a:gd name="GluePoint8Y" fmla="*/ 854334264 h 577"/>
              <a:gd name="GluePoint9X" fmla="*/ 1088708382 w 433"/>
              <a:gd name="GluePoint9Y" fmla="*/ 725805288 h 57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433" h="577">
                <a:moveTo>
                  <a:pt x="432" y="288"/>
                </a:moveTo>
                <a:lnTo>
                  <a:pt x="254" y="237"/>
                </a:lnTo>
                <a:lnTo>
                  <a:pt x="216" y="0"/>
                </a:lnTo>
                <a:lnTo>
                  <a:pt x="178" y="237"/>
                </a:lnTo>
                <a:lnTo>
                  <a:pt x="0" y="288"/>
                </a:lnTo>
                <a:lnTo>
                  <a:pt x="178" y="339"/>
                </a:lnTo>
                <a:lnTo>
                  <a:pt x="216" y="576"/>
                </a:lnTo>
                <a:lnTo>
                  <a:pt x="254" y="339"/>
                </a:lnTo>
                <a:lnTo>
                  <a:pt x="432" y="288"/>
                </a:lnTo>
              </a:path>
            </a:pathLst>
          </a:custGeom>
          <a:solidFill>
            <a:srgbClr val="ffcc00"/>
          </a:solidFill>
          <a:ln cap="rnd" w="12600">
            <a:solidFill>
              <a:srgbClr val="ffffff"/>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Arial Narrow"/>
            </a:endParaRPr>
          </a:p>
        </p:txBody>
      </p:sp>
      <p:sp>
        <p:nvSpPr>
          <p:cNvPr id="95" name="Rectangle 6"/>
          <p:cNvSpPr/>
          <p:nvPr/>
        </p:nvSpPr>
        <p:spPr>
          <a:xfrm>
            <a:off x="380880" y="3962520"/>
            <a:ext cx="4876920" cy="2531520"/>
          </a:xfrm>
          <a:prstGeom prst="rect">
            <a:avLst/>
          </a:prstGeom>
          <a:noFill/>
          <a:ln w="0">
            <a:noFill/>
          </a:ln>
        </p:spPr>
        <p:style>
          <a:lnRef idx="0"/>
          <a:fillRef idx="0"/>
          <a:effectRef idx="0"/>
          <a:fontRef idx="minor"/>
        </p:style>
        <p:txBody>
          <a:bodyPr lIns="92160" rIns="92160" tIns="46080" bIns="4608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cc99"/>
                </a:solidFill>
                <a:effectLst/>
                <a:uFillTx/>
                <a:latin typeface="Tahoma"/>
              </a:rPr>
              <a:t>may display as…</a:t>
            </a:r>
            <a:r>
              <a:rPr b="0" lang="en-IN" sz="3200" strike="noStrike" u="none">
                <a:solidFill>
                  <a:srgbClr val="ffcc99"/>
                </a:solidFill>
                <a:effectLst/>
                <a:uFillTx/>
                <a:latin typeface="Tahoma"/>
              </a:rPr>
              <a:t>          </a:t>
            </a:r>
            <a:endParaRPr b="0" lang="en-IN" sz="3200" strike="noStrike" u="none">
              <a:solidFill>
                <a:srgbClr val="ffffff"/>
              </a:solidFill>
              <a:effectLst/>
              <a:uFillTx/>
              <a:latin typeface="Arial Narrow"/>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cc99"/>
                </a:solidFill>
                <a:effectLst/>
                <a:uFillTx/>
                <a:latin typeface="Tahoma"/>
              </a:rPr>
              <a:t>   1998:disc 1</a:t>
            </a:r>
            <a:endParaRPr b="0" lang="en-IN" sz="3200" strike="noStrike" u="none">
              <a:solidFill>
                <a:srgbClr val="ffffff"/>
              </a:solidFill>
              <a:effectLst/>
              <a:uFillTx/>
              <a:latin typeface="Arial Narrow"/>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cc99"/>
                </a:solidFill>
                <a:effectLst/>
                <a:uFillTx/>
                <a:latin typeface="Tahoma"/>
              </a:rPr>
              <a:t>   1998:disc 2</a:t>
            </a:r>
            <a:endParaRPr b="0" lang="en-IN" sz="3200" strike="noStrike" u="none">
              <a:solidFill>
                <a:srgbClr val="ffffff"/>
              </a:solidFill>
              <a:effectLst/>
              <a:uFillTx/>
              <a:latin typeface="Arial Narrow"/>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cc99"/>
                </a:solidFill>
                <a:effectLst/>
                <a:uFillTx/>
                <a:latin typeface="Tahoma"/>
              </a:rPr>
              <a:t>   1999:disc 1</a:t>
            </a:r>
            <a:endParaRPr b="0" lang="en-IN" sz="3200" strike="noStrike" u="none">
              <a:solidFill>
                <a:srgbClr val="ffffff"/>
              </a:solidFill>
              <a:effectLst/>
              <a:uFillTx/>
              <a:latin typeface="Arial Narrow"/>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cc99"/>
                </a:solidFill>
                <a:effectLst/>
                <a:uFillTx/>
                <a:latin typeface="Tahoma"/>
              </a:rPr>
              <a:t>   1999:disc 2</a:t>
            </a:r>
            <a:endParaRPr b="0" lang="en-IN" sz="3200" strike="noStrike" u="none">
              <a:solidFill>
                <a:srgbClr val="ffffff"/>
              </a:solidFill>
              <a:effectLst/>
              <a:uFillTx/>
              <a:latin typeface="Arial Narrow"/>
            </a:endParaRPr>
          </a:p>
        </p:txBody>
      </p:sp>
      <p:sp>
        <p:nvSpPr>
          <p:cNvPr id="4" name="PlaceHolder 3"/>
          <p:cNvSpPr>
            <a:spLocks noGrp="1"/>
          </p:cNvSpPr>
          <p:nvPr>
            <p:ph type="sldNum" idx="3"/>
          </p:nvPr>
        </p:nvSpPr>
        <p:spPr/>
        <p:txBody>
          <a:bodyPr/>
          <a:p>
            <a:fld id="{5246462A-D693-40AD-896F-CE80F2A20ED4}" type="slidenum">
              <a:t>11</a:t>
            </a:fld>
          </a:p>
        </p:txBody>
      </p:sp>
    </p:spTree>
  </p:cSld>
  <mc:AlternateContent>
    <mc:Choice Requires="p14">
      <p:transition spd="slow" p14:dur="2000"/>
    </mc:Choice>
    <mc:Fallback>
      <p:transition spd="slow"/>
    </mc:Fallback>
  </mc:AlternateContent>
  <p:timing>
    <p:tnLst>
      <p:par>
        <p:cTn id="84" dur="indefinite" restart="never" nodeType="tmRoot">
          <p:childTnLst>
            <p:seq>
              <p:cTn id="85" dur="indefinite" nodeType="mainSeq">
                <p:childTnLst>
                  <p:par>
                    <p:cTn id="86" fill="hold">
                      <p:stCondLst>
                        <p:cond delay="indefinite"/>
                      </p:stCondLst>
                      <p:childTnLst>
                        <p:par>
                          <p:cTn id="87" fill="hold">
                            <p:stCondLst>
                              <p:cond delay="0"/>
                            </p:stCondLst>
                            <p:childTnLst>
                              <p:par>
                                <p:cTn id="88" nodeType="clickEffect" fill="hold" presetClass="entr" presetID="2" presetSubtype="8">
                                  <p:stCondLst>
                                    <p:cond delay="0"/>
                                  </p:stCondLst>
                                  <p:childTnLst>
                                    <p:set>
                                      <p:cBhvr>
                                        <p:cTn id="89" dur="1" fill="hold">
                                          <p:stCondLst>
                                            <p:cond delay="0"/>
                                          </p:stCondLst>
                                        </p:cTn>
                                        <p:tgtEl>
                                          <p:spTgt spid="95"/>
                                        </p:tgtEl>
                                        <p:attrNameLst>
                                          <p:attrName>style.visibility</p:attrName>
                                        </p:attrNameLst>
                                      </p:cBhvr>
                                      <p:to>
                                        <p:strVal val="visible"/>
                                      </p:to>
                                    </p:set>
                                    <p:anim calcmode="lin" valueType="num">
                                      <p:cBhvr additive="base">
                                        <p:cTn id="90" dur="500" fill="hold"/>
                                        <p:tgtEl>
                                          <p:spTgt spid="95"/>
                                        </p:tgtEl>
                                        <p:attrNameLst>
                                          <p:attrName>ppt_x</p:attrName>
                                        </p:attrNameLst>
                                      </p:cBhvr>
                                      <p:tavLst>
                                        <p:tav tm="0">
                                          <p:val>
                                            <p:strVal val="0-#ppt_w/2"/>
                                          </p:val>
                                        </p:tav>
                                        <p:tav tm="100000">
                                          <p:val>
                                            <p:strVal val="#ppt_x"/>
                                          </p:val>
                                        </p:tav>
                                      </p:tavLst>
                                    </p:anim>
                                    <p:anim calcmode="lin" valueType="num">
                                      <p:cBhvr additive="base">
                                        <p:cTn id="91" dur="500" fill="hold"/>
                                        <p:tgtEl>
                                          <p:spTgt spid="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96"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97"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88C8F51-8271-4FC8-AEF8-1539465C3C3A}"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98" name="PlaceHolder 1"/>
          <p:cNvSpPr>
            <a:spLocks noGrp="1"/>
          </p:cNvSpPr>
          <p:nvPr>
            <p:ph type="title"/>
          </p:nvPr>
        </p:nvSpPr>
        <p:spPr>
          <a:xfrm>
            <a:off x="0" y="-360"/>
            <a:ext cx="9144000" cy="76212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Dates with both kinds of division</a:t>
            </a:r>
            <a:endParaRPr b="0" lang="en-IN" sz="4400" strike="noStrike" u="none">
              <a:solidFill>
                <a:srgbClr val="ffff66"/>
              </a:solidFill>
              <a:effectLst/>
              <a:uFillTx/>
              <a:latin typeface="Tahoma"/>
            </a:endParaRPr>
          </a:p>
        </p:txBody>
      </p:sp>
      <p:sp>
        <p:nvSpPr>
          <p:cNvPr id="99" name="Rectangle 3"/>
          <p:cNvSpPr/>
          <p:nvPr/>
        </p:nvSpPr>
        <p:spPr>
          <a:xfrm>
            <a:off x="533520" y="1600200"/>
            <a:ext cx="2286000" cy="3048120"/>
          </a:xfrm>
          <a:prstGeom prst="rect">
            <a:avLst/>
          </a:prstGeom>
          <a:solidFill>
            <a:srgbClr val="b2b2b2"/>
          </a:solidFill>
          <a:ln w="12600">
            <a:solidFill>
              <a:srgbClr val="000000"/>
            </a:solidFill>
            <a:miter/>
          </a:ln>
        </p:spPr>
        <p:style>
          <a:lnRef idx="0"/>
          <a:fillRef idx="0"/>
          <a:effectRef idx="0"/>
          <a:fontRef idx="minor"/>
        </p:style>
        <p:txBody>
          <a:bodyPr wrap="none" lIns="92160" rIns="92160" tIns="46080" bIns="46080" anchor="ctr">
            <a:noAutofit/>
          </a:bodyPr>
          <a:p>
            <a:pPr algn="ct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Arial Narrow"/>
            </a:endParaRPr>
          </a:p>
        </p:txBody>
      </p:sp>
      <p:grpSp>
        <p:nvGrpSpPr>
          <p:cNvPr id="100" name="Group 6"/>
          <p:cNvGrpSpPr/>
          <p:nvPr/>
        </p:nvGrpSpPr>
        <p:grpSpPr>
          <a:xfrm>
            <a:off x="1066680" y="2209680"/>
            <a:ext cx="1778040" cy="1854360"/>
            <a:chOff x="1066680" y="2209680"/>
            <a:chExt cx="1778040" cy="1854360"/>
          </a:xfrm>
        </p:grpSpPr>
        <p:pic>
          <p:nvPicPr>
            <p:cNvPr id="101" name="Picture 4" descr=""/>
            <p:cNvPicPr/>
            <p:nvPr/>
          </p:nvPicPr>
          <p:blipFill>
            <a:blip r:embed="rId1"/>
            <a:stretch/>
          </p:blipFill>
          <p:spPr>
            <a:xfrm>
              <a:off x="1066680" y="2209680"/>
              <a:ext cx="1778040" cy="1854360"/>
            </a:xfrm>
            <a:prstGeom prst="rect">
              <a:avLst/>
            </a:prstGeom>
            <a:noFill/>
            <a:ln w="0">
              <a:noFill/>
            </a:ln>
          </p:spPr>
        </p:pic>
        <p:sp>
          <p:nvSpPr>
            <p:cNvPr id="102" name="Rectangle 5"/>
            <p:cNvSpPr/>
            <p:nvPr/>
          </p:nvSpPr>
          <p:spPr>
            <a:xfrm>
              <a:off x="1158840" y="2255760"/>
              <a:ext cx="1187640" cy="1355760"/>
            </a:xfrm>
            <a:prstGeom prst="rect">
              <a:avLst/>
            </a:prstGeom>
            <a:noFill/>
            <a:ln w="0">
              <a:noFill/>
            </a:ln>
          </p:spPr>
          <p:style>
            <a:lnRef idx="0"/>
            <a:fillRef idx="0"/>
            <a:effectRef idx="0"/>
            <a:fontRef idx="minor"/>
          </p:style>
          <p:txBody>
            <a:bodyPr lIns="92160" rIns="92160" tIns="46080" bIns="46080" anchor="t">
              <a:noAutofit/>
            </a:bodyPr>
            <a:p>
              <a:pPr marL="343080" indent="-343080">
                <a:lnSpc>
                  <a:spcPct val="100000"/>
                </a:lnSpc>
                <a:spcBef>
                  <a:spcPts val="601"/>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Arial Narrow"/>
              </a:endParaRPr>
            </a:p>
          </p:txBody>
        </p:sp>
      </p:grpSp>
      <p:sp>
        <p:nvSpPr>
          <p:cNvPr id="103" name="Rectangle 7"/>
          <p:cNvSpPr/>
          <p:nvPr/>
        </p:nvSpPr>
        <p:spPr>
          <a:xfrm>
            <a:off x="838080" y="1752480"/>
            <a:ext cx="1447920" cy="4582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99"/>
                </a:solidFill>
                <a:effectLst/>
                <a:uFillTx/>
                <a:latin typeface="Tahoma"/>
              </a:rPr>
              <a:t>global</a:t>
            </a:r>
            <a:endParaRPr b="0" lang="en-IN" sz="2400" strike="noStrike" u="none">
              <a:solidFill>
                <a:srgbClr val="ffffff"/>
              </a:solidFill>
              <a:effectLst/>
              <a:uFillTx/>
              <a:latin typeface="Arial Narrow"/>
            </a:endParaRPr>
          </a:p>
        </p:txBody>
      </p:sp>
      <p:sp>
        <p:nvSpPr>
          <p:cNvPr id="104" name="Rectangle 8"/>
          <p:cNvSpPr/>
          <p:nvPr/>
        </p:nvSpPr>
        <p:spPr>
          <a:xfrm>
            <a:off x="1371600" y="3581280"/>
            <a:ext cx="2362320" cy="4582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99"/>
                </a:solidFill>
                <a:effectLst/>
                <a:uFillTx/>
                <a:latin typeface="Tahoma"/>
              </a:rPr>
              <a:t>events</a:t>
            </a:r>
            <a:endParaRPr b="0" lang="en-IN" sz="2400" strike="noStrike" u="none">
              <a:solidFill>
                <a:srgbClr val="ffffff"/>
              </a:solidFill>
              <a:effectLst/>
              <a:uFillTx/>
              <a:latin typeface="Arial Narrow"/>
            </a:endParaRPr>
          </a:p>
        </p:txBody>
      </p:sp>
      <p:sp>
        <p:nvSpPr>
          <p:cNvPr id="105" name="Rectangle 9"/>
          <p:cNvSpPr/>
          <p:nvPr/>
        </p:nvSpPr>
        <p:spPr>
          <a:xfrm>
            <a:off x="609480" y="4038480"/>
            <a:ext cx="990720" cy="531000"/>
          </a:xfrm>
          <a:prstGeom prst="rect">
            <a:avLst/>
          </a:prstGeom>
          <a:noFill/>
          <a:ln w="0">
            <a:noFill/>
          </a:ln>
        </p:spPr>
        <p:style>
          <a:lnRef idx="0"/>
          <a:fillRef idx="0"/>
          <a:effectRef idx="0"/>
          <a:fontRef idx="minor"/>
        </p:style>
        <p:txBody>
          <a:bodyPr lIns="92160" rIns="92160" tIns="46080" bIns="46080" anchor="t">
            <a:spAutoFit/>
          </a:bodyPr>
          <a:p>
            <a:pPr>
              <a:lnSpc>
                <a:spcPct val="9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99"/>
                </a:solidFill>
                <a:effectLst/>
                <a:uFillTx/>
                <a:latin typeface="Arial"/>
              </a:rPr>
              <a:t>spring 1999</a:t>
            </a:r>
            <a:endParaRPr b="0" lang="en-IN" sz="1600" strike="noStrike" u="none">
              <a:solidFill>
                <a:srgbClr val="ffffff"/>
              </a:solidFill>
              <a:effectLst/>
              <a:uFillTx/>
              <a:latin typeface="Arial Narrow"/>
            </a:endParaRPr>
          </a:p>
        </p:txBody>
      </p:sp>
      <p:sp>
        <p:nvSpPr>
          <p:cNvPr id="106" name="Rectangle 10"/>
          <p:cNvSpPr/>
          <p:nvPr/>
        </p:nvSpPr>
        <p:spPr>
          <a:xfrm>
            <a:off x="1752480" y="4191120"/>
            <a:ext cx="1143000" cy="33624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99"/>
                </a:solidFill>
                <a:effectLst/>
                <a:uFillTx/>
                <a:latin typeface="Arial"/>
              </a:rPr>
              <a:t>number 1</a:t>
            </a:r>
            <a:endParaRPr b="0" lang="en-IN" sz="1600" strike="noStrike" u="none">
              <a:solidFill>
                <a:srgbClr val="ffffff"/>
              </a:solidFill>
              <a:effectLst/>
              <a:uFillTx/>
              <a:latin typeface="Arial Narrow"/>
            </a:endParaRPr>
          </a:p>
        </p:txBody>
      </p:sp>
      <p:sp>
        <p:nvSpPr>
          <p:cNvPr id="107" name="Rectangle 11"/>
          <p:cNvSpPr/>
          <p:nvPr/>
        </p:nvSpPr>
        <p:spPr>
          <a:xfrm>
            <a:off x="3048120" y="1676520"/>
            <a:ext cx="6095880" cy="82404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853 20   $8 1 $a (year) $b no. $u 4 $v r $i (year) $j (season) $w q $x 21</a:t>
            </a:r>
            <a:endParaRPr b="0" lang="en-IN" sz="2400" strike="noStrike" u="none">
              <a:solidFill>
                <a:srgbClr val="ffffff"/>
              </a:solidFill>
              <a:effectLst/>
              <a:uFillTx/>
              <a:latin typeface="Arial Narrow"/>
            </a:endParaRPr>
          </a:p>
        </p:txBody>
      </p:sp>
      <p:sp>
        <p:nvSpPr>
          <p:cNvPr id="108" name="Rectangle 12"/>
          <p:cNvSpPr/>
          <p:nvPr/>
        </p:nvSpPr>
        <p:spPr>
          <a:xfrm>
            <a:off x="3048120" y="2666880"/>
            <a:ext cx="5867280" cy="82404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66"/>
                </a:solidFill>
                <a:effectLst/>
                <a:uFillTx/>
                <a:latin typeface="Tahoma"/>
              </a:rPr>
              <a:t>863 41  $8 1.1 $a 1999 $b 1 $i 1999 $j 21</a:t>
            </a:r>
            <a:endParaRPr b="0" lang="en-IN" sz="2400" strike="noStrike" u="none">
              <a:solidFill>
                <a:srgbClr val="ffffff"/>
              </a:solidFill>
              <a:effectLst/>
              <a:uFillTx/>
              <a:latin typeface="Arial Narrow"/>
            </a:endParaRPr>
          </a:p>
        </p:txBody>
      </p:sp>
      <p:sp>
        <p:nvSpPr>
          <p:cNvPr id="109" name="Rectangle 13"/>
          <p:cNvSpPr/>
          <p:nvPr/>
        </p:nvSpPr>
        <p:spPr>
          <a:xfrm>
            <a:off x="3200400" y="4030560"/>
            <a:ext cx="3505320" cy="4582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00"/>
                </a:solidFill>
                <a:effectLst/>
                <a:uFillTx/>
                <a:latin typeface="Tahoma"/>
              </a:rPr>
              <a:t>may display as:</a:t>
            </a:r>
            <a:endParaRPr b="0" lang="en-IN" sz="2400" strike="noStrike" u="none">
              <a:solidFill>
                <a:srgbClr val="ffffff"/>
              </a:solidFill>
              <a:effectLst/>
              <a:uFillTx/>
              <a:latin typeface="Arial Narrow"/>
            </a:endParaRPr>
          </a:p>
        </p:txBody>
      </p:sp>
      <p:sp>
        <p:nvSpPr>
          <p:cNvPr id="110" name="Rectangle 14"/>
          <p:cNvSpPr/>
          <p:nvPr/>
        </p:nvSpPr>
        <p:spPr>
          <a:xfrm>
            <a:off x="3200400" y="4495680"/>
            <a:ext cx="4952880" cy="174600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1999:no. 1(1999:spring)</a:t>
            </a:r>
            <a:endParaRPr b="0" lang="en-IN" sz="2400" strike="noStrike" u="none">
              <a:solidFill>
                <a:srgbClr val="ffffff"/>
              </a:solidFill>
              <a:effectLst/>
              <a:uFillTx/>
              <a:latin typeface="Arial Narrow"/>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400" strike="noStrike" u="none">
                <a:solidFill>
                  <a:srgbClr val="ffcc66"/>
                </a:solidFill>
                <a:effectLst/>
                <a:uFillTx/>
                <a:latin typeface="Tahoma"/>
              </a:rPr>
              <a:t>(The year is repeated.  When the statement is compressed, the chronology is dropped.)</a:t>
            </a:r>
            <a:endParaRPr b="0" lang="en-IN" sz="2400" strike="noStrike" u="none">
              <a:solidFill>
                <a:srgbClr val="ffffff"/>
              </a:solidFill>
              <a:effectLst/>
              <a:uFillTx/>
              <a:latin typeface="Arial Narrow"/>
            </a:endParaRPr>
          </a:p>
        </p:txBody>
      </p:sp>
      <p:sp>
        <p:nvSpPr>
          <p:cNvPr id="3" name="PlaceHolder 2"/>
          <p:cNvSpPr>
            <a:spLocks noGrp="1"/>
          </p:cNvSpPr>
          <p:nvPr>
            <p:ph type="sldNum" idx="3"/>
          </p:nvPr>
        </p:nvSpPr>
        <p:spPr/>
        <p:txBody>
          <a:bodyPr/>
          <a:p>
            <a:fld id="{57ABB308-E077-4838-A1E0-82476A8D29CD}" type="slidenum">
              <a:t>12</a:t>
            </a:fld>
          </a:p>
        </p:txBody>
      </p:sp>
    </p:spTree>
  </p:cSld>
  <mc:AlternateContent>
    <mc:Choice Requires="p14">
      <p:transition spd="slow" p14:dur="2000"/>
    </mc:Choice>
    <mc:Fallback>
      <p:transition spd="slow"/>
    </mc:Fallback>
  </mc:AlternateContent>
  <p:timing>
    <p:tnLst>
      <p:par>
        <p:cTn id="92" dur="indefinite" restart="never" nodeType="tmRoot">
          <p:childTnLst>
            <p:seq>
              <p:cTn id="93" dur="indefinite" nodeType="mainSeq">
                <p:childTnLst>
                  <p:par>
                    <p:cTn id="94" fill="hold">
                      <p:stCondLst>
                        <p:cond delay="indefinite"/>
                      </p:stCondLst>
                      <p:childTnLst>
                        <p:par>
                          <p:cTn id="95" fill="hold">
                            <p:stCondLst>
                              <p:cond delay="0"/>
                            </p:stCondLst>
                            <p:childTnLst>
                              <p:par>
                                <p:cTn id="96" nodeType="clickEffect" fill="hold" presetClass="entr" presetID="1">
                                  <p:stCondLst>
                                    <p:cond delay="0"/>
                                  </p:stCondLst>
                                  <p:childTnLst>
                                    <p:set>
                                      <p:cBhvr>
                                        <p:cTn id="97" dur="1" fill="hold">
                                          <p:stCondLst>
                                            <p:cond delay="499"/>
                                          </p:stCondLst>
                                        </p:cTn>
                                        <p:tgtEl>
                                          <p:spTgt spid="107"/>
                                        </p:tgtEl>
                                        <p:attrNameLst>
                                          <p:attrName>style.visibility</p:attrName>
                                        </p:attrNameLst>
                                      </p:cBhvr>
                                      <p:to>
                                        <p:strVal val="visible"/>
                                      </p:to>
                                    </p:set>
                                  </p:childTnLst>
                                </p:cTn>
                              </p:par>
                            </p:childTnLst>
                          </p:cTn>
                        </p:par>
                        <p:par>
                          <p:cTn id="98" fill="hold">
                            <p:stCondLst>
                              <p:cond delay="500"/>
                            </p:stCondLst>
                            <p:childTnLst>
                              <p:par>
                                <p:cTn id="99" nodeType="afterEffect" fill="hold" presetClass="entr" presetID="1">
                                  <p:stCondLst>
                                    <p:cond delay="0"/>
                                  </p:stCondLst>
                                  <p:childTnLst>
                                    <p:set>
                                      <p:cBhvr>
                                        <p:cTn id="100" dur="1" fill="hold">
                                          <p:stCondLst>
                                            <p:cond delay="499"/>
                                          </p:stCondLst>
                                        </p:cTn>
                                        <p:tgtEl>
                                          <p:spTgt spid="108"/>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nodeType="clickEffect" fill="hold" presetClass="entr" presetID="2" presetSubtype="8">
                                  <p:stCondLst>
                                    <p:cond delay="0"/>
                                  </p:stCondLst>
                                  <p:childTnLst>
                                    <p:set>
                                      <p:cBhvr>
                                        <p:cTn id="104" dur="1" fill="hold">
                                          <p:stCondLst>
                                            <p:cond delay="0"/>
                                          </p:stCondLst>
                                        </p:cTn>
                                        <p:tgtEl>
                                          <p:spTgt spid="109"/>
                                        </p:tgtEl>
                                        <p:attrNameLst>
                                          <p:attrName>style.visibility</p:attrName>
                                        </p:attrNameLst>
                                      </p:cBhvr>
                                      <p:to>
                                        <p:strVal val="visible"/>
                                      </p:to>
                                    </p:set>
                                    <p:anim calcmode="lin" valueType="num">
                                      <p:cBhvr additive="base">
                                        <p:cTn id="105" dur="500" fill="hold"/>
                                        <p:tgtEl>
                                          <p:spTgt spid="109"/>
                                        </p:tgtEl>
                                        <p:attrNameLst>
                                          <p:attrName>ppt_x</p:attrName>
                                        </p:attrNameLst>
                                      </p:cBhvr>
                                      <p:tavLst>
                                        <p:tav tm="0">
                                          <p:val>
                                            <p:strVal val="0-#ppt_w/2"/>
                                          </p:val>
                                        </p:tav>
                                        <p:tav tm="100000">
                                          <p:val>
                                            <p:strVal val="#ppt_x"/>
                                          </p:val>
                                        </p:tav>
                                      </p:tavLst>
                                    </p:anim>
                                    <p:anim calcmode="lin" valueType="num">
                                      <p:cBhvr additive="base">
                                        <p:cTn id="106" dur="500" fill="hold"/>
                                        <p:tgtEl>
                                          <p:spTgt spid="109"/>
                                        </p:tgtEl>
                                        <p:attrNameLst>
                                          <p:attrName>ppt_y</p:attrName>
                                        </p:attrNameLst>
                                      </p:cBhvr>
                                      <p:tavLst>
                                        <p:tav tm="0">
                                          <p:val>
                                            <p:strVal val="#ppt_y"/>
                                          </p:val>
                                        </p:tav>
                                        <p:tav tm="100000">
                                          <p:val>
                                            <p:strVal val="#ppt_y"/>
                                          </p:val>
                                        </p:tav>
                                      </p:tavLst>
                                    </p:anim>
                                  </p:childTnLst>
                                </p:cTn>
                              </p:par>
                            </p:childTnLst>
                          </p:cTn>
                        </p:par>
                        <p:par>
                          <p:cTn id="107" fill="hold">
                            <p:stCondLst>
                              <p:cond delay="500"/>
                            </p:stCondLst>
                            <p:childTnLst>
                              <p:par>
                                <p:cTn id="108" nodeType="afterEffect" fill="hold" presetClass="entr" presetID="1">
                                  <p:stCondLst>
                                    <p:cond delay="0"/>
                                  </p:stCondLst>
                                  <p:childTnLst>
                                    <p:set>
                                      <p:cBhvr>
                                        <p:cTn id="109" dur="1" fill="hold">
                                          <p:stCondLst>
                                            <p:cond delay="499"/>
                                          </p:stCondLst>
                                        </p:cTn>
                                        <p:tgtEl>
                                          <p:spTgt spid="1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111"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112"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C153A22-9FFD-4E6E-A152-3F8DB167CB15}"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113"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ffff66"/>
                </a:solidFill>
                <a:effectLst/>
                <a:uFillTx/>
                <a:latin typeface="Tahoma"/>
              </a:rPr>
              <a:t>Holdings with successive series numbering</a:t>
            </a:r>
            <a:endParaRPr b="0" lang="en-IN" sz="3600" strike="noStrike" u="none">
              <a:solidFill>
                <a:srgbClr val="ffff66"/>
              </a:solidFill>
              <a:effectLst/>
              <a:uFillTx/>
              <a:latin typeface="Tahoma"/>
            </a:endParaRPr>
          </a:p>
        </p:txBody>
      </p:sp>
      <p:sp>
        <p:nvSpPr>
          <p:cNvPr id="114" name="PlaceHolder 2"/>
          <p:cNvSpPr>
            <a:spLocks noGrp="1"/>
          </p:cNvSpPr>
          <p:nvPr>
            <p:ph/>
          </p:nvPr>
        </p:nvSpPr>
        <p:spPr>
          <a:xfrm>
            <a:off x="0" y="914040"/>
            <a:ext cx="9144000" cy="2590920"/>
          </a:xfrm>
          <a:prstGeom prst="rect">
            <a:avLst/>
          </a:prstGeom>
          <a:noFill/>
          <a:ln w="0">
            <a:noFill/>
          </a:ln>
        </p:spPr>
        <p:txBody>
          <a:bodyPr lIns="92160" rIns="92160" tIns="46080" bIns="46080" anchor="t">
            <a:normAutofit/>
          </a:bodyPr>
          <a:p>
            <a:pPr marL="343080" indent="-343080">
              <a:lnSpc>
                <a:spcPct val="9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Some serials, especially scholarly and society publications, come out in several successive series (new ser., ser.3, ser.4…)</a:t>
            </a:r>
            <a:endParaRPr b="0" lang="en-IN" sz="2800" strike="noStrike" u="none">
              <a:solidFill>
                <a:srgbClr val="ffffff"/>
              </a:solidFill>
              <a:effectLst/>
              <a:uFillTx/>
              <a:latin typeface="Tahoma"/>
            </a:endParaRPr>
          </a:p>
          <a:p>
            <a:pPr marL="343080" indent="-343080">
              <a:lnSpc>
                <a:spcPct val="9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Combine the series designation with the next hierarchical unit designation in a single subfield.  A colon (:) joins the two designations:</a:t>
            </a:r>
            <a:endParaRPr b="0" lang="en-IN" sz="2800" strike="noStrike" u="none">
              <a:solidFill>
                <a:srgbClr val="ffffff"/>
              </a:solidFill>
              <a:effectLst/>
              <a:uFillTx/>
              <a:latin typeface="Tahoma"/>
            </a:endParaRPr>
          </a:p>
        </p:txBody>
      </p:sp>
      <p:sp>
        <p:nvSpPr>
          <p:cNvPr id="115" name="Rectangle 4"/>
          <p:cNvSpPr/>
          <p:nvPr/>
        </p:nvSpPr>
        <p:spPr>
          <a:xfrm>
            <a:off x="5486400" y="3581280"/>
            <a:ext cx="3276720" cy="2706840"/>
          </a:xfrm>
          <a:prstGeom prst="rect">
            <a:avLst/>
          </a:prstGeom>
          <a:solidFill>
            <a:srgbClr val="ffffff"/>
          </a:solidFill>
          <a:ln w="0">
            <a:noFill/>
          </a:ln>
        </p:spPr>
        <p:style>
          <a:lnRef idx="0"/>
          <a:fillRef idx="0"/>
          <a:effectRef idx="0"/>
          <a:fontRef idx="minor"/>
        </p:style>
        <p:txBody>
          <a:bodyPr lIns="92160" rIns="92160" tIns="46080" bIns="46080" anchor="t">
            <a:spAutoFit/>
          </a:bodyPr>
          <a:p>
            <a:pPr algn="ctr">
              <a:lnSpc>
                <a:spcPct val="7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Bach"/>
              </a:rPr>
              <a:t>VERHANDLUNGEN</a:t>
            </a:r>
            <a:endParaRPr b="0" lang="en-IN" sz="2400" strike="noStrike" u="none">
              <a:solidFill>
                <a:srgbClr val="ffffff"/>
              </a:solidFill>
              <a:effectLst/>
              <a:uFillTx/>
              <a:latin typeface="Arial Narrow"/>
            </a:endParaRPr>
          </a:p>
          <a:p>
            <a:pPr algn="ctr">
              <a:lnSpc>
                <a:spcPct val="3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Bach"/>
              </a:rPr>
              <a:t>DER</a:t>
            </a:r>
            <a:r>
              <a:rPr b="0" lang="en-US" sz="2400" strike="noStrike" u="none">
                <a:solidFill>
                  <a:srgbClr val="000000"/>
                </a:solidFill>
                <a:effectLst/>
                <a:uFillTx/>
                <a:latin typeface="Bach"/>
              </a:rPr>
              <a:t> </a:t>
            </a:r>
            <a:endParaRPr b="0" lang="en-IN" sz="2400" strike="noStrike" u="none">
              <a:solidFill>
                <a:srgbClr val="ffffff"/>
              </a:solidFill>
              <a:effectLst/>
              <a:uFillTx/>
              <a:latin typeface="Arial Narrow"/>
            </a:endParaRPr>
          </a:p>
          <a:p>
            <a:pPr algn="ctr">
              <a:lnSpc>
                <a:spcPct val="3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Bach"/>
              </a:rPr>
              <a:t>AKADEMIE</a:t>
            </a:r>
            <a:endParaRPr b="0" lang="en-IN" sz="2400" strike="noStrike" u="none">
              <a:solidFill>
                <a:srgbClr val="ffffff"/>
              </a:solidFill>
              <a:effectLst/>
              <a:uFillTx/>
              <a:latin typeface="Arial Narrow"/>
            </a:endParaRPr>
          </a:p>
          <a:p>
            <a:pPr algn="ctr">
              <a:lnSpc>
                <a:spcPct val="9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Bach"/>
              </a:rPr>
              <a:t>VON</a:t>
            </a:r>
            <a:r>
              <a:rPr b="0" lang="en-US" sz="2400" strike="noStrike" u="none">
                <a:solidFill>
                  <a:srgbClr val="000000"/>
                </a:solidFill>
                <a:effectLst/>
                <a:uFillTx/>
                <a:latin typeface="Bach"/>
              </a:rPr>
              <a:t> WISSENSCHAFTEN</a:t>
            </a:r>
            <a:endParaRPr b="0" lang="en-IN" sz="2400" strike="noStrike" u="none">
              <a:solidFill>
                <a:srgbClr val="ffffff"/>
              </a:solidFill>
              <a:effectLst/>
              <a:uFillTx/>
              <a:latin typeface="Arial Narrow"/>
            </a:endParaRPr>
          </a:p>
          <a:p>
            <a:pPr algn="ctr">
              <a:lnSpc>
                <a:spcPct val="9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Bach"/>
              </a:rPr>
              <a:t>Neue Folge IV.Bd</a:t>
            </a:r>
            <a:endParaRPr b="0" lang="en-IN" sz="2400" strike="noStrike" u="none">
              <a:solidFill>
                <a:srgbClr val="ffffff"/>
              </a:solidFill>
              <a:effectLst/>
              <a:uFillTx/>
              <a:latin typeface="Arial Narrow"/>
            </a:endParaRPr>
          </a:p>
          <a:p>
            <a:pPr algn="ctr">
              <a:lnSpc>
                <a:spcPct val="9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Bach"/>
              </a:rPr>
              <a:t>1882</a:t>
            </a:r>
            <a:endParaRPr b="0" lang="en-IN" sz="1800" strike="noStrike" u="none">
              <a:solidFill>
                <a:srgbClr val="ffffff"/>
              </a:solidFill>
              <a:effectLst/>
              <a:uFillTx/>
              <a:latin typeface="Arial Narrow"/>
            </a:endParaRPr>
          </a:p>
        </p:txBody>
      </p:sp>
      <p:sp>
        <p:nvSpPr>
          <p:cNvPr id="116" name="Rectangle 5"/>
          <p:cNvSpPr/>
          <p:nvPr/>
        </p:nvSpPr>
        <p:spPr>
          <a:xfrm>
            <a:off x="0" y="3886200"/>
            <a:ext cx="5334120" cy="2799000"/>
          </a:xfrm>
          <a:prstGeom prst="rect">
            <a:avLst/>
          </a:prstGeom>
          <a:noFill/>
          <a:ln w="0">
            <a:noFill/>
          </a:ln>
        </p:spPr>
        <p:style>
          <a:lnRef idx="0"/>
          <a:fillRef idx="0"/>
          <a:effectRef idx="0"/>
          <a:fontRef idx="minor"/>
        </p:style>
        <p:txBody>
          <a:bodyPr lIns="92160" rIns="92160" tIns="46080" bIns="46080" anchor="t">
            <a:spAutoFit/>
          </a:bodyPr>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cc"/>
                </a:solidFill>
                <a:effectLst/>
                <a:uFillTx/>
                <a:latin typeface="Tahoma"/>
              </a:rPr>
              <a:t>853 00</a:t>
            </a:r>
            <a:r>
              <a:rPr b="0" lang="en-US" sz="2400" strike="noStrike" u="none">
                <a:solidFill>
                  <a:srgbClr val="ffffff"/>
                </a:solidFill>
                <a:effectLst/>
                <a:uFillTx/>
                <a:latin typeface="Tahoma"/>
              </a:rPr>
              <a:t>  $8 1 $a n.F.:Bd. $i (year) </a:t>
            </a:r>
            <a:endParaRPr b="0" lang="en-IN" sz="2400" strike="noStrike" u="none">
              <a:solidFill>
                <a:srgbClr val="ffffff"/>
              </a:solidFill>
              <a:effectLst/>
              <a:uFillTx/>
              <a:latin typeface="Arial Narrow"/>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ahoma"/>
              </a:rPr>
              <a:t>	</a:t>
            </a:r>
            <a:r>
              <a:rPr b="0" lang="en-US" sz="2400" strike="noStrike" u="none">
                <a:solidFill>
                  <a:srgbClr val="ffffff"/>
                </a:solidFill>
                <a:effectLst/>
                <a:uFillTx/>
                <a:latin typeface="Tahoma"/>
              </a:rPr>
              <a:t>	</a:t>
            </a:r>
            <a:r>
              <a:rPr b="0" lang="en-US" sz="2400" strike="noStrike" u="none">
                <a:solidFill>
                  <a:srgbClr val="ffffff"/>
                </a:solidFill>
                <a:effectLst/>
                <a:uFillTx/>
                <a:latin typeface="Tahoma"/>
              </a:rPr>
              <a:t>$w a</a:t>
            </a:r>
            <a:endParaRPr b="0" lang="en-IN" sz="2400" strike="noStrike" u="none">
              <a:solidFill>
                <a:srgbClr val="ffffff"/>
              </a:solidFill>
              <a:effectLst/>
              <a:uFillTx/>
              <a:latin typeface="Arial Narrow"/>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cc"/>
                </a:solidFill>
                <a:effectLst/>
                <a:uFillTx/>
                <a:latin typeface="Tahoma"/>
              </a:rPr>
              <a:t>863 41</a:t>
            </a:r>
            <a:r>
              <a:rPr b="0" lang="en-US" sz="2400" strike="noStrike" u="none">
                <a:solidFill>
                  <a:srgbClr val="ffffff"/>
                </a:solidFill>
                <a:effectLst/>
                <a:uFillTx/>
                <a:latin typeface="Tahoma"/>
              </a:rPr>
              <a:t>  $8 1.1 $a 4 $i 1882</a:t>
            </a:r>
            <a:endParaRPr b="0" lang="en-IN" sz="2400" strike="noStrike" u="none">
              <a:solidFill>
                <a:srgbClr val="ffffff"/>
              </a:solidFill>
              <a:effectLst/>
              <a:uFillTx/>
              <a:latin typeface="Arial Narrow"/>
            </a:endParaRPr>
          </a:p>
          <a:p>
            <a:pPr lvl="1" marL="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ahoma"/>
              </a:rPr>
              <a:t>	</a:t>
            </a:r>
            <a:endParaRPr b="0" lang="en-IN" sz="2400" strike="noStrike" u="none">
              <a:solidFill>
                <a:srgbClr val="ffffff"/>
              </a:solidFill>
              <a:effectLst/>
              <a:uFillTx/>
              <a:latin typeface="Arial Narrow"/>
            </a:endParaRPr>
          </a:p>
          <a:p>
            <a:pPr lvl="1" marL="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00"/>
                </a:solidFill>
                <a:effectLst/>
                <a:uFillTx/>
                <a:latin typeface="Tahoma"/>
              </a:rPr>
              <a:t>May display as:</a:t>
            </a:r>
            <a:endParaRPr b="0" lang="en-IN" sz="2400" strike="noStrike" u="none">
              <a:solidFill>
                <a:srgbClr val="ffffff"/>
              </a:solidFill>
              <a:effectLst/>
              <a:uFillTx/>
              <a:latin typeface="Arial Narrow"/>
            </a:endParaRPr>
          </a:p>
          <a:p>
            <a:pPr lvl="1" marL="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00"/>
                </a:solidFill>
                <a:effectLst/>
                <a:uFillTx/>
                <a:latin typeface="Tahoma"/>
              </a:rPr>
              <a:t> </a:t>
            </a:r>
            <a:r>
              <a:rPr b="0" lang="en-US" sz="2400" strike="noStrike" u="none">
                <a:solidFill>
                  <a:srgbClr val="ffffff"/>
                </a:solidFill>
                <a:effectLst/>
                <a:uFillTx/>
                <a:latin typeface="Tahoma"/>
              </a:rPr>
              <a:t>n.F.:Bd.4(1882)</a:t>
            </a:r>
            <a:endParaRPr b="0" lang="en-IN" sz="2400" strike="noStrike" u="none">
              <a:solidFill>
                <a:srgbClr val="ffffff"/>
              </a:solidFill>
              <a:effectLst/>
              <a:uFillTx/>
              <a:latin typeface="Arial Narrow"/>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Arial Narrow"/>
            </a:endParaRPr>
          </a:p>
        </p:txBody>
      </p:sp>
      <p:sp>
        <p:nvSpPr>
          <p:cNvPr id="4" name="PlaceHolder 3"/>
          <p:cNvSpPr>
            <a:spLocks noGrp="1"/>
          </p:cNvSpPr>
          <p:nvPr>
            <p:ph type="sldNum" idx="3"/>
          </p:nvPr>
        </p:nvSpPr>
        <p:spPr/>
        <p:txBody>
          <a:bodyPr/>
          <a:p>
            <a:fld id="{EECC2C35-AF2A-4005-B5D0-177BE1D8D394}" type="slidenum">
              <a:t>13</a:t>
            </a:fld>
          </a:p>
        </p:txBody>
      </p:sp>
    </p:spTree>
  </p:cSld>
  <mc:AlternateContent>
    <mc:Choice Requires="p14">
      <p:transition spd="slow" p14:dur="2000"/>
    </mc:Choice>
    <mc:Fallback>
      <p:transition spd="slow"/>
    </mc:Fallback>
  </mc:AlternateContent>
  <p:timing>
    <p:tnLst>
      <p:par>
        <p:cTn id="110" dur="indefinite" restart="never" nodeType="tmRoot">
          <p:childTnLst>
            <p:seq>
              <p:cTn id="111" dur="indefinite" nodeType="mainSeq">
                <p:childTnLst>
                  <p:par>
                    <p:cTn id="112" fill="hold">
                      <p:stCondLst>
                        <p:cond delay="indefinite"/>
                      </p:stCondLst>
                      <p:childTnLst>
                        <p:par>
                          <p:cTn id="113" fill="hold">
                            <p:stCondLst>
                              <p:cond delay="0"/>
                            </p:stCondLst>
                            <p:childTnLst>
                              <p:par>
                                <p:cTn id="114" nodeType="clickEffect" fill="hold" presetClass="entr" presetID="2" presetSubtype="8">
                                  <p:stCondLst>
                                    <p:cond delay="0"/>
                                  </p:stCondLst>
                                  <p:childTnLst>
                                    <p:set>
                                      <p:cBhvr>
                                        <p:cTn id="115" dur="1" fill="hold">
                                          <p:stCondLst>
                                            <p:cond delay="0"/>
                                          </p:stCondLst>
                                        </p:cTn>
                                        <p:tgtEl>
                                          <p:spTgt spid="116"/>
                                        </p:tgtEl>
                                        <p:attrNameLst>
                                          <p:attrName>style.visibility</p:attrName>
                                        </p:attrNameLst>
                                      </p:cBhvr>
                                      <p:to>
                                        <p:strVal val="visible"/>
                                      </p:to>
                                    </p:set>
                                    <p:anim calcmode="lin" valueType="num">
                                      <p:cBhvr additive="base">
                                        <p:cTn id="116" dur="500" fill="hold"/>
                                        <p:tgtEl>
                                          <p:spTgt spid="116"/>
                                        </p:tgtEl>
                                        <p:attrNameLst>
                                          <p:attrName>ppt_x</p:attrName>
                                        </p:attrNameLst>
                                      </p:cBhvr>
                                      <p:tavLst>
                                        <p:tav tm="0">
                                          <p:val>
                                            <p:strVal val="0-#ppt_w/2"/>
                                          </p:val>
                                        </p:tav>
                                        <p:tav tm="100000">
                                          <p:val>
                                            <p:strVal val="#ppt_x"/>
                                          </p:val>
                                        </p:tav>
                                      </p:tavLst>
                                    </p:anim>
                                    <p:anim calcmode="lin" valueType="num">
                                      <p:cBhvr additive="base">
                                        <p:cTn id="117" dur="500" fill="hold"/>
                                        <p:tgtEl>
                                          <p:spTgt spid="1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117"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118"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9C3260B-9C8A-4DC0-A761-644E0F2DCC35}"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119"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Ordinal numbers</a:t>
            </a:r>
            <a:endParaRPr b="0" lang="en-IN" sz="4400" strike="noStrike" u="none">
              <a:solidFill>
                <a:srgbClr val="ffff66"/>
              </a:solidFill>
              <a:effectLst/>
              <a:uFillTx/>
              <a:latin typeface="Tahoma"/>
            </a:endParaRPr>
          </a:p>
        </p:txBody>
      </p:sp>
      <p:sp>
        <p:nvSpPr>
          <p:cNvPr id="120" name="PlaceHolder 2"/>
          <p:cNvSpPr>
            <a:spLocks noGrp="1"/>
          </p:cNvSpPr>
          <p:nvPr>
            <p:ph/>
          </p:nvPr>
        </p:nvSpPr>
        <p:spPr>
          <a:xfrm>
            <a:off x="304920" y="837720"/>
            <a:ext cx="8534160" cy="5410440"/>
          </a:xfrm>
          <a:prstGeom prst="rect">
            <a:avLst/>
          </a:prstGeom>
          <a:noFill/>
          <a:ln w="0">
            <a:noFill/>
          </a:ln>
        </p:spPr>
        <p:txBody>
          <a:bodyPr lIns="92160" rIns="92160" tIns="46080" bIns="46080" anchor="t">
            <a:normAutofit fontScale="92500" lnSpcReduction="9999"/>
          </a:bodyPr>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ahoma"/>
              </a:rPr>
              <a:t>Often, we transcribe “4. Band” and “1. año” as a volume + cardinal number, rather than as an ordinal number + volume</a:t>
            </a:r>
            <a:r>
              <a:rPr b="0" lang="en-US" sz="3200" strike="noStrike" u="none">
                <a:solidFill>
                  <a:srgbClr val="ffffff"/>
                </a:solidFill>
                <a:effectLst/>
                <a:uFillTx/>
                <a:latin typeface="Tahoma"/>
              </a:rPr>
              <a:t>:</a:t>
            </a:r>
            <a:endParaRPr b="0" lang="en-IN" sz="3200" strike="noStrike" u="none">
              <a:solidFill>
                <a:srgbClr val="ffffff"/>
              </a:solidFill>
              <a:effectLst/>
              <a:uFillTx/>
              <a:latin typeface="Tahoma"/>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ahoma"/>
              </a:rPr>
              <a:t>Bd. 4</a:t>
            </a:r>
            <a:endParaRPr b="0" lang="en-IN" sz="2400" strike="noStrike" u="none">
              <a:solidFill>
                <a:srgbClr val="ffffff"/>
              </a:solidFill>
              <a:effectLst/>
              <a:uFillTx/>
              <a:latin typeface="Tahoma"/>
            </a:endParaRPr>
          </a:p>
          <a:p>
            <a:pPr lvl="1" marL="743040" indent="-28584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ahoma"/>
              </a:rPr>
              <a:t>Año 1</a:t>
            </a:r>
            <a:r>
              <a:rPr b="0" lang="en-US" sz="2800" strike="noStrike" u="none">
                <a:solidFill>
                  <a:srgbClr val="ffffff"/>
                </a:solidFill>
                <a:effectLst/>
                <a:uFillTx/>
                <a:latin typeface="Tahoma"/>
              </a:rPr>
              <a:t>.</a:t>
            </a:r>
            <a:endParaRPr b="0" lang="en-IN" sz="2800" strike="noStrike" u="none">
              <a:solidFill>
                <a:srgbClr val="ffffff"/>
              </a:solidFill>
              <a:effectLst/>
              <a:uFillTx/>
              <a:latin typeface="Tahoma"/>
            </a:endParaRPr>
          </a:p>
          <a:p>
            <a:pPr marL="343080" indent="-34308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ahoma"/>
              </a:rPr>
              <a:t>We can do this because this other syntax is also acceptable in the languages involved.  We have no choice when we combine designations like n.F.:Bd.</a:t>
            </a:r>
            <a:endParaRPr b="0" lang="en-IN" sz="2800" strike="noStrike" u="none">
              <a:solidFill>
                <a:srgbClr val="ffffff"/>
              </a:solidFill>
              <a:effectLst/>
              <a:uFillTx/>
              <a:latin typeface="Tahoma"/>
            </a:endParaRPr>
          </a:p>
          <a:p>
            <a:pPr marL="343080" indent="-34308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ahoma"/>
              </a:rPr>
              <a:t>However, there is a special provision that can be used in most cases where a caption </a:t>
            </a:r>
            <a:r>
              <a:rPr b="0" i="1" lang="en-US" sz="2800" strike="noStrike" u="none">
                <a:solidFill>
                  <a:srgbClr val="ffffff"/>
                </a:solidFill>
                <a:effectLst/>
                <a:uFillTx/>
                <a:latin typeface="Tahoma"/>
              </a:rPr>
              <a:t>follows </a:t>
            </a:r>
            <a:r>
              <a:rPr b="0" lang="en-US" sz="2800" strike="noStrike" u="none">
                <a:solidFill>
                  <a:srgbClr val="ffffff"/>
                </a:solidFill>
                <a:effectLst/>
                <a:uFillTx/>
                <a:latin typeface="Tahoma"/>
              </a:rPr>
              <a:t>an </a:t>
            </a:r>
            <a:r>
              <a:rPr b="0" i="1" lang="en-US" sz="2800" strike="noStrike" u="none">
                <a:solidFill>
                  <a:srgbClr val="ffffff"/>
                </a:solidFill>
                <a:effectLst/>
                <a:uFillTx/>
                <a:latin typeface="Tahoma"/>
              </a:rPr>
              <a:t>ordinal</a:t>
            </a:r>
            <a:r>
              <a:rPr b="0" lang="en-US" sz="2800" strike="noStrike" u="none">
                <a:solidFill>
                  <a:srgbClr val="ffffff"/>
                </a:solidFill>
                <a:effectLst/>
                <a:uFillTx/>
                <a:latin typeface="Tahoma"/>
              </a:rPr>
              <a:t>  number:</a:t>
            </a:r>
            <a:endParaRPr b="0" lang="en-IN" sz="2800" strike="noStrike" u="none">
              <a:solidFill>
                <a:srgbClr val="ffffff"/>
              </a:solidFill>
              <a:effectLst/>
              <a:uFillTx/>
              <a:latin typeface="Tahoma"/>
            </a:endParaRPr>
          </a:p>
        </p:txBody>
      </p:sp>
      <p:sp>
        <p:nvSpPr>
          <p:cNvPr id="4" name="PlaceHolder 3"/>
          <p:cNvSpPr>
            <a:spLocks noGrp="1"/>
          </p:cNvSpPr>
          <p:nvPr>
            <p:ph type="sldNum" idx="3"/>
          </p:nvPr>
        </p:nvSpPr>
        <p:spPr/>
        <p:txBody>
          <a:bodyPr/>
          <a:p>
            <a:fld id="{4D99016F-0903-4A0F-A86D-5613727DB23D}"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121"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122"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9F7CB10-9E9D-4E68-8A35-8819964AA2E5}"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123" name="PlaceHolder 1"/>
          <p:cNvSpPr>
            <a:spLocks noGrp="1"/>
          </p:cNvSpPr>
          <p:nvPr>
            <p:ph type="title"/>
          </p:nvPr>
        </p:nvSpPr>
        <p:spPr>
          <a:xfrm>
            <a:off x="0" y="-360"/>
            <a:ext cx="8686800" cy="6094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Holdings with ordinals</a:t>
            </a:r>
            <a:endParaRPr b="0" lang="en-IN" sz="4400" strike="noStrike" u="none">
              <a:solidFill>
                <a:srgbClr val="ffff66"/>
              </a:solidFill>
              <a:effectLst/>
              <a:uFillTx/>
              <a:latin typeface="Tahoma"/>
            </a:endParaRPr>
          </a:p>
        </p:txBody>
      </p:sp>
      <p:sp>
        <p:nvSpPr>
          <p:cNvPr id="124" name="PlaceHolder 2"/>
          <p:cNvSpPr>
            <a:spLocks noGrp="1"/>
          </p:cNvSpPr>
          <p:nvPr>
            <p:ph/>
          </p:nvPr>
        </p:nvSpPr>
        <p:spPr>
          <a:xfrm>
            <a:off x="-360" y="2819160"/>
            <a:ext cx="9147240" cy="3431880"/>
          </a:xfrm>
          <a:prstGeom prst="rect">
            <a:avLst/>
          </a:prstGeom>
          <a:noFill/>
          <a:ln w="0">
            <a:noFill/>
          </a:ln>
        </p:spPr>
        <p:txBody>
          <a:bodyPr lIns="92160" rIns="92160" tIns="46080" bIns="46080" anchor="t">
            <a:normAutofit/>
          </a:bodyPr>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  853 10 $8 1 $a </a:t>
            </a:r>
            <a:r>
              <a:rPr b="0" lang="en-IN" sz="2800" strike="noStrike" u="none">
                <a:solidFill>
                  <a:srgbClr val="ffff00"/>
                </a:solidFill>
                <a:effectLst/>
                <a:uFillTx/>
                <a:latin typeface="Tahoma"/>
              </a:rPr>
              <a:t>+ed</a:t>
            </a:r>
            <a:r>
              <a:rPr b="0" lang="en-IN" sz="2800" strike="noStrike" u="none">
                <a:solidFill>
                  <a:srgbClr val="ffffff"/>
                </a:solidFill>
                <a:effectLst/>
                <a:uFillTx/>
                <a:latin typeface="Tahoma"/>
              </a:rPr>
              <a:t>. $i (year) $w x</a:t>
            </a:r>
            <a:endParaRPr b="0" lang="en-IN" sz="2800" strike="noStrike" u="none">
              <a:solidFill>
                <a:srgbClr val="ffffff"/>
              </a:solidFill>
              <a:effectLst/>
              <a:uFillTx/>
              <a:latin typeface="Tahoma"/>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cc66"/>
                </a:solidFill>
                <a:effectLst/>
                <a:uFillTx/>
                <a:latin typeface="Tahoma"/>
              </a:rPr>
              <a:t>  863 41 $8 1.1 $a 12 $i 1990 $w g</a:t>
            </a:r>
            <a:endParaRPr b="0" lang="en-IN" sz="2800" strike="noStrike" u="none">
              <a:solidFill>
                <a:srgbClr val="ffffff"/>
              </a:solidFill>
              <a:effectLst/>
              <a:uFillTx/>
              <a:latin typeface="Tahoma"/>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cc66"/>
                </a:solidFill>
                <a:effectLst/>
                <a:uFillTx/>
                <a:latin typeface="Tahoma"/>
              </a:rPr>
              <a:t>  863 41 $8 1.2 $a 14 $i 1997 </a:t>
            </a:r>
            <a:br>
              <a:rPr sz="2800"/>
            </a:br>
            <a:endParaRPr b="0" lang="en-IN" sz="2800" strike="noStrike" u="none">
              <a:solidFill>
                <a:srgbClr val="ffffff"/>
              </a:solidFill>
              <a:effectLst/>
              <a:uFillTx/>
              <a:latin typeface="Tahoma"/>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800" strike="noStrike" u="none">
                <a:solidFill>
                  <a:srgbClr val="ffff66"/>
                </a:solidFill>
                <a:effectLst/>
                <a:uFillTx/>
                <a:latin typeface="Tahoma"/>
              </a:rPr>
              <a:t> </a:t>
            </a:r>
            <a:r>
              <a:rPr b="0" lang="en-IN" sz="2800" strike="noStrike" u="none">
                <a:solidFill>
                  <a:srgbClr val="ffff66"/>
                </a:solidFill>
                <a:effectLst/>
                <a:uFillTx/>
                <a:latin typeface="Tahoma"/>
              </a:rPr>
              <a:t>may display (by means of Language code) as...</a:t>
            </a:r>
            <a:br>
              <a:rPr sz="2800"/>
            </a:br>
            <a:r>
              <a:rPr b="0" lang="en-IN" sz="2800" strike="noStrike" u="none">
                <a:solidFill>
                  <a:srgbClr val="ffff66"/>
                </a:solidFill>
                <a:effectLst/>
                <a:uFillTx/>
                <a:latin typeface="Tahoma"/>
              </a:rPr>
              <a:t>   </a:t>
            </a:r>
            <a:r>
              <a:rPr b="0" lang="en-IN" sz="2800" strike="noStrike" u="none">
                <a:solidFill>
                  <a:srgbClr val="fce9d0"/>
                </a:solidFill>
                <a:effectLst/>
                <a:uFillTx/>
                <a:latin typeface="Tahoma"/>
              </a:rPr>
              <a:t>1</a:t>
            </a:r>
            <a:r>
              <a:rPr b="0" lang="en-IN" sz="2800" strike="noStrike" u="none">
                <a:solidFill>
                  <a:srgbClr val="ffffcc"/>
                </a:solidFill>
                <a:effectLst/>
                <a:uFillTx/>
                <a:latin typeface="Tahoma"/>
              </a:rPr>
              <a:t>2th ed.(1990)</a:t>
            </a:r>
            <a:r>
              <a:rPr b="0" lang="en-IN" sz="2800" strike="noStrike" u="none">
                <a:solidFill>
                  <a:srgbClr val="ffffcc"/>
                </a:solidFill>
                <a:effectLst/>
                <a:uFillTx/>
                <a:latin typeface="Lucida Handwriting"/>
              </a:rPr>
              <a:t>,</a:t>
            </a:r>
            <a:br>
              <a:rPr sz="2800"/>
            </a:br>
            <a:r>
              <a:rPr b="0" lang="en-IN" sz="2800" strike="noStrike" u="none">
                <a:solidFill>
                  <a:srgbClr val="ffffcc"/>
                </a:solidFill>
                <a:effectLst/>
                <a:uFillTx/>
                <a:latin typeface="Tahoma"/>
              </a:rPr>
              <a:t>   14th ed.(1997)</a:t>
            </a:r>
            <a:endParaRPr b="0" lang="en-IN" sz="2800" strike="noStrike" u="none">
              <a:solidFill>
                <a:srgbClr val="ffffff"/>
              </a:solidFill>
              <a:effectLst/>
              <a:uFillTx/>
              <a:latin typeface="Tahoma"/>
            </a:endParaRPr>
          </a:p>
        </p:txBody>
      </p:sp>
      <p:sp>
        <p:nvSpPr>
          <p:cNvPr id="125" name="Rectangle 5"/>
          <p:cNvSpPr/>
          <p:nvPr/>
        </p:nvSpPr>
        <p:spPr>
          <a:xfrm flipH="1">
            <a:off x="5333400" y="914400"/>
            <a:ext cx="3352680" cy="1800360"/>
          </a:xfrm>
          <a:prstGeom prst="rect">
            <a:avLst/>
          </a:prstGeom>
          <a:solidFill>
            <a:srgbClr val="000000"/>
          </a:solidFill>
          <a:ln w="0">
            <a:noFill/>
          </a:ln>
        </p:spPr>
        <p:style>
          <a:lnRef idx="0"/>
          <a:fillRef idx="0"/>
          <a:effectRef idx="0"/>
          <a:fontRef idx="minor"/>
        </p:style>
        <p:txBody>
          <a:bodyPr lIns="92160" rIns="92160" tIns="46080" bIns="4608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Arial Rounded MT Bold"/>
              </a:rPr>
              <a:t>14th Edition 1997  </a:t>
            </a:r>
            <a:endParaRPr b="0" lang="en-IN" sz="2800" strike="noStrike" u="none">
              <a:solidFill>
                <a:srgbClr val="ffffff"/>
              </a:solidFill>
              <a:effectLst/>
              <a:uFillTx/>
              <a:latin typeface="Arial Narrow"/>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f3300"/>
                </a:solidFill>
                <a:effectLst/>
                <a:uFillTx/>
                <a:latin typeface="Times New Roman"/>
              </a:rPr>
              <a:t>   </a:t>
            </a:r>
            <a:r>
              <a:rPr b="1" i="1" lang="en-IN" sz="2800" strike="noStrike" u="none">
                <a:solidFill>
                  <a:srgbClr val="0033cc"/>
                </a:solidFill>
                <a:effectLst/>
                <a:uFillTx/>
                <a:latin typeface="Times New Roman"/>
              </a:rPr>
              <a:t>P. Sarmiento's</a:t>
            </a:r>
            <a:endParaRPr b="0" lang="en-IN" sz="2800" strike="noStrike" u="none">
              <a:solidFill>
                <a:srgbClr val="ffffff"/>
              </a:solidFill>
              <a:effectLst/>
              <a:uFillTx/>
              <a:latin typeface="Arial Narrow"/>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0033cc"/>
                </a:solidFill>
                <a:effectLst/>
                <a:uFillTx/>
                <a:latin typeface="Times New Roman"/>
              </a:rPr>
              <a:t>   Guide to</a:t>
            </a:r>
            <a:endParaRPr b="0" lang="en-IN" sz="2800" strike="noStrike" u="none">
              <a:solidFill>
                <a:srgbClr val="ffffff"/>
              </a:solidFill>
              <a:effectLst/>
              <a:uFillTx/>
              <a:latin typeface="Arial Narrow"/>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0033cc"/>
                </a:solidFill>
                <a:effectLst/>
                <a:uFillTx/>
                <a:latin typeface="Times New Roman"/>
              </a:rPr>
              <a:t>    Colonial Mexico</a:t>
            </a:r>
            <a:endParaRPr b="0" lang="en-IN" sz="2800" strike="noStrike" u="none">
              <a:solidFill>
                <a:srgbClr val="ffffff"/>
              </a:solidFill>
              <a:effectLst/>
              <a:uFillTx/>
              <a:latin typeface="Arial Narrow"/>
            </a:endParaRPr>
          </a:p>
        </p:txBody>
      </p:sp>
      <p:sp>
        <p:nvSpPr>
          <p:cNvPr id="126" name="Rectangle 6"/>
          <p:cNvSpPr/>
          <p:nvPr/>
        </p:nvSpPr>
        <p:spPr>
          <a:xfrm>
            <a:off x="1371600" y="838080"/>
            <a:ext cx="3505320" cy="1800360"/>
          </a:xfrm>
          <a:prstGeom prst="rect">
            <a:avLst/>
          </a:prstGeom>
          <a:solidFill>
            <a:srgbClr val="000000"/>
          </a:solidFill>
          <a:ln w="0">
            <a:noFill/>
          </a:ln>
        </p:spPr>
        <p:style>
          <a:lnRef idx="0"/>
          <a:fillRef idx="0"/>
          <a:effectRef idx="0"/>
          <a:fontRef idx="minor"/>
        </p:style>
        <p:txBody>
          <a:bodyPr lIns="92160" rIns="92160" tIns="46080" bIns="4608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Arial Rounded MT Bold"/>
              </a:rPr>
              <a:t>12th Edition 1990  </a:t>
            </a:r>
            <a:endParaRPr b="0" lang="en-IN" sz="2800" strike="noStrike" u="none">
              <a:solidFill>
                <a:srgbClr val="ffffff"/>
              </a:solidFill>
              <a:effectLst/>
              <a:uFillTx/>
              <a:latin typeface="Arial Narrow"/>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f3300"/>
                </a:solidFill>
                <a:effectLst/>
                <a:uFillTx/>
                <a:latin typeface="Times New Roman"/>
              </a:rPr>
              <a:t>   P. Sarmiento's</a:t>
            </a:r>
            <a:endParaRPr b="0" lang="en-IN" sz="2800" strike="noStrike" u="none">
              <a:solidFill>
                <a:srgbClr val="ffffff"/>
              </a:solidFill>
              <a:effectLst/>
              <a:uFillTx/>
              <a:latin typeface="Arial Narrow"/>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f3300"/>
                </a:solidFill>
                <a:effectLst/>
                <a:uFillTx/>
                <a:latin typeface="Times New Roman"/>
              </a:rPr>
              <a:t>   Guide to</a:t>
            </a:r>
            <a:endParaRPr b="0" lang="en-IN" sz="2800" strike="noStrike" u="none">
              <a:solidFill>
                <a:srgbClr val="ffffff"/>
              </a:solidFill>
              <a:effectLst/>
              <a:uFillTx/>
              <a:latin typeface="Arial Narrow"/>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f3300"/>
                </a:solidFill>
                <a:effectLst/>
                <a:uFillTx/>
                <a:latin typeface="Times New Roman"/>
              </a:rPr>
              <a:t>    Colonial Mexico</a:t>
            </a:r>
            <a:endParaRPr b="0" lang="en-IN" sz="2800" strike="noStrike" u="none">
              <a:solidFill>
                <a:srgbClr val="ffffff"/>
              </a:solidFill>
              <a:effectLst/>
              <a:uFillTx/>
              <a:latin typeface="Arial Narrow"/>
            </a:endParaRPr>
          </a:p>
        </p:txBody>
      </p:sp>
      <p:sp>
        <p:nvSpPr>
          <p:cNvPr id="4" name="PlaceHolder 3"/>
          <p:cNvSpPr>
            <a:spLocks noGrp="1"/>
          </p:cNvSpPr>
          <p:nvPr>
            <p:ph type="sldNum" idx="3"/>
          </p:nvPr>
        </p:nvSpPr>
        <p:spPr/>
        <p:txBody>
          <a:bodyPr/>
          <a:p>
            <a:fld id="{882588C7-E212-4F09-85F0-1FC77F6B6D96}" type="slidenum">
              <a:t>15</a:t>
            </a:fld>
          </a:p>
        </p:txBody>
      </p:sp>
    </p:spTree>
  </p:cSld>
  <mc:AlternateContent>
    <mc:Choice Requires="p14">
      <p:transition spd="slow" p14:dur="2000"/>
    </mc:Choice>
    <mc:Fallback>
      <p:transition spd="slow"/>
    </mc:Fallback>
  </mc:AlternateContent>
  <p:timing>
    <p:tnLst>
      <p:par>
        <p:cTn id="118" dur="indefinite" restart="never" nodeType="tmRoot">
          <p:childTnLst>
            <p:seq>
              <p:cTn id="119" dur="indefinite" nodeType="mainSeq">
                <p:childTnLst>
                  <p:par>
                    <p:cTn id="120" fill="hold">
                      <p:stCondLst>
                        <p:cond delay="indefinite"/>
                      </p:stCondLst>
                      <p:childTnLst>
                        <p:par>
                          <p:cTn id="121" fill="hold">
                            <p:stCondLst>
                              <p:cond delay="0"/>
                            </p:stCondLst>
                            <p:childTnLst>
                              <p:par>
                                <p:cTn id="122" nodeType="clickEffect" fill="hold" presetClass="entr" presetID="1">
                                  <p:stCondLst>
                                    <p:cond delay="0"/>
                                  </p:stCondLst>
                                  <p:childTnLst>
                                    <p:set>
                                      <p:cBhvr>
                                        <p:cTn id="123" dur="1" fill="hold">
                                          <p:stCondLst>
                                            <p:cond delay="499"/>
                                          </p:stCondLst>
                                        </p:cTn>
                                        <p:tgtEl>
                                          <p:spTgt spid="124">
                                            <p:txEl>
                                              <p:pRg st="0" end="0"/>
                                            </p:txEl>
                                          </p:spTgt>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nodeType="clickEffect" fill="hold" presetClass="entr" presetID="1">
                                  <p:stCondLst>
                                    <p:cond delay="0"/>
                                  </p:stCondLst>
                                  <p:childTnLst>
                                    <p:set>
                                      <p:cBhvr>
                                        <p:cTn id="127" dur="1" fill="hold">
                                          <p:stCondLst>
                                            <p:cond delay="499"/>
                                          </p:stCondLst>
                                        </p:cTn>
                                        <p:tgtEl>
                                          <p:spTgt spid="124">
                                            <p:txEl>
                                              <p:pRg st="1" end="1"/>
                                            </p:txEl>
                                          </p:spTgt>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nodeType="clickEffect" fill="hold" presetClass="entr" presetID="1">
                                  <p:stCondLst>
                                    <p:cond delay="0"/>
                                  </p:stCondLst>
                                  <p:childTnLst>
                                    <p:set>
                                      <p:cBhvr>
                                        <p:cTn id="131" dur="1" fill="hold">
                                          <p:stCondLst>
                                            <p:cond delay="499"/>
                                          </p:stCondLst>
                                        </p:cTn>
                                        <p:tgtEl>
                                          <p:spTgt spid="124">
                                            <p:txEl>
                                              <p:pRg st="2" end="2"/>
                                            </p:txEl>
                                          </p:spTgt>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nodeType="clickEffect" fill="hold" presetClass="entr" presetID="1">
                                  <p:stCondLst>
                                    <p:cond delay="0"/>
                                  </p:stCondLst>
                                  <p:childTnLst>
                                    <p:set>
                                      <p:cBhvr>
                                        <p:cTn id="135" dur="1" fill="hold">
                                          <p:stCondLst>
                                            <p:cond delay="499"/>
                                          </p:stCondLst>
                                        </p:cTn>
                                        <p:tgtEl>
                                          <p:spTgt spid="124">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127" name="Footer Placeholder 2"/>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128" name="Slide Number Placeholder 3"/>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5EDDFC1-9A95-40D1-AB3D-89D5BBC9A380}"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129" name="Rectangle 2"/>
          <p:cNvSpPr/>
          <p:nvPr/>
        </p:nvSpPr>
        <p:spPr>
          <a:xfrm>
            <a:off x="0" y="0"/>
            <a:ext cx="9144000" cy="838080"/>
          </a:xfrm>
          <a:prstGeom prst="rect">
            <a:avLst/>
          </a:prstGeom>
          <a:solidFill>
            <a:srgbClr val="006666"/>
          </a:solidFill>
          <a:ln w="0">
            <a:noFill/>
          </a:ln>
        </p:spPr>
        <p:style>
          <a:lnRef idx="0"/>
          <a:fillRef idx="0"/>
          <a:effectRef idx="0"/>
          <a:fontRef idx="minor"/>
        </p:style>
        <p:txBody>
          <a:bodyPr lIns="92160" rIns="92160" tIns="46080" bIns="4608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66"/>
                </a:solidFill>
                <a:effectLst/>
                <a:uFillTx/>
                <a:latin typeface="Tahoma"/>
              </a:rPr>
              <a:t>Holdings with Roman numerals</a:t>
            </a:r>
            <a:endParaRPr b="0" lang="en-IN" sz="4000" strike="noStrike" u="none">
              <a:solidFill>
                <a:srgbClr val="ffffff"/>
              </a:solidFill>
              <a:effectLst/>
              <a:uFillTx/>
              <a:latin typeface="Arial Narrow"/>
            </a:endParaRPr>
          </a:p>
        </p:txBody>
      </p:sp>
      <p:sp>
        <p:nvSpPr>
          <p:cNvPr id="130" name="Rectangle 3"/>
          <p:cNvSpPr/>
          <p:nvPr/>
        </p:nvSpPr>
        <p:spPr>
          <a:xfrm>
            <a:off x="228600" y="1066680"/>
            <a:ext cx="8686800" cy="2819520"/>
          </a:xfrm>
          <a:prstGeom prst="rect">
            <a:avLst/>
          </a:prstGeom>
          <a:noFill/>
          <a:ln w="0">
            <a:noFill/>
          </a:ln>
        </p:spPr>
        <p:style>
          <a:lnRef idx="0"/>
          <a:fillRef idx="0"/>
          <a:effectRef idx="0"/>
          <a:fontRef idx="minor"/>
        </p:style>
        <p:txBody>
          <a:bodyPr lIns="92160" rIns="92160" tIns="46080" bIns="46080" anchor="t">
            <a:noAutofit/>
          </a:bodyPr>
          <a:p>
            <a:pPr marL="343080" indent="-343080">
              <a:lnSpc>
                <a:spcPct val="80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sng">
                <a:solidFill>
                  <a:srgbClr val="ffcc66"/>
                </a:solidFill>
                <a:effectLst/>
                <a:uFillTx/>
                <a:latin typeface="Tahoma"/>
              </a:rPr>
              <a:t>New holding at time of check-in (Italian title)</a:t>
            </a:r>
            <a:br>
              <a:rPr sz="3200"/>
            </a:br>
            <a:br>
              <a:rPr sz="3200"/>
            </a:br>
            <a:r>
              <a:rPr b="0" lang="en-IN" sz="3200" strike="noStrike" u="none">
                <a:solidFill>
                  <a:srgbClr val="ffffff"/>
                </a:solidFill>
                <a:effectLst/>
                <a:uFillTx/>
                <a:latin typeface="Tahoma"/>
              </a:rPr>
              <a:t>853 20 $8 1 $a t. $b n. $u 24 $v r $i (year) $j (month) $k (day) $w s $x 0101 $ypd01,15</a:t>
            </a:r>
            <a:br>
              <a:rPr sz="3200"/>
            </a:br>
            <a:br>
              <a:rPr sz="3200"/>
            </a:br>
            <a:r>
              <a:rPr b="0" lang="en-IN" sz="3200" strike="noStrike" u="none">
                <a:solidFill>
                  <a:srgbClr val="ffffcc"/>
                </a:solidFill>
                <a:effectLst/>
                <a:uFillTx/>
                <a:latin typeface="Tahoma"/>
              </a:rPr>
              <a:t>863 41</a:t>
            </a:r>
            <a:r>
              <a:rPr b="0" lang="en-IN" sz="3200" strike="noStrike" u="none">
                <a:solidFill>
                  <a:srgbClr val="ffff00"/>
                </a:solidFill>
                <a:effectLst/>
                <a:uFillTx/>
                <a:latin typeface="Tahoma"/>
              </a:rPr>
              <a:t>  </a:t>
            </a:r>
            <a:r>
              <a:rPr b="0" lang="en-IN" sz="3200" strike="noStrike" u="none">
                <a:solidFill>
                  <a:srgbClr val="ffffcc"/>
                </a:solidFill>
                <a:effectLst/>
                <a:uFillTx/>
                <a:latin typeface="Tahoma"/>
              </a:rPr>
              <a:t>$8 1.1 $a 4 $b 1 $i 1997 $j 01 </a:t>
            </a:r>
            <a:br>
              <a:rPr sz="3200"/>
            </a:br>
            <a:r>
              <a:rPr b="0" lang="en-IN" sz="3200" strike="noStrike" u="none">
                <a:solidFill>
                  <a:srgbClr val="ffffcc"/>
                </a:solidFill>
                <a:effectLst/>
                <a:uFillTx/>
                <a:latin typeface="Tahoma"/>
              </a:rPr>
              <a:t>$k 1</a:t>
            </a:r>
            <a:endParaRPr b="0" lang="en-IN" sz="3200" strike="noStrike" u="none">
              <a:solidFill>
                <a:srgbClr val="ffffff"/>
              </a:solidFill>
              <a:effectLst/>
              <a:uFillTx/>
              <a:latin typeface="Arial Narrow"/>
            </a:endParaRPr>
          </a:p>
          <a:p>
            <a:pPr marL="343080" indent="-343080">
              <a:lnSpc>
                <a:spcPct val="80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Arial Narrow"/>
            </a:endParaRPr>
          </a:p>
        </p:txBody>
      </p:sp>
      <p:sp>
        <p:nvSpPr>
          <p:cNvPr id="131" name="Rectangle 4"/>
          <p:cNvSpPr/>
          <p:nvPr/>
        </p:nvSpPr>
        <p:spPr>
          <a:xfrm>
            <a:off x="304920" y="4191120"/>
            <a:ext cx="6400800" cy="1068120"/>
          </a:xfrm>
          <a:prstGeom prst="rect">
            <a:avLst/>
          </a:prstGeom>
          <a:noFill/>
          <a:ln w="0">
            <a:noFill/>
          </a:ln>
        </p:spPr>
        <p:style>
          <a:lnRef idx="0"/>
          <a:fillRef idx="0"/>
          <a:effectRef idx="0"/>
          <a:fontRef idx="minor"/>
        </p:style>
        <p:txBody>
          <a:bodyPr lIns="92160" rIns="92160" tIns="46080" bIns="4608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cc66"/>
                </a:solidFill>
                <a:effectLst/>
                <a:uFillTx/>
                <a:latin typeface="Tahoma"/>
              </a:rPr>
              <a:t>May display in online system as...</a:t>
            </a:r>
            <a:endParaRPr b="0" lang="en-IN" sz="3200" strike="noStrike" u="none">
              <a:solidFill>
                <a:srgbClr val="ffffff"/>
              </a:solidFill>
              <a:effectLst/>
              <a:uFillTx/>
              <a:latin typeface="Arial Narrow"/>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t.4:n.1(1997:genn.1)</a:t>
            </a:r>
            <a:endParaRPr b="0" lang="en-IN" sz="3200" strike="noStrike" u="none">
              <a:solidFill>
                <a:srgbClr val="ffffff"/>
              </a:solidFill>
              <a:effectLst/>
              <a:uFillTx/>
              <a:latin typeface="Arial Narrow"/>
            </a:endParaRPr>
          </a:p>
        </p:txBody>
      </p:sp>
      <p:sp>
        <p:nvSpPr>
          <p:cNvPr id="132" name="Rectangle 5"/>
          <p:cNvSpPr/>
          <p:nvPr/>
        </p:nvSpPr>
        <p:spPr>
          <a:xfrm>
            <a:off x="6781680" y="3733920"/>
            <a:ext cx="1828800" cy="2436120"/>
          </a:xfrm>
          <a:prstGeom prst="rect">
            <a:avLst/>
          </a:prstGeom>
          <a:solidFill>
            <a:srgbClr val="cc6600"/>
          </a:solidFill>
          <a:ln w="12600">
            <a:solidFill>
              <a:srgbClr val="ff0000"/>
            </a:solidFill>
            <a:miter/>
          </a:ln>
        </p:spPr>
        <p:style>
          <a:lnRef idx="0"/>
          <a:fillRef idx="0"/>
          <a:effectRef idx="0"/>
          <a:fontRef idx="minor"/>
        </p:style>
        <p:txBody>
          <a:bodyPr lIns="92160" rIns="92160" tIns="46080" bIns="46080" anchor="t">
            <a:spAutoFit/>
          </a:bodyPr>
          <a:p>
            <a:pPr algn="ct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800" strike="noStrike" u="none">
                <a:solidFill>
                  <a:srgbClr val="ffffff"/>
                </a:solidFill>
                <a:effectLst/>
                <a:uFillTx/>
                <a:latin typeface="Arial Narrow"/>
              </a:rPr>
              <a:t>La Cultura</a:t>
            </a:r>
            <a:endParaRPr b="0" lang="en-IN" sz="2800" strike="noStrike" u="none">
              <a:solidFill>
                <a:srgbClr val="ffffff"/>
              </a:solidFill>
              <a:effectLst/>
              <a:uFillTx/>
              <a:latin typeface="Arial Narrow"/>
            </a:endParaRPr>
          </a:p>
          <a:p>
            <a:pPr algn="ctr">
              <a:lnSpc>
                <a:spcPct val="3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800" strike="noStrike" u="none">
                <a:solidFill>
                  <a:srgbClr val="ffffff"/>
                </a:solidFill>
                <a:effectLst/>
                <a:uFillTx/>
                <a:latin typeface="Arial Narrow"/>
              </a:rPr>
              <a:t>Romana</a:t>
            </a:r>
            <a:endParaRPr b="0" lang="en-IN" sz="2800" strike="noStrike" u="none">
              <a:solidFill>
                <a:srgbClr val="ffffff"/>
              </a:solidFill>
              <a:effectLst/>
              <a:uFillTx/>
              <a:latin typeface="Arial Narrow"/>
            </a:endParaRPr>
          </a:p>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660033"/>
                </a:solidFill>
                <a:effectLst/>
                <a:uFillTx/>
                <a:latin typeface="Arial Narrow"/>
              </a:rPr>
              <a:t>Tomo IV</a:t>
            </a:r>
            <a:endParaRPr b="0" lang="en-IN" sz="2400" strike="noStrike" u="none">
              <a:solidFill>
                <a:srgbClr val="ffffff"/>
              </a:solidFill>
              <a:effectLst/>
              <a:uFillTx/>
              <a:latin typeface="Arial Narrow"/>
            </a:endParaRPr>
          </a:p>
          <a:p>
            <a:pPr algn="ctr">
              <a:lnSpc>
                <a:spcPct val="3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660033"/>
                </a:solidFill>
                <a:effectLst/>
                <a:uFillTx/>
                <a:latin typeface="Arial Narrow"/>
              </a:rPr>
              <a:t>Numero 1</a:t>
            </a:r>
            <a:endParaRPr b="0" lang="en-IN" sz="2400" strike="noStrike" u="none">
              <a:solidFill>
                <a:srgbClr val="ffffff"/>
              </a:solidFill>
              <a:effectLst/>
              <a:uFillTx/>
              <a:latin typeface="Arial Narrow"/>
            </a:endParaRPr>
          </a:p>
          <a:p>
            <a:pPr algn="ctr">
              <a:lnSpc>
                <a:spcPct val="5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660033"/>
                </a:solidFill>
                <a:effectLst/>
                <a:uFillTx/>
                <a:latin typeface="Arial Narrow"/>
              </a:rPr>
              <a:t>1 gennaio</a:t>
            </a:r>
            <a:endParaRPr b="0" lang="en-IN" sz="2400" strike="noStrike" u="none">
              <a:solidFill>
                <a:srgbClr val="ffffff"/>
              </a:solidFill>
              <a:effectLst/>
              <a:uFillTx/>
              <a:latin typeface="Arial Narrow"/>
            </a:endParaRPr>
          </a:p>
          <a:p>
            <a:pPr algn="ctr">
              <a:lnSpc>
                <a:spcPct val="4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660033"/>
                </a:solidFill>
                <a:effectLst/>
                <a:uFillTx/>
                <a:latin typeface="Arial Narrow"/>
              </a:rPr>
              <a:t> 1997</a:t>
            </a:r>
            <a:endParaRPr b="0" lang="en-IN" sz="2400" strike="noStrike" u="none">
              <a:solidFill>
                <a:srgbClr val="ffffff"/>
              </a:solidFill>
              <a:effectLst/>
              <a:uFillTx/>
              <a:latin typeface="Arial Narrow"/>
            </a:endParaRPr>
          </a:p>
        </p:txBody>
      </p:sp>
      <p:sp>
        <p:nvSpPr>
          <p:cNvPr id="133" name="Freeform 6"/>
          <p:cNvSpPr/>
          <p:nvPr/>
        </p:nvSpPr>
        <p:spPr>
          <a:xfrm>
            <a:off x="7462800" y="4648320"/>
            <a:ext cx="312840" cy="155520"/>
          </a:xfrm>
          <a:custGeom>
            <a:avLst/>
            <a:gdLst>
              <a:gd name="textAreaLeft" fmla="*/ 0 w 312840"/>
              <a:gd name="textAreaRight" fmla="*/ 312840 w 312840"/>
              <a:gd name="textAreaTop" fmla="*/ 0 h 155520"/>
              <a:gd name="textAreaBottom" fmla="*/ 155880 h 155520"/>
              <a:gd name="GluePoint1X" fmla="*/ 40322435 w 197"/>
              <a:gd name="GluePoint1Y" fmla="*/ 0 h 98"/>
              <a:gd name="GluePoint2X" fmla="*/ 40322435 w 197"/>
              <a:gd name="GluePoint2Y" fmla="*/ 25201561 h 98"/>
              <a:gd name="GluePoint3X" fmla="*/ 0 w 197"/>
              <a:gd name="GluePoint3Y" fmla="*/ 37801551 h 98"/>
              <a:gd name="GluePoint4X" fmla="*/ 0 w 197"/>
              <a:gd name="GluePoint4Y" fmla="*/ 196572176 h 98"/>
              <a:gd name="GluePoint5X" fmla="*/ 40322435 w 197"/>
              <a:gd name="GluePoint5Y" fmla="*/ 206652798 h 98"/>
              <a:gd name="GluePoint6X" fmla="*/ 40322435 w 197"/>
              <a:gd name="GluePoint6Y" fmla="*/ 244455973 h 98"/>
              <a:gd name="GluePoint7X" fmla="*/ 453627458 w 197"/>
              <a:gd name="GluePoint7Y" fmla="*/ 244455973 h 98"/>
              <a:gd name="GluePoint8X" fmla="*/ 473788669 w 197"/>
              <a:gd name="GluePoint8Y" fmla="*/ 206652798 h 98"/>
              <a:gd name="GluePoint9X" fmla="*/ 493949881 w 197"/>
              <a:gd name="GluePoint9Y" fmla="*/ 196572176 h 98"/>
              <a:gd name="GluePoint10X" fmla="*/ 493949881 w 197"/>
              <a:gd name="GluePoint10Y" fmla="*/ 37801551 h 98"/>
              <a:gd name="GluePoint11X" fmla="*/ 473788669 w 197"/>
              <a:gd name="GluePoint11Y" fmla="*/ 25201561 h 98"/>
              <a:gd name="GluePoint12X" fmla="*/ 453627458 w 197"/>
              <a:gd name="GluePoint12Y" fmla="*/ 0 h 98"/>
              <a:gd name="GluePoint13X" fmla="*/ 40322435 w 197"/>
              <a:gd name="GluePoint13Y" fmla="*/ 0 h 9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97" h="98">
                <a:moveTo>
                  <a:pt x="16" y="0"/>
                </a:moveTo>
                <a:lnTo>
                  <a:pt x="16" y="10"/>
                </a:lnTo>
                <a:lnTo>
                  <a:pt x="0" y="15"/>
                </a:lnTo>
                <a:lnTo>
                  <a:pt x="0" y="78"/>
                </a:lnTo>
                <a:lnTo>
                  <a:pt x="16" y="82"/>
                </a:lnTo>
                <a:lnTo>
                  <a:pt x="16" y="97"/>
                </a:lnTo>
                <a:lnTo>
                  <a:pt x="180" y="97"/>
                </a:lnTo>
                <a:lnTo>
                  <a:pt x="188" y="82"/>
                </a:lnTo>
                <a:lnTo>
                  <a:pt x="196" y="78"/>
                </a:lnTo>
                <a:lnTo>
                  <a:pt x="196" y="15"/>
                </a:lnTo>
                <a:lnTo>
                  <a:pt x="188" y="10"/>
                </a:lnTo>
                <a:lnTo>
                  <a:pt x="180" y="0"/>
                </a:lnTo>
                <a:lnTo>
                  <a:pt x="16" y="0"/>
                </a:lnTo>
              </a:path>
            </a:pathLst>
          </a:custGeom>
          <a:solidFill>
            <a:srgbClr val="a50021"/>
          </a:solidFill>
          <a:ln cap="rnd" w="12600">
            <a:solidFill>
              <a:srgbClr val="ff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Arial Narrow"/>
            </a:endParaRPr>
          </a:p>
        </p:txBody>
      </p:sp>
      <p:sp>
        <p:nvSpPr>
          <p:cNvPr id="134" name="Rectangle 7"/>
          <p:cNvSpPr/>
          <p:nvPr/>
        </p:nvSpPr>
        <p:spPr>
          <a:xfrm>
            <a:off x="3886200" y="5638680"/>
            <a:ext cx="2743200" cy="4582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Tahoma"/>
              </a:rPr>
              <a:t>(semimonthly)</a:t>
            </a:r>
            <a:endParaRPr b="0" lang="en-IN" sz="2400" strike="noStrike" u="none">
              <a:solidFill>
                <a:srgbClr val="ffffff"/>
              </a:solidFill>
              <a:effectLst/>
              <a:uFillTx/>
              <a:latin typeface="Arial Narrow"/>
            </a:endParaRPr>
          </a:p>
        </p:txBody>
      </p:sp>
      <p:sp>
        <p:nvSpPr>
          <p:cNvPr id="2" name="PlaceHolder 1"/>
          <p:cNvSpPr>
            <a:spLocks noGrp="1"/>
          </p:cNvSpPr>
          <p:nvPr>
            <p:ph type="sldNum" idx="3"/>
          </p:nvPr>
        </p:nvSpPr>
        <p:spPr/>
        <p:txBody>
          <a:bodyPr/>
          <a:p>
            <a:fld id="{72A971D8-8499-4D4D-A0D5-36C1266B576A}" type="slidenum">
              <a:t>16</a:t>
            </a:fld>
          </a:p>
        </p:txBody>
      </p:sp>
    </p:spTree>
  </p:cSld>
  <mc:AlternateContent>
    <mc:Choice Requires="p14">
      <p:transition spd="slow" p14:dur="2000"/>
    </mc:Choice>
    <mc:Fallback>
      <p:transition spd="slow"/>
    </mc:Fallback>
  </mc:AlternateContent>
  <p:timing>
    <p:tnLst>
      <p:par>
        <p:cTn id="136" dur="indefinite" restart="never" nodeType="tmRoot">
          <p:childTnLst>
            <p:seq>
              <p:cTn id="137" dur="indefinite" nodeType="mainSeq">
                <p:childTnLst>
                  <p:par>
                    <p:cTn id="138" fill="hold">
                      <p:stCondLst>
                        <p:cond delay="indefinite"/>
                      </p:stCondLst>
                      <p:childTnLst>
                        <p:par>
                          <p:cTn id="139" fill="hold">
                            <p:stCondLst>
                              <p:cond delay="0"/>
                            </p:stCondLst>
                            <p:childTnLst>
                              <p:par>
                                <p:cTn id="140" nodeType="clickEffect" fill="hold" presetClass="entr" presetID="1">
                                  <p:stCondLst>
                                    <p:cond delay="0"/>
                                  </p:stCondLst>
                                  <p:childTnLst>
                                    <p:set>
                                      <p:cBhvr>
                                        <p:cTn id="141" dur="1" fill="hold">
                                          <p:stCondLst>
                                            <p:cond delay="499"/>
                                          </p:stCondLst>
                                        </p:cTn>
                                        <p:tgtEl>
                                          <p:spTgt spid="130">
                                            <p:txEl>
                                              <p:pRg st="0" end="0"/>
                                            </p:txEl>
                                          </p:spTgt>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nodeType="clickEffect" fill="hold" presetClass="entr" presetID="2" presetSubtype="8">
                                  <p:stCondLst>
                                    <p:cond delay="0"/>
                                  </p:stCondLst>
                                  <p:childTnLst>
                                    <p:set>
                                      <p:cBhvr>
                                        <p:cTn id="145" dur="1" fill="hold">
                                          <p:stCondLst>
                                            <p:cond delay="0"/>
                                          </p:stCondLst>
                                        </p:cTn>
                                        <p:tgtEl>
                                          <p:spTgt spid="131"/>
                                        </p:tgtEl>
                                        <p:attrNameLst>
                                          <p:attrName>style.visibility</p:attrName>
                                        </p:attrNameLst>
                                      </p:cBhvr>
                                      <p:to>
                                        <p:strVal val="visible"/>
                                      </p:to>
                                    </p:set>
                                    <p:anim calcmode="lin" valueType="num">
                                      <p:cBhvr additive="base">
                                        <p:cTn id="146" dur="500" fill="hold"/>
                                        <p:tgtEl>
                                          <p:spTgt spid="131"/>
                                        </p:tgtEl>
                                        <p:attrNameLst>
                                          <p:attrName>ppt_x</p:attrName>
                                        </p:attrNameLst>
                                      </p:cBhvr>
                                      <p:tavLst>
                                        <p:tav tm="0">
                                          <p:val>
                                            <p:strVal val="0-#ppt_w/2"/>
                                          </p:val>
                                        </p:tav>
                                        <p:tav tm="100000">
                                          <p:val>
                                            <p:strVal val="#ppt_x"/>
                                          </p:val>
                                        </p:tav>
                                      </p:tavLst>
                                    </p:anim>
                                    <p:anim calcmode="lin" valueType="num">
                                      <p:cBhvr additive="base">
                                        <p:cTn id="147" dur="500" fill="hold"/>
                                        <p:tgtEl>
                                          <p:spTgt spid="1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135"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136"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BE437F9-7ABF-4688-B209-F5E07575A1C4}"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137"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66"/>
                </a:solidFill>
                <a:effectLst/>
                <a:uFillTx/>
                <a:latin typeface="Tahoma"/>
              </a:rPr>
              <a:t>Captionless enumeration</a:t>
            </a:r>
            <a:endParaRPr b="0" lang="en-IN" sz="4400" strike="noStrike" u="none">
              <a:solidFill>
                <a:srgbClr val="ffff66"/>
              </a:solidFill>
              <a:effectLst/>
              <a:uFillTx/>
              <a:latin typeface="Tahoma"/>
            </a:endParaRPr>
          </a:p>
        </p:txBody>
      </p:sp>
      <p:sp>
        <p:nvSpPr>
          <p:cNvPr id="138" name="PlaceHolder 2"/>
          <p:cNvSpPr>
            <a:spLocks noGrp="1"/>
          </p:cNvSpPr>
          <p:nvPr>
            <p:ph/>
          </p:nvPr>
        </p:nvSpPr>
        <p:spPr>
          <a:xfrm>
            <a:off x="0" y="914040"/>
            <a:ext cx="9144000" cy="5181480"/>
          </a:xfrm>
          <a:prstGeom prst="rect">
            <a:avLst/>
          </a:prstGeom>
          <a:noFill/>
          <a:ln w="0">
            <a:noFill/>
          </a:ln>
        </p:spPr>
        <p:txBody>
          <a:bodyPr lIns="92160" rIns="92160" tIns="46080" bIns="46080" anchor="t">
            <a:normAutofit/>
          </a:bodyPr>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Many serials have enumeration alone, with no caption</a:t>
            </a:r>
            <a:r>
              <a:rPr b="0" lang="en-IN" sz="3200" strike="noStrike" u="none">
                <a:solidFill>
                  <a:srgbClr val="ffffff"/>
                </a:solidFill>
                <a:effectLst/>
                <a:uFillTx/>
                <a:latin typeface="Tahoma"/>
              </a:rPr>
              <a:t>.</a:t>
            </a:r>
            <a:endParaRPr b="0" lang="en-IN" sz="3200" strike="noStrike" u="none">
              <a:solidFill>
                <a:srgbClr val="ffffff"/>
              </a:solidFill>
              <a:effectLst/>
              <a:uFillTx/>
              <a:latin typeface="Tahoma"/>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The symbol for this is</a:t>
            </a:r>
            <a:br>
              <a:rPr sz="2800"/>
            </a:br>
            <a:r>
              <a:rPr b="0" lang="en-IN" sz="2800" strike="noStrike" u="none">
                <a:solidFill>
                  <a:srgbClr val="ffffff"/>
                </a:solidFill>
                <a:effectLst/>
                <a:uFillTx/>
                <a:latin typeface="Tahoma"/>
              </a:rPr>
              <a:t>	</a:t>
            </a:r>
            <a:r>
              <a:rPr b="0" lang="en-IN" sz="2800" strike="noStrike" u="none">
                <a:solidFill>
                  <a:srgbClr val="ffffff"/>
                </a:solidFill>
                <a:effectLst/>
                <a:uFillTx/>
                <a:latin typeface="Tahoma"/>
              </a:rPr>
              <a:t>	</a:t>
            </a:r>
            <a:r>
              <a:rPr b="0" lang="en-IN" sz="2800" strike="noStrike" u="none">
                <a:solidFill>
                  <a:srgbClr val="ffffff"/>
                </a:solidFill>
                <a:effectLst/>
                <a:uFillTx/>
                <a:latin typeface="Tahoma"/>
              </a:rPr>
              <a:t>	</a:t>
            </a:r>
            <a:r>
              <a:rPr b="0" lang="en-IN" sz="2800" strike="noStrike" u="none">
                <a:solidFill>
                  <a:srgbClr val="ffffff"/>
                </a:solidFill>
                <a:effectLst/>
                <a:uFillTx/>
                <a:latin typeface="Tahoma"/>
              </a:rPr>
              <a:t>	</a:t>
            </a:r>
            <a:r>
              <a:rPr b="0" lang="en-IN" sz="2800" strike="noStrike" u="none">
                <a:solidFill>
                  <a:srgbClr val="ffffff"/>
                </a:solidFill>
                <a:effectLst/>
                <a:uFillTx/>
                <a:latin typeface="Tahoma"/>
              </a:rPr>
              <a:t>(*) -- non-displaying caption.</a:t>
            </a:r>
            <a:endParaRPr b="0" lang="en-IN" sz="2800" strike="noStrike" u="none">
              <a:solidFill>
                <a:srgbClr val="ffffff"/>
              </a:solidFill>
              <a:effectLst/>
              <a:uFillTx/>
              <a:latin typeface="Tahoma"/>
            </a:endParaRPr>
          </a:p>
          <a:p>
            <a:pPr lvl="3" marL="1600200" indent="-228600">
              <a:lnSpc>
                <a:spcPct val="90000"/>
              </a:lnSpc>
              <a:spcBef>
                <a:spcPts val="451"/>
              </a:spcBef>
              <a:buNone/>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Tahoma"/>
              </a:rPr>
              <a:t>	</a:t>
            </a:r>
            <a:r>
              <a:rPr b="0" lang="en-IN" sz="1800" strike="noStrike" u="none">
                <a:solidFill>
                  <a:srgbClr val="ffffff"/>
                </a:solidFill>
                <a:effectLst/>
                <a:uFillTx/>
                <a:latin typeface="Tahoma"/>
              </a:rPr>
              <a:t>	</a:t>
            </a:r>
            <a:r>
              <a:rPr b="0" lang="en-IN" sz="1800" strike="noStrike" u="none">
                <a:solidFill>
                  <a:srgbClr val="ffffff"/>
                </a:solidFill>
                <a:effectLst/>
                <a:uFillTx/>
                <a:latin typeface="Tahoma"/>
              </a:rPr>
              <a:t>	</a:t>
            </a:r>
            <a:endParaRPr b="0" lang="en-IN" sz="18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a:t>
            </a:r>
            <a:endParaRPr b="0" lang="en-IN" sz="3200" strike="noStrike" u="none">
              <a:solidFill>
                <a:srgbClr val="ffffff"/>
              </a:solidFill>
              <a:effectLst/>
              <a:uFillTx/>
              <a:latin typeface="Tahoma"/>
            </a:endParaRPr>
          </a:p>
        </p:txBody>
      </p:sp>
      <p:sp>
        <p:nvSpPr>
          <p:cNvPr id="139" name="Rectangle 4"/>
          <p:cNvSpPr/>
          <p:nvPr/>
        </p:nvSpPr>
        <p:spPr>
          <a:xfrm>
            <a:off x="380880" y="2286000"/>
            <a:ext cx="2438640" cy="3784680"/>
          </a:xfrm>
          <a:prstGeom prst="rect">
            <a:avLst/>
          </a:prstGeom>
          <a:solidFill>
            <a:srgbClr val="ffffff"/>
          </a:solidFill>
          <a:ln w="0">
            <a:noFill/>
          </a:ln>
        </p:spPr>
        <p:style>
          <a:lnRef idx="0"/>
          <a:fillRef idx="0"/>
          <a:effectRef idx="0"/>
          <a:fontRef idx="minor"/>
        </p:style>
        <p:txBody>
          <a:bodyPr lIns="92160" rIns="92160" tIns="46080" bIns="46080" anchor="t">
            <a:spAutoFit/>
          </a:bodyPr>
          <a:p>
            <a:pPr algn="ctr">
              <a:lnSpc>
                <a:spcPct val="3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Arial Narrow"/>
            </a:endParaRPr>
          </a:p>
          <a:p>
            <a:pPr algn="ctr">
              <a:lnSpc>
                <a:spcPct val="3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2400" strike="noStrike" u="none">
                <a:solidFill>
                  <a:srgbClr val="000000"/>
                </a:solidFill>
                <a:effectLst/>
                <a:uFillTx/>
                <a:latin typeface="Arial Narrow"/>
              </a:rPr>
              <a:t>                  1976</a:t>
            </a:r>
            <a:endParaRPr b="0" lang="en-IN" sz="2400" strike="noStrike" u="none">
              <a:solidFill>
                <a:srgbClr val="ffffff"/>
              </a:solidFill>
              <a:effectLst/>
              <a:uFillTx/>
              <a:latin typeface="Arial Narrow"/>
            </a:endParaRPr>
          </a:p>
          <a:p>
            <a:pPr algn="ct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2800" strike="noStrike" u="none">
                <a:solidFill>
                  <a:srgbClr val="000000"/>
                </a:solidFill>
                <a:effectLst/>
                <a:uFillTx/>
                <a:latin typeface="Copperplate Gothic Bold"/>
              </a:rPr>
              <a:t>Unearthly Visions </a:t>
            </a:r>
            <a:r>
              <a:rPr b="0" i="1" lang="en-US" sz="2400" strike="noStrike" u="none">
                <a:solidFill>
                  <a:srgbClr val="000000"/>
                </a:solidFill>
                <a:effectLst/>
                <a:uFillTx/>
                <a:latin typeface="Arial Narrow"/>
              </a:rPr>
              <a:t> </a:t>
            </a:r>
            <a:r>
              <a:rPr b="0" i="1" lang="en-US" sz="2400" strike="noStrike" u="none">
                <a:solidFill>
                  <a:srgbClr val="000000"/>
                </a:solidFill>
                <a:effectLst/>
                <a:uFillTx/>
                <a:latin typeface="Copperplate Gothic Bold"/>
              </a:rPr>
              <a:t>1</a:t>
            </a:r>
            <a:endParaRPr b="0" lang="en-IN" sz="2400" strike="noStrike" u="none">
              <a:solidFill>
                <a:srgbClr val="ffffff"/>
              </a:solidFill>
              <a:effectLst/>
              <a:uFillTx/>
              <a:latin typeface="Arial Narrow"/>
            </a:endParaRPr>
          </a:p>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2400" strike="noStrike" u="none">
                <a:solidFill>
                  <a:srgbClr val="000000"/>
                </a:solidFill>
                <a:effectLst/>
                <a:uFillTx/>
                <a:latin typeface="Arial Narrow"/>
              </a:rPr>
              <a:t>center for art and imagination</a:t>
            </a:r>
            <a:endParaRPr b="0" lang="en-IN" sz="2400" strike="noStrike" u="none">
              <a:solidFill>
                <a:srgbClr val="ffffff"/>
              </a:solidFill>
              <a:effectLst/>
              <a:uFillTx/>
              <a:latin typeface="Arial Narrow"/>
            </a:endParaRPr>
          </a:p>
          <a:p>
            <a:pPr algn="ct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Arial Narrow"/>
            </a:endParaRPr>
          </a:p>
          <a:p>
            <a:pPr algn="ct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1800" strike="noStrike" u="none">
                <a:solidFill>
                  <a:srgbClr val="000000"/>
                </a:solidFill>
                <a:effectLst/>
                <a:uFillTx/>
                <a:latin typeface="Arial Narrow"/>
              </a:rPr>
              <a:t>crossroads publications</a:t>
            </a:r>
            <a:endParaRPr b="0" lang="en-IN" sz="1800" strike="noStrike" u="none">
              <a:solidFill>
                <a:srgbClr val="ffffff"/>
              </a:solidFill>
              <a:effectLst/>
              <a:uFillTx/>
              <a:latin typeface="Arial Narrow"/>
            </a:endParaRPr>
          </a:p>
          <a:p>
            <a:pPr algn="ctr">
              <a:lnSpc>
                <a:spcPct val="3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1800" strike="noStrike" u="none">
                <a:solidFill>
                  <a:srgbClr val="000000"/>
                </a:solidFill>
                <a:effectLst/>
                <a:uFillTx/>
                <a:latin typeface="Arial Narrow"/>
              </a:rPr>
              <a:t>petaluma ca</a:t>
            </a:r>
            <a:endParaRPr b="0" lang="en-IN" sz="1800" strike="noStrike" u="none">
              <a:solidFill>
                <a:srgbClr val="ffffff"/>
              </a:solidFill>
              <a:effectLst/>
              <a:uFillTx/>
              <a:latin typeface="Arial Narrow"/>
            </a:endParaRPr>
          </a:p>
        </p:txBody>
      </p:sp>
      <p:sp>
        <p:nvSpPr>
          <p:cNvPr id="140" name="Freeform 5"/>
          <p:cNvSpPr/>
          <p:nvPr/>
        </p:nvSpPr>
        <p:spPr>
          <a:xfrm>
            <a:off x="609480" y="2286000"/>
            <a:ext cx="687600" cy="687240"/>
          </a:xfrm>
          <a:custGeom>
            <a:avLst/>
            <a:gdLst>
              <a:gd name="textAreaLeft" fmla="*/ 0 w 687600"/>
              <a:gd name="textAreaRight" fmla="*/ 687960 w 687600"/>
              <a:gd name="textAreaTop" fmla="*/ 0 h 687240"/>
              <a:gd name="textAreaBottom" fmla="*/ 687600 h 687240"/>
              <a:gd name="GluePoint1X" fmla="*/ 1088708382 w 433"/>
              <a:gd name="GluePoint1Y" fmla="*/ 544354191 h 433"/>
              <a:gd name="GluePoint2X" fmla="*/ 655241115 w 433"/>
              <a:gd name="GluePoint2Y" fmla="*/ 529233247 h 433"/>
              <a:gd name="GluePoint3X" fmla="*/ 1071068074 w 433"/>
              <a:gd name="GluePoint3Y" fmla="*/ 403225279 h 433"/>
              <a:gd name="GluePoint4X" fmla="*/ 647681437 w 433"/>
              <a:gd name="GluePoint4Y" fmla="*/ 501512309 h 433"/>
              <a:gd name="GluePoint5X" fmla="*/ 1015624612 w 433"/>
              <a:gd name="GluePoint5Y" fmla="*/ 272177095 h 433"/>
              <a:gd name="GluePoint6X" fmla="*/ 632560493 w 433"/>
              <a:gd name="GluePoint6Y" fmla="*/ 476310736 h 433"/>
              <a:gd name="GluePoint7X" fmla="*/ 929939261 w 433"/>
              <a:gd name="GluePoint7Y" fmla="*/ 158770758 h 433"/>
              <a:gd name="GluePoint8X" fmla="*/ 612399234 w 433"/>
              <a:gd name="GluePoint8Y" fmla="*/ 456149477 h 433"/>
              <a:gd name="GluePoint9X" fmla="*/ 816531187 w 433"/>
              <a:gd name="GluePoint9Y" fmla="*/ 73085382 h 433"/>
              <a:gd name="GluePoint10X" fmla="*/ 587197660 w 433"/>
              <a:gd name="GluePoint10Y" fmla="*/ 441028532 h 433"/>
              <a:gd name="GluePoint11X" fmla="*/ 685483004 w 433"/>
              <a:gd name="GluePoint11Y" fmla="*/ 17641902 h 433"/>
              <a:gd name="GluePoint12X" fmla="*/ 559475135 w 433"/>
              <a:gd name="GluePoint12Y" fmla="*/ 433467267 h 433"/>
              <a:gd name="GluePoint13X" fmla="*/ 544354191 w 433"/>
              <a:gd name="GluePoint13Y" fmla="*/ 0 h 433"/>
              <a:gd name="GluePoint14X" fmla="*/ 529233247 w 433"/>
              <a:gd name="GluePoint14Y" fmla="*/ 433467267 h 433"/>
              <a:gd name="GluePoint15X" fmla="*/ 403225279 w 433"/>
              <a:gd name="GluePoint15Y" fmla="*/ 17641902 h 433"/>
              <a:gd name="GluePoint16X" fmla="*/ 501512309 w 433"/>
              <a:gd name="GluePoint16Y" fmla="*/ 441028532 h 433"/>
              <a:gd name="GluePoint17X" fmla="*/ 272177095 w 433"/>
              <a:gd name="GluePoint17Y" fmla="*/ 73085382 h 433"/>
              <a:gd name="GluePoint18X" fmla="*/ 476310736 w 433"/>
              <a:gd name="GluePoint18Y" fmla="*/ 456149477 h 433"/>
              <a:gd name="GluePoint19X" fmla="*/ 158770758 w 433"/>
              <a:gd name="GluePoint19Y" fmla="*/ 158770758 h 433"/>
              <a:gd name="GluePoint20X" fmla="*/ 456149477 w 433"/>
              <a:gd name="GluePoint20Y" fmla="*/ 476310736 h 433"/>
              <a:gd name="GluePoint21X" fmla="*/ 73085382 w 433"/>
              <a:gd name="GluePoint21Y" fmla="*/ 272177095 h 433"/>
              <a:gd name="GluePoint22X" fmla="*/ 441028532 w 433"/>
              <a:gd name="GluePoint22Y" fmla="*/ 501512309 h 433"/>
              <a:gd name="GluePoint23X" fmla="*/ 17641902 w 433"/>
              <a:gd name="GluePoint23Y" fmla="*/ 403225279 h 433"/>
              <a:gd name="GluePoint24X" fmla="*/ 433467267 w 433"/>
              <a:gd name="GluePoint24Y" fmla="*/ 529233247 h 433"/>
              <a:gd name="GluePoint25X" fmla="*/ 0 w 433"/>
              <a:gd name="GluePoint25Y" fmla="*/ 544354191 h 433"/>
              <a:gd name="GluePoint26X" fmla="*/ 433467267 w 433"/>
              <a:gd name="GluePoint26Y" fmla="*/ 559475135 h 433"/>
              <a:gd name="GluePoint27X" fmla="*/ 17641902 w 433"/>
              <a:gd name="GluePoint27Y" fmla="*/ 685483004 h 433"/>
              <a:gd name="GluePoint28X" fmla="*/ 441028532 w 433"/>
              <a:gd name="GluePoint28Y" fmla="*/ 587197660 h 433"/>
              <a:gd name="GluePoint29X" fmla="*/ 73085382 w 433"/>
              <a:gd name="GluePoint29Y" fmla="*/ 816531187 h 433"/>
              <a:gd name="GluePoint30X" fmla="*/ 456149477 w 433"/>
              <a:gd name="GluePoint30Y" fmla="*/ 612399234 h 433"/>
              <a:gd name="GluePoint31X" fmla="*/ 158770758 w 433"/>
              <a:gd name="GluePoint31Y" fmla="*/ 929939261 h 433"/>
              <a:gd name="GluePoint32X" fmla="*/ 476310736 w 433"/>
              <a:gd name="GluePoint32Y" fmla="*/ 632560493 h 433"/>
              <a:gd name="GluePoint33X" fmla="*/ 272177095 w 433"/>
              <a:gd name="GluePoint33Y" fmla="*/ 1015624612 h 433"/>
              <a:gd name="GluePoint34X" fmla="*/ 501512309 w 433"/>
              <a:gd name="GluePoint34Y" fmla="*/ 647681437 h 433"/>
              <a:gd name="GluePoint35X" fmla="*/ 403225279 w 433"/>
              <a:gd name="GluePoint35Y" fmla="*/ 1071068074 h 433"/>
              <a:gd name="GluePoint36X" fmla="*/ 529233247 w 433"/>
              <a:gd name="GluePoint36Y" fmla="*/ 655241115 h 433"/>
              <a:gd name="GluePoint37X" fmla="*/ 544354191 w 433"/>
              <a:gd name="GluePoint37Y" fmla="*/ 1088708382 h 433"/>
              <a:gd name="GluePoint38X" fmla="*/ 559475135 w 433"/>
              <a:gd name="GluePoint38Y" fmla="*/ 655241115 h 433"/>
              <a:gd name="GluePoint39X" fmla="*/ 685483004 w 433"/>
              <a:gd name="GluePoint39Y" fmla="*/ 1071068074 h 433"/>
              <a:gd name="GluePoint40X" fmla="*/ 587197660 w 433"/>
              <a:gd name="GluePoint40Y" fmla="*/ 647681437 h 433"/>
              <a:gd name="GluePoint41X" fmla="*/ 816531187 w 433"/>
              <a:gd name="GluePoint41Y" fmla="*/ 1015624612 h 433"/>
              <a:gd name="GluePoint42X" fmla="*/ 612399234 w 433"/>
              <a:gd name="GluePoint42Y" fmla="*/ 632560493 h 433"/>
              <a:gd name="GluePoint43X" fmla="*/ 929939261 w 433"/>
              <a:gd name="GluePoint43Y" fmla="*/ 929939261 h 433"/>
              <a:gd name="GluePoint44X" fmla="*/ 632560493 w 433"/>
              <a:gd name="GluePoint44Y" fmla="*/ 612399234 h 433"/>
              <a:gd name="GluePoint45X" fmla="*/ 1015624612 w 433"/>
              <a:gd name="GluePoint45Y" fmla="*/ 816531187 h 433"/>
              <a:gd name="GluePoint46X" fmla="*/ 647681437 w 433"/>
              <a:gd name="GluePoint46Y" fmla="*/ 587197660 h 433"/>
              <a:gd name="GluePoint47X" fmla="*/ 1071068074 w 433"/>
              <a:gd name="GluePoint47Y" fmla="*/ 685483004 h 433"/>
              <a:gd name="GluePoint48X" fmla="*/ 655241115 w 433"/>
              <a:gd name="GluePoint48Y" fmla="*/ 559475135 h 433"/>
              <a:gd name="GluePoint49X" fmla="*/ 1088708382 w 433"/>
              <a:gd name="GluePoint49Y" fmla="*/ 544354191 h 4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Lst>
            <a:rect l="textAreaLeft" t="textAreaTop" r="textAreaRight" b="textAreaBottom"/>
            <a:pathLst>
              <a:path w="433" h="433">
                <a:moveTo>
                  <a:pt x="432" y="216"/>
                </a:moveTo>
                <a:lnTo>
                  <a:pt x="260" y="210"/>
                </a:lnTo>
                <a:lnTo>
                  <a:pt x="425" y="160"/>
                </a:lnTo>
                <a:lnTo>
                  <a:pt x="257" y="199"/>
                </a:lnTo>
                <a:lnTo>
                  <a:pt x="403" y="108"/>
                </a:lnTo>
                <a:lnTo>
                  <a:pt x="251" y="189"/>
                </a:lnTo>
                <a:lnTo>
                  <a:pt x="369" y="63"/>
                </a:lnTo>
                <a:lnTo>
                  <a:pt x="243" y="181"/>
                </a:lnTo>
                <a:lnTo>
                  <a:pt x="324" y="29"/>
                </a:lnTo>
                <a:lnTo>
                  <a:pt x="233" y="175"/>
                </a:lnTo>
                <a:lnTo>
                  <a:pt x="272" y="7"/>
                </a:lnTo>
                <a:lnTo>
                  <a:pt x="222" y="172"/>
                </a:lnTo>
                <a:lnTo>
                  <a:pt x="216" y="0"/>
                </a:lnTo>
                <a:lnTo>
                  <a:pt x="210" y="172"/>
                </a:lnTo>
                <a:lnTo>
                  <a:pt x="160" y="7"/>
                </a:lnTo>
                <a:lnTo>
                  <a:pt x="199" y="175"/>
                </a:lnTo>
                <a:lnTo>
                  <a:pt x="108" y="29"/>
                </a:lnTo>
                <a:lnTo>
                  <a:pt x="189" y="181"/>
                </a:lnTo>
                <a:lnTo>
                  <a:pt x="63" y="63"/>
                </a:lnTo>
                <a:lnTo>
                  <a:pt x="181" y="189"/>
                </a:lnTo>
                <a:lnTo>
                  <a:pt x="29" y="108"/>
                </a:lnTo>
                <a:lnTo>
                  <a:pt x="175" y="199"/>
                </a:lnTo>
                <a:lnTo>
                  <a:pt x="7" y="160"/>
                </a:lnTo>
                <a:lnTo>
                  <a:pt x="172" y="210"/>
                </a:lnTo>
                <a:lnTo>
                  <a:pt x="0" y="216"/>
                </a:lnTo>
                <a:lnTo>
                  <a:pt x="172" y="222"/>
                </a:lnTo>
                <a:lnTo>
                  <a:pt x="7" y="272"/>
                </a:lnTo>
                <a:lnTo>
                  <a:pt x="175" y="233"/>
                </a:lnTo>
                <a:lnTo>
                  <a:pt x="29" y="324"/>
                </a:lnTo>
                <a:lnTo>
                  <a:pt x="181" y="243"/>
                </a:lnTo>
                <a:lnTo>
                  <a:pt x="63" y="369"/>
                </a:lnTo>
                <a:lnTo>
                  <a:pt x="189" y="251"/>
                </a:lnTo>
                <a:lnTo>
                  <a:pt x="108" y="403"/>
                </a:lnTo>
                <a:lnTo>
                  <a:pt x="199" y="257"/>
                </a:lnTo>
                <a:lnTo>
                  <a:pt x="160" y="425"/>
                </a:lnTo>
                <a:lnTo>
                  <a:pt x="210" y="260"/>
                </a:lnTo>
                <a:lnTo>
                  <a:pt x="216" y="432"/>
                </a:lnTo>
                <a:lnTo>
                  <a:pt x="222" y="260"/>
                </a:lnTo>
                <a:lnTo>
                  <a:pt x="272" y="425"/>
                </a:lnTo>
                <a:lnTo>
                  <a:pt x="233" y="257"/>
                </a:lnTo>
                <a:lnTo>
                  <a:pt x="324" y="403"/>
                </a:lnTo>
                <a:lnTo>
                  <a:pt x="243" y="251"/>
                </a:lnTo>
                <a:lnTo>
                  <a:pt x="369" y="369"/>
                </a:lnTo>
                <a:lnTo>
                  <a:pt x="251" y="243"/>
                </a:lnTo>
                <a:lnTo>
                  <a:pt x="403" y="324"/>
                </a:lnTo>
                <a:lnTo>
                  <a:pt x="257" y="233"/>
                </a:lnTo>
                <a:lnTo>
                  <a:pt x="425" y="272"/>
                </a:lnTo>
                <a:lnTo>
                  <a:pt x="260" y="222"/>
                </a:lnTo>
                <a:lnTo>
                  <a:pt x="432" y="216"/>
                </a:lnTo>
              </a:path>
            </a:pathLst>
          </a:custGeom>
          <a:solidFill>
            <a:srgbClr val="000000"/>
          </a:solidFill>
          <a:ln cap="rnd" w="12600">
            <a:solidFill>
              <a:srgbClr val="000000"/>
            </a:solidFill>
            <a:roun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Arial Narrow"/>
            </a:endParaRPr>
          </a:p>
        </p:txBody>
      </p:sp>
      <p:sp>
        <p:nvSpPr>
          <p:cNvPr id="141" name="Rectangle 6"/>
          <p:cNvSpPr/>
          <p:nvPr/>
        </p:nvSpPr>
        <p:spPr>
          <a:xfrm>
            <a:off x="3200400" y="4267080"/>
            <a:ext cx="5181480" cy="580320"/>
          </a:xfrm>
          <a:prstGeom prst="rect">
            <a:avLst/>
          </a:prstGeom>
          <a:noFill/>
          <a:ln w="0">
            <a:noFill/>
          </a:ln>
        </p:spPr>
        <p:style>
          <a:lnRef idx="0"/>
          <a:fillRef idx="0"/>
          <a:effectRef idx="0"/>
          <a:fontRef idx="minor"/>
        </p:style>
        <p:txBody>
          <a:bodyPr lIns="92160" rIns="92160" tIns="46080" bIns="46080" anchor="t">
            <a:spAutoFit/>
          </a:bodyPr>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Arial Narrow"/>
              </a:rPr>
              <a:t>853 00  $8 1 $a (*) $i (year)</a:t>
            </a:r>
            <a:endParaRPr b="0" lang="en-IN" sz="3200" strike="noStrike" u="none">
              <a:solidFill>
                <a:srgbClr val="ffffff"/>
              </a:solidFill>
              <a:effectLst/>
              <a:uFillTx/>
              <a:latin typeface="Arial Narrow"/>
            </a:endParaRPr>
          </a:p>
        </p:txBody>
      </p:sp>
      <p:sp>
        <p:nvSpPr>
          <p:cNvPr id="142" name="Rectangle 7"/>
          <p:cNvSpPr/>
          <p:nvPr/>
        </p:nvSpPr>
        <p:spPr>
          <a:xfrm>
            <a:off x="3200400" y="4876920"/>
            <a:ext cx="5257800" cy="580320"/>
          </a:xfrm>
          <a:prstGeom prst="rect">
            <a:avLst/>
          </a:prstGeom>
          <a:noFill/>
          <a:ln w="0">
            <a:noFill/>
          </a:ln>
        </p:spPr>
        <p:style>
          <a:lnRef idx="0"/>
          <a:fillRef idx="0"/>
          <a:effectRef idx="0"/>
          <a:fontRef idx="minor"/>
        </p:style>
        <p:txBody>
          <a:bodyPr lIns="92160" rIns="92160" tIns="46080" bIns="46080" anchor="t">
            <a:spAutoFit/>
          </a:bodyPr>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cc99"/>
                </a:solidFill>
                <a:effectLst/>
                <a:uFillTx/>
                <a:latin typeface="Arial Narrow"/>
              </a:rPr>
              <a:t>863 41   $8 1.1 $a 1 $i 1976</a:t>
            </a:r>
            <a:endParaRPr b="0" lang="en-IN" sz="3200" strike="noStrike" u="none">
              <a:solidFill>
                <a:srgbClr val="ffffff"/>
              </a:solidFill>
              <a:effectLst/>
              <a:uFillTx/>
              <a:latin typeface="Arial Narrow"/>
            </a:endParaRPr>
          </a:p>
        </p:txBody>
      </p:sp>
      <p:sp>
        <p:nvSpPr>
          <p:cNvPr id="143" name="Rectangle 8"/>
          <p:cNvSpPr/>
          <p:nvPr/>
        </p:nvSpPr>
        <p:spPr>
          <a:xfrm>
            <a:off x="3352680" y="5867280"/>
            <a:ext cx="3505320" cy="458280"/>
          </a:xfrm>
          <a:prstGeom prst="rect">
            <a:avLst/>
          </a:prstGeom>
          <a:noFill/>
          <a:ln w="0">
            <a:noFill/>
          </a:ln>
        </p:spPr>
        <p:style>
          <a:lnRef idx="0"/>
          <a:fillRef idx="0"/>
          <a:effectRef idx="0"/>
          <a:fontRef idx="minor"/>
        </p:style>
        <p:txBody>
          <a:bodyPr lIns="92160" rIns="92160" tIns="46080" bIns="4608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00"/>
                </a:solidFill>
                <a:effectLst/>
                <a:uFillTx/>
                <a:latin typeface="Arial Narrow"/>
              </a:rPr>
              <a:t>may display as:</a:t>
            </a:r>
            <a:r>
              <a:rPr b="0" lang="en-IN" sz="2400" strike="noStrike" u="none">
                <a:solidFill>
                  <a:srgbClr val="ffffff"/>
                </a:solidFill>
                <a:effectLst/>
                <a:uFillTx/>
                <a:latin typeface="Arial Narrow"/>
              </a:rPr>
              <a:t> 1 (1976)</a:t>
            </a:r>
            <a:endParaRPr b="0" lang="en-IN" sz="2400" strike="noStrike" u="none">
              <a:solidFill>
                <a:srgbClr val="ffffff"/>
              </a:solidFill>
              <a:effectLst/>
              <a:uFillTx/>
              <a:latin typeface="Arial Narrow"/>
            </a:endParaRPr>
          </a:p>
        </p:txBody>
      </p:sp>
      <p:sp>
        <p:nvSpPr>
          <p:cNvPr id="4" name="PlaceHolder 3"/>
          <p:cNvSpPr>
            <a:spLocks noGrp="1"/>
          </p:cNvSpPr>
          <p:nvPr>
            <p:ph type="sldNum" idx="3"/>
          </p:nvPr>
        </p:nvSpPr>
        <p:spPr/>
        <p:txBody>
          <a:bodyPr/>
          <a:p>
            <a:fld id="{069313E7-332E-465E-B46B-C9996B9EE422}" type="slidenum">
              <a:t>17</a:t>
            </a:fld>
          </a:p>
        </p:txBody>
      </p:sp>
    </p:spTree>
  </p:cSld>
  <mc:AlternateContent>
    <mc:Choice Requires="p14">
      <p:transition spd="slow" p14:dur="2000"/>
    </mc:Choice>
    <mc:Fallback>
      <p:transition spd="slow"/>
    </mc:Fallback>
  </mc:AlternateContent>
  <p:timing>
    <p:tnLst>
      <p:par>
        <p:cTn id="148" dur="indefinite" restart="never" nodeType="tmRoot">
          <p:childTnLst>
            <p:seq>
              <p:cTn id="149" dur="indefinite" nodeType="mainSeq">
                <p:childTnLst>
                  <p:par>
                    <p:cTn id="150" fill="hold">
                      <p:stCondLst>
                        <p:cond delay="indefinite"/>
                      </p:stCondLst>
                      <p:childTnLst>
                        <p:par>
                          <p:cTn id="151" fill="hold">
                            <p:stCondLst>
                              <p:cond delay="0"/>
                            </p:stCondLst>
                            <p:childTnLst>
                              <p:par>
                                <p:cTn id="152" nodeType="clickEffect" fill="hold" presetClass="entr" presetID="2" presetSubtype="4">
                                  <p:stCondLst>
                                    <p:cond delay="0"/>
                                  </p:stCondLst>
                                  <p:childTnLst>
                                    <p:set>
                                      <p:cBhvr>
                                        <p:cTn id="153" dur="1" fill="hold">
                                          <p:stCondLst>
                                            <p:cond delay="0"/>
                                          </p:stCondLst>
                                        </p:cTn>
                                        <p:tgtEl>
                                          <p:spTgt spid="141"/>
                                        </p:tgtEl>
                                        <p:attrNameLst>
                                          <p:attrName>style.visibility</p:attrName>
                                        </p:attrNameLst>
                                      </p:cBhvr>
                                      <p:to>
                                        <p:strVal val="visible"/>
                                      </p:to>
                                    </p:set>
                                    <p:anim calcmode="lin" valueType="num">
                                      <p:cBhvr additive="base">
                                        <p:cTn id="154" dur="500" fill="hold"/>
                                        <p:tgtEl>
                                          <p:spTgt spid="141"/>
                                        </p:tgtEl>
                                        <p:attrNameLst>
                                          <p:attrName>ppt_x</p:attrName>
                                        </p:attrNameLst>
                                      </p:cBhvr>
                                      <p:tavLst>
                                        <p:tav tm="0">
                                          <p:val>
                                            <p:strVal val="#ppt_x"/>
                                          </p:val>
                                        </p:tav>
                                        <p:tav tm="100000">
                                          <p:val>
                                            <p:strVal val="#ppt_x"/>
                                          </p:val>
                                        </p:tav>
                                      </p:tavLst>
                                    </p:anim>
                                    <p:anim calcmode="lin" valueType="num">
                                      <p:cBhvr additive="base">
                                        <p:cTn id="155" dur="500" fill="hold"/>
                                        <p:tgtEl>
                                          <p:spTgt spid="141"/>
                                        </p:tgtEl>
                                        <p:attrNameLst>
                                          <p:attrName>ppt_y</p:attrName>
                                        </p:attrNameLst>
                                      </p:cBhvr>
                                      <p:tavLst>
                                        <p:tav tm="0">
                                          <p:val>
                                            <p:strVal val="1+#ppt_h/2"/>
                                          </p:val>
                                        </p:tav>
                                        <p:tav tm="100000">
                                          <p:val>
                                            <p:strVal val="#ppt_y"/>
                                          </p:val>
                                        </p:tav>
                                      </p:tavLst>
                                    </p:anim>
                                  </p:childTnLst>
                                </p:cTn>
                              </p:par>
                            </p:childTnLst>
                          </p:cTn>
                        </p:par>
                        <p:par>
                          <p:cTn id="156" fill="hold">
                            <p:stCondLst>
                              <p:cond delay="500"/>
                            </p:stCondLst>
                            <p:childTnLst>
                              <p:par>
                                <p:cTn id="157" nodeType="afterEffect" fill="hold" presetClass="entr" presetID="2" presetSubtype="4">
                                  <p:stCondLst>
                                    <p:cond delay="0"/>
                                  </p:stCondLst>
                                  <p:childTnLst>
                                    <p:set>
                                      <p:cBhvr>
                                        <p:cTn id="158" dur="1" fill="hold">
                                          <p:stCondLst>
                                            <p:cond delay="0"/>
                                          </p:stCondLst>
                                        </p:cTn>
                                        <p:tgtEl>
                                          <p:spTgt spid="142"/>
                                        </p:tgtEl>
                                        <p:attrNameLst>
                                          <p:attrName>style.visibility</p:attrName>
                                        </p:attrNameLst>
                                      </p:cBhvr>
                                      <p:to>
                                        <p:strVal val="visible"/>
                                      </p:to>
                                    </p:set>
                                    <p:anim calcmode="lin" valueType="num">
                                      <p:cBhvr additive="base">
                                        <p:cTn id="159" dur="500" fill="hold"/>
                                        <p:tgtEl>
                                          <p:spTgt spid="142"/>
                                        </p:tgtEl>
                                        <p:attrNameLst>
                                          <p:attrName>ppt_x</p:attrName>
                                        </p:attrNameLst>
                                      </p:cBhvr>
                                      <p:tavLst>
                                        <p:tav tm="0">
                                          <p:val>
                                            <p:strVal val="#ppt_x"/>
                                          </p:val>
                                        </p:tav>
                                        <p:tav tm="100000">
                                          <p:val>
                                            <p:strVal val="#ppt_x"/>
                                          </p:val>
                                        </p:tav>
                                      </p:tavLst>
                                    </p:anim>
                                    <p:anim calcmode="lin" valueType="num">
                                      <p:cBhvr additive="base">
                                        <p:cTn id="160" dur="500" fill="hold"/>
                                        <p:tgtEl>
                                          <p:spTgt spid="142"/>
                                        </p:tgtEl>
                                        <p:attrNameLst>
                                          <p:attrName>ppt_y</p:attrName>
                                        </p:attrNameLst>
                                      </p:cBhvr>
                                      <p:tavLst>
                                        <p:tav tm="0">
                                          <p:val>
                                            <p:strVal val="1+#ppt_h/2"/>
                                          </p:val>
                                        </p:tav>
                                        <p:tav tm="100000">
                                          <p:val>
                                            <p:strVal val="#ppt_y"/>
                                          </p:val>
                                        </p:tav>
                                      </p:tavLst>
                                    </p:anim>
                                  </p:childTnLst>
                                </p:cTn>
                              </p:par>
                            </p:childTnLst>
                          </p:cTn>
                        </p:par>
                        <p:par>
                          <p:cTn id="161" fill="hold">
                            <p:stCondLst>
                              <p:cond delay="1000"/>
                            </p:stCondLst>
                            <p:childTnLst>
                              <p:par>
                                <p:cTn id="162" nodeType="afterEffect" fill="hold" presetClass="entr" presetID="2" presetSubtype="8">
                                  <p:stCondLst>
                                    <p:cond delay="0"/>
                                  </p:stCondLst>
                                  <p:childTnLst>
                                    <p:set>
                                      <p:cBhvr>
                                        <p:cTn id="163" dur="1" fill="hold">
                                          <p:stCondLst>
                                            <p:cond delay="0"/>
                                          </p:stCondLst>
                                        </p:cTn>
                                        <p:tgtEl>
                                          <p:spTgt spid="143"/>
                                        </p:tgtEl>
                                        <p:attrNameLst>
                                          <p:attrName>style.visibility</p:attrName>
                                        </p:attrNameLst>
                                      </p:cBhvr>
                                      <p:to>
                                        <p:strVal val="visible"/>
                                      </p:to>
                                    </p:set>
                                    <p:anim calcmode="lin" valueType="num">
                                      <p:cBhvr additive="base">
                                        <p:cTn id="164" dur="500" fill="hold"/>
                                        <p:tgtEl>
                                          <p:spTgt spid="143"/>
                                        </p:tgtEl>
                                        <p:attrNameLst>
                                          <p:attrName>ppt_x</p:attrName>
                                        </p:attrNameLst>
                                      </p:cBhvr>
                                      <p:tavLst>
                                        <p:tav tm="0">
                                          <p:val>
                                            <p:strVal val="0-#ppt_w/2"/>
                                          </p:val>
                                        </p:tav>
                                        <p:tav tm="100000">
                                          <p:val>
                                            <p:strVal val="#ppt_x"/>
                                          </p:val>
                                        </p:tav>
                                      </p:tavLst>
                                    </p:anim>
                                    <p:anim calcmode="lin" valueType="num">
                                      <p:cBhvr additive="base">
                                        <p:cTn id="165" dur="500" fill="hold"/>
                                        <p:tgtEl>
                                          <p:spTgt spid="1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144"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145"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EFFAFCA-2A95-4E3C-8723-C9D6890E3AAA}"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146"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66"/>
                </a:solidFill>
                <a:effectLst/>
                <a:uFillTx/>
                <a:latin typeface="Tahoma"/>
              </a:rPr>
              <a:t>Symbols, hyphens, coding challenges</a:t>
            </a:r>
            <a:endParaRPr b="0" lang="en-IN" sz="4000" strike="noStrike" u="none">
              <a:solidFill>
                <a:srgbClr val="ffff66"/>
              </a:solidFill>
              <a:effectLst/>
              <a:uFillTx/>
              <a:latin typeface="Tahoma"/>
            </a:endParaRPr>
          </a:p>
        </p:txBody>
      </p:sp>
      <p:sp>
        <p:nvSpPr>
          <p:cNvPr id="147" name="PlaceHolder 2"/>
          <p:cNvSpPr>
            <a:spLocks noGrp="1"/>
          </p:cNvSpPr>
          <p:nvPr>
            <p:ph/>
          </p:nvPr>
        </p:nvSpPr>
        <p:spPr>
          <a:xfrm>
            <a:off x="0" y="914040"/>
            <a:ext cx="9144000" cy="5181480"/>
          </a:xfrm>
          <a:prstGeom prst="rect">
            <a:avLst/>
          </a:prstGeom>
          <a:noFill/>
          <a:ln w="0">
            <a:noFill/>
          </a:ln>
        </p:spPr>
        <p:txBody>
          <a:bodyPr lIns="92160" rIns="92160" tIns="46080" bIns="46080" anchor="t">
            <a:normAutofit/>
          </a:bodyPr>
          <a:p>
            <a:pPr marL="343080" indent="-343080">
              <a:lnSpc>
                <a:spcPct val="9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NISO standards prescribe hyphens as connectors within holdings statements.  </a:t>
            </a:r>
            <a:endParaRPr b="0" lang="en-IN" sz="2800" strike="noStrike" u="none">
              <a:solidFill>
                <a:srgbClr val="ffffff"/>
              </a:solidFill>
              <a:effectLst/>
              <a:uFillTx/>
              <a:latin typeface="Tahoma"/>
            </a:endParaRPr>
          </a:p>
          <a:p>
            <a:pPr marL="343080" indent="-343080">
              <a:lnSpc>
                <a:spcPct val="9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Some serials have symbols as captions, internal hyphens, and other coding challenges. </a:t>
            </a:r>
            <a:r>
              <a:rPr b="0" lang="en-IN" sz="2800" strike="noStrike" u="sng">
                <a:solidFill>
                  <a:srgbClr val="ffffff"/>
                </a:solidFill>
                <a:effectLst/>
                <a:uFillTx/>
                <a:latin typeface="Tahoma"/>
              </a:rPr>
              <a:t>Unofficially</a:t>
            </a:r>
            <a:r>
              <a:rPr b="0" lang="en-IN" sz="2800" strike="noStrike" u="none">
                <a:solidFill>
                  <a:srgbClr val="ffffff"/>
                </a:solidFill>
                <a:effectLst/>
                <a:uFillTx/>
                <a:latin typeface="Tahoma"/>
              </a:rPr>
              <a:t>, the    Publication Patterns Initiative </a:t>
            </a:r>
            <a:endParaRPr b="0" lang="en-IN" sz="2800" strike="noStrike" u="none">
              <a:solidFill>
                <a:srgbClr val="ffffff"/>
              </a:solidFill>
              <a:effectLst/>
              <a:uFillTx/>
              <a:latin typeface="Tahoma"/>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   substitutes a period for the</a:t>
            </a:r>
            <a:endParaRPr b="0" lang="en-IN" sz="2800" strike="noStrike" u="none">
              <a:solidFill>
                <a:srgbClr val="ffffff"/>
              </a:solidFill>
              <a:effectLst/>
              <a:uFillTx/>
              <a:latin typeface="Tahoma"/>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   hyphen so as to distinguish</a:t>
            </a:r>
            <a:endParaRPr b="0" lang="en-IN" sz="2800" strike="noStrike" u="none">
              <a:solidFill>
                <a:srgbClr val="ffffff"/>
              </a:solidFill>
              <a:effectLst/>
              <a:uFillTx/>
              <a:latin typeface="Tahoma"/>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   them from ranges.</a:t>
            </a:r>
            <a:endParaRPr b="0" lang="en-IN" sz="2800" strike="noStrike" u="none">
              <a:solidFill>
                <a:srgbClr val="ffffff"/>
              </a:solidFill>
              <a:effectLst/>
              <a:uFillTx/>
              <a:latin typeface="Tahoma"/>
            </a:endParaRPr>
          </a:p>
        </p:txBody>
      </p:sp>
      <p:sp>
        <p:nvSpPr>
          <p:cNvPr id="148" name="Rectangle 4"/>
          <p:cNvSpPr/>
          <p:nvPr/>
        </p:nvSpPr>
        <p:spPr>
          <a:xfrm>
            <a:off x="304920" y="3733920"/>
            <a:ext cx="2666880" cy="45720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Arial Narrow"/>
            </a:endParaRPr>
          </a:p>
        </p:txBody>
      </p:sp>
      <p:pic>
        <p:nvPicPr>
          <p:cNvPr id="149" name="Picture 5" descr=""/>
          <p:cNvPicPr/>
          <p:nvPr/>
        </p:nvPicPr>
        <p:blipFill>
          <a:blip r:embed="rId1"/>
          <a:stretch/>
        </p:blipFill>
        <p:spPr>
          <a:xfrm>
            <a:off x="5257800" y="2743200"/>
            <a:ext cx="3886200" cy="1295280"/>
          </a:xfrm>
          <a:prstGeom prst="rect">
            <a:avLst/>
          </a:prstGeom>
          <a:noFill/>
          <a:ln w="0">
            <a:noFill/>
          </a:ln>
        </p:spPr>
      </p:pic>
      <p:sp>
        <p:nvSpPr>
          <p:cNvPr id="150" name="Rectangle 6"/>
          <p:cNvSpPr/>
          <p:nvPr/>
        </p:nvSpPr>
        <p:spPr>
          <a:xfrm>
            <a:off x="5334120" y="4191120"/>
            <a:ext cx="3352680" cy="458280"/>
          </a:xfrm>
          <a:prstGeom prst="rect">
            <a:avLst/>
          </a:prstGeom>
          <a:solidFill>
            <a:srgbClr val="ffffff"/>
          </a:solidFill>
          <a:ln w="0">
            <a:noFill/>
          </a:ln>
        </p:spPr>
        <p:style>
          <a:lnRef idx="0"/>
          <a:fillRef idx="0"/>
          <a:effectRef idx="0"/>
          <a:fontRef idx="minor"/>
        </p:style>
        <p:txBody>
          <a:bodyPr lIns="92160" rIns="92160" tIns="46080" bIns="4608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Arial Narrow"/>
              </a:rPr>
              <a:t>A</a:t>
            </a:r>
            <a:endParaRPr b="0" lang="en-IN" sz="2400" strike="noStrike" u="none">
              <a:solidFill>
                <a:srgbClr val="ffffff"/>
              </a:solidFill>
              <a:effectLst/>
              <a:uFillTx/>
              <a:latin typeface="Arial Narrow"/>
            </a:endParaRPr>
          </a:p>
        </p:txBody>
      </p:sp>
      <p:sp>
        <p:nvSpPr>
          <p:cNvPr id="151" name="Rectangle 7"/>
          <p:cNvSpPr/>
          <p:nvPr/>
        </p:nvSpPr>
        <p:spPr>
          <a:xfrm>
            <a:off x="5334120" y="3657600"/>
            <a:ext cx="3352680" cy="579960"/>
          </a:xfrm>
          <a:prstGeom prst="rect">
            <a:avLst/>
          </a:prstGeom>
          <a:solidFill>
            <a:srgbClr val="000099"/>
          </a:solidFill>
          <a:ln w="0">
            <a:noFill/>
          </a:ln>
        </p:spPr>
        <p:style>
          <a:lnRef idx="0"/>
          <a:fillRef idx="0"/>
          <a:effectRef idx="0"/>
          <a:fontRef idx="minor"/>
        </p:style>
        <p:txBody>
          <a:bodyPr lIns="92160" rIns="92160" tIns="46080" bIns="46080" anchor="t">
            <a:spAutoFit/>
          </a:bodyPr>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Book Antiqua"/>
              </a:rPr>
              <a:t>Weekly Intelligence Notes #24-00</a:t>
            </a:r>
            <a:br>
              <a:rPr sz="1600"/>
            </a:br>
            <a:r>
              <a:rPr b="0" lang="en-IN" sz="1600" strike="noStrike" u="none">
                <a:solidFill>
                  <a:srgbClr val="ffffff"/>
                </a:solidFill>
                <a:effectLst/>
                <a:uFillTx/>
                <a:latin typeface="Book Antiqua"/>
              </a:rPr>
              <a:t>June 17, 2000</a:t>
            </a:r>
            <a:endParaRPr b="0" lang="en-IN" sz="1600" strike="noStrike" u="none">
              <a:solidFill>
                <a:srgbClr val="ffffff"/>
              </a:solidFill>
              <a:effectLst/>
              <a:uFillTx/>
              <a:latin typeface="Arial Narrow"/>
            </a:endParaRPr>
          </a:p>
        </p:txBody>
      </p:sp>
      <p:sp>
        <p:nvSpPr>
          <p:cNvPr id="152" name="Rectangle 8"/>
          <p:cNvSpPr/>
          <p:nvPr/>
        </p:nvSpPr>
        <p:spPr>
          <a:xfrm>
            <a:off x="304920" y="4724280"/>
            <a:ext cx="8305560" cy="912240"/>
          </a:xfrm>
          <a:prstGeom prst="rect">
            <a:avLst/>
          </a:prstGeom>
          <a:noFill/>
          <a:ln w="0">
            <a:noFill/>
          </a:ln>
        </p:spPr>
        <p:style>
          <a:lnRef idx="0"/>
          <a:fillRef idx="0"/>
          <a:effectRef idx="0"/>
          <a:fontRef idx="minor"/>
        </p:style>
        <p:txBody>
          <a:bodyPr lIns="92160" rIns="92160" tIns="46080" bIns="46080" anchor="t">
            <a:spAutoFit/>
          </a:bodyPr>
          <a:p>
            <a:pPr>
              <a:lnSpc>
                <a:spcPct val="7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66"/>
                </a:solidFill>
                <a:effectLst/>
                <a:uFillTx/>
                <a:latin typeface="Arial Narrow"/>
              </a:rPr>
              <a:t>853 20</a:t>
            </a:r>
            <a:r>
              <a:rPr b="0" lang="en-IN" sz="2800" strike="noStrike" u="none">
                <a:solidFill>
                  <a:srgbClr val="ffffff"/>
                </a:solidFill>
                <a:effectLst/>
                <a:uFillTx/>
                <a:latin typeface="Arial Narrow"/>
              </a:rPr>
              <a:t> $8 1 $a #  $i (year) $j (month) $k (day) $w w $x 0107</a:t>
            </a:r>
            <a:endParaRPr b="0" lang="en-IN" sz="2800" strike="noStrike" u="none">
              <a:solidFill>
                <a:srgbClr val="ffffff"/>
              </a:solidFill>
              <a:effectLst/>
              <a:uFillTx/>
              <a:latin typeface="Arial Narrow"/>
            </a:endParaRPr>
          </a:p>
          <a:p>
            <a:pPr>
              <a:lnSpc>
                <a:spcPct val="7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ce9d0"/>
                </a:solidFill>
                <a:effectLst/>
                <a:uFillTx/>
                <a:latin typeface="Arial Narrow"/>
              </a:rPr>
              <a:t>863 41</a:t>
            </a:r>
            <a:r>
              <a:rPr b="0" lang="en-IN" sz="2800" strike="noStrike" u="none">
                <a:solidFill>
                  <a:srgbClr val="fce9d0"/>
                </a:solidFill>
                <a:effectLst/>
                <a:uFillTx/>
                <a:latin typeface="Arial Narrow"/>
              </a:rPr>
              <a:t>  $8 1.1 $a 24.00 $i 2000 $j 06 $k 17</a:t>
            </a:r>
            <a:endParaRPr b="0" lang="en-IN" sz="2800" strike="noStrike" u="none">
              <a:solidFill>
                <a:srgbClr val="ffffff"/>
              </a:solidFill>
              <a:effectLst/>
              <a:uFillTx/>
              <a:latin typeface="Arial Narrow"/>
            </a:endParaRPr>
          </a:p>
        </p:txBody>
      </p:sp>
      <p:sp>
        <p:nvSpPr>
          <p:cNvPr id="153" name="Rectangle 9"/>
          <p:cNvSpPr/>
          <p:nvPr/>
        </p:nvSpPr>
        <p:spPr>
          <a:xfrm>
            <a:off x="228600" y="5791320"/>
            <a:ext cx="8153280" cy="458280"/>
          </a:xfrm>
          <a:prstGeom prst="rect">
            <a:avLst/>
          </a:prstGeom>
          <a:noFill/>
          <a:ln w="0">
            <a:noFill/>
          </a:ln>
        </p:spPr>
        <p:style>
          <a:lnRef idx="0"/>
          <a:fillRef idx="0"/>
          <a:effectRef idx="0"/>
          <a:fontRef idx="minor"/>
        </p:style>
        <p:txBody>
          <a:bodyPr lIns="92160" rIns="92160" tIns="46080" bIns="4608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66"/>
                </a:solidFill>
                <a:effectLst/>
                <a:uFillTx/>
                <a:latin typeface="Arial Narrow"/>
              </a:rPr>
              <a:t>May display as</a:t>
            </a:r>
            <a:r>
              <a:rPr b="0" lang="en-IN" sz="2400" strike="noStrike" u="none">
                <a:solidFill>
                  <a:srgbClr val="ffffff"/>
                </a:solidFill>
                <a:effectLst/>
                <a:uFillTx/>
                <a:latin typeface="Arial Narrow"/>
              </a:rPr>
              <a:t>:    #24.00(2000:June 17)</a:t>
            </a:r>
            <a:endParaRPr b="0" lang="en-IN" sz="2400" strike="noStrike" u="none">
              <a:solidFill>
                <a:srgbClr val="ffffff"/>
              </a:solidFill>
              <a:effectLst/>
              <a:uFillTx/>
              <a:latin typeface="Arial Narrow"/>
            </a:endParaRPr>
          </a:p>
        </p:txBody>
      </p:sp>
      <p:sp>
        <p:nvSpPr>
          <p:cNvPr id="4" name="PlaceHolder 3"/>
          <p:cNvSpPr>
            <a:spLocks noGrp="1"/>
          </p:cNvSpPr>
          <p:nvPr>
            <p:ph type="sldNum" idx="3"/>
          </p:nvPr>
        </p:nvSpPr>
        <p:spPr/>
        <p:txBody>
          <a:bodyPr/>
          <a:p>
            <a:fld id="{A8929FF0-0B9E-4D2E-ACA5-5721AF3788A5}" type="slidenum">
              <a:t>18</a:t>
            </a:fld>
          </a:p>
        </p:txBody>
      </p:sp>
    </p:spTree>
  </p:cSld>
  <mc:AlternateContent>
    <mc:Choice Requires="p14">
      <p:transition spd="slow" p14:dur="2000"/>
    </mc:Choice>
    <mc:Fallback>
      <p:transition spd="slow"/>
    </mc:Fallback>
  </mc:AlternateContent>
  <p:timing>
    <p:tnLst>
      <p:par>
        <p:cTn id="166" dur="indefinite" restart="never" nodeType="tmRoot">
          <p:childTnLst>
            <p:seq>
              <p:cTn id="167" dur="indefinite" nodeType="mainSeq">
                <p:childTnLst>
                  <p:par>
                    <p:cTn id="168" fill="hold">
                      <p:stCondLst>
                        <p:cond delay="indefinite"/>
                      </p:stCondLst>
                      <p:childTnLst>
                        <p:par>
                          <p:cTn id="169" fill="hold">
                            <p:stCondLst>
                              <p:cond delay="0"/>
                            </p:stCondLst>
                            <p:childTnLst>
                              <p:par>
                                <p:cTn id="170" nodeType="clickEffect" fill="hold" presetClass="entr" presetID="2" presetSubtype="4">
                                  <p:stCondLst>
                                    <p:cond delay="0"/>
                                  </p:stCondLst>
                                  <p:childTnLst>
                                    <p:set>
                                      <p:cBhvr>
                                        <p:cTn id="171" dur="1" fill="hold">
                                          <p:stCondLst>
                                            <p:cond delay="0"/>
                                          </p:stCondLst>
                                        </p:cTn>
                                        <p:tgtEl>
                                          <p:spTgt spid="152"/>
                                        </p:tgtEl>
                                        <p:attrNameLst>
                                          <p:attrName>style.visibility</p:attrName>
                                        </p:attrNameLst>
                                      </p:cBhvr>
                                      <p:to>
                                        <p:strVal val="visible"/>
                                      </p:to>
                                    </p:set>
                                    <p:anim calcmode="lin" valueType="num">
                                      <p:cBhvr additive="base">
                                        <p:cTn id="172" dur="500" fill="hold"/>
                                        <p:tgtEl>
                                          <p:spTgt spid="152"/>
                                        </p:tgtEl>
                                        <p:attrNameLst>
                                          <p:attrName>ppt_x</p:attrName>
                                        </p:attrNameLst>
                                      </p:cBhvr>
                                      <p:tavLst>
                                        <p:tav tm="0">
                                          <p:val>
                                            <p:strVal val="#ppt_x"/>
                                          </p:val>
                                        </p:tav>
                                        <p:tav tm="100000">
                                          <p:val>
                                            <p:strVal val="#ppt_x"/>
                                          </p:val>
                                        </p:tav>
                                      </p:tavLst>
                                    </p:anim>
                                    <p:anim calcmode="lin" valueType="num">
                                      <p:cBhvr additive="base">
                                        <p:cTn id="173" dur="500" fill="hold"/>
                                        <p:tgtEl>
                                          <p:spTgt spid="152"/>
                                        </p:tgtEl>
                                        <p:attrNameLst>
                                          <p:attrName>ppt_y</p:attrName>
                                        </p:attrNameLst>
                                      </p:cBhvr>
                                      <p:tavLst>
                                        <p:tav tm="0">
                                          <p:val>
                                            <p:strVal val="1+#ppt_h/2"/>
                                          </p:val>
                                        </p:tav>
                                        <p:tav tm="100000">
                                          <p:val>
                                            <p:strVal val="#ppt_y"/>
                                          </p:val>
                                        </p:tav>
                                      </p:tavLst>
                                    </p:anim>
                                  </p:childTnLst>
                                </p:cTn>
                              </p:par>
                            </p:childTnLst>
                          </p:cTn>
                        </p:par>
                        <p:par>
                          <p:cTn id="174" fill="hold">
                            <p:stCondLst>
                              <p:cond delay="500"/>
                            </p:stCondLst>
                            <p:childTnLst>
                              <p:par>
                                <p:cTn id="175" nodeType="afterEffect" fill="hold" presetClass="entr" presetID="2" presetSubtype="8">
                                  <p:stCondLst>
                                    <p:cond delay="0"/>
                                  </p:stCondLst>
                                  <p:childTnLst>
                                    <p:set>
                                      <p:cBhvr>
                                        <p:cTn id="176" dur="1" fill="hold">
                                          <p:stCondLst>
                                            <p:cond delay="0"/>
                                          </p:stCondLst>
                                        </p:cTn>
                                        <p:tgtEl>
                                          <p:spTgt spid="153"/>
                                        </p:tgtEl>
                                        <p:attrNameLst>
                                          <p:attrName>style.visibility</p:attrName>
                                        </p:attrNameLst>
                                      </p:cBhvr>
                                      <p:to>
                                        <p:strVal val="visible"/>
                                      </p:to>
                                    </p:set>
                                    <p:anim calcmode="lin" valueType="num">
                                      <p:cBhvr additive="base">
                                        <p:cTn id="177" dur="500" fill="hold"/>
                                        <p:tgtEl>
                                          <p:spTgt spid="153"/>
                                        </p:tgtEl>
                                        <p:attrNameLst>
                                          <p:attrName>ppt_x</p:attrName>
                                        </p:attrNameLst>
                                      </p:cBhvr>
                                      <p:tavLst>
                                        <p:tav tm="0">
                                          <p:val>
                                            <p:strVal val="0-#ppt_w/2"/>
                                          </p:val>
                                        </p:tav>
                                        <p:tav tm="100000">
                                          <p:val>
                                            <p:strVal val="#ppt_x"/>
                                          </p:val>
                                        </p:tav>
                                      </p:tavLst>
                                    </p:anim>
                                    <p:anim calcmode="lin" valueType="num">
                                      <p:cBhvr additive="base">
                                        <p:cTn id="178" dur="500" fill="hold"/>
                                        <p:tgtEl>
                                          <p:spTgt spid="1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154"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155"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26A6CBC-E1C5-4A8F-A8A5-6AE263D417C4}"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156"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Alphabetic enumeration</a:t>
            </a:r>
            <a:endParaRPr b="0" lang="en-IN" sz="4400" strike="noStrike" u="none">
              <a:solidFill>
                <a:srgbClr val="ffff66"/>
              </a:solidFill>
              <a:effectLst/>
              <a:uFillTx/>
              <a:latin typeface="Tahoma"/>
            </a:endParaRPr>
          </a:p>
        </p:txBody>
      </p:sp>
      <p:sp>
        <p:nvSpPr>
          <p:cNvPr id="157" name="PlaceHolder 2"/>
          <p:cNvSpPr>
            <a:spLocks noGrp="1"/>
          </p:cNvSpPr>
          <p:nvPr>
            <p:ph/>
          </p:nvPr>
        </p:nvSpPr>
        <p:spPr>
          <a:xfrm>
            <a:off x="0" y="914400"/>
            <a:ext cx="9144000" cy="5486400"/>
          </a:xfrm>
          <a:prstGeom prst="rect">
            <a:avLst/>
          </a:prstGeom>
          <a:noFill/>
          <a:ln w="0">
            <a:noFill/>
          </a:ln>
        </p:spPr>
        <p:txBody>
          <a:bodyPr lIns="92160" rIns="92160" tIns="46080" bIns="4608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Another problematic situation in some systems!</a:t>
            </a:r>
            <a:endParaRPr b="0" lang="en-IN" sz="3200" strike="noStrike" u="none">
              <a:solidFill>
                <a:srgbClr val="ffffff"/>
              </a:solidFill>
              <a:effectLst/>
              <a:uFillTx/>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Alpha enumeration should be input as given.</a:t>
            </a:r>
            <a:endParaRPr b="0" lang="en-IN" sz="3200" strike="noStrike" u="none">
              <a:solidFill>
                <a:srgbClr val="ffffff"/>
              </a:solidFill>
              <a:effectLst/>
              <a:uFillTx/>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Your system should be able to handle it; if it can’t, you need to insist that it get up to speed.</a:t>
            </a:r>
            <a:endParaRPr b="0" lang="en-IN" sz="3200" strike="noStrike" u="none">
              <a:solidFill>
                <a:srgbClr val="ffffff"/>
              </a:solidFill>
              <a:effectLst/>
              <a:uFillTx/>
              <a:latin typeface="Tahoma"/>
            </a:endParaRPr>
          </a:p>
        </p:txBody>
      </p:sp>
      <p:sp>
        <p:nvSpPr>
          <p:cNvPr id="158" name="Rectangle 4"/>
          <p:cNvSpPr/>
          <p:nvPr/>
        </p:nvSpPr>
        <p:spPr>
          <a:xfrm>
            <a:off x="457200" y="3429000"/>
            <a:ext cx="3429000" cy="2646000"/>
          </a:xfrm>
          <a:prstGeom prst="rect">
            <a:avLst/>
          </a:prstGeom>
          <a:solidFill>
            <a:srgbClr val="0000ff"/>
          </a:solidFill>
          <a:ln w="0">
            <a:noFill/>
          </a:ln>
        </p:spPr>
        <p:style>
          <a:lnRef idx="0"/>
          <a:fillRef idx="0"/>
          <a:effectRef idx="0"/>
          <a:fontRef idx="minor"/>
        </p:style>
        <p:txBody>
          <a:bodyPr lIns="92160" rIns="92160" tIns="46080" bIns="4608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Arial Narrow"/>
              </a:rPr>
              <a:t>OCEANOGRAPHIC</a:t>
            </a:r>
            <a:endParaRPr b="0" lang="en-IN" sz="2800" strike="noStrike" u="none">
              <a:solidFill>
                <a:srgbClr val="ffffff"/>
              </a:solidFill>
              <a:effectLst/>
              <a:uFillTx/>
              <a:latin typeface="Arial Narrow"/>
            </a:endParaRPr>
          </a:p>
          <a:p>
            <a:pPr>
              <a:lnSpc>
                <a:spcPct val="7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Arial Narrow"/>
              </a:rPr>
              <a:t>RESEARCH MONTHLY</a:t>
            </a:r>
            <a:endParaRPr b="0" lang="en-IN" sz="2800" strike="noStrike" u="none">
              <a:solidFill>
                <a:srgbClr val="ffffff"/>
              </a:solidFill>
              <a:effectLst/>
              <a:uFillTx/>
              <a:latin typeface="Arial Narrow"/>
            </a:endParaRPr>
          </a:p>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Arial Narrow"/>
              </a:rPr>
              <a:t>Volume A1, Number 1</a:t>
            </a:r>
            <a:endParaRPr b="0" lang="en-IN" sz="2800" strike="noStrike" u="none">
              <a:solidFill>
                <a:srgbClr val="ffffff"/>
              </a:solidFill>
              <a:effectLst/>
              <a:uFillTx/>
              <a:latin typeface="Arial Narrow"/>
            </a:endParaRPr>
          </a:p>
          <a:p>
            <a:pPr>
              <a:lnSpc>
                <a:spcPct val="2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Arial Narrow"/>
              </a:rPr>
              <a:t> Oct. 1982</a:t>
            </a:r>
            <a:endParaRPr b="0" lang="en-IN" sz="2800" strike="noStrike" u="none">
              <a:solidFill>
                <a:srgbClr val="ffffff"/>
              </a:solidFill>
              <a:effectLst/>
              <a:uFillTx/>
              <a:latin typeface="Arial Narrow"/>
            </a:endParaRPr>
          </a:p>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Arial Narrow"/>
              </a:rPr>
              <a:t>Marine Biology</a:t>
            </a:r>
            <a:endParaRPr b="0" lang="en-IN" sz="2800" strike="noStrike" u="none">
              <a:solidFill>
                <a:srgbClr val="ffffff"/>
              </a:solidFill>
              <a:effectLst/>
              <a:uFillTx/>
              <a:latin typeface="Arial Narrow"/>
            </a:endParaRPr>
          </a:p>
        </p:txBody>
      </p:sp>
      <p:sp>
        <p:nvSpPr>
          <p:cNvPr id="159" name="Rectangle 5"/>
          <p:cNvSpPr/>
          <p:nvPr/>
        </p:nvSpPr>
        <p:spPr>
          <a:xfrm>
            <a:off x="4419720" y="3352680"/>
            <a:ext cx="3429000" cy="2859480"/>
          </a:xfrm>
          <a:prstGeom prst="rect">
            <a:avLst/>
          </a:prstGeom>
          <a:solidFill>
            <a:srgbClr val="0000ff"/>
          </a:solidFill>
          <a:ln w="0">
            <a:noFill/>
          </a:ln>
        </p:spPr>
        <p:style>
          <a:lnRef idx="0"/>
          <a:fillRef idx="0"/>
          <a:effectRef idx="0"/>
          <a:fontRef idx="minor"/>
        </p:style>
        <p:txBody>
          <a:bodyPr lIns="92160" rIns="92160" tIns="46080" bIns="4608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Arial Narrow"/>
              </a:rPr>
              <a:t>OCEANOGRAPHIC</a:t>
            </a:r>
            <a:endParaRPr b="0" lang="en-IN" sz="2800" strike="noStrike" u="none">
              <a:solidFill>
                <a:srgbClr val="ffffff"/>
              </a:solidFill>
              <a:effectLst/>
              <a:uFillTx/>
              <a:latin typeface="Arial Narrow"/>
            </a:endParaRPr>
          </a:p>
          <a:p>
            <a:pPr>
              <a:lnSpc>
                <a:spcPct val="7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Arial Narrow"/>
              </a:rPr>
              <a:t>RESEARCH MONTHLY</a:t>
            </a:r>
            <a:endParaRPr b="0" lang="en-IN" sz="2800" strike="noStrike" u="none">
              <a:solidFill>
                <a:srgbClr val="ffffff"/>
              </a:solidFill>
              <a:effectLst/>
              <a:uFillTx/>
              <a:latin typeface="Arial Narrow"/>
            </a:endParaRPr>
          </a:p>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Arial Narrow"/>
              </a:rPr>
              <a:t>Volume B1, Number 1</a:t>
            </a:r>
            <a:endParaRPr b="0" lang="en-IN" sz="2800" strike="noStrike" u="none">
              <a:solidFill>
                <a:srgbClr val="ffffff"/>
              </a:solidFill>
              <a:effectLst/>
              <a:uFillTx/>
              <a:latin typeface="Arial Narrow"/>
            </a:endParaRPr>
          </a:p>
          <a:p>
            <a:pPr>
              <a:lnSpc>
                <a:spcPct val="3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Arial Narrow"/>
              </a:rPr>
              <a:t> Oct. 1982</a:t>
            </a:r>
            <a:endParaRPr b="0" lang="en-IN" sz="2800" strike="noStrike" u="none">
              <a:solidFill>
                <a:srgbClr val="ffffff"/>
              </a:solidFill>
              <a:effectLst/>
              <a:uFillTx/>
              <a:latin typeface="Arial Narrow"/>
            </a:endParaRPr>
          </a:p>
          <a:p>
            <a:pPr>
              <a:lnSpc>
                <a:spcPct val="7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Arial Narrow"/>
              </a:rPr>
              <a:t>Marine Geology and Physiography</a:t>
            </a:r>
            <a:endParaRPr b="0" lang="en-IN" sz="2800" strike="noStrike" u="none">
              <a:solidFill>
                <a:srgbClr val="ffffff"/>
              </a:solidFill>
              <a:effectLst/>
              <a:uFillTx/>
              <a:latin typeface="Arial Narrow"/>
            </a:endParaRPr>
          </a:p>
        </p:txBody>
      </p:sp>
      <p:sp>
        <p:nvSpPr>
          <p:cNvPr id="4" name="PlaceHolder 3"/>
          <p:cNvSpPr>
            <a:spLocks noGrp="1"/>
          </p:cNvSpPr>
          <p:nvPr>
            <p:ph type="sldNum" idx="3"/>
          </p:nvPr>
        </p:nvSpPr>
        <p:spPr/>
        <p:txBody>
          <a:bodyPr/>
          <a:p>
            <a:fld id="{7871C664-382E-498D-92FA-388150FEB0E0}"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160"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161"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D163F5E-AB1A-4472-97B5-531877C106CD}"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162"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Alternative enumeration</a:t>
            </a:r>
            <a:endParaRPr b="0" lang="en-IN" sz="4400" strike="noStrike" u="none">
              <a:solidFill>
                <a:srgbClr val="ffff66"/>
              </a:solidFill>
              <a:effectLst/>
              <a:uFillTx/>
              <a:latin typeface="Tahoma"/>
            </a:endParaRPr>
          </a:p>
        </p:txBody>
      </p:sp>
      <p:sp>
        <p:nvSpPr>
          <p:cNvPr id="163" name="PlaceHolder 2"/>
          <p:cNvSpPr>
            <a:spLocks noGrp="1"/>
          </p:cNvSpPr>
          <p:nvPr>
            <p:ph/>
          </p:nvPr>
        </p:nvSpPr>
        <p:spPr>
          <a:xfrm>
            <a:off x="0" y="914400"/>
            <a:ext cx="9144000" cy="3124080"/>
          </a:xfrm>
          <a:prstGeom prst="rect">
            <a:avLst/>
          </a:prstGeom>
          <a:noFill/>
          <a:ln w="0">
            <a:noFill/>
          </a:ln>
        </p:spPr>
        <p:txBody>
          <a:bodyPr lIns="92160" rIns="92160" tIns="46080" bIns="46080" anchor="t">
            <a:normAutofit/>
          </a:bodyPr>
          <a:p>
            <a:pPr marL="343080" indent="-34308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ahoma"/>
              </a:rPr>
              <a:t>Some kinds of publications have two numeric systems.</a:t>
            </a:r>
            <a:endParaRPr b="0" lang="en-IN" sz="2800" strike="noStrike" u="none">
              <a:solidFill>
                <a:srgbClr val="ffffff"/>
              </a:solidFill>
              <a:effectLst/>
              <a:uFillTx/>
              <a:latin typeface="Tahoma"/>
            </a:endParaRPr>
          </a:p>
          <a:p>
            <a:pPr lvl="1" marL="743040" indent="-285840">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ahoma"/>
              </a:rPr>
              <a:t>It is not always necessary to record both.  If both systems are important, use the prescribed alternative enumeration subfields, </a:t>
            </a:r>
            <a:r>
              <a:rPr b="0" lang="en-US" sz="2400" strike="noStrike" u="none">
                <a:solidFill>
                  <a:srgbClr val="ffff66"/>
                </a:solidFill>
                <a:effectLst/>
                <a:uFillTx/>
                <a:latin typeface="Tahoma"/>
              </a:rPr>
              <a:t>$g-h</a:t>
            </a:r>
            <a:r>
              <a:rPr b="0" lang="en-US" sz="2400" strike="noStrike" u="none">
                <a:solidFill>
                  <a:srgbClr val="ffffff"/>
                </a:solidFill>
                <a:effectLst/>
                <a:uFillTx/>
                <a:latin typeface="Tahoma"/>
              </a:rPr>
              <a:t>, and (if necessary) chronology subfield, </a:t>
            </a:r>
            <a:r>
              <a:rPr b="0" lang="en-US" sz="2400" strike="noStrike" u="none">
                <a:solidFill>
                  <a:srgbClr val="ffff66"/>
                </a:solidFill>
                <a:effectLst/>
                <a:uFillTx/>
                <a:latin typeface="Tahoma"/>
              </a:rPr>
              <a:t>$m</a:t>
            </a:r>
            <a:r>
              <a:rPr b="0" lang="en-US" sz="2400" strike="noStrike" u="none">
                <a:solidFill>
                  <a:srgbClr val="ffffff"/>
                </a:solidFill>
                <a:effectLst/>
                <a:uFillTx/>
                <a:latin typeface="Tahoma"/>
              </a:rPr>
              <a:t>.  </a:t>
            </a:r>
            <a:endParaRPr b="0" lang="en-IN" sz="2400" strike="noStrike" u="none">
              <a:solidFill>
                <a:srgbClr val="ffffff"/>
              </a:solidFill>
              <a:effectLst/>
              <a:uFillTx/>
              <a:latin typeface="Tahoma"/>
            </a:endParaRPr>
          </a:p>
          <a:p>
            <a:pPr lvl="1" marL="743040" indent="-285840">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Tahoma"/>
              </a:rPr>
              <a:t>Typical case: </a:t>
            </a:r>
            <a:r>
              <a:rPr b="0" lang="en-US" sz="2400" strike="noStrike" u="sng">
                <a:solidFill>
                  <a:srgbClr val="ffffff"/>
                </a:solidFill>
                <a:effectLst/>
                <a:uFillTx/>
                <a:latin typeface="Tahoma"/>
              </a:rPr>
              <a:t>Old series continues numbering, but contains new series.</a:t>
            </a:r>
            <a:endParaRPr b="0" lang="en-IN" sz="2400" strike="noStrike" u="none">
              <a:solidFill>
                <a:srgbClr val="ffffff"/>
              </a:solidFill>
              <a:effectLst/>
              <a:uFillTx/>
              <a:latin typeface="Tahoma"/>
            </a:endParaRPr>
          </a:p>
          <a:p>
            <a:pPr lvl="2" marL="1143000" indent="-228600">
              <a:spcBef>
                <a:spcPts val="499"/>
              </a:spcBef>
              <a:buNone/>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cc66"/>
                </a:solidFill>
                <a:effectLst/>
                <a:uFillTx/>
                <a:latin typeface="Tahoma"/>
              </a:rPr>
              <a:t>	</a:t>
            </a:r>
            <a:r>
              <a:rPr b="0" lang="en-US" sz="2800" strike="noStrike" u="none">
                <a:solidFill>
                  <a:srgbClr val="ffcc66"/>
                </a:solidFill>
                <a:effectLst/>
                <a:uFillTx/>
                <a:latin typeface="Tahoma"/>
              </a:rPr>
              <a:t>	</a:t>
            </a:r>
            <a:r>
              <a:rPr b="0" lang="en-US" sz="2000" strike="noStrike" u="none">
                <a:solidFill>
                  <a:srgbClr val="ffcc66"/>
                </a:solidFill>
                <a:effectLst/>
                <a:uFillTx/>
                <a:latin typeface="Tahoma"/>
              </a:rPr>
              <a:t>	</a:t>
            </a:r>
            <a:endParaRPr b="0" lang="en-IN" sz="2000" strike="noStrike" u="none">
              <a:solidFill>
                <a:srgbClr val="ffffff"/>
              </a:solidFill>
              <a:effectLst/>
              <a:uFillTx/>
              <a:latin typeface="Tahoma"/>
            </a:endParaRPr>
          </a:p>
        </p:txBody>
      </p:sp>
      <p:sp>
        <p:nvSpPr>
          <p:cNvPr id="164" name="Rectangle 4"/>
          <p:cNvSpPr/>
          <p:nvPr/>
        </p:nvSpPr>
        <p:spPr>
          <a:xfrm>
            <a:off x="304920" y="5410080"/>
            <a:ext cx="5029200" cy="702360"/>
          </a:xfrm>
          <a:prstGeom prst="rect">
            <a:avLst/>
          </a:prstGeom>
          <a:noFill/>
          <a:ln w="0">
            <a:noFill/>
          </a:ln>
        </p:spPr>
        <p:style>
          <a:lnRef idx="0"/>
          <a:fillRef idx="0"/>
          <a:effectRef idx="0"/>
          <a:fontRef idx="minor"/>
        </p:style>
        <p:txBody>
          <a:bodyPr lIns="92160" rIns="92160" tIns="46080" bIns="46080" anchor="t">
            <a:spAutoFit/>
          </a:bodyPr>
          <a:p>
            <a:pPr lvl="2" marL="9144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cc66"/>
                </a:solidFill>
                <a:effectLst/>
                <a:uFillTx/>
                <a:latin typeface="Tahoma"/>
              </a:rPr>
              <a:t>May display as</a:t>
            </a:r>
            <a:r>
              <a:rPr b="0" lang="en-IN" sz="2000" strike="noStrike" u="none">
                <a:solidFill>
                  <a:srgbClr val="ffffff"/>
                </a:solidFill>
                <a:effectLst/>
                <a:uFillTx/>
                <a:latin typeface="Tahoma"/>
              </a:rPr>
              <a:t>: </a:t>
            </a:r>
            <a:endParaRPr b="0" lang="en-IN" sz="2000" strike="noStrike" u="none">
              <a:solidFill>
                <a:srgbClr val="ffffff"/>
              </a:solidFill>
              <a:effectLst/>
              <a:uFillTx/>
              <a:latin typeface="Arial Narrow"/>
            </a:endParaRPr>
          </a:p>
          <a:p>
            <a:pPr lvl="2" marL="9144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new ser.33=old ser.:v.149</a:t>
            </a:r>
            <a:endParaRPr b="0" lang="en-IN" sz="2000" strike="noStrike" u="none">
              <a:solidFill>
                <a:srgbClr val="ffffff"/>
              </a:solidFill>
              <a:effectLst/>
              <a:uFillTx/>
              <a:latin typeface="Arial Narrow"/>
            </a:endParaRPr>
          </a:p>
        </p:txBody>
      </p:sp>
      <p:sp>
        <p:nvSpPr>
          <p:cNvPr id="165" name="Rectangle 5"/>
          <p:cNvSpPr/>
          <p:nvPr/>
        </p:nvSpPr>
        <p:spPr>
          <a:xfrm>
            <a:off x="0" y="3733920"/>
            <a:ext cx="5715000" cy="1189800"/>
          </a:xfrm>
          <a:prstGeom prst="rect">
            <a:avLst/>
          </a:prstGeom>
          <a:noFill/>
          <a:ln w="0">
            <a:noFill/>
          </a:ln>
        </p:spPr>
        <p:style>
          <a:lnRef idx="0"/>
          <a:fillRef idx="0"/>
          <a:effectRef idx="0"/>
          <a:fontRef idx="minor"/>
        </p:style>
        <p:txBody>
          <a:bodyPr lIns="92160" rIns="92160" tIns="46080" bIns="46080" anchor="t">
            <a:spAutoFit/>
          </a:bodyPr>
          <a:p>
            <a:pPr lvl="1" marL="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66"/>
                </a:solidFill>
                <a:effectLst/>
                <a:uFillTx/>
                <a:latin typeface="Tahoma"/>
              </a:rPr>
              <a:t>853 00  $8 1 $a new ser. $g old ser.:v. $w a</a:t>
            </a:r>
            <a:endParaRPr b="0" lang="en-IN" sz="2400" strike="noStrike" u="none">
              <a:solidFill>
                <a:srgbClr val="ffffff"/>
              </a:solidFill>
              <a:effectLst/>
              <a:uFillTx/>
              <a:latin typeface="Arial Narrow"/>
            </a:endParaRPr>
          </a:p>
          <a:p>
            <a:pPr lvl="1" marL="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66"/>
                </a:solidFill>
                <a:effectLst/>
                <a:uFillTx/>
                <a:latin typeface="Tahoma"/>
              </a:rPr>
              <a:t>863 41  </a:t>
            </a:r>
            <a:r>
              <a:rPr b="0" lang="en-US" sz="2400" strike="noStrike" u="none">
                <a:solidFill>
                  <a:srgbClr val="ffffff"/>
                </a:solidFill>
                <a:effectLst/>
                <a:uFillTx/>
                <a:latin typeface="Tahoma"/>
              </a:rPr>
              <a:t>$8 1.1 $a 33 $g 149</a:t>
            </a:r>
            <a:endParaRPr b="0" lang="en-IN" sz="2400" strike="noStrike" u="none">
              <a:solidFill>
                <a:srgbClr val="ffffff"/>
              </a:solidFill>
              <a:effectLst/>
              <a:uFillTx/>
              <a:latin typeface="Arial Narrow"/>
            </a:endParaRPr>
          </a:p>
        </p:txBody>
      </p:sp>
      <p:sp>
        <p:nvSpPr>
          <p:cNvPr id="166" name="Rectangle 6"/>
          <p:cNvSpPr/>
          <p:nvPr/>
        </p:nvSpPr>
        <p:spPr>
          <a:xfrm>
            <a:off x="5867280" y="3429000"/>
            <a:ext cx="2819520" cy="3161520"/>
          </a:xfrm>
          <a:prstGeom prst="rect">
            <a:avLst/>
          </a:prstGeom>
          <a:solidFill>
            <a:srgbClr val="000000"/>
          </a:solidFill>
          <a:ln w="0">
            <a:noFill/>
          </a:ln>
        </p:spPr>
        <p:style>
          <a:lnRef idx="0"/>
          <a:fillRef idx="0"/>
          <a:effectRef idx="0"/>
          <a:fontRef idx="minor"/>
        </p:style>
        <p:txBody>
          <a:bodyPr lIns="92160" rIns="92160" tIns="46080" bIns="46080" anchor="t">
            <a:spAutoFit/>
          </a:bodyPr>
          <a:p>
            <a:pPr>
              <a:lnSpc>
                <a:spcPct val="9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Bookman Old Style"/>
              </a:rPr>
              <a:t>ANNALS OF </a:t>
            </a:r>
            <a:endParaRPr b="0" lang="en-IN" sz="2800" strike="noStrike" u="none">
              <a:solidFill>
                <a:srgbClr val="ffffff"/>
              </a:solidFill>
              <a:effectLst/>
              <a:uFillTx/>
              <a:latin typeface="Arial Narrow"/>
            </a:endParaRPr>
          </a:p>
          <a:p>
            <a:pPr>
              <a:lnSpc>
                <a:spcPct val="8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Bookman Old Style"/>
              </a:rPr>
              <a:t>RELIGIOUS</a:t>
            </a:r>
            <a:endParaRPr b="0" lang="en-IN" sz="2800" strike="noStrike" u="none">
              <a:solidFill>
                <a:srgbClr val="ffffff"/>
              </a:solidFill>
              <a:effectLst/>
              <a:uFillTx/>
              <a:latin typeface="Arial Narrow"/>
            </a:endParaRPr>
          </a:p>
          <a:p>
            <a:pPr>
              <a:lnSpc>
                <a:spcPct val="9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Bookman Old Style"/>
              </a:rPr>
              <a:t>HISTORY</a:t>
            </a:r>
            <a:endParaRPr b="0" lang="en-IN" sz="2800" strike="noStrike" u="none">
              <a:solidFill>
                <a:srgbClr val="ffffff"/>
              </a:solidFill>
              <a:effectLst/>
              <a:uFillTx/>
              <a:latin typeface="Arial Narrow"/>
            </a:endParaRPr>
          </a:p>
          <a:p>
            <a:pPr>
              <a:lnSpc>
                <a:spcPct val="11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Bookman Old Style"/>
              </a:rPr>
              <a:t>NEW SERIES 33</a:t>
            </a:r>
            <a:endParaRPr b="0" lang="en-IN" sz="2400" strike="noStrike" u="none">
              <a:solidFill>
                <a:srgbClr val="ffffff"/>
              </a:solidFill>
              <a:effectLst/>
              <a:uFillTx/>
              <a:latin typeface="Arial Narrow"/>
            </a:endParaRPr>
          </a:p>
          <a:p>
            <a:pPr>
              <a:lnSpc>
                <a:spcPct val="6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Arial Narrow"/>
            </a:endParaRPr>
          </a:p>
          <a:p>
            <a:pPr>
              <a:lnSpc>
                <a:spcPct val="6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sng">
                <a:solidFill>
                  <a:srgbClr val="ffffff"/>
                </a:solidFill>
                <a:effectLst/>
                <a:uFillTx/>
                <a:latin typeface="Abadi MT Condensed Light"/>
              </a:rPr>
              <a:t>  OLD SERIES vol. 149</a:t>
            </a:r>
            <a:endParaRPr b="0" lang="en-IN" sz="1800" strike="noStrike" u="none">
              <a:solidFill>
                <a:srgbClr val="ffffff"/>
              </a:solidFill>
              <a:effectLst/>
              <a:uFillTx/>
              <a:latin typeface="Arial Narrow"/>
            </a:endParaRPr>
          </a:p>
          <a:p>
            <a:pPr>
              <a:lnSpc>
                <a:spcPct val="6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Arial Narrow"/>
            </a:endParaRPr>
          </a:p>
        </p:txBody>
      </p:sp>
      <p:sp>
        <p:nvSpPr>
          <p:cNvPr id="4" name="PlaceHolder 3"/>
          <p:cNvSpPr>
            <a:spLocks noGrp="1"/>
          </p:cNvSpPr>
          <p:nvPr>
            <p:ph type="sldNum" idx="3"/>
          </p:nvPr>
        </p:nvSpPr>
        <p:spPr/>
        <p:txBody>
          <a:bodyPr/>
          <a:p>
            <a:fld id="{62164E2D-7173-45F4-BE95-52731874CB87}" type="slidenum">
              <a:t>20</a:t>
            </a:fld>
          </a:p>
        </p:txBody>
      </p:sp>
    </p:spTree>
  </p:cSld>
  <mc:AlternateContent>
    <mc:Choice Requires="p14">
      <p:transition spd="slow" p14:dur="2000"/>
    </mc:Choice>
    <mc:Fallback>
      <p:transition spd="slow"/>
    </mc:Fallback>
  </mc:AlternateContent>
  <p:timing>
    <p:tnLst>
      <p:par>
        <p:cTn id="179" dur="indefinite" restart="never" nodeType="tmRoot">
          <p:childTnLst>
            <p:seq>
              <p:cTn id="180" dur="indefinite" nodeType="mainSeq">
                <p:childTnLst>
                  <p:par>
                    <p:cTn id="181" fill="hold">
                      <p:stCondLst>
                        <p:cond delay="indefinite"/>
                      </p:stCondLst>
                      <p:childTnLst>
                        <p:par>
                          <p:cTn id="182" fill="hold">
                            <p:stCondLst>
                              <p:cond delay="0"/>
                            </p:stCondLst>
                            <p:childTnLst>
                              <p:par>
                                <p:cTn id="183" nodeType="clickEffect" fill="hold" presetClass="entr" presetID="1">
                                  <p:stCondLst>
                                    <p:cond delay="0"/>
                                  </p:stCondLst>
                                  <p:childTnLst>
                                    <p:set>
                                      <p:cBhvr>
                                        <p:cTn id="184" dur="1" fill="hold">
                                          <p:stCondLst>
                                            <p:cond delay="499"/>
                                          </p:stCondLst>
                                        </p:cTn>
                                        <p:tgtEl>
                                          <p:spTgt spid="165"/>
                                        </p:tgtEl>
                                        <p:attrNameLst>
                                          <p:attrName>style.visibility</p:attrName>
                                        </p:attrNameLst>
                                      </p:cBhvr>
                                      <p:to>
                                        <p:strVal val="visible"/>
                                      </p:to>
                                    </p:set>
                                  </p:childTnLst>
                                </p:cTn>
                              </p:par>
                            </p:childTnLst>
                          </p:cTn>
                        </p:par>
                        <p:par>
                          <p:cTn id="185" fill="hold">
                            <p:stCondLst>
                              <p:cond delay="500"/>
                            </p:stCondLst>
                            <p:childTnLst>
                              <p:par>
                                <p:cTn id="186" nodeType="afterEffect" fill="hold" presetClass="entr" presetID="2" presetSubtype="8">
                                  <p:stCondLst>
                                    <p:cond delay="0"/>
                                  </p:stCondLst>
                                  <p:childTnLst>
                                    <p:set>
                                      <p:cBhvr>
                                        <p:cTn id="187" dur="1" fill="hold">
                                          <p:stCondLst>
                                            <p:cond delay="0"/>
                                          </p:stCondLst>
                                        </p:cTn>
                                        <p:tgtEl>
                                          <p:spTgt spid="164"/>
                                        </p:tgtEl>
                                        <p:attrNameLst>
                                          <p:attrName>style.visibility</p:attrName>
                                        </p:attrNameLst>
                                      </p:cBhvr>
                                      <p:to>
                                        <p:strVal val="visible"/>
                                      </p:to>
                                    </p:set>
                                    <p:anim calcmode="lin" valueType="num">
                                      <p:cBhvr additive="base">
                                        <p:cTn id="188" dur="500" fill="hold"/>
                                        <p:tgtEl>
                                          <p:spTgt spid="164"/>
                                        </p:tgtEl>
                                        <p:attrNameLst>
                                          <p:attrName>ppt_x</p:attrName>
                                        </p:attrNameLst>
                                      </p:cBhvr>
                                      <p:tavLst>
                                        <p:tav tm="0">
                                          <p:val>
                                            <p:strVal val="0-#ppt_w/2"/>
                                          </p:val>
                                        </p:tav>
                                        <p:tav tm="100000">
                                          <p:val>
                                            <p:strVal val="#ppt_x"/>
                                          </p:val>
                                        </p:tav>
                                      </p:tavLst>
                                    </p:anim>
                                    <p:anim calcmode="lin" valueType="num">
                                      <p:cBhvr additive="base">
                                        <p:cTn id="189" dur="500" fill="hold"/>
                                        <p:tgtEl>
                                          <p:spTgt spid="1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167"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168"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6658722-C71E-4E0E-806E-A4A73E6A83DB}"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169"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Summary</a:t>
            </a:r>
            <a:endParaRPr b="0" lang="en-IN" sz="4400" strike="noStrike" u="none">
              <a:solidFill>
                <a:srgbClr val="ffff66"/>
              </a:solidFill>
              <a:effectLst/>
              <a:uFillTx/>
              <a:latin typeface="Tahoma"/>
            </a:endParaRPr>
          </a:p>
        </p:txBody>
      </p:sp>
      <p:sp>
        <p:nvSpPr>
          <p:cNvPr id="170" name="PlaceHolder 2"/>
          <p:cNvSpPr>
            <a:spLocks noGrp="1"/>
          </p:cNvSpPr>
          <p:nvPr>
            <p:ph/>
          </p:nvPr>
        </p:nvSpPr>
        <p:spPr>
          <a:xfrm>
            <a:off x="0" y="914040"/>
            <a:ext cx="9144000" cy="5181480"/>
          </a:xfrm>
          <a:prstGeom prst="rect">
            <a:avLst/>
          </a:prstGeom>
          <a:noFill/>
          <a:ln w="0">
            <a:noFill/>
          </a:ln>
        </p:spPr>
        <p:txBody>
          <a:bodyPr lIns="92160" rIns="92160" tIns="46080" bIns="4608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3200" strike="noStrike" u="none">
                <a:solidFill>
                  <a:srgbClr val="ffffff"/>
                </a:solidFill>
                <a:effectLst/>
                <a:uFillTx/>
                <a:latin typeface="Tahoma"/>
              </a:rPr>
              <a:t>There are provisions for less common situations in the MARC Format for Holdings Data.</a:t>
            </a:r>
            <a:endParaRPr b="0" lang="en-IN" sz="3200" strike="noStrike" u="none">
              <a:solidFill>
                <a:srgbClr val="ffffff"/>
              </a:solidFill>
              <a:effectLst/>
              <a:uFillTx/>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3200" strike="noStrike" u="none">
                <a:solidFill>
                  <a:srgbClr val="ffffff"/>
                </a:solidFill>
                <a:effectLst/>
                <a:uFillTx/>
                <a:latin typeface="Tahoma"/>
              </a:rPr>
              <a:t>Some coding situations need clarification in MFHD, and many others need better implementations in our systems.</a:t>
            </a:r>
            <a:endParaRPr b="0" lang="en-IN" sz="3200" strike="noStrike" u="none">
              <a:solidFill>
                <a:srgbClr val="ffffff"/>
              </a:solidFill>
              <a:effectLst/>
              <a:uFillTx/>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3200" strike="noStrike" u="none">
                <a:solidFill>
                  <a:srgbClr val="ffffff"/>
                </a:solidFill>
                <a:effectLst/>
                <a:uFillTx/>
                <a:latin typeface="Tahoma"/>
              </a:rPr>
              <a:t>This is an area where librarians, vendor representatives, standards experts, and system designers must open discussion with each other.</a:t>
            </a:r>
            <a:endParaRPr b="0" lang="en-IN" sz="3200" strike="noStrike" u="none">
              <a:solidFill>
                <a:srgbClr val="ffffff"/>
              </a:solidFill>
              <a:effectLst/>
              <a:uFillTx/>
              <a:latin typeface="Tahoma"/>
            </a:endParaRPr>
          </a:p>
        </p:txBody>
      </p:sp>
      <p:sp>
        <p:nvSpPr>
          <p:cNvPr id="4" name="PlaceHolder 3"/>
          <p:cNvSpPr>
            <a:spLocks noGrp="1"/>
          </p:cNvSpPr>
          <p:nvPr>
            <p:ph type="sldNum" idx="3"/>
          </p:nvPr>
        </p:nvSpPr>
        <p:spPr/>
        <p:txBody>
          <a:bodyPr/>
          <a:p>
            <a:fld id="{C831C454-E721-41E5-BB9D-A9AAA74E54D5}"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171" name="Footer Placeholder 3"/>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172" name="Slide Number Placeholder 4"/>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DBA63E1-B319-428D-8CCF-06B867C113E6}"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173" name="PlaceHolder 1"/>
          <p:cNvSpPr>
            <a:spLocks noGrp="1"/>
          </p:cNvSpPr>
          <p:nvPr>
            <p:ph type="title"/>
          </p:nvPr>
        </p:nvSpPr>
        <p:spPr>
          <a:xfrm>
            <a:off x="380520" y="1905120"/>
            <a:ext cx="853452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Exercises</a:t>
            </a:r>
            <a:endParaRPr b="0" lang="en-IN" sz="4400" strike="noStrike" u="none">
              <a:solidFill>
                <a:srgbClr val="ffff66"/>
              </a:solidFill>
              <a:effectLst/>
              <a:uFillTx/>
              <a:latin typeface="Tahoma"/>
            </a:endParaRPr>
          </a:p>
        </p:txBody>
      </p:sp>
      <p:sp>
        <p:nvSpPr>
          <p:cNvPr id="3" name="PlaceHolder 2"/>
          <p:cNvSpPr>
            <a:spLocks noGrp="1"/>
          </p:cNvSpPr>
          <p:nvPr>
            <p:ph type="sldNum" idx="3"/>
          </p:nvPr>
        </p:nvSpPr>
        <p:spPr/>
        <p:txBody>
          <a:bodyPr/>
          <a:p>
            <a:fld id="{8167B461-F55F-4AF8-9FD1-790D2549C1A8}"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174"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175"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986A62C-814C-48F6-BFF9-916AC1C885B7}"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176"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Exercise Instructions</a:t>
            </a:r>
            <a:endParaRPr b="0" lang="en-IN" sz="4400" strike="noStrike" u="none">
              <a:solidFill>
                <a:srgbClr val="ffff66"/>
              </a:solidFill>
              <a:effectLst/>
              <a:uFillTx/>
              <a:latin typeface="Tahoma"/>
            </a:endParaRPr>
          </a:p>
        </p:txBody>
      </p:sp>
      <p:sp>
        <p:nvSpPr>
          <p:cNvPr id="177" name="PlaceHolder 2"/>
          <p:cNvSpPr>
            <a:spLocks noGrp="1"/>
          </p:cNvSpPr>
          <p:nvPr>
            <p:ph/>
          </p:nvPr>
        </p:nvSpPr>
        <p:spPr>
          <a:xfrm>
            <a:off x="0" y="914040"/>
            <a:ext cx="9144000" cy="5181480"/>
          </a:xfrm>
          <a:prstGeom prst="rect">
            <a:avLst/>
          </a:prstGeom>
          <a:noFill/>
          <a:ln w="0">
            <a:noFill/>
          </a:ln>
        </p:spPr>
        <p:txBody>
          <a:bodyPr lIns="92160" rIns="92160" tIns="46080" bIns="46080" anchor="t">
            <a:normAutofit/>
          </a:bodyPr>
          <a:p>
            <a:pPr marL="343080" indent="-343080">
              <a:lnSpc>
                <a:spcPct val="90000"/>
              </a:lnSpc>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Complete 86x fields to record holdings for each example. Use your </a:t>
            </a:r>
            <a:r>
              <a:rPr b="0" i="1" lang="en-IN" sz="3200" strike="noStrike" u="none">
                <a:solidFill>
                  <a:srgbClr val="ffffff"/>
                </a:solidFill>
                <a:effectLst/>
                <a:uFillTx/>
                <a:latin typeface="Tahoma"/>
              </a:rPr>
              <a:t>Handbook </a:t>
            </a:r>
            <a:r>
              <a:rPr b="0" lang="en-IN" sz="3200" strike="noStrike" u="none">
                <a:solidFill>
                  <a:srgbClr val="ffffff"/>
                </a:solidFill>
                <a:effectLst/>
                <a:uFillTx/>
                <a:latin typeface="Tahoma"/>
              </a:rPr>
              <a:t>and other resources provided to you.</a:t>
            </a:r>
            <a:endParaRPr b="0" lang="en-IN" sz="3200" strike="noStrike" u="none">
              <a:solidFill>
                <a:srgbClr val="ffffff"/>
              </a:solidFill>
              <a:effectLst/>
              <a:uFillTx/>
              <a:latin typeface="Tahoma"/>
            </a:endParaRPr>
          </a:p>
          <a:p>
            <a:pPr marL="343080" indent="-343080">
              <a:lnSpc>
                <a:spcPct val="90000"/>
              </a:lnSpc>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The Publication pattern is provided for you.</a:t>
            </a:r>
            <a:endParaRPr b="0" lang="en-IN" sz="3200" strike="noStrike" u="none">
              <a:solidFill>
                <a:srgbClr val="ffffff"/>
              </a:solidFill>
              <a:effectLst/>
              <a:uFillTx/>
              <a:latin typeface="Tahoma"/>
            </a:endParaRPr>
          </a:p>
          <a:p>
            <a:pPr marL="343080" indent="-343080">
              <a:lnSpc>
                <a:spcPct val="90000"/>
              </a:lnSpc>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Code the indicators for 86X as directed. </a:t>
            </a:r>
            <a:endParaRPr b="0" lang="en-IN" sz="3200" strike="noStrike" u="none">
              <a:solidFill>
                <a:srgbClr val="ffffff"/>
              </a:solidFill>
              <a:effectLst/>
              <a:uFillTx/>
              <a:latin typeface="Tahoma"/>
            </a:endParaRPr>
          </a:p>
          <a:p>
            <a:pPr marL="343080" indent="-343080">
              <a:lnSpc>
                <a:spcPct val="90000"/>
              </a:lnSpc>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Use all necessary subfield codes.</a:t>
            </a:r>
            <a:endParaRPr b="0" lang="en-IN" sz="3200" strike="noStrike" u="none">
              <a:solidFill>
                <a:srgbClr val="ffffff"/>
              </a:solidFill>
              <a:effectLst/>
              <a:uFillTx/>
              <a:latin typeface="Tahoma"/>
            </a:endParaRPr>
          </a:p>
          <a:p>
            <a:pPr marL="343080" indent="-343080">
              <a:lnSpc>
                <a:spcPct val="90000"/>
              </a:lnSpc>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Remember to code $8.</a:t>
            </a:r>
            <a:endParaRPr b="0" lang="en-IN" sz="3200" strike="noStrike" u="none">
              <a:solidFill>
                <a:srgbClr val="ffffff"/>
              </a:solidFill>
              <a:effectLst/>
              <a:uFillTx/>
              <a:latin typeface="Tahoma"/>
            </a:endParaRPr>
          </a:p>
          <a:p>
            <a:pPr marL="343080" indent="-343080">
              <a:lnSpc>
                <a:spcPct val="90000"/>
              </a:lnSpc>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Where directed, write how the holding will display.  Use NISO conventions (you will find examples on the slides).</a:t>
            </a:r>
            <a:endParaRPr b="0" lang="en-IN" sz="3200" strike="noStrike" u="none">
              <a:solidFill>
                <a:srgbClr val="ffffff"/>
              </a:solidFill>
              <a:effectLst/>
              <a:uFillTx/>
              <a:latin typeface="Tahoma"/>
            </a:endParaRPr>
          </a:p>
        </p:txBody>
      </p:sp>
      <p:sp>
        <p:nvSpPr>
          <p:cNvPr id="4" name="PlaceHolder 3"/>
          <p:cNvSpPr>
            <a:spLocks noGrp="1"/>
          </p:cNvSpPr>
          <p:nvPr>
            <p:ph type="sldNum" idx="3"/>
          </p:nvPr>
        </p:nvSpPr>
        <p:spPr/>
        <p:txBody>
          <a:bodyPr/>
          <a:p>
            <a:fld id="{436CA1E0-535F-4F31-8695-250F87CAF967}" type="slidenum">
              <a:t>23</a:t>
            </a:fld>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178"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179"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EB92524-C72D-4672-A653-1F0107684080}"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180"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Exercise 1</a:t>
            </a:r>
            <a:endParaRPr b="0" lang="en-IN" sz="4400" strike="noStrike" u="none">
              <a:solidFill>
                <a:srgbClr val="ffff66"/>
              </a:solidFill>
              <a:effectLst/>
              <a:uFillTx/>
              <a:latin typeface="Tahoma"/>
            </a:endParaRPr>
          </a:p>
        </p:txBody>
      </p:sp>
      <p:sp>
        <p:nvSpPr>
          <p:cNvPr id="181" name="PlaceHolder 2"/>
          <p:cNvSpPr>
            <a:spLocks noGrp="1"/>
          </p:cNvSpPr>
          <p:nvPr>
            <p:ph/>
          </p:nvPr>
        </p:nvSpPr>
        <p:spPr>
          <a:xfrm>
            <a:off x="0" y="914040"/>
            <a:ext cx="9144000" cy="5181480"/>
          </a:xfrm>
          <a:prstGeom prst="rect">
            <a:avLst/>
          </a:prstGeom>
          <a:noFill/>
          <a:ln w="0">
            <a:noFill/>
          </a:ln>
        </p:spPr>
        <p:txBody>
          <a:bodyPr lIns="92160" rIns="92160" tIns="46080" bIns="46080" anchor="t">
            <a:normAutofit/>
          </a:bodyPr>
          <a:p>
            <a:pPr marL="609480" indent="-6094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Tahoma"/>
              </a:rPr>
              <a:t>Spanned chronology</a:t>
            </a:r>
            <a:r>
              <a:rPr b="0" lang="en-IN" sz="2800" strike="noStrike" u="none">
                <a:solidFill>
                  <a:srgbClr val="ffffff"/>
                </a:solidFill>
                <a:effectLst/>
                <a:uFillTx/>
                <a:latin typeface="Tahoma"/>
              </a:rPr>
              <a:t>:  When the chronology includes more than one year or more than one month or one day, some systems may have trouble predicting correctly.  In some instances, the system supports spanned months only in certain increments, e.g., Jan.-Mar, Apr.-June, July-Sept., Oct.-Dec.  For a periodical with one of its issues bridging two years, you may be able to predict for the first year, but after the "bridge" issue arrives, you will need to alter the holdings manually by typing in the last year, e.g., 2000/2001.</a:t>
            </a:r>
            <a:endParaRPr b="0" lang="en-IN" sz="2800" strike="noStrike" u="none">
              <a:solidFill>
                <a:srgbClr val="ffffff"/>
              </a:solidFill>
              <a:effectLst/>
              <a:uFillTx/>
              <a:latin typeface="Tahoma"/>
            </a:endParaRPr>
          </a:p>
        </p:txBody>
      </p:sp>
      <p:sp>
        <p:nvSpPr>
          <p:cNvPr id="4" name="PlaceHolder 3"/>
          <p:cNvSpPr>
            <a:spLocks noGrp="1"/>
          </p:cNvSpPr>
          <p:nvPr>
            <p:ph type="sldNum" idx="3"/>
          </p:nvPr>
        </p:nvSpPr>
        <p:spPr/>
        <p:txBody>
          <a:bodyPr/>
          <a:p>
            <a:fld id="{63487A1F-22C3-483F-8F20-EA474ADB87FF}" type="slidenum">
              <a:t>24</a:t>
            </a:fld>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182"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183"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42FF3F4-3B20-41A6-B3D0-1BFF8A47B943}"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184"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Exercise 1 cont.</a:t>
            </a:r>
            <a:endParaRPr b="0" lang="en-IN" sz="4400" strike="noStrike" u="none">
              <a:solidFill>
                <a:srgbClr val="ffff66"/>
              </a:solidFill>
              <a:effectLst/>
              <a:uFillTx/>
              <a:latin typeface="Tahoma"/>
            </a:endParaRPr>
          </a:p>
        </p:txBody>
      </p:sp>
      <p:sp>
        <p:nvSpPr>
          <p:cNvPr id="185" name="PlaceHolder 2"/>
          <p:cNvSpPr>
            <a:spLocks noGrp="1"/>
          </p:cNvSpPr>
          <p:nvPr>
            <p:ph/>
          </p:nvPr>
        </p:nvSpPr>
        <p:spPr>
          <a:xfrm>
            <a:off x="0" y="914040"/>
            <a:ext cx="9144000" cy="5334120"/>
          </a:xfrm>
          <a:prstGeom prst="rect">
            <a:avLst/>
          </a:prstGeom>
          <a:noFill/>
          <a:ln w="0">
            <a:noFill/>
          </a:ln>
        </p:spPr>
        <p:txBody>
          <a:bodyPr lIns="92160" rIns="92160" tIns="46080" bIns="46080" anchor="t">
            <a:normAutofit/>
          </a:bodyPr>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3200" strike="noStrike" u="none">
                <a:solidFill>
                  <a:srgbClr val="ffffff"/>
                </a:solidFill>
                <a:effectLst/>
                <a:uFillTx/>
                <a:latin typeface="Tahoma"/>
              </a:rPr>
              <a:t>Scenario:</a:t>
            </a:r>
            <a:r>
              <a:rPr b="0" lang="en-IN" sz="3200" strike="noStrike" u="none">
                <a:solidFill>
                  <a:srgbClr val="ffffff"/>
                </a:solidFill>
                <a:effectLst/>
                <a:uFillTx/>
                <a:latin typeface="Tahoma"/>
              </a:rPr>
              <a:t> You are recording holdings for a quarterly serial that uses the following spans:</a:t>
            </a:r>
            <a:endParaRPr b="0" lang="en-IN" sz="3200" strike="noStrike" u="none">
              <a:solidFill>
                <a:srgbClr val="ffffff"/>
              </a:solidFill>
              <a:effectLst/>
              <a:uFillTx/>
              <a:latin typeface="Tahoma"/>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Vol. 4, no. 1 (Feb./Apr. 2001)</a:t>
            </a:r>
            <a:endParaRPr b="0" lang="en-IN" sz="2400" strike="noStrike" u="none">
              <a:solidFill>
                <a:srgbClr val="ffffff"/>
              </a:solidFill>
              <a:effectLst/>
              <a:uFillTx/>
              <a:latin typeface="Tahoma"/>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Vol. 4, no. 2 (May/July 2001)</a:t>
            </a:r>
            <a:endParaRPr b="0" lang="en-IN" sz="2400" strike="noStrike" u="none">
              <a:solidFill>
                <a:srgbClr val="ffffff"/>
              </a:solidFill>
              <a:effectLst/>
              <a:uFillTx/>
              <a:latin typeface="Tahoma"/>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Vol. 4, no. 3 (Aug./Oct. 2001)</a:t>
            </a:r>
            <a:endParaRPr b="0" lang="en-IN" sz="2400" strike="noStrike" u="none">
              <a:solidFill>
                <a:srgbClr val="ffffff"/>
              </a:solidFill>
              <a:effectLst/>
              <a:uFillTx/>
              <a:latin typeface="Tahoma"/>
            </a:endParaRPr>
          </a:p>
          <a:p>
            <a:pPr lvl="1" marL="743040" indent="-28584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Vol. 4, no. 4 (Nov. 2001/Jan. 2002)</a:t>
            </a:r>
            <a:endParaRPr b="0" lang="en-IN" sz="2400" strike="noStrike" u="none">
              <a:solidFill>
                <a:srgbClr val="ffffff"/>
              </a:solidFill>
              <a:effectLst/>
              <a:uFillTx/>
              <a:latin typeface="Tahoma"/>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Publication pattern:</a:t>
            </a:r>
            <a:endParaRPr b="0" lang="en-IN" sz="3200" strike="noStrike" u="none">
              <a:solidFill>
                <a:srgbClr val="ffffff"/>
              </a:solidFill>
              <a:effectLst/>
              <a:uFillTx/>
              <a:latin typeface="Tahoma"/>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853 20 $8 1  $a</a:t>
            </a:r>
            <a:r>
              <a:rPr b="1" lang="en-IN" sz="2800" strike="noStrike" u="none">
                <a:solidFill>
                  <a:srgbClr val="ffffff"/>
                </a:solidFill>
                <a:effectLst/>
                <a:uFillTx/>
                <a:latin typeface="Tahoma"/>
              </a:rPr>
              <a:t> v.</a:t>
            </a:r>
            <a:r>
              <a:rPr b="0" lang="en-IN" sz="2800" strike="noStrike" u="none">
                <a:solidFill>
                  <a:srgbClr val="ffffff"/>
                </a:solidFill>
                <a:effectLst/>
                <a:uFillTx/>
                <a:latin typeface="Tahoma"/>
              </a:rPr>
              <a:t> $b </a:t>
            </a:r>
            <a:r>
              <a:rPr b="1" lang="en-IN" sz="2800" strike="noStrike" u="none">
                <a:solidFill>
                  <a:srgbClr val="ffffff"/>
                </a:solidFill>
                <a:effectLst/>
                <a:uFillTx/>
                <a:latin typeface="Tahoma"/>
              </a:rPr>
              <a:t>no.</a:t>
            </a:r>
            <a:r>
              <a:rPr b="0" lang="en-IN" sz="2800" strike="noStrike" u="none">
                <a:solidFill>
                  <a:srgbClr val="ffffff"/>
                </a:solidFill>
                <a:effectLst/>
                <a:uFillTx/>
                <a:latin typeface="Tahoma"/>
              </a:rPr>
              <a:t> $u </a:t>
            </a:r>
            <a:r>
              <a:rPr b="1" lang="en-IN" sz="2800" strike="noStrike" u="none">
                <a:solidFill>
                  <a:srgbClr val="ffffff"/>
                </a:solidFill>
                <a:effectLst/>
                <a:uFillTx/>
                <a:latin typeface="Tahoma"/>
              </a:rPr>
              <a:t>4</a:t>
            </a:r>
            <a:r>
              <a:rPr b="0" lang="en-IN" sz="2800" strike="noStrike" u="none">
                <a:solidFill>
                  <a:srgbClr val="ffffff"/>
                </a:solidFill>
                <a:effectLst/>
                <a:uFillTx/>
                <a:latin typeface="Tahoma"/>
              </a:rPr>
              <a:t> $v </a:t>
            </a:r>
            <a:r>
              <a:rPr b="1" lang="en-IN" sz="2800" strike="noStrike" u="none">
                <a:solidFill>
                  <a:srgbClr val="ffffff"/>
                </a:solidFill>
                <a:effectLst/>
                <a:uFillTx/>
                <a:latin typeface="Tahoma"/>
              </a:rPr>
              <a:t>r</a:t>
            </a:r>
            <a:r>
              <a:rPr b="0" lang="en-IN" sz="2800" strike="noStrike" u="none">
                <a:solidFill>
                  <a:srgbClr val="ffffff"/>
                </a:solidFill>
                <a:effectLst/>
                <a:uFillTx/>
                <a:latin typeface="Tahoma"/>
              </a:rPr>
              <a:t> $i </a:t>
            </a:r>
            <a:r>
              <a:rPr b="1" lang="en-IN" sz="2800" strike="noStrike" u="none">
                <a:solidFill>
                  <a:srgbClr val="ffffff"/>
                </a:solidFill>
                <a:effectLst/>
                <a:uFillTx/>
                <a:latin typeface="Tahoma"/>
              </a:rPr>
              <a:t>(year) </a:t>
            </a:r>
            <a:br>
              <a:rPr sz="2800"/>
            </a:br>
            <a:r>
              <a:rPr b="0" lang="en-IN" sz="2800" strike="noStrike" u="none">
                <a:solidFill>
                  <a:srgbClr val="ffffff"/>
                </a:solidFill>
                <a:effectLst/>
                <a:uFillTx/>
                <a:latin typeface="Tahoma"/>
              </a:rPr>
              <a:t>$j </a:t>
            </a:r>
            <a:r>
              <a:rPr b="1" lang="en-IN" sz="2800" strike="noStrike" u="none">
                <a:solidFill>
                  <a:srgbClr val="ffffff"/>
                </a:solidFill>
                <a:effectLst/>
                <a:uFillTx/>
                <a:latin typeface="Tahoma"/>
              </a:rPr>
              <a:t>(month)</a:t>
            </a:r>
            <a:r>
              <a:rPr b="0" lang="en-IN" sz="2800" strike="noStrike" u="none">
                <a:solidFill>
                  <a:srgbClr val="ffffff"/>
                </a:solidFill>
                <a:effectLst/>
                <a:uFillTx/>
                <a:latin typeface="Tahoma"/>
              </a:rPr>
              <a:t> $w </a:t>
            </a:r>
            <a:r>
              <a:rPr b="1" lang="en-IN" sz="2800" strike="noStrike" u="none">
                <a:solidFill>
                  <a:srgbClr val="ffffff"/>
                </a:solidFill>
                <a:effectLst/>
                <a:uFillTx/>
                <a:latin typeface="Tahoma"/>
              </a:rPr>
              <a:t>q</a:t>
            </a:r>
            <a:r>
              <a:rPr b="0" lang="en-IN" sz="2800" strike="noStrike" u="none">
                <a:solidFill>
                  <a:srgbClr val="ffffff"/>
                </a:solidFill>
                <a:effectLst/>
                <a:uFillTx/>
                <a:latin typeface="Tahoma"/>
              </a:rPr>
              <a:t> $x </a:t>
            </a:r>
            <a:r>
              <a:rPr b="1" lang="en-IN" sz="2800" strike="noStrike" u="none">
                <a:solidFill>
                  <a:srgbClr val="ffffff"/>
                </a:solidFill>
                <a:effectLst/>
                <a:uFillTx/>
                <a:latin typeface="Tahoma"/>
              </a:rPr>
              <a:t>02 $</a:t>
            </a:r>
            <a:r>
              <a:rPr b="0" lang="en-IN" sz="2800" strike="noStrike" u="none">
                <a:solidFill>
                  <a:srgbClr val="ffffff"/>
                </a:solidFill>
                <a:effectLst/>
                <a:uFillTx/>
                <a:latin typeface="Tahoma"/>
              </a:rPr>
              <a:t>y</a:t>
            </a:r>
            <a:r>
              <a:rPr b="1" lang="en-IN" sz="2800" strike="noStrike" u="none">
                <a:solidFill>
                  <a:srgbClr val="ffffff"/>
                </a:solidFill>
                <a:effectLst/>
                <a:uFillTx/>
                <a:latin typeface="Tahoma"/>
              </a:rPr>
              <a:t>pm02/04,05/07,08/10,11/01</a:t>
            </a:r>
            <a:endParaRPr b="0" lang="en-IN" sz="2800" strike="noStrike" u="none">
              <a:solidFill>
                <a:srgbClr val="ffffff"/>
              </a:solidFill>
              <a:effectLst/>
              <a:uFillTx/>
              <a:latin typeface="Tahoma"/>
            </a:endParaRPr>
          </a:p>
        </p:txBody>
      </p:sp>
      <p:sp>
        <p:nvSpPr>
          <p:cNvPr id="4" name="PlaceHolder 3"/>
          <p:cNvSpPr>
            <a:spLocks noGrp="1"/>
          </p:cNvSpPr>
          <p:nvPr>
            <p:ph type="sldNum" idx="3"/>
          </p:nvPr>
        </p:nvSpPr>
        <p:spPr/>
        <p:txBody>
          <a:bodyPr/>
          <a:p>
            <a:fld id="{DF152F1E-4CB9-45A2-9F21-9C9A81119E51}" type="slidenum">
              <a:t>25</a:t>
            </a:fld>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186"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187"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211AE82-BE11-4788-B7E3-53FBE4A86A1A}"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188"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Exercise 1 cont.</a:t>
            </a:r>
            <a:endParaRPr b="0" lang="en-IN" sz="4400" strike="noStrike" u="none">
              <a:solidFill>
                <a:srgbClr val="ffff66"/>
              </a:solidFill>
              <a:effectLst/>
              <a:uFillTx/>
              <a:latin typeface="Tahoma"/>
            </a:endParaRPr>
          </a:p>
        </p:txBody>
      </p:sp>
      <p:sp>
        <p:nvSpPr>
          <p:cNvPr id="189" name="PlaceHolder 2"/>
          <p:cNvSpPr>
            <a:spLocks noGrp="1"/>
          </p:cNvSpPr>
          <p:nvPr>
            <p:ph/>
          </p:nvPr>
        </p:nvSpPr>
        <p:spPr>
          <a:xfrm>
            <a:off x="0" y="914040"/>
            <a:ext cx="9144000" cy="5181480"/>
          </a:xfrm>
          <a:prstGeom prst="rect">
            <a:avLst/>
          </a:prstGeom>
          <a:noFill/>
          <a:ln w="0">
            <a:noFill/>
          </a:ln>
        </p:spPr>
        <p:txBody>
          <a:bodyPr lIns="92160" rIns="92160" tIns="46080" bIns="46080" anchor="t">
            <a:normAutofit/>
          </a:bodyPr>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Code the issues (as they would be generated by the system); code the second indicator of the 86x for uncompressed (itemized holdings).  What could you do to make the last issue display correctly?</a:t>
            </a:r>
            <a:endParaRPr b="0" lang="en-IN" sz="3200" strike="noStrike" u="none">
              <a:solidFill>
                <a:srgbClr val="ffffff"/>
              </a:solidFill>
              <a:effectLst/>
              <a:uFillTx/>
              <a:latin typeface="Tahoma"/>
            </a:endParaRPr>
          </a:p>
          <a:p>
            <a:pPr lvl="1" marL="743040" indent="-28584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	</a:t>
            </a:r>
            <a:r>
              <a:rPr b="0" lang="en-IN" sz="2800" strike="noStrike" u="none">
                <a:solidFill>
                  <a:srgbClr val="ffffff"/>
                </a:solidFill>
                <a:effectLst/>
                <a:uFillTx/>
                <a:latin typeface="Tahoma"/>
              </a:rPr>
              <a:t>86_ 4_ $8</a:t>
            </a:r>
            <a:r>
              <a:rPr b="0" lang="en-IN" sz="2800" strike="noStrike" u="none">
                <a:solidFill>
                  <a:srgbClr val="ffffff"/>
                </a:solidFill>
                <a:effectLst/>
                <a:uFillTx/>
                <a:latin typeface="Tahoma"/>
              </a:rPr>
              <a:t>	</a:t>
            </a:r>
            <a:endParaRPr b="0" lang="en-IN" sz="2800" strike="noStrike" u="none">
              <a:solidFill>
                <a:srgbClr val="ffffff"/>
              </a:solidFill>
              <a:effectLst/>
              <a:uFillTx/>
              <a:latin typeface="Tahoma"/>
            </a:endParaRPr>
          </a:p>
          <a:p>
            <a:pPr lvl="1" marL="743040" indent="-28584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	</a:t>
            </a:r>
            <a:r>
              <a:rPr b="0" lang="en-IN" sz="2800" strike="noStrike" u="none">
                <a:solidFill>
                  <a:srgbClr val="ffffff"/>
                </a:solidFill>
                <a:effectLst/>
                <a:uFillTx/>
                <a:latin typeface="Tahoma"/>
              </a:rPr>
              <a:t>86_ 4_ $8</a:t>
            </a:r>
            <a:r>
              <a:rPr b="0" lang="en-IN" sz="2800" strike="noStrike" u="none">
                <a:solidFill>
                  <a:srgbClr val="ffffff"/>
                </a:solidFill>
                <a:effectLst/>
                <a:uFillTx/>
                <a:latin typeface="Tahoma"/>
              </a:rPr>
              <a:t>	</a:t>
            </a:r>
            <a:endParaRPr b="0" lang="en-IN" sz="2800" strike="noStrike" u="none">
              <a:solidFill>
                <a:srgbClr val="ffffff"/>
              </a:solidFill>
              <a:effectLst/>
              <a:uFillTx/>
              <a:latin typeface="Tahoma"/>
            </a:endParaRPr>
          </a:p>
          <a:p>
            <a:pPr lvl="1" marL="743040" indent="-28584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	</a:t>
            </a:r>
            <a:r>
              <a:rPr b="0" lang="en-IN" sz="2800" strike="noStrike" u="none">
                <a:solidFill>
                  <a:srgbClr val="ffffff"/>
                </a:solidFill>
                <a:effectLst/>
                <a:uFillTx/>
                <a:latin typeface="Tahoma"/>
              </a:rPr>
              <a:t>86_ 4_ $8</a:t>
            </a:r>
            <a:endParaRPr b="0" lang="en-IN" sz="2800" strike="noStrike" u="none">
              <a:solidFill>
                <a:srgbClr val="ffffff"/>
              </a:solidFill>
              <a:effectLst/>
              <a:uFillTx/>
              <a:latin typeface="Tahoma"/>
            </a:endParaRPr>
          </a:p>
          <a:p>
            <a:pPr lvl="1" marL="743040" indent="-28584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	</a:t>
            </a:r>
            <a:r>
              <a:rPr b="0" lang="en-IN" sz="2800" strike="noStrike" u="none">
                <a:solidFill>
                  <a:srgbClr val="ffffff"/>
                </a:solidFill>
                <a:effectLst/>
                <a:uFillTx/>
                <a:latin typeface="Tahoma"/>
              </a:rPr>
              <a:t>86_ 4_ $8 </a:t>
            </a:r>
            <a:endParaRPr b="0" lang="en-IN" sz="2800" strike="noStrike" u="none">
              <a:solidFill>
                <a:srgbClr val="ffffff"/>
              </a:solidFill>
              <a:effectLst/>
              <a:uFillTx/>
              <a:latin typeface="Tahoma"/>
            </a:endParaRPr>
          </a:p>
        </p:txBody>
      </p:sp>
      <p:sp>
        <p:nvSpPr>
          <p:cNvPr id="4" name="PlaceHolder 3"/>
          <p:cNvSpPr>
            <a:spLocks noGrp="1"/>
          </p:cNvSpPr>
          <p:nvPr>
            <p:ph type="sldNum" idx="3"/>
          </p:nvPr>
        </p:nvSpPr>
        <p:spPr/>
        <p:txBody>
          <a:bodyPr/>
          <a:p>
            <a:fld id="{237A9F97-E863-4CF7-9CBC-C5C26D4763BC}" type="slidenum">
              <a:t>26</a:t>
            </a:fld>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190"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191"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F9D5753-488A-48E9-88A2-0D68E8C89577}"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192"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Exercise 2</a:t>
            </a:r>
            <a:endParaRPr b="0" lang="en-IN" sz="4400" strike="noStrike" u="none">
              <a:solidFill>
                <a:srgbClr val="ffff66"/>
              </a:solidFill>
              <a:effectLst/>
              <a:uFillTx/>
              <a:latin typeface="Tahoma"/>
            </a:endParaRPr>
          </a:p>
        </p:txBody>
      </p:sp>
      <p:sp>
        <p:nvSpPr>
          <p:cNvPr id="193" name="PlaceHolder 2"/>
          <p:cNvSpPr>
            <a:spLocks noGrp="1"/>
          </p:cNvSpPr>
          <p:nvPr>
            <p:ph/>
          </p:nvPr>
        </p:nvSpPr>
        <p:spPr>
          <a:xfrm>
            <a:off x="0" y="914040"/>
            <a:ext cx="9144000" cy="5181480"/>
          </a:xfrm>
          <a:prstGeom prst="rect">
            <a:avLst/>
          </a:prstGeom>
          <a:noFill/>
          <a:ln w="0">
            <a:noFill/>
          </a:ln>
        </p:spPr>
        <p:txBody>
          <a:bodyPr lIns="92160" rIns="92160" tIns="46080" bIns="46080" anchor="t">
            <a:normAutofit/>
          </a:bodyPr>
          <a:p>
            <a:pPr marL="343080" indent="-343080">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Tahoma"/>
              </a:rPr>
              <a:t>Three times a year with seasons</a:t>
            </a:r>
            <a:r>
              <a:rPr b="0" lang="en-IN" sz="2400" strike="noStrike" u="none">
                <a:solidFill>
                  <a:srgbClr val="ffffff"/>
                </a:solidFill>
                <a:effectLst/>
                <a:uFillTx/>
                <a:latin typeface="Tahoma"/>
              </a:rPr>
              <a:t>:  Record holdings fields for these basic issues of a  serial that publishes three times a year in Autumn, Winter, Spring.  There is no Summer issue. </a:t>
            </a:r>
            <a:endParaRPr b="0" lang="en-IN" sz="2400" strike="noStrike" u="none">
              <a:solidFill>
                <a:srgbClr val="ffffff"/>
              </a:solidFill>
              <a:effectLst/>
              <a:uFillTx/>
              <a:latin typeface="Tahoma"/>
            </a:endParaRPr>
          </a:p>
          <a:p>
            <a:pPr lvl="1" marL="743040" indent="-285840">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Vol. 1, issue 1 (Autumn 2002)</a:t>
            </a:r>
            <a:endParaRPr b="0" lang="en-IN" sz="2000" strike="noStrike" u="none">
              <a:solidFill>
                <a:srgbClr val="ffffff"/>
              </a:solidFill>
              <a:effectLst/>
              <a:uFillTx/>
              <a:latin typeface="Tahoma"/>
            </a:endParaRPr>
          </a:p>
          <a:p>
            <a:pPr lvl="1" marL="743040" indent="-285840">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Vol. 1, issue 2 (Winter 2002)</a:t>
            </a:r>
            <a:endParaRPr b="0" lang="en-IN" sz="2000" strike="noStrike" u="none">
              <a:solidFill>
                <a:srgbClr val="ffffff"/>
              </a:solidFill>
              <a:effectLst/>
              <a:uFillTx/>
              <a:latin typeface="Tahoma"/>
            </a:endParaRPr>
          </a:p>
          <a:p>
            <a:pPr lvl="1" marL="743040" indent="-285840">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Vol. 1, issue 3 (Spring 2003)</a:t>
            </a:r>
            <a:endParaRPr b="0" lang="en-IN" sz="2000" strike="noStrike" u="none">
              <a:solidFill>
                <a:srgbClr val="ffffff"/>
              </a:solidFill>
              <a:effectLst/>
              <a:uFillTx/>
              <a:latin typeface="Tahoma"/>
            </a:endParaRPr>
          </a:p>
          <a:p>
            <a:pPr lvl="1" marL="743040" indent="-285840">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ffffff"/>
              </a:solidFill>
              <a:effectLst/>
              <a:uFillTx/>
              <a:latin typeface="Tahoma"/>
            </a:endParaRPr>
          </a:p>
          <a:p>
            <a:pPr marL="343080" indent="-343080">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Also record a holding for the index designated:  2002/2003.</a:t>
            </a:r>
            <a:endParaRPr b="0" lang="en-IN" sz="2400" strike="noStrike" u="none">
              <a:solidFill>
                <a:srgbClr val="ffffff"/>
              </a:solidFill>
              <a:effectLst/>
              <a:uFillTx/>
              <a:latin typeface="Tahoma"/>
            </a:endParaRPr>
          </a:p>
          <a:p>
            <a:pPr marL="343080" indent="-343080">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ahoma"/>
            </a:endParaRPr>
          </a:p>
          <a:p>
            <a:pPr marL="343080" indent="-343080">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For both the serial issues and the index, code the second indicator of the 86x for uncompressed (itemized holdings), set to display.</a:t>
            </a:r>
            <a:endParaRPr b="0" lang="en-IN" sz="2400" strike="noStrike" u="none">
              <a:solidFill>
                <a:srgbClr val="ffffff"/>
              </a:solidFill>
              <a:effectLst/>
              <a:uFillTx/>
              <a:latin typeface="Tahoma"/>
            </a:endParaRPr>
          </a:p>
          <a:p>
            <a:pPr marL="343080" indent="-343080">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ahoma"/>
            </a:endParaRPr>
          </a:p>
          <a:p>
            <a:pPr marL="343080" indent="-343080">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Publication pattern, Serial:</a:t>
            </a:r>
            <a:endParaRPr b="0" lang="en-IN" sz="2400" strike="noStrike" u="none">
              <a:solidFill>
                <a:srgbClr val="ffffff"/>
              </a:solidFill>
              <a:effectLst/>
              <a:uFillTx/>
              <a:latin typeface="Tahoma"/>
            </a:endParaRPr>
          </a:p>
          <a:p>
            <a:pPr marL="343080" indent="-343080">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853 20 $8 1</a:t>
            </a:r>
            <a:r>
              <a:rPr b="0" lang="en-IN" sz="2400" strike="noStrike" u="none">
                <a:solidFill>
                  <a:srgbClr val="ffffff"/>
                </a:solidFill>
                <a:effectLst/>
                <a:uFillTx/>
                <a:latin typeface="Tahoma"/>
              </a:rPr>
              <a:t>	</a:t>
            </a:r>
            <a:r>
              <a:rPr b="0" lang="en-IN" sz="2400" strike="noStrike" u="none">
                <a:solidFill>
                  <a:srgbClr val="ffffff"/>
                </a:solidFill>
                <a:effectLst/>
                <a:uFillTx/>
                <a:latin typeface="Tahoma"/>
              </a:rPr>
              <a:t>$a</a:t>
            </a:r>
            <a:r>
              <a:rPr b="1" lang="en-IN" sz="2400" strike="noStrike" u="none">
                <a:solidFill>
                  <a:srgbClr val="ffffff"/>
                </a:solidFill>
                <a:effectLst/>
                <a:uFillTx/>
                <a:latin typeface="Tahoma"/>
              </a:rPr>
              <a:t> v.</a:t>
            </a:r>
            <a:r>
              <a:rPr b="0" lang="en-IN" sz="2400" strike="noStrike" u="none">
                <a:solidFill>
                  <a:srgbClr val="ffffff"/>
                </a:solidFill>
                <a:effectLst/>
                <a:uFillTx/>
                <a:latin typeface="Tahoma"/>
              </a:rPr>
              <a:t> $b </a:t>
            </a:r>
            <a:r>
              <a:rPr b="1" lang="en-IN" sz="2400" strike="noStrike" u="none">
                <a:solidFill>
                  <a:srgbClr val="ffffff"/>
                </a:solidFill>
                <a:effectLst/>
                <a:uFillTx/>
                <a:latin typeface="Tahoma"/>
              </a:rPr>
              <a:t>issue</a:t>
            </a:r>
            <a:r>
              <a:rPr b="0" lang="en-IN" sz="2400" strike="noStrike" u="none">
                <a:solidFill>
                  <a:srgbClr val="ffffff"/>
                </a:solidFill>
                <a:effectLst/>
                <a:uFillTx/>
                <a:latin typeface="Tahoma"/>
              </a:rPr>
              <a:t> $u </a:t>
            </a:r>
            <a:r>
              <a:rPr b="1" lang="en-IN" sz="2400" strike="noStrike" u="none">
                <a:solidFill>
                  <a:srgbClr val="ffffff"/>
                </a:solidFill>
                <a:effectLst/>
                <a:uFillTx/>
                <a:latin typeface="Tahoma"/>
              </a:rPr>
              <a:t>3</a:t>
            </a:r>
            <a:r>
              <a:rPr b="0" lang="en-IN" sz="2400" strike="noStrike" u="none">
                <a:solidFill>
                  <a:srgbClr val="ffffff"/>
                </a:solidFill>
                <a:effectLst/>
                <a:uFillTx/>
                <a:latin typeface="Tahoma"/>
              </a:rPr>
              <a:t> $v </a:t>
            </a:r>
            <a:r>
              <a:rPr b="1" lang="en-IN" sz="2400" strike="noStrike" u="none">
                <a:solidFill>
                  <a:srgbClr val="ffffff"/>
                </a:solidFill>
                <a:effectLst/>
                <a:uFillTx/>
                <a:latin typeface="Tahoma"/>
              </a:rPr>
              <a:t>r</a:t>
            </a:r>
            <a:r>
              <a:rPr b="0" lang="en-IN" sz="2400" strike="noStrike" u="none">
                <a:solidFill>
                  <a:srgbClr val="ffffff"/>
                </a:solidFill>
                <a:effectLst/>
                <a:uFillTx/>
                <a:latin typeface="Tahoma"/>
              </a:rPr>
              <a:t> $i </a:t>
            </a:r>
            <a:r>
              <a:rPr b="1" lang="en-IN" sz="2400" strike="noStrike" u="none">
                <a:solidFill>
                  <a:srgbClr val="ffffff"/>
                </a:solidFill>
                <a:effectLst/>
                <a:uFillTx/>
                <a:latin typeface="Tahoma"/>
              </a:rPr>
              <a:t>(year)</a:t>
            </a:r>
            <a:r>
              <a:rPr b="0" lang="en-IN" sz="2400" strike="noStrike" u="none">
                <a:solidFill>
                  <a:srgbClr val="ffffff"/>
                </a:solidFill>
                <a:effectLst/>
                <a:uFillTx/>
                <a:latin typeface="Tahoma"/>
              </a:rPr>
              <a:t> $j </a:t>
            </a:r>
            <a:r>
              <a:rPr b="1" lang="en-IN" sz="2400" strike="noStrike" u="none">
                <a:solidFill>
                  <a:srgbClr val="ffffff"/>
                </a:solidFill>
                <a:effectLst/>
                <a:uFillTx/>
                <a:latin typeface="Tahoma"/>
              </a:rPr>
              <a:t>(season)</a:t>
            </a:r>
            <a:r>
              <a:rPr b="0" lang="en-IN" sz="2400" strike="noStrike" u="none">
                <a:solidFill>
                  <a:srgbClr val="ffffff"/>
                </a:solidFill>
                <a:effectLst/>
                <a:uFillTx/>
                <a:latin typeface="Tahoma"/>
              </a:rPr>
              <a:t>   $w </a:t>
            </a:r>
            <a:r>
              <a:rPr b="1" lang="en-IN" sz="2400" strike="noStrike" u="none">
                <a:solidFill>
                  <a:srgbClr val="ffffff"/>
                </a:solidFill>
                <a:effectLst/>
                <a:uFillTx/>
                <a:latin typeface="Tahoma"/>
              </a:rPr>
              <a:t>t</a:t>
            </a:r>
            <a:r>
              <a:rPr b="0" lang="en-IN" sz="2400" strike="noStrike" u="none">
                <a:solidFill>
                  <a:srgbClr val="ffffff"/>
                </a:solidFill>
                <a:effectLst/>
                <a:uFillTx/>
                <a:latin typeface="Tahoma"/>
              </a:rPr>
              <a:t> $x </a:t>
            </a:r>
            <a:r>
              <a:rPr b="1" lang="en-IN" sz="2400" strike="noStrike" u="none">
                <a:solidFill>
                  <a:srgbClr val="ffffff"/>
                </a:solidFill>
                <a:effectLst/>
                <a:uFillTx/>
                <a:latin typeface="Tahoma"/>
              </a:rPr>
              <a:t>23</a:t>
            </a:r>
            <a:r>
              <a:rPr b="0" lang="en-IN" sz="2400" strike="noStrike" u="none">
                <a:solidFill>
                  <a:srgbClr val="ffffff"/>
                </a:solidFill>
                <a:effectLst/>
                <a:uFillTx/>
                <a:latin typeface="Tahoma"/>
              </a:rPr>
              <a:t> $y </a:t>
            </a:r>
            <a:r>
              <a:rPr b="1" lang="en-IN" sz="2400" strike="noStrike" u="none">
                <a:solidFill>
                  <a:srgbClr val="ffffff"/>
                </a:solidFill>
                <a:effectLst/>
                <a:uFillTx/>
                <a:latin typeface="Tahoma"/>
              </a:rPr>
              <a:t>os22</a:t>
            </a:r>
            <a:endParaRPr b="0" lang="en-IN" sz="2400" strike="noStrike" u="none">
              <a:solidFill>
                <a:srgbClr val="ffffff"/>
              </a:solidFill>
              <a:effectLst/>
              <a:uFillTx/>
              <a:latin typeface="Tahoma"/>
            </a:endParaRPr>
          </a:p>
        </p:txBody>
      </p:sp>
      <p:sp>
        <p:nvSpPr>
          <p:cNvPr id="4" name="PlaceHolder 3"/>
          <p:cNvSpPr>
            <a:spLocks noGrp="1"/>
          </p:cNvSpPr>
          <p:nvPr>
            <p:ph type="sldNum" idx="3"/>
          </p:nvPr>
        </p:nvSpPr>
        <p:spPr/>
        <p:txBody>
          <a:bodyPr/>
          <a:p>
            <a:fld id="{16A7BD09-5F79-45CB-91A7-33E4003AEB29}" type="slidenum">
              <a:t>27</a:t>
            </a:fld>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194"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195"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6C42C77-204D-4D97-8011-6BD578D17369}"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196"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Exercise 2 cont.</a:t>
            </a:r>
            <a:endParaRPr b="0" lang="en-IN" sz="4400" strike="noStrike" u="none">
              <a:solidFill>
                <a:srgbClr val="ffff66"/>
              </a:solidFill>
              <a:effectLst/>
              <a:uFillTx/>
              <a:latin typeface="Tahoma"/>
            </a:endParaRPr>
          </a:p>
        </p:txBody>
      </p:sp>
      <p:sp>
        <p:nvSpPr>
          <p:cNvPr id="197" name="PlaceHolder 2"/>
          <p:cNvSpPr>
            <a:spLocks noGrp="1"/>
          </p:cNvSpPr>
          <p:nvPr>
            <p:ph/>
          </p:nvPr>
        </p:nvSpPr>
        <p:spPr>
          <a:xfrm>
            <a:off x="0" y="914040"/>
            <a:ext cx="9144000" cy="5181480"/>
          </a:xfrm>
          <a:prstGeom prst="rect">
            <a:avLst/>
          </a:prstGeom>
          <a:noFill/>
          <a:ln w="0">
            <a:noFill/>
          </a:ln>
        </p:spPr>
        <p:txBody>
          <a:bodyPr lIns="92160" rIns="92160" tIns="46080" bIns="46080" anchor="t">
            <a:normAutofit/>
          </a:bodyPr>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Publication pattern, Index:</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855 $8 1</a:t>
            </a: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$a</a:t>
            </a:r>
            <a:r>
              <a:rPr b="1" lang="en-IN" sz="3200" strike="noStrike" u="none">
                <a:solidFill>
                  <a:srgbClr val="ffffff"/>
                </a:solidFill>
                <a:effectLst/>
                <a:uFillTx/>
                <a:latin typeface="Tahoma"/>
              </a:rPr>
              <a:t> (year)</a:t>
            </a:r>
            <a:r>
              <a:rPr b="0" lang="en-IN" sz="3200" strike="noStrike" u="none">
                <a:solidFill>
                  <a:srgbClr val="ffffff"/>
                </a:solidFill>
                <a:effectLst/>
                <a:uFillTx/>
                <a:latin typeface="Tahoma"/>
              </a:rPr>
              <a:t> $w </a:t>
            </a:r>
            <a:r>
              <a:rPr b="1" lang="en-IN" sz="3200" strike="noStrike" u="none">
                <a:solidFill>
                  <a:srgbClr val="ffffff"/>
                </a:solidFill>
                <a:effectLst/>
                <a:uFillTx/>
                <a:latin typeface="Tahoma"/>
              </a:rPr>
              <a:t>a</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86_ 4_ $8</a:t>
            </a:r>
            <a:r>
              <a:rPr b="0" lang="en-IN" sz="3200" strike="noStrike" u="none">
                <a:solidFill>
                  <a:srgbClr val="ffffff"/>
                </a:solidFill>
                <a:effectLst/>
                <a:uFillTx/>
                <a:latin typeface="Tahoma"/>
              </a:rPr>
              <a:t>	</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86_ 4_ $8</a:t>
            </a:r>
            <a:r>
              <a:rPr b="0" lang="en-IN" sz="3200" strike="noStrike" u="none">
                <a:solidFill>
                  <a:srgbClr val="ffffff"/>
                </a:solidFill>
                <a:effectLst/>
                <a:uFillTx/>
                <a:latin typeface="Tahoma"/>
              </a:rPr>
              <a:t>	</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86_ 4_ $8</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86_ 4_ $8</a:t>
            </a:r>
            <a:r>
              <a:rPr b="0" lang="en-IN" sz="3200" strike="noStrike" u="none">
                <a:solidFill>
                  <a:srgbClr val="ffffff"/>
                </a:solidFill>
                <a:effectLst/>
                <a:uFillTx/>
                <a:latin typeface="Tahoma"/>
              </a:rPr>
              <a:t>	</a:t>
            </a:r>
            <a:endParaRPr b="0" lang="en-IN" sz="3200" strike="noStrike" u="none">
              <a:solidFill>
                <a:srgbClr val="ffffff"/>
              </a:solidFill>
              <a:effectLst/>
              <a:uFillTx/>
              <a:latin typeface="Tahoma"/>
            </a:endParaRPr>
          </a:p>
        </p:txBody>
      </p:sp>
      <p:sp>
        <p:nvSpPr>
          <p:cNvPr id="4" name="PlaceHolder 3"/>
          <p:cNvSpPr>
            <a:spLocks noGrp="1"/>
          </p:cNvSpPr>
          <p:nvPr>
            <p:ph type="sldNum" idx="3"/>
          </p:nvPr>
        </p:nvSpPr>
        <p:spPr/>
        <p:txBody>
          <a:bodyPr/>
          <a:p>
            <a:fld id="{D6BC26BD-A5FD-443E-ACCD-B559855BD8B6}" type="slidenum">
              <a:t>28</a:t>
            </a:fld>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198"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199"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5D2842E-A2AF-4147-872A-D8C2AFAC7F48}"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200"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Exercise 3</a:t>
            </a:r>
            <a:endParaRPr b="0" lang="en-IN" sz="4400" strike="noStrike" u="none">
              <a:solidFill>
                <a:srgbClr val="ffff66"/>
              </a:solidFill>
              <a:effectLst/>
              <a:uFillTx/>
              <a:latin typeface="Tahoma"/>
            </a:endParaRPr>
          </a:p>
        </p:txBody>
      </p:sp>
      <p:sp>
        <p:nvSpPr>
          <p:cNvPr id="201" name="PlaceHolder 2"/>
          <p:cNvSpPr>
            <a:spLocks noGrp="1"/>
          </p:cNvSpPr>
          <p:nvPr>
            <p:ph/>
          </p:nvPr>
        </p:nvSpPr>
        <p:spPr>
          <a:xfrm>
            <a:off x="0" y="914040"/>
            <a:ext cx="9144000" cy="5181480"/>
          </a:xfrm>
          <a:prstGeom prst="rect">
            <a:avLst/>
          </a:prstGeom>
          <a:noFill/>
          <a:ln w="0">
            <a:noFill/>
          </a:ln>
        </p:spPr>
        <p:txBody>
          <a:bodyPr lIns="92160" rIns="92160" tIns="46080" bIns="46080" anchor="t">
            <a:normAutofit/>
          </a:bodyPr>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Tahoma"/>
              </a:rPr>
              <a:t>Static series designation</a:t>
            </a:r>
            <a:r>
              <a:rPr b="0" lang="en-IN" sz="2800" strike="noStrike" u="none">
                <a:solidFill>
                  <a:srgbClr val="ffffff"/>
                </a:solidFill>
                <a:effectLst/>
                <a:uFillTx/>
                <a:latin typeface="Tahoma"/>
              </a:rPr>
              <a:t>:  Record a holdings field for these basic issues of a  serial that publishes monthly and uses the static series designation of </a:t>
            </a:r>
            <a:r>
              <a:rPr b="1" lang="en-IN" sz="2800" strike="noStrike" u="none">
                <a:solidFill>
                  <a:srgbClr val="ffffff"/>
                </a:solidFill>
                <a:effectLst/>
                <a:uFillTx/>
                <a:latin typeface="Tahoma"/>
              </a:rPr>
              <a:t>Series 3</a:t>
            </a:r>
            <a:r>
              <a:rPr b="0" lang="en-IN" sz="2800" strike="noStrike" u="none">
                <a:solidFill>
                  <a:srgbClr val="ffffff"/>
                </a:solidFill>
                <a:effectLst/>
                <a:uFillTx/>
                <a:latin typeface="Tahoma"/>
              </a:rPr>
              <a:t>. </a:t>
            </a:r>
            <a:endParaRPr b="0" lang="en-IN" sz="2800" strike="noStrike" u="none">
              <a:solidFill>
                <a:srgbClr val="ffffff"/>
              </a:solidFill>
              <a:effectLst/>
              <a:uFillTx/>
              <a:latin typeface="Tahoma"/>
            </a:endParaRPr>
          </a:p>
          <a:p>
            <a:pPr lvl="1" marL="743040" indent="-28584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Ser. 3 vol. 4, release 1 (January 2002)</a:t>
            </a:r>
            <a:endParaRPr b="0" lang="en-IN" sz="2400" strike="noStrike" u="none">
              <a:solidFill>
                <a:srgbClr val="ffffff"/>
              </a:solidFill>
              <a:effectLst/>
              <a:uFillTx/>
              <a:latin typeface="Tahoma"/>
            </a:endParaRPr>
          </a:p>
          <a:p>
            <a:pPr lvl="1" marL="743040" indent="-28584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Ser. 3 vol. 4, release 2 (February 2002)</a:t>
            </a:r>
            <a:endParaRPr b="0" lang="en-IN" sz="2400" strike="noStrike" u="none">
              <a:solidFill>
                <a:srgbClr val="ffffff"/>
              </a:solidFill>
              <a:effectLst/>
              <a:uFillTx/>
              <a:latin typeface="Tahoma"/>
            </a:endParaRPr>
          </a:p>
          <a:p>
            <a:pPr lvl="1" marL="743040" indent="-28584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Ser. 3 vol. 4, release 3 (March 2002)</a:t>
            </a:r>
            <a:endParaRPr b="0" lang="en-IN" sz="2400" strike="noStrike" u="none">
              <a:solidFill>
                <a:srgbClr val="ffffff"/>
              </a:solidFill>
              <a:effectLst/>
              <a:uFillTx/>
              <a:latin typeface="Tahoma"/>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ahoma"/>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Code the second indicator of the 86x for compressed holdings, set to display.</a:t>
            </a:r>
            <a:endParaRPr b="0" lang="en-IN" sz="2800" strike="noStrike" u="none">
              <a:solidFill>
                <a:srgbClr val="ffffff"/>
              </a:solidFill>
              <a:effectLst/>
              <a:uFillTx/>
              <a:latin typeface="Tahoma"/>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ahoma"/>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Write how this compressed holding would display to the public.</a:t>
            </a:r>
            <a:endParaRPr b="0" lang="en-IN" sz="2800" strike="noStrike" u="none">
              <a:solidFill>
                <a:srgbClr val="ffffff"/>
              </a:solidFill>
              <a:effectLst/>
              <a:uFillTx/>
              <a:latin typeface="Tahoma"/>
            </a:endParaRPr>
          </a:p>
        </p:txBody>
      </p:sp>
      <p:sp>
        <p:nvSpPr>
          <p:cNvPr id="4" name="PlaceHolder 3"/>
          <p:cNvSpPr>
            <a:spLocks noGrp="1"/>
          </p:cNvSpPr>
          <p:nvPr>
            <p:ph type="sldNum" idx="3"/>
          </p:nvPr>
        </p:nvSpPr>
        <p:spPr/>
        <p:txBody>
          <a:bodyPr/>
          <a:p>
            <a:fld id="{1BC22DB9-1ECA-4313-A323-5C9CFD7E91DB}" type="slidenum">
              <a:t>29</a:t>
            </a:fld>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202"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203"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BA6E5E4-D738-417E-80C0-3FB95F09E85B}"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204"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Exercise 3 cont.</a:t>
            </a:r>
            <a:endParaRPr b="0" lang="en-IN" sz="4400" strike="noStrike" u="none">
              <a:solidFill>
                <a:srgbClr val="ffff66"/>
              </a:solidFill>
              <a:effectLst/>
              <a:uFillTx/>
              <a:latin typeface="Tahoma"/>
            </a:endParaRPr>
          </a:p>
        </p:txBody>
      </p:sp>
      <p:sp>
        <p:nvSpPr>
          <p:cNvPr id="205" name="PlaceHolder 2"/>
          <p:cNvSpPr>
            <a:spLocks noGrp="1"/>
          </p:cNvSpPr>
          <p:nvPr>
            <p:ph/>
          </p:nvPr>
        </p:nvSpPr>
        <p:spPr>
          <a:xfrm>
            <a:off x="0" y="914040"/>
            <a:ext cx="9144000" cy="5181480"/>
          </a:xfrm>
          <a:prstGeom prst="rect">
            <a:avLst/>
          </a:prstGeom>
          <a:noFill/>
          <a:ln w="0">
            <a:noFill/>
          </a:ln>
        </p:spPr>
        <p:txBody>
          <a:bodyPr lIns="92160" rIns="92160" tIns="46080" bIns="46080" anchor="t">
            <a:normAutofit/>
          </a:bodyPr>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Publication pattern:</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853 20 $8 1</a:t>
            </a: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$a</a:t>
            </a:r>
            <a:r>
              <a:rPr b="1" lang="en-IN" sz="3200" strike="noStrike" u="none">
                <a:solidFill>
                  <a:srgbClr val="ffffff"/>
                </a:solidFill>
                <a:effectLst/>
                <a:uFillTx/>
                <a:latin typeface="Tahoma"/>
              </a:rPr>
              <a:t> ser. 3:v.</a:t>
            </a:r>
            <a:r>
              <a:rPr b="0" lang="en-IN" sz="3200" strike="noStrike" u="none">
                <a:solidFill>
                  <a:srgbClr val="ffffff"/>
                </a:solidFill>
                <a:effectLst/>
                <a:uFillTx/>
                <a:latin typeface="Tahoma"/>
              </a:rPr>
              <a:t> $b </a:t>
            </a:r>
            <a:r>
              <a:rPr b="1" lang="en-IN" sz="3200" strike="noStrike" u="none">
                <a:solidFill>
                  <a:srgbClr val="ffffff"/>
                </a:solidFill>
                <a:effectLst/>
                <a:uFillTx/>
                <a:latin typeface="Tahoma"/>
              </a:rPr>
              <a:t>release</a:t>
            </a:r>
            <a:r>
              <a:rPr b="0" lang="en-IN" sz="3200" strike="noStrike" u="none">
                <a:solidFill>
                  <a:srgbClr val="ffffff"/>
                </a:solidFill>
                <a:effectLst/>
                <a:uFillTx/>
                <a:latin typeface="Tahoma"/>
              </a:rPr>
              <a:t> $u </a:t>
            </a:r>
            <a:r>
              <a:rPr b="1" lang="en-IN" sz="3200" strike="noStrike" u="none">
                <a:solidFill>
                  <a:srgbClr val="ffffff"/>
                </a:solidFill>
                <a:effectLst/>
                <a:uFillTx/>
                <a:latin typeface="Tahoma"/>
              </a:rPr>
              <a:t>12</a:t>
            </a:r>
            <a:r>
              <a:rPr b="0" lang="en-IN" sz="3200" strike="noStrike" u="none">
                <a:solidFill>
                  <a:srgbClr val="ffffff"/>
                </a:solidFill>
                <a:effectLst/>
                <a:uFillTx/>
                <a:latin typeface="Tahoma"/>
              </a:rPr>
              <a:t> $v </a:t>
            </a:r>
            <a:r>
              <a:rPr b="1" lang="en-IN" sz="3200" strike="noStrike" u="none">
                <a:solidFill>
                  <a:srgbClr val="ffffff"/>
                </a:solidFill>
                <a:effectLst/>
                <a:uFillTx/>
                <a:latin typeface="Tahoma"/>
              </a:rPr>
              <a:t>r</a:t>
            </a:r>
            <a:r>
              <a:rPr b="0" lang="en-IN" sz="3200" strike="noStrike" u="none">
                <a:solidFill>
                  <a:srgbClr val="ffffff"/>
                </a:solidFill>
                <a:effectLst/>
                <a:uFillTx/>
                <a:latin typeface="Tahoma"/>
              </a:rPr>
              <a:t> $i </a:t>
            </a:r>
            <a:r>
              <a:rPr b="1" lang="en-IN" sz="3200" strike="noStrike" u="none">
                <a:solidFill>
                  <a:srgbClr val="ffffff"/>
                </a:solidFill>
                <a:effectLst/>
                <a:uFillTx/>
                <a:latin typeface="Tahoma"/>
              </a:rPr>
              <a:t>(year)</a:t>
            </a:r>
            <a:r>
              <a:rPr b="0" lang="en-IN" sz="3200" strike="noStrike" u="none">
                <a:solidFill>
                  <a:srgbClr val="ffffff"/>
                </a:solidFill>
                <a:effectLst/>
                <a:uFillTx/>
                <a:latin typeface="Tahoma"/>
              </a:rPr>
              <a:t> $j </a:t>
            </a:r>
            <a:r>
              <a:rPr b="1" lang="en-IN" sz="3200" strike="noStrike" u="none">
                <a:solidFill>
                  <a:srgbClr val="ffffff"/>
                </a:solidFill>
                <a:effectLst/>
                <a:uFillTx/>
                <a:latin typeface="Tahoma"/>
              </a:rPr>
              <a:t>(month)</a:t>
            </a:r>
            <a:r>
              <a:rPr b="0" lang="en-IN" sz="3200" strike="noStrike" u="none">
                <a:solidFill>
                  <a:srgbClr val="ffffff"/>
                </a:solidFill>
                <a:effectLst/>
                <a:uFillTx/>
                <a:latin typeface="Tahoma"/>
              </a:rPr>
              <a:t> $w </a:t>
            </a:r>
            <a:r>
              <a:rPr b="1" lang="en-IN" sz="3200" strike="noStrike" u="none">
                <a:solidFill>
                  <a:srgbClr val="ffffff"/>
                </a:solidFill>
                <a:effectLst/>
                <a:uFillTx/>
                <a:latin typeface="Tahoma"/>
              </a:rPr>
              <a:t>m</a:t>
            </a:r>
            <a:r>
              <a:rPr b="0" lang="en-IN" sz="3200" strike="noStrike" u="none">
                <a:solidFill>
                  <a:srgbClr val="ffffff"/>
                </a:solidFill>
                <a:effectLst/>
                <a:uFillTx/>
                <a:latin typeface="Tahoma"/>
              </a:rPr>
              <a:t> $x </a:t>
            </a:r>
            <a:r>
              <a:rPr b="1" lang="en-IN" sz="3200" strike="noStrike" u="none">
                <a:solidFill>
                  <a:srgbClr val="ffffff"/>
                </a:solidFill>
                <a:effectLst/>
                <a:uFillTx/>
                <a:latin typeface="Tahoma"/>
              </a:rPr>
              <a:t>01</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[Note: “Series 3” is incorporated as part of the first level of enumeration in $a of the 853 publication pattern field.]</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86_ 4_ $8</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Display:</a:t>
            </a:r>
            <a:r>
              <a:rPr b="0" lang="en-IN" sz="3200" strike="noStrike" u="none">
                <a:solidFill>
                  <a:srgbClr val="ffffff"/>
                </a:solidFill>
                <a:effectLst/>
                <a:uFillTx/>
                <a:latin typeface="Tahoma"/>
              </a:rPr>
              <a:t>	</a:t>
            </a:r>
            <a:endParaRPr b="0" lang="en-IN" sz="3200" strike="noStrike" u="none">
              <a:solidFill>
                <a:srgbClr val="ffffff"/>
              </a:solidFill>
              <a:effectLst/>
              <a:uFillTx/>
              <a:latin typeface="Tahoma"/>
            </a:endParaRPr>
          </a:p>
        </p:txBody>
      </p:sp>
      <p:sp>
        <p:nvSpPr>
          <p:cNvPr id="4" name="PlaceHolder 3"/>
          <p:cNvSpPr>
            <a:spLocks noGrp="1"/>
          </p:cNvSpPr>
          <p:nvPr>
            <p:ph type="sldNum" idx="3"/>
          </p:nvPr>
        </p:nvSpPr>
        <p:spPr/>
        <p:txBody>
          <a:bodyPr/>
          <a:p>
            <a:fld id="{B9D28EFE-662C-45A6-BD7E-08F6DC0D1D36}" type="slidenum">
              <a:t>30</a:t>
            </a:fld>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206"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207"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179586D-4BB0-4E71-8C30-114E1BB91D51}"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208"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Exercise 4</a:t>
            </a:r>
            <a:endParaRPr b="0" lang="en-IN" sz="4400" strike="noStrike" u="none">
              <a:solidFill>
                <a:srgbClr val="ffff66"/>
              </a:solidFill>
              <a:effectLst/>
              <a:uFillTx/>
              <a:latin typeface="Tahoma"/>
            </a:endParaRPr>
          </a:p>
        </p:txBody>
      </p:sp>
      <p:sp>
        <p:nvSpPr>
          <p:cNvPr id="209" name="PlaceHolder 2"/>
          <p:cNvSpPr>
            <a:spLocks noGrp="1"/>
          </p:cNvSpPr>
          <p:nvPr>
            <p:ph/>
          </p:nvPr>
        </p:nvSpPr>
        <p:spPr>
          <a:xfrm>
            <a:off x="0" y="914040"/>
            <a:ext cx="9144000" cy="5181480"/>
          </a:xfrm>
          <a:prstGeom prst="rect">
            <a:avLst/>
          </a:prstGeom>
          <a:noFill/>
          <a:ln w="0">
            <a:noFill/>
          </a:ln>
        </p:spPr>
        <p:txBody>
          <a:bodyPr lIns="92160" rIns="92160" tIns="46080" bIns="46080" anchor="t">
            <a:normAutofit/>
          </a:bodyPr>
          <a:p>
            <a:pPr marL="609480" indent="-6094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Tahoma"/>
              </a:rPr>
              <a:t>Serials with ordinal enumeration</a:t>
            </a:r>
            <a:r>
              <a:rPr b="0" lang="en-IN" sz="2800" strike="noStrike" u="none">
                <a:solidFill>
                  <a:srgbClr val="ffffff"/>
                </a:solidFill>
                <a:effectLst/>
                <a:uFillTx/>
                <a:latin typeface="Tahoma"/>
              </a:rPr>
              <a:t>:  Record holdings fields for this English-language academic serial that comes out in annual volumes with an issue each semester.</a:t>
            </a:r>
            <a:endParaRPr b="0" lang="en-IN" sz="2800" strike="noStrike" u="none">
              <a:solidFill>
                <a:srgbClr val="ffffff"/>
              </a:solidFill>
              <a:effectLst/>
              <a:uFillTx/>
              <a:latin typeface="Tahoma"/>
            </a:endParaRPr>
          </a:p>
          <a:p>
            <a:pPr lvl="1" marL="990720" indent="-533520">
              <a:spcBef>
                <a:spcPts val="601"/>
              </a:spcBef>
              <a:buNone/>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 Vol. 10, 1st semester      September 2000</a:t>
            </a:r>
            <a:r>
              <a:rPr b="0" lang="en-IN" sz="2400" strike="noStrike" u="none">
                <a:solidFill>
                  <a:srgbClr val="ffffff"/>
                </a:solidFill>
                <a:effectLst/>
                <a:uFillTx/>
                <a:latin typeface="Tahoma"/>
              </a:rPr>
              <a:t>	</a:t>
            </a:r>
            <a:endParaRPr b="0" lang="en-IN" sz="2400" strike="noStrike" u="none">
              <a:solidFill>
                <a:srgbClr val="ffffff"/>
              </a:solidFill>
              <a:effectLst/>
              <a:uFillTx/>
              <a:latin typeface="Tahoma"/>
            </a:endParaRPr>
          </a:p>
          <a:p>
            <a:pPr lvl="1" marL="990720" indent="-533520">
              <a:spcBef>
                <a:spcPts val="601"/>
              </a:spcBef>
              <a:buNone/>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 Vol. 10, 2nd semester     January 2001</a:t>
            </a:r>
            <a:endParaRPr b="0" lang="en-IN" sz="2400" strike="noStrike" u="none">
              <a:solidFill>
                <a:srgbClr val="ffffff"/>
              </a:solidFill>
              <a:effectLst/>
              <a:uFillTx/>
              <a:latin typeface="Tahoma"/>
            </a:endParaRPr>
          </a:p>
          <a:p>
            <a:pPr lvl="1" marL="990720" indent="-533520">
              <a:spcBef>
                <a:spcPts val="601"/>
              </a:spcBef>
              <a:buNone/>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 Vol. 11, 1st semester      September 2001</a:t>
            </a:r>
            <a:endParaRPr b="0" lang="en-IN" sz="2400" strike="noStrike" u="none">
              <a:solidFill>
                <a:srgbClr val="ffffff"/>
              </a:solidFill>
              <a:effectLst/>
              <a:uFillTx/>
              <a:latin typeface="Tahoma"/>
            </a:endParaRPr>
          </a:p>
          <a:p>
            <a:pPr marL="609480" indent="-6094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ahoma"/>
            </a:endParaRPr>
          </a:p>
          <a:p>
            <a:pPr marL="609480" indent="-6094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Compress volume 10.  Itemize the first semester of volume 11.  Write how this should display to the public.</a:t>
            </a:r>
            <a:endParaRPr b="0" lang="en-IN" sz="2800" strike="noStrike" u="none">
              <a:solidFill>
                <a:srgbClr val="ffffff"/>
              </a:solidFill>
              <a:effectLst/>
              <a:uFillTx/>
              <a:latin typeface="Tahoma"/>
            </a:endParaRPr>
          </a:p>
          <a:p>
            <a:pPr marL="609480" indent="-6094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ahoma"/>
            </a:endParaRPr>
          </a:p>
        </p:txBody>
      </p:sp>
      <p:sp>
        <p:nvSpPr>
          <p:cNvPr id="4" name="PlaceHolder 3"/>
          <p:cNvSpPr>
            <a:spLocks noGrp="1"/>
          </p:cNvSpPr>
          <p:nvPr>
            <p:ph type="sldNum" idx="3"/>
          </p:nvPr>
        </p:nvSpPr>
        <p:spPr/>
        <p:txBody>
          <a:bodyPr/>
          <a:p>
            <a:fld id="{37C5F40A-8201-4BB5-9FA2-98FB0BE1483C}" type="slidenum">
              <a:t>31</a:t>
            </a:fld>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210"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211"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AA6709E-BB0E-4C3F-9789-04BC65346610}"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212"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Exercise 4 cont.</a:t>
            </a:r>
            <a:endParaRPr b="0" lang="en-IN" sz="4400" strike="noStrike" u="none">
              <a:solidFill>
                <a:srgbClr val="ffff66"/>
              </a:solidFill>
              <a:effectLst/>
              <a:uFillTx/>
              <a:latin typeface="Tahoma"/>
            </a:endParaRPr>
          </a:p>
        </p:txBody>
      </p:sp>
      <p:sp>
        <p:nvSpPr>
          <p:cNvPr id="213" name="PlaceHolder 2"/>
          <p:cNvSpPr>
            <a:spLocks noGrp="1"/>
          </p:cNvSpPr>
          <p:nvPr>
            <p:ph/>
          </p:nvPr>
        </p:nvSpPr>
        <p:spPr>
          <a:xfrm>
            <a:off x="0" y="914040"/>
            <a:ext cx="9144000" cy="5181480"/>
          </a:xfrm>
          <a:prstGeom prst="rect">
            <a:avLst/>
          </a:prstGeom>
          <a:noFill/>
          <a:ln w="0">
            <a:noFill/>
          </a:ln>
        </p:spPr>
        <p:txBody>
          <a:bodyPr lIns="92160" rIns="92160" tIns="46080" bIns="46080" anchor="t">
            <a:normAutofit/>
          </a:bodyPr>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Publication pattern:</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853 20 $8 1  $a</a:t>
            </a:r>
            <a:r>
              <a:rPr b="1" lang="en-IN" sz="3200" strike="noStrike" u="none">
                <a:solidFill>
                  <a:srgbClr val="ffffff"/>
                </a:solidFill>
                <a:effectLst/>
                <a:uFillTx/>
                <a:latin typeface="Tahoma"/>
              </a:rPr>
              <a:t> v.</a:t>
            </a:r>
            <a:r>
              <a:rPr b="0" lang="en-IN" sz="3200" strike="noStrike" u="none">
                <a:solidFill>
                  <a:srgbClr val="ffffff"/>
                </a:solidFill>
                <a:effectLst/>
                <a:uFillTx/>
                <a:latin typeface="Tahoma"/>
              </a:rPr>
              <a:t> $b +</a:t>
            </a:r>
            <a:r>
              <a:rPr b="1" lang="en-IN" sz="3200" strike="noStrike" u="none">
                <a:solidFill>
                  <a:srgbClr val="ffffff"/>
                </a:solidFill>
                <a:effectLst/>
                <a:uFillTx/>
                <a:latin typeface="Tahoma"/>
              </a:rPr>
              <a:t>semester</a:t>
            </a:r>
            <a:r>
              <a:rPr b="0" lang="en-IN" sz="3200" strike="noStrike" u="none">
                <a:solidFill>
                  <a:srgbClr val="ffffff"/>
                </a:solidFill>
                <a:effectLst/>
                <a:uFillTx/>
                <a:latin typeface="Tahoma"/>
              </a:rPr>
              <a:t> $u </a:t>
            </a:r>
            <a:r>
              <a:rPr b="1" lang="en-IN" sz="3200" strike="noStrike" u="none">
                <a:solidFill>
                  <a:srgbClr val="ffffff"/>
                </a:solidFill>
                <a:effectLst/>
                <a:uFillTx/>
                <a:latin typeface="Tahoma"/>
              </a:rPr>
              <a:t>2</a:t>
            </a:r>
            <a:r>
              <a:rPr b="0" lang="en-IN" sz="3200" strike="noStrike" u="none">
                <a:solidFill>
                  <a:srgbClr val="ffffff"/>
                </a:solidFill>
                <a:effectLst/>
                <a:uFillTx/>
                <a:latin typeface="Tahoma"/>
              </a:rPr>
              <a:t> $v </a:t>
            </a:r>
            <a:r>
              <a:rPr b="1" lang="en-IN" sz="3200" strike="noStrike" u="none">
                <a:solidFill>
                  <a:srgbClr val="ffffff"/>
                </a:solidFill>
                <a:effectLst/>
                <a:uFillTx/>
                <a:latin typeface="Tahoma"/>
              </a:rPr>
              <a:t>r</a:t>
            </a:r>
            <a:r>
              <a:rPr b="0" lang="en-IN" sz="3200" strike="noStrike" u="none">
                <a:solidFill>
                  <a:srgbClr val="ffffff"/>
                </a:solidFill>
                <a:effectLst/>
                <a:uFillTx/>
                <a:latin typeface="Tahoma"/>
              </a:rPr>
              <a:t> $i </a:t>
            </a:r>
            <a:r>
              <a:rPr b="1" lang="en-IN" sz="3200" strike="noStrike" u="none">
                <a:solidFill>
                  <a:srgbClr val="ffffff"/>
                </a:solidFill>
                <a:effectLst/>
                <a:uFillTx/>
                <a:latin typeface="Tahoma"/>
              </a:rPr>
              <a:t>(year)</a:t>
            </a:r>
            <a:r>
              <a:rPr b="0" lang="en-IN" sz="3200" strike="noStrike" u="none">
                <a:solidFill>
                  <a:srgbClr val="ffffff"/>
                </a:solidFill>
                <a:effectLst/>
                <a:uFillTx/>
                <a:latin typeface="Tahoma"/>
              </a:rPr>
              <a:t> $j </a:t>
            </a:r>
            <a:r>
              <a:rPr b="1" lang="en-IN" sz="3200" strike="noStrike" u="none">
                <a:solidFill>
                  <a:srgbClr val="ffffff"/>
                </a:solidFill>
                <a:effectLst/>
                <a:uFillTx/>
                <a:latin typeface="Tahoma"/>
              </a:rPr>
              <a:t>(month)</a:t>
            </a:r>
            <a:r>
              <a:rPr b="0" lang="en-IN" sz="3200" strike="noStrike" u="none">
                <a:solidFill>
                  <a:srgbClr val="ffffff"/>
                </a:solidFill>
                <a:effectLst/>
                <a:uFillTx/>
                <a:latin typeface="Tahoma"/>
              </a:rPr>
              <a:t> $w </a:t>
            </a:r>
            <a:r>
              <a:rPr b="1" lang="en-IN" sz="3200" strike="noStrike" u="none">
                <a:solidFill>
                  <a:srgbClr val="ffffff"/>
                </a:solidFill>
                <a:effectLst/>
                <a:uFillTx/>
                <a:latin typeface="Tahoma"/>
              </a:rPr>
              <a:t>2</a:t>
            </a:r>
            <a:r>
              <a:rPr b="0" lang="en-IN" sz="3200" strike="noStrike" u="none">
                <a:solidFill>
                  <a:srgbClr val="ffffff"/>
                </a:solidFill>
                <a:effectLst/>
                <a:uFillTx/>
                <a:latin typeface="Tahoma"/>
              </a:rPr>
              <a:t> $x </a:t>
            </a:r>
            <a:r>
              <a:rPr b="1" lang="en-IN" sz="3200" strike="noStrike" u="none">
                <a:solidFill>
                  <a:srgbClr val="ffffff"/>
                </a:solidFill>
                <a:effectLst/>
                <a:uFillTx/>
                <a:latin typeface="Tahoma"/>
              </a:rPr>
              <a:t>09</a:t>
            </a:r>
            <a:r>
              <a:rPr b="0" lang="en-IN" sz="3200" strike="noStrike" u="none">
                <a:solidFill>
                  <a:srgbClr val="ffffff"/>
                </a:solidFill>
                <a:effectLst/>
                <a:uFillTx/>
                <a:latin typeface="Tahoma"/>
              </a:rPr>
              <a:t> $y </a:t>
            </a:r>
            <a:r>
              <a:rPr b="1" lang="en-IN" sz="3200" strike="noStrike" u="none">
                <a:solidFill>
                  <a:srgbClr val="ffffff"/>
                </a:solidFill>
                <a:effectLst/>
                <a:uFillTx/>
                <a:latin typeface="Tahoma"/>
              </a:rPr>
              <a:t>pm09,01 </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[Note:  This is not strictly semiannual.]</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86_ 4_ $8</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86_ 4_ $8</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Display: </a:t>
            </a:r>
            <a:endParaRPr b="0" lang="en-IN" sz="3200" strike="noStrike" u="none">
              <a:solidFill>
                <a:srgbClr val="ffffff"/>
              </a:solidFill>
              <a:effectLst/>
              <a:uFillTx/>
              <a:latin typeface="Tahoma"/>
            </a:endParaRPr>
          </a:p>
        </p:txBody>
      </p:sp>
      <p:sp>
        <p:nvSpPr>
          <p:cNvPr id="4" name="PlaceHolder 3"/>
          <p:cNvSpPr>
            <a:spLocks noGrp="1"/>
          </p:cNvSpPr>
          <p:nvPr>
            <p:ph type="sldNum" idx="3"/>
          </p:nvPr>
        </p:nvSpPr>
        <p:spPr/>
        <p:txBody>
          <a:bodyPr/>
          <a:p>
            <a:fld id="{78C26F70-D37F-46ED-BAE0-00959F2C09DF}" type="slidenum">
              <a:t>32</a:t>
            </a:fld>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214"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215"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179A123-B766-413B-8A60-7EB8EE9BA77D}"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216"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Exercise 5</a:t>
            </a:r>
            <a:endParaRPr b="0" lang="en-IN" sz="4400" strike="noStrike" u="none">
              <a:solidFill>
                <a:srgbClr val="ffff66"/>
              </a:solidFill>
              <a:effectLst/>
              <a:uFillTx/>
              <a:latin typeface="Tahoma"/>
            </a:endParaRPr>
          </a:p>
        </p:txBody>
      </p:sp>
      <p:sp>
        <p:nvSpPr>
          <p:cNvPr id="217" name="PlaceHolder 2"/>
          <p:cNvSpPr>
            <a:spLocks noGrp="1"/>
          </p:cNvSpPr>
          <p:nvPr>
            <p:ph/>
          </p:nvPr>
        </p:nvSpPr>
        <p:spPr>
          <a:xfrm>
            <a:off x="0" y="914040"/>
            <a:ext cx="9144000" cy="5181480"/>
          </a:xfrm>
          <a:prstGeom prst="rect">
            <a:avLst/>
          </a:prstGeom>
          <a:noFill/>
          <a:ln w="0">
            <a:noFill/>
          </a:ln>
        </p:spPr>
        <p:txBody>
          <a:bodyPr lIns="92160" rIns="92160" tIns="46080" bIns="46080" anchor="t">
            <a:normAutofit/>
          </a:bodyPr>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Tahoma"/>
              </a:rPr>
              <a:t>Publications lacking captions</a:t>
            </a:r>
            <a:r>
              <a:rPr b="0" lang="en-IN" sz="2400" strike="noStrike" u="none">
                <a:solidFill>
                  <a:srgbClr val="ffffff"/>
                </a:solidFill>
                <a:effectLst/>
                <a:uFillTx/>
                <a:latin typeface="Tahoma"/>
              </a:rPr>
              <a:t>:  Some enumerations are not preceded by a caption.  We use the convention of </a:t>
            </a:r>
            <a:r>
              <a:rPr b="1" lang="en-IN" sz="2400" strike="noStrike" u="none">
                <a:solidFill>
                  <a:srgbClr val="ffffff"/>
                </a:solidFill>
                <a:effectLst/>
                <a:uFillTx/>
                <a:latin typeface="Tahoma"/>
              </a:rPr>
              <a:t>(*)</a:t>
            </a:r>
            <a:r>
              <a:rPr b="0" lang="en-IN" sz="2400" strike="noStrike" u="none">
                <a:solidFill>
                  <a:srgbClr val="ffffff"/>
                </a:solidFill>
                <a:effectLst/>
                <a:uFillTx/>
                <a:latin typeface="Tahoma"/>
              </a:rPr>
              <a:t> to indicate that no caption is present for this part of the enumeration.  The example used for this exercise is an annual with number and year.</a:t>
            </a:r>
            <a:endParaRPr b="0" lang="en-IN" sz="2400" strike="noStrike" u="none">
              <a:solidFill>
                <a:srgbClr val="ffffff"/>
              </a:solidFill>
              <a:effectLst/>
              <a:uFillTx/>
              <a:latin typeface="Tahoma"/>
            </a:endParaRPr>
          </a:p>
          <a:p>
            <a:pPr lvl="2" marL="1143000" indent="-228600">
              <a:lnSpc>
                <a:spcPct val="90000"/>
              </a:lnSpc>
              <a:spcBef>
                <a:spcPts val="601"/>
              </a:spcBef>
              <a:buNone/>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20 // 2000</a:t>
            </a:r>
            <a:endParaRPr b="0" lang="en-IN" sz="2400" strike="noStrike" u="none">
              <a:solidFill>
                <a:srgbClr val="ffffff"/>
              </a:solidFill>
              <a:effectLst/>
              <a:uFillTx/>
              <a:latin typeface="Tahoma"/>
            </a:endParaRPr>
          </a:p>
          <a:p>
            <a:pPr lvl="2" marL="1143000" indent="-228600">
              <a:lnSpc>
                <a:spcPct val="90000"/>
              </a:lnSpc>
              <a:spcBef>
                <a:spcPts val="601"/>
              </a:spcBef>
              <a:buNone/>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21 // 2001</a:t>
            </a:r>
            <a:endParaRPr b="0" lang="en-IN" sz="2400" strike="noStrike" u="none">
              <a:solidFill>
                <a:srgbClr val="ffffff"/>
              </a:solidFill>
              <a:effectLst/>
              <a:uFillTx/>
              <a:latin typeface="Tahoma"/>
            </a:endParaRPr>
          </a:p>
          <a:p>
            <a:pPr lvl="2" marL="1143000" indent="-228600">
              <a:lnSpc>
                <a:spcPct val="90000"/>
              </a:lnSpc>
              <a:spcBef>
                <a:spcPts val="601"/>
              </a:spcBef>
              <a:buNone/>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22 // 2002</a:t>
            </a:r>
            <a:endParaRPr b="0" lang="en-IN" sz="2400" strike="noStrike" u="none">
              <a:solidFill>
                <a:srgbClr val="ffffff"/>
              </a:solidFill>
              <a:effectLst/>
              <a:uFillTx/>
              <a:latin typeface="Tahoma"/>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	</a:t>
            </a:r>
            <a:r>
              <a:rPr b="0" lang="en-IN" sz="2400" strike="noStrike" u="none">
                <a:solidFill>
                  <a:srgbClr val="ffffff"/>
                </a:solidFill>
                <a:effectLst/>
                <a:uFillTx/>
                <a:latin typeface="Tahoma"/>
              </a:rPr>
              <a:t>	</a:t>
            </a:r>
            <a:r>
              <a:rPr b="0" lang="en-IN" sz="2400" strike="noStrike" u="none">
                <a:solidFill>
                  <a:srgbClr val="ffffff"/>
                </a:solidFill>
                <a:effectLst/>
                <a:uFillTx/>
                <a:latin typeface="Tahoma"/>
              </a:rPr>
              <a:t>	</a:t>
            </a:r>
            <a:r>
              <a:rPr b="0" lang="en-IN" sz="2400" strike="noStrike" u="none">
                <a:solidFill>
                  <a:srgbClr val="ffffff"/>
                </a:solidFill>
                <a:effectLst/>
                <a:uFillTx/>
                <a:latin typeface="Tahoma"/>
              </a:rPr>
              <a:t>	</a:t>
            </a:r>
            <a:r>
              <a:rPr b="0" lang="en-IN" sz="2400" strike="noStrike" u="none">
                <a:solidFill>
                  <a:srgbClr val="ffffff"/>
                </a:solidFill>
                <a:effectLst/>
                <a:uFillTx/>
                <a:latin typeface="Tahoma"/>
              </a:rPr>
              <a:t>	</a:t>
            </a:r>
            <a:endParaRPr b="0" lang="en-IN" sz="2400" strike="noStrike" u="none">
              <a:solidFill>
                <a:srgbClr val="ffffff"/>
              </a:solidFill>
              <a:effectLst/>
              <a:uFillTx/>
              <a:latin typeface="Tahoma"/>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Code the second indicator of the three 86x for uncompressed, use textual display.  Give a textual holding that would correspond to this range.  </a:t>
            </a:r>
            <a:br>
              <a:rPr sz="2400"/>
            </a:br>
            <a:r>
              <a:rPr b="0" lang="en-IN" sz="2400" strike="noStrike" u="none">
                <a:solidFill>
                  <a:srgbClr val="ffffff"/>
                </a:solidFill>
                <a:effectLst/>
                <a:uFillTx/>
                <a:latin typeface="Tahoma"/>
              </a:rPr>
              <a:t>(Be sure to check the </a:t>
            </a:r>
            <a:r>
              <a:rPr b="0" i="1" lang="en-IN" sz="2400" strike="noStrike" u="none">
                <a:solidFill>
                  <a:srgbClr val="ffffff"/>
                </a:solidFill>
                <a:effectLst/>
                <a:uFillTx/>
                <a:latin typeface="Tahoma"/>
              </a:rPr>
              <a:t>Handbook</a:t>
            </a:r>
            <a:r>
              <a:rPr b="0" lang="en-IN" sz="2400" strike="noStrike" u="none">
                <a:solidFill>
                  <a:srgbClr val="ffffff"/>
                </a:solidFill>
                <a:effectLst/>
                <a:uFillTx/>
                <a:latin typeface="Tahoma"/>
              </a:rPr>
              <a:t> for the meaning of the indicators in the textual field.)</a:t>
            </a:r>
            <a:endParaRPr b="0" lang="en-IN" sz="2400" strike="noStrike" u="none">
              <a:solidFill>
                <a:srgbClr val="ffffff"/>
              </a:solidFill>
              <a:effectLst/>
              <a:uFillTx/>
              <a:latin typeface="Tahoma"/>
            </a:endParaRPr>
          </a:p>
        </p:txBody>
      </p:sp>
      <p:sp>
        <p:nvSpPr>
          <p:cNvPr id="4" name="PlaceHolder 3"/>
          <p:cNvSpPr>
            <a:spLocks noGrp="1"/>
          </p:cNvSpPr>
          <p:nvPr>
            <p:ph type="sldNum" idx="3"/>
          </p:nvPr>
        </p:nvSpPr>
        <p:spPr/>
        <p:txBody>
          <a:bodyPr/>
          <a:p>
            <a:fld id="{89DE8026-CD17-4F08-B912-309C1E0C2F2D}" type="slidenum">
              <a:t>33</a:t>
            </a:fld>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218"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219"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7F64090-74D6-42F0-8100-41C8337EBA59}"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220"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Exercise 5 cont.</a:t>
            </a:r>
            <a:endParaRPr b="0" lang="en-IN" sz="4400" strike="noStrike" u="none">
              <a:solidFill>
                <a:srgbClr val="ffff66"/>
              </a:solidFill>
              <a:effectLst/>
              <a:uFillTx/>
              <a:latin typeface="Tahoma"/>
            </a:endParaRPr>
          </a:p>
        </p:txBody>
      </p:sp>
      <p:sp>
        <p:nvSpPr>
          <p:cNvPr id="221" name="PlaceHolder 2"/>
          <p:cNvSpPr>
            <a:spLocks noGrp="1"/>
          </p:cNvSpPr>
          <p:nvPr>
            <p:ph/>
          </p:nvPr>
        </p:nvSpPr>
        <p:spPr>
          <a:xfrm>
            <a:off x="0" y="914040"/>
            <a:ext cx="9144000" cy="5181480"/>
          </a:xfrm>
          <a:prstGeom prst="rect">
            <a:avLst/>
          </a:prstGeom>
          <a:noFill/>
          <a:ln w="0">
            <a:noFill/>
          </a:ln>
        </p:spPr>
        <p:txBody>
          <a:bodyPr lIns="92160" rIns="92160" tIns="46080" bIns="46080" anchor="t">
            <a:normAutofit/>
          </a:bodyPr>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Publication pattern:</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853 20 $8 1  $a</a:t>
            </a:r>
            <a:r>
              <a:rPr b="1" lang="en-IN" sz="3200" strike="noStrike" u="none">
                <a:solidFill>
                  <a:srgbClr val="ffffff"/>
                </a:solidFill>
                <a:effectLst/>
                <a:uFillTx/>
                <a:latin typeface="Tahoma"/>
              </a:rPr>
              <a:t> (*)</a:t>
            </a:r>
            <a:r>
              <a:rPr b="0" lang="en-IN" sz="3200" strike="noStrike" u="none">
                <a:solidFill>
                  <a:srgbClr val="ffffff"/>
                </a:solidFill>
                <a:effectLst/>
                <a:uFillTx/>
                <a:latin typeface="Tahoma"/>
              </a:rPr>
              <a:t> $i </a:t>
            </a:r>
            <a:r>
              <a:rPr b="1" lang="en-IN" sz="3200" strike="noStrike" u="none">
                <a:solidFill>
                  <a:srgbClr val="ffffff"/>
                </a:solidFill>
                <a:effectLst/>
                <a:uFillTx/>
                <a:latin typeface="Tahoma"/>
              </a:rPr>
              <a:t>(year)</a:t>
            </a:r>
            <a:r>
              <a:rPr b="0" lang="en-IN" sz="3200" strike="noStrike" u="none">
                <a:solidFill>
                  <a:srgbClr val="ffffff"/>
                </a:solidFill>
                <a:effectLst/>
                <a:uFillTx/>
                <a:latin typeface="Tahoma"/>
              </a:rPr>
              <a:t> $w </a:t>
            </a:r>
            <a:r>
              <a:rPr b="1" lang="en-IN" sz="3200" strike="noStrike" u="none">
                <a:solidFill>
                  <a:srgbClr val="ffffff"/>
                </a:solidFill>
                <a:effectLst/>
                <a:uFillTx/>
                <a:latin typeface="Tahoma"/>
              </a:rPr>
              <a:t>a</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86_ 4_ $8</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86_ 4_ $8</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86_ 4_ $8</a:t>
            </a:r>
            <a:r>
              <a:rPr b="0" lang="en-IN" sz="3200" strike="noStrike" u="none">
                <a:solidFill>
                  <a:srgbClr val="ffffff"/>
                </a:solidFill>
                <a:effectLst/>
                <a:uFillTx/>
                <a:latin typeface="Tahoma"/>
              </a:rPr>
              <a:t>	</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86_  __ $8</a:t>
            </a:r>
            <a:endParaRPr b="0" lang="en-IN" sz="3200" strike="noStrike" u="none">
              <a:solidFill>
                <a:srgbClr val="ffffff"/>
              </a:solidFill>
              <a:effectLst/>
              <a:uFillTx/>
              <a:latin typeface="Tahoma"/>
            </a:endParaRPr>
          </a:p>
        </p:txBody>
      </p:sp>
      <p:sp>
        <p:nvSpPr>
          <p:cNvPr id="4" name="PlaceHolder 3"/>
          <p:cNvSpPr>
            <a:spLocks noGrp="1"/>
          </p:cNvSpPr>
          <p:nvPr>
            <p:ph type="sldNum" idx="3"/>
          </p:nvPr>
        </p:nvSpPr>
        <p:spPr/>
        <p:txBody>
          <a:bodyPr/>
          <a:p>
            <a:fld id="{E6CA1D7C-D5FA-4B9F-A45B-1FFCE8C063C4}" type="slidenum">
              <a:t>34</a:t>
            </a:fld>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222"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223"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C0E7FA8-C168-4227-ABB1-121DBBC5EF38}"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224"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Exercise 6</a:t>
            </a:r>
            <a:endParaRPr b="0" lang="en-IN" sz="4400" strike="noStrike" u="none">
              <a:solidFill>
                <a:srgbClr val="ffff66"/>
              </a:solidFill>
              <a:effectLst/>
              <a:uFillTx/>
              <a:latin typeface="Tahoma"/>
            </a:endParaRPr>
          </a:p>
        </p:txBody>
      </p:sp>
      <p:sp>
        <p:nvSpPr>
          <p:cNvPr id="225" name="PlaceHolder 2"/>
          <p:cNvSpPr>
            <a:spLocks noGrp="1"/>
          </p:cNvSpPr>
          <p:nvPr>
            <p:ph/>
          </p:nvPr>
        </p:nvSpPr>
        <p:spPr>
          <a:xfrm>
            <a:off x="0" y="914040"/>
            <a:ext cx="9144000" cy="5181480"/>
          </a:xfrm>
          <a:prstGeom prst="rect">
            <a:avLst/>
          </a:prstGeom>
          <a:noFill/>
          <a:ln w="0">
            <a:noFill/>
          </a:ln>
        </p:spPr>
        <p:txBody>
          <a:bodyPr lIns="92160" rIns="92160" tIns="46080" bIns="46080" anchor="t">
            <a:normAutofit/>
          </a:bodyPr>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800" strike="noStrike" u="none">
                <a:solidFill>
                  <a:srgbClr val="ffffff"/>
                </a:solidFill>
                <a:effectLst/>
                <a:uFillTx/>
                <a:latin typeface="Tahoma"/>
              </a:rPr>
              <a:t>Publications with alternative numbering.  </a:t>
            </a:r>
            <a:r>
              <a:rPr b="0" lang="en-US" sz="2800" strike="noStrike" u="none">
                <a:solidFill>
                  <a:srgbClr val="ffffff"/>
                </a:solidFill>
                <a:effectLst/>
                <a:uFillTx/>
                <a:latin typeface="Tahoma"/>
              </a:rPr>
              <a:t>Code the holdings for a title that has both a new series designation and a whole series designation.   This series is now complete.  Since it was all received years ago, no publication pattern was entered.</a:t>
            </a:r>
            <a:endParaRPr b="0" lang="en-IN" sz="2800" strike="noStrike" u="none">
              <a:solidFill>
                <a:srgbClr val="ffffff"/>
              </a:solidFill>
              <a:effectLst/>
              <a:uFillTx/>
              <a:latin typeface="Tahoma"/>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ahoma"/>
              </a:rPr>
              <a:t>853 00  $8 1  $a  </a:t>
            </a:r>
            <a:r>
              <a:rPr b="1" lang="en-US" sz="2800" strike="noStrike" u="none">
                <a:solidFill>
                  <a:srgbClr val="ffffff"/>
                </a:solidFill>
                <a:effectLst/>
                <a:uFillTx/>
                <a:latin typeface="Tahoma"/>
              </a:rPr>
              <a:t>new ser.:no.</a:t>
            </a:r>
            <a:r>
              <a:rPr b="0" lang="en-US" sz="2800" strike="noStrike" u="none">
                <a:solidFill>
                  <a:srgbClr val="ffffff"/>
                </a:solidFill>
                <a:effectLst/>
                <a:uFillTx/>
                <a:latin typeface="Tahoma"/>
              </a:rPr>
              <a:t>  $g </a:t>
            </a:r>
            <a:r>
              <a:rPr b="1" lang="en-US" sz="2800" strike="noStrike" u="none">
                <a:solidFill>
                  <a:srgbClr val="ffffff"/>
                </a:solidFill>
                <a:effectLst/>
                <a:uFillTx/>
                <a:latin typeface="Tahoma"/>
              </a:rPr>
              <a:t>no</a:t>
            </a:r>
            <a:r>
              <a:rPr b="0" lang="en-US" sz="2800" strike="noStrike" u="none">
                <a:solidFill>
                  <a:srgbClr val="ffffff"/>
                </a:solidFill>
                <a:effectLst/>
                <a:uFillTx/>
                <a:latin typeface="Tahoma"/>
              </a:rPr>
              <a:t>. $i </a:t>
            </a:r>
            <a:r>
              <a:rPr b="1" lang="en-US" sz="2800" strike="noStrike" u="none">
                <a:solidFill>
                  <a:srgbClr val="ffffff"/>
                </a:solidFill>
                <a:effectLst/>
                <a:uFillTx/>
                <a:latin typeface="Tahoma"/>
              </a:rPr>
              <a:t>(year)</a:t>
            </a:r>
            <a:endParaRPr b="0" lang="en-IN" sz="2800" strike="noStrike" u="none">
              <a:solidFill>
                <a:srgbClr val="ffffff"/>
              </a:solidFill>
              <a:effectLst/>
              <a:uFillTx/>
              <a:latin typeface="Tahoma"/>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ahoma"/>
              </a:rPr>
              <a:t>	</a:t>
            </a:r>
            <a:endParaRPr b="0" lang="en-IN" sz="2800" strike="noStrike" u="none">
              <a:solidFill>
                <a:srgbClr val="ffffff"/>
              </a:solidFill>
              <a:effectLst/>
              <a:uFillTx/>
              <a:latin typeface="Tahoma"/>
            </a:endParaRPr>
          </a:p>
          <a:p>
            <a:pPr marL="343080" indent="-34308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ahoma"/>
              </a:rPr>
              <a:t>The volumes have two numbering systems:  no. 1 1884 (no. 142 of entire series) to no. 80 1957 (no. 222 of entire series).  Code this numbering in compressed format.  Write how it should display to the public.</a:t>
            </a:r>
            <a:endParaRPr b="0" lang="en-IN" sz="2800" strike="noStrike" u="none">
              <a:solidFill>
                <a:srgbClr val="ffffff"/>
              </a:solidFill>
              <a:effectLst/>
              <a:uFillTx/>
              <a:latin typeface="Tahoma"/>
            </a:endParaRPr>
          </a:p>
        </p:txBody>
      </p:sp>
      <p:sp>
        <p:nvSpPr>
          <p:cNvPr id="4" name="PlaceHolder 3"/>
          <p:cNvSpPr>
            <a:spLocks noGrp="1"/>
          </p:cNvSpPr>
          <p:nvPr>
            <p:ph type="sldNum" idx="3"/>
          </p:nvPr>
        </p:nvSpPr>
        <p:spPr/>
        <p:txBody>
          <a:bodyPr/>
          <a:p>
            <a:fld id="{E5189F5D-EB20-483E-B134-174D8B22B289}" type="slidenum">
              <a:t>35</a:t>
            </a:fld>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226" name="Footer Placeholder 4"/>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227" name="Slide Number Placeholder 5"/>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D53452B-0F4B-4423-B9A5-D887CA19818D}"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228"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Exercise 6 cont.</a:t>
            </a:r>
            <a:endParaRPr b="0" lang="en-IN" sz="4400" strike="noStrike" u="none">
              <a:solidFill>
                <a:srgbClr val="ffff66"/>
              </a:solidFill>
              <a:effectLst/>
              <a:uFillTx/>
              <a:latin typeface="Tahoma"/>
            </a:endParaRPr>
          </a:p>
        </p:txBody>
      </p:sp>
      <p:sp>
        <p:nvSpPr>
          <p:cNvPr id="229" name="PlaceHolder 2"/>
          <p:cNvSpPr>
            <a:spLocks noGrp="1"/>
          </p:cNvSpPr>
          <p:nvPr>
            <p:ph/>
          </p:nvPr>
        </p:nvSpPr>
        <p:spPr>
          <a:xfrm>
            <a:off x="0" y="914040"/>
            <a:ext cx="9144000" cy="5181480"/>
          </a:xfrm>
          <a:prstGeom prst="rect">
            <a:avLst/>
          </a:prstGeom>
          <a:noFill/>
          <a:ln w="0">
            <a:noFill/>
          </a:ln>
        </p:spPr>
        <p:txBody>
          <a:bodyPr lIns="92160" rIns="92160" tIns="46080" bIns="46080" anchor="t">
            <a:normAutofit/>
          </a:bodyPr>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[Note:  This can be coded as textual or coded holdings. We use a coded holding here.]</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	</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86_ 4_ $8</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	</a:t>
            </a:r>
            <a:endParaRPr b="0" lang="en-IN" sz="3200" strike="noStrike" u="none">
              <a:solidFill>
                <a:srgbClr val="ffffff"/>
              </a:solidFill>
              <a:effectLst/>
              <a:uFillTx/>
              <a:latin typeface="Tahoma"/>
            </a:endParaRPr>
          </a:p>
          <a:p>
            <a:pPr marL="343080" indent="-343080">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a:t>
            </a:r>
            <a:r>
              <a:rPr b="0" lang="en-IN" sz="3200" strike="noStrike" u="none">
                <a:solidFill>
                  <a:srgbClr val="ffffff"/>
                </a:solidFill>
                <a:effectLst/>
                <a:uFillTx/>
                <a:latin typeface="Tahoma"/>
              </a:rPr>
              <a:t>Display:</a:t>
            </a:r>
            <a:endParaRPr b="0" lang="en-IN" sz="3200" strike="noStrike" u="none">
              <a:solidFill>
                <a:srgbClr val="ffffff"/>
              </a:solidFill>
              <a:effectLst/>
              <a:uFillTx/>
              <a:latin typeface="Tahoma"/>
            </a:endParaRPr>
          </a:p>
        </p:txBody>
      </p:sp>
      <p:sp>
        <p:nvSpPr>
          <p:cNvPr id="4" name="PlaceHolder 3"/>
          <p:cNvSpPr>
            <a:spLocks noGrp="1"/>
          </p:cNvSpPr>
          <p:nvPr>
            <p:ph type="sldNum" idx="3"/>
          </p:nvPr>
        </p:nvSpPr>
        <p:spPr/>
        <p:txBody>
          <a:bodyPr/>
          <a:p>
            <a:fld id="{800FE2D1-F185-48B6-9755-609A341B884E}" type="slidenum">
              <a:t>36</a:t>
            </a:fld>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230" name="Footer Placeholder 3"/>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231" name="Slide Number Placeholder 4"/>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2ED15DF-F240-4582-A227-15A1BC6A33B8}"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232"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Answers—Exercise 1</a:t>
            </a:r>
            <a:endParaRPr b="0" lang="en-IN" sz="4400" strike="noStrike" u="none">
              <a:solidFill>
                <a:srgbClr val="ffff66"/>
              </a:solidFill>
              <a:effectLst/>
              <a:uFillTx/>
              <a:latin typeface="Tahoma"/>
            </a:endParaRPr>
          </a:p>
        </p:txBody>
      </p:sp>
      <p:sp>
        <p:nvSpPr>
          <p:cNvPr id="233" name="Text Box 3"/>
          <p:cNvSpPr/>
          <p:nvPr/>
        </p:nvSpPr>
        <p:spPr>
          <a:xfrm>
            <a:off x="228600" y="838080"/>
            <a:ext cx="8534520" cy="5775120"/>
          </a:xfrm>
          <a:prstGeom prst="rect">
            <a:avLst/>
          </a:prstGeom>
          <a:noFill/>
          <a:ln w="0">
            <a:noFill/>
          </a:ln>
        </p:spPr>
        <p:style>
          <a:lnRef idx="0"/>
          <a:fillRef idx="0"/>
          <a:effectRef idx="0"/>
          <a:fontRef idx="minor"/>
        </p:style>
        <p:txBody>
          <a:bodyPr lIns="90000" rIns="90000" tIns="46800" bIns="4680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Arial Narrow"/>
              </a:rPr>
              <a:t>863 </a:t>
            </a:r>
            <a:r>
              <a:rPr b="1" lang="en-IN" sz="2800" strike="noStrike" u="none">
                <a:solidFill>
                  <a:srgbClr val="ffffff"/>
                </a:solidFill>
                <a:effectLst/>
                <a:uFillTx/>
                <a:latin typeface="Arial Narrow"/>
              </a:rPr>
              <a:t>41</a:t>
            </a:r>
            <a:r>
              <a:rPr b="1" lang="en-IN" sz="2800" strike="noStrike" u="none">
                <a:solidFill>
                  <a:srgbClr val="ffffff"/>
                </a:solidFill>
                <a:effectLst/>
                <a:uFillTx/>
                <a:latin typeface="Arial Narrow"/>
              </a:rPr>
              <a:t>	</a:t>
            </a:r>
            <a:r>
              <a:rPr b="1" lang="en-IN" sz="2800" strike="noStrike" u="none">
                <a:solidFill>
                  <a:srgbClr val="ffffff"/>
                </a:solidFill>
                <a:effectLst/>
                <a:uFillTx/>
                <a:latin typeface="Arial Narrow"/>
              </a:rPr>
              <a:t>$8 1.1 $a 4 $b 1 $i 2001 $j 02/04</a:t>
            </a:r>
            <a:endParaRPr b="0" lang="en-IN" sz="2800" strike="noStrike" u="none">
              <a:solidFill>
                <a:srgbClr val="ffffff"/>
              </a:solidFill>
              <a:effectLst/>
              <a:uFillTx/>
              <a:latin typeface="Arial Narrow"/>
            </a:endParaRPr>
          </a:p>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Arial Narrow"/>
              </a:rPr>
              <a:t>863 </a:t>
            </a:r>
            <a:r>
              <a:rPr b="1" lang="en-IN" sz="2800" strike="noStrike" u="none">
                <a:solidFill>
                  <a:srgbClr val="ffffff"/>
                </a:solidFill>
                <a:effectLst/>
                <a:uFillTx/>
                <a:latin typeface="Arial Narrow"/>
              </a:rPr>
              <a:t>41</a:t>
            </a:r>
            <a:r>
              <a:rPr b="1" lang="en-IN" sz="2800" strike="noStrike" u="none">
                <a:solidFill>
                  <a:srgbClr val="ffffff"/>
                </a:solidFill>
                <a:effectLst/>
                <a:uFillTx/>
                <a:latin typeface="Arial Narrow"/>
              </a:rPr>
              <a:t>	</a:t>
            </a:r>
            <a:r>
              <a:rPr b="1" lang="en-IN" sz="2800" strike="noStrike" u="none">
                <a:solidFill>
                  <a:srgbClr val="ffffff"/>
                </a:solidFill>
                <a:effectLst/>
                <a:uFillTx/>
                <a:latin typeface="Arial Narrow"/>
              </a:rPr>
              <a:t>$8 1.2 $a 4 $b 2 $i 2001 $j 05/07</a:t>
            </a:r>
            <a:endParaRPr b="0" lang="en-IN" sz="2800" strike="noStrike" u="none">
              <a:solidFill>
                <a:srgbClr val="ffffff"/>
              </a:solidFill>
              <a:effectLst/>
              <a:uFillTx/>
              <a:latin typeface="Arial Narrow"/>
            </a:endParaRPr>
          </a:p>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Arial Narrow"/>
              </a:rPr>
              <a:t>863 </a:t>
            </a:r>
            <a:r>
              <a:rPr b="1" lang="en-IN" sz="2800" strike="noStrike" u="none">
                <a:solidFill>
                  <a:srgbClr val="ffffff"/>
                </a:solidFill>
                <a:effectLst/>
                <a:uFillTx/>
                <a:latin typeface="Arial Narrow"/>
              </a:rPr>
              <a:t>41 $8 1.3 $a 4 $b 3 $i 2001 $j 08/10</a:t>
            </a:r>
            <a:endParaRPr b="0" lang="en-IN" sz="2800" strike="noStrike" u="none">
              <a:solidFill>
                <a:srgbClr val="ffffff"/>
              </a:solidFill>
              <a:effectLst/>
              <a:uFillTx/>
              <a:latin typeface="Arial Narrow"/>
            </a:endParaRPr>
          </a:p>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Arial Narrow"/>
              </a:rPr>
              <a:t>863 </a:t>
            </a:r>
            <a:r>
              <a:rPr b="1" lang="en-IN" sz="2800" strike="noStrike" u="none">
                <a:solidFill>
                  <a:srgbClr val="ffffff"/>
                </a:solidFill>
                <a:effectLst/>
                <a:uFillTx/>
                <a:latin typeface="Arial Narrow"/>
              </a:rPr>
              <a:t>41 $8 1.4 $a 4 $b 4 $i 2001 $j 11/01</a:t>
            </a:r>
            <a:endParaRPr b="0" lang="en-IN" sz="2800" strike="noStrike" u="none">
              <a:solidFill>
                <a:srgbClr val="ffffff"/>
              </a:solidFill>
              <a:effectLst/>
              <a:uFillTx/>
              <a:latin typeface="Arial Narrow"/>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Arial Narrow"/>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Arial Narrow"/>
              </a:rPr>
              <a:t>To alter 4th statement: </a:t>
            </a:r>
            <a:endParaRPr b="0" lang="en-IN" sz="2400" strike="noStrike" u="none">
              <a:solidFill>
                <a:srgbClr val="ffffff"/>
              </a:solidFill>
              <a:effectLst/>
              <a:uFillTx/>
              <a:latin typeface="Arial Narrow"/>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Arial Narrow"/>
              </a:rPr>
              <a:t>	</a:t>
            </a:r>
            <a:r>
              <a:rPr b="1" lang="en-IN" sz="2400" strike="noStrike" u="none">
                <a:solidFill>
                  <a:srgbClr val="ffffff"/>
                </a:solidFill>
                <a:effectLst/>
                <a:uFillTx/>
                <a:latin typeface="Arial Narrow"/>
              </a:rPr>
              <a:t>a. Change $i 2001 to $i 2001/2002 [will not look perfect!]</a:t>
            </a:r>
            <a:endParaRPr b="0" lang="en-IN" sz="2400" strike="noStrike" u="none">
              <a:solidFill>
                <a:srgbClr val="ffffff"/>
              </a:solidFill>
              <a:effectLst/>
              <a:uFillTx/>
              <a:latin typeface="Arial Narrow"/>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Arial Narrow"/>
              </a:rPr>
              <a:t>	</a:t>
            </a:r>
            <a:r>
              <a:rPr b="1" lang="en-IN" sz="2400" strike="noStrike" u="none">
                <a:solidFill>
                  <a:srgbClr val="ffffff"/>
                </a:solidFill>
                <a:effectLst/>
                <a:uFillTx/>
                <a:latin typeface="Arial Narrow"/>
              </a:rPr>
              <a:t>b. Include entire chronology in subfield $i and</a:t>
            </a:r>
            <a:endParaRPr b="0" lang="en-IN" sz="2400" strike="noStrike" u="none">
              <a:solidFill>
                <a:srgbClr val="ffffff"/>
              </a:solidFill>
              <a:effectLst/>
              <a:uFillTx/>
              <a:latin typeface="Arial Narrow"/>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Arial Narrow"/>
              </a:rPr>
              <a:t>	</a:t>
            </a:r>
            <a:r>
              <a:rPr b="1" lang="en-IN" sz="2400" strike="noStrike" u="none">
                <a:solidFill>
                  <a:srgbClr val="ffffff"/>
                </a:solidFill>
                <a:effectLst/>
                <a:uFillTx/>
                <a:latin typeface="Arial Narrow"/>
              </a:rPr>
              <a:t>    use natural language chronology:</a:t>
            </a:r>
            <a:endParaRPr b="0" lang="en-IN" sz="2400" strike="noStrike" u="none">
              <a:solidFill>
                <a:srgbClr val="ffffff"/>
              </a:solidFill>
              <a:effectLst/>
              <a:uFillTx/>
              <a:latin typeface="Arial Narrow"/>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Arial Narrow"/>
              </a:rPr>
              <a:t>	</a:t>
            </a:r>
            <a:r>
              <a:rPr b="1" lang="en-IN" sz="2400" strike="noStrike" u="none">
                <a:solidFill>
                  <a:srgbClr val="ffffff"/>
                </a:solidFill>
                <a:effectLst/>
                <a:uFillTx/>
                <a:latin typeface="Arial Narrow"/>
              </a:rPr>
              <a:t>	</a:t>
            </a:r>
            <a:r>
              <a:rPr b="1" lang="en-IN" sz="2400" strike="noStrike" u="none">
                <a:solidFill>
                  <a:srgbClr val="ffffff"/>
                </a:solidFill>
                <a:effectLst/>
                <a:uFillTx/>
                <a:latin typeface="Arial Narrow"/>
              </a:rPr>
              <a:t>$i 2001:Nov./2002:Jan.</a:t>
            </a:r>
            <a:r>
              <a:rPr b="1" lang="en-IN" sz="2400" strike="noStrike" u="none">
                <a:solidFill>
                  <a:srgbClr val="ffffff"/>
                </a:solidFill>
                <a:effectLst/>
                <a:uFillTx/>
                <a:latin typeface="Arial Narrow"/>
              </a:rPr>
              <a:t>	</a:t>
            </a:r>
            <a:r>
              <a:rPr b="1" lang="en-IN" sz="2400" strike="noStrike" u="none">
                <a:solidFill>
                  <a:srgbClr val="ffffff"/>
                </a:solidFill>
                <a:effectLst/>
                <a:uFillTx/>
                <a:latin typeface="Arial Narrow"/>
              </a:rPr>
              <a:t>	</a:t>
            </a:r>
            <a:endParaRPr b="0" lang="en-IN" sz="2400" strike="noStrike" u="none">
              <a:solidFill>
                <a:srgbClr val="ffffff"/>
              </a:solidFill>
              <a:effectLst/>
              <a:uFillTx/>
              <a:latin typeface="Arial Narrow"/>
            </a:endParaRPr>
          </a:p>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Arial Narrow"/>
            </a:endParaRPr>
          </a:p>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Arial Narrow"/>
            </a:endParaRPr>
          </a:p>
        </p:txBody>
      </p:sp>
      <p:sp>
        <p:nvSpPr>
          <p:cNvPr id="3" name="PlaceHolder 2"/>
          <p:cNvSpPr>
            <a:spLocks noGrp="1"/>
          </p:cNvSpPr>
          <p:nvPr>
            <p:ph type="sldNum" idx="3"/>
          </p:nvPr>
        </p:nvSpPr>
        <p:spPr/>
        <p:txBody>
          <a:bodyPr/>
          <a:p>
            <a:fld id="{51DF0FDE-995E-448A-96C3-555DA091A2FA}" type="slidenum">
              <a:t>37</a:t>
            </a:fld>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234" name="Footer Placeholder 3"/>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235" name="Slide Number Placeholder 4"/>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2847CA3-9825-41FA-BFEE-40E448D7174C}"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236"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Answers—Exercise 2</a:t>
            </a:r>
            <a:endParaRPr b="0" lang="en-IN" sz="4400" strike="noStrike" u="none">
              <a:solidFill>
                <a:srgbClr val="ffff66"/>
              </a:solidFill>
              <a:effectLst/>
              <a:uFillTx/>
              <a:latin typeface="Tahoma"/>
            </a:endParaRPr>
          </a:p>
        </p:txBody>
      </p:sp>
      <p:sp>
        <p:nvSpPr>
          <p:cNvPr id="237" name="Text Box 3"/>
          <p:cNvSpPr/>
          <p:nvPr/>
        </p:nvSpPr>
        <p:spPr>
          <a:xfrm>
            <a:off x="457200" y="1371600"/>
            <a:ext cx="8381880" cy="3883680"/>
          </a:xfrm>
          <a:prstGeom prst="rect">
            <a:avLst/>
          </a:prstGeom>
          <a:noFill/>
          <a:ln w="0">
            <a:noFill/>
          </a:ln>
        </p:spPr>
        <p:style>
          <a:lnRef idx="0"/>
          <a:fillRef idx="0"/>
          <a:effectRef idx="0"/>
          <a:fontRef idx="minor"/>
        </p:style>
        <p:txBody>
          <a:bodyPr lIns="90000" rIns="90000" tIns="46800" bIns="46800" anchor="t">
            <a:spAutoFit/>
          </a:bodyPr>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Arial Narrow"/>
              </a:rPr>
              <a:t>86</a:t>
            </a:r>
            <a:r>
              <a:rPr b="1" lang="en-IN" sz="3200" strike="noStrike" u="none">
                <a:solidFill>
                  <a:srgbClr val="ffffff"/>
                </a:solidFill>
                <a:effectLst/>
                <a:uFillTx/>
                <a:latin typeface="Arial Narrow"/>
              </a:rPr>
              <a:t>3</a:t>
            </a:r>
            <a:r>
              <a:rPr b="0" lang="en-IN" sz="3200" strike="noStrike" u="none">
                <a:solidFill>
                  <a:srgbClr val="ffffff"/>
                </a:solidFill>
                <a:effectLst/>
                <a:uFillTx/>
                <a:latin typeface="Arial Narrow"/>
              </a:rPr>
              <a:t> 4</a:t>
            </a:r>
            <a:r>
              <a:rPr b="1" lang="en-IN" sz="3200" strike="noStrike" u="none">
                <a:solidFill>
                  <a:srgbClr val="ffffff"/>
                </a:solidFill>
                <a:effectLst/>
                <a:uFillTx/>
                <a:latin typeface="Arial Narrow"/>
              </a:rPr>
              <a:t>1</a:t>
            </a:r>
            <a:r>
              <a:rPr b="0" lang="en-IN" sz="3200" strike="noStrike" u="none">
                <a:solidFill>
                  <a:srgbClr val="ffffff"/>
                </a:solidFill>
                <a:effectLst/>
                <a:uFillTx/>
                <a:latin typeface="Arial Narrow"/>
              </a:rPr>
              <a:t>	</a:t>
            </a:r>
            <a:r>
              <a:rPr b="1" lang="en-IN" sz="3200" strike="noStrike" u="none">
                <a:solidFill>
                  <a:srgbClr val="ffffff"/>
                </a:solidFill>
                <a:effectLst/>
                <a:uFillTx/>
                <a:latin typeface="Arial Narrow"/>
              </a:rPr>
              <a:t>$8 1.1 $a 1 $b 1 $i 2002 $j 23</a:t>
            </a:r>
            <a:endParaRPr b="0" lang="en-IN" sz="3200" strike="noStrike" u="none">
              <a:solidFill>
                <a:srgbClr val="ffffff"/>
              </a:solidFill>
              <a:effectLst/>
              <a:uFillTx/>
              <a:latin typeface="Arial Narrow"/>
            </a:endParaRPr>
          </a:p>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Arial Narrow"/>
              </a:rPr>
              <a:t>86</a:t>
            </a:r>
            <a:r>
              <a:rPr b="1" lang="en-IN" sz="3200" strike="noStrike" u="none">
                <a:solidFill>
                  <a:srgbClr val="ffffff"/>
                </a:solidFill>
                <a:effectLst/>
                <a:uFillTx/>
                <a:latin typeface="Arial Narrow"/>
              </a:rPr>
              <a:t>3</a:t>
            </a:r>
            <a:r>
              <a:rPr b="0" lang="en-IN" sz="3200" strike="noStrike" u="none">
                <a:solidFill>
                  <a:srgbClr val="ffffff"/>
                </a:solidFill>
                <a:effectLst/>
                <a:uFillTx/>
                <a:latin typeface="Arial Narrow"/>
              </a:rPr>
              <a:t> 4</a:t>
            </a:r>
            <a:r>
              <a:rPr b="1" lang="en-IN" sz="3200" strike="noStrike" u="none">
                <a:solidFill>
                  <a:srgbClr val="ffffff"/>
                </a:solidFill>
                <a:effectLst/>
                <a:uFillTx/>
                <a:latin typeface="Arial Narrow"/>
              </a:rPr>
              <a:t>1</a:t>
            </a:r>
            <a:r>
              <a:rPr b="0" lang="en-IN" sz="3200" strike="noStrike" u="none">
                <a:solidFill>
                  <a:srgbClr val="ffffff"/>
                </a:solidFill>
                <a:effectLst/>
                <a:uFillTx/>
                <a:latin typeface="Arial Narrow"/>
              </a:rPr>
              <a:t>	</a:t>
            </a:r>
            <a:r>
              <a:rPr b="1" lang="en-IN" sz="3200" strike="noStrike" u="none">
                <a:solidFill>
                  <a:srgbClr val="ffffff"/>
                </a:solidFill>
                <a:effectLst/>
                <a:uFillTx/>
                <a:latin typeface="Arial Narrow"/>
              </a:rPr>
              <a:t>$8 1.2 $a 1 $b 2 $i 2002 $j 24</a:t>
            </a:r>
            <a:endParaRPr b="0" lang="en-IN" sz="3200" strike="noStrike" u="none">
              <a:solidFill>
                <a:srgbClr val="ffffff"/>
              </a:solidFill>
              <a:effectLst/>
              <a:uFillTx/>
              <a:latin typeface="Arial Narrow"/>
            </a:endParaRPr>
          </a:p>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Arial Narrow"/>
              </a:rPr>
              <a:t>86</a:t>
            </a:r>
            <a:r>
              <a:rPr b="1" lang="en-IN" sz="3200" strike="noStrike" u="none">
                <a:solidFill>
                  <a:srgbClr val="ffffff"/>
                </a:solidFill>
                <a:effectLst/>
                <a:uFillTx/>
                <a:latin typeface="Arial Narrow"/>
              </a:rPr>
              <a:t>3</a:t>
            </a:r>
            <a:r>
              <a:rPr b="0" lang="en-IN" sz="3200" strike="noStrike" u="none">
                <a:solidFill>
                  <a:srgbClr val="ffffff"/>
                </a:solidFill>
                <a:effectLst/>
                <a:uFillTx/>
                <a:latin typeface="Arial Narrow"/>
              </a:rPr>
              <a:t> 4</a:t>
            </a:r>
            <a:r>
              <a:rPr b="1" lang="en-IN" sz="3200" strike="noStrike" u="none">
                <a:solidFill>
                  <a:srgbClr val="ffffff"/>
                </a:solidFill>
                <a:effectLst/>
                <a:uFillTx/>
                <a:latin typeface="Arial Narrow"/>
              </a:rPr>
              <a:t>1</a:t>
            </a:r>
            <a:r>
              <a:rPr b="0" lang="en-IN" sz="3200" strike="noStrike" u="none">
                <a:solidFill>
                  <a:srgbClr val="ffffff"/>
                </a:solidFill>
                <a:effectLst/>
                <a:uFillTx/>
                <a:latin typeface="Arial Narrow"/>
              </a:rPr>
              <a:t> </a:t>
            </a:r>
            <a:r>
              <a:rPr b="0" lang="en-IN" sz="3200" strike="noStrike" u="none">
                <a:solidFill>
                  <a:srgbClr val="ffffff"/>
                </a:solidFill>
                <a:effectLst/>
                <a:uFillTx/>
                <a:latin typeface="Arial Narrow"/>
              </a:rPr>
              <a:t>	</a:t>
            </a:r>
            <a:r>
              <a:rPr b="1" lang="en-IN" sz="3200" strike="noStrike" u="none">
                <a:solidFill>
                  <a:srgbClr val="ffffff"/>
                </a:solidFill>
                <a:effectLst/>
                <a:uFillTx/>
                <a:latin typeface="Arial Narrow"/>
              </a:rPr>
              <a:t>$8 1.3 $a 1 $b 3 $i 2003 $j 21</a:t>
            </a:r>
            <a:endParaRPr b="0" lang="en-IN" sz="3200" strike="noStrike" u="none">
              <a:solidFill>
                <a:srgbClr val="ffffff"/>
              </a:solidFill>
              <a:effectLst/>
              <a:uFillTx/>
              <a:latin typeface="Arial Narrow"/>
            </a:endParaRPr>
          </a:p>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Arial Narrow"/>
              </a:rPr>
              <a:t>86</a:t>
            </a:r>
            <a:r>
              <a:rPr b="1" lang="en-IN" sz="3200" strike="noStrike" u="none">
                <a:solidFill>
                  <a:srgbClr val="ffffff"/>
                </a:solidFill>
                <a:effectLst/>
                <a:uFillTx/>
                <a:latin typeface="Arial Narrow"/>
              </a:rPr>
              <a:t>5</a:t>
            </a:r>
            <a:r>
              <a:rPr b="0" lang="en-IN" sz="3200" strike="noStrike" u="none">
                <a:solidFill>
                  <a:srgbClr val="ffffff"/>
                </a:solidFill>
                <a:effectLst/>
                <a:uFillTx/>
                <a:latin typeface="Arial Narrow"/>
              </a:rPr>
              <a:t> 4</a:t>
            </a:r>
            <a:r>
              <a:rPr b="1" lang="en-IN" sz="3200" strike="noStrike" u="none">
                <a:solidFill>
                  <a:srgbClr val="ffffff"/>
                </a:solidFill>
                <a:effectLst/>
                <a:uFillTx/>
                <a:latin typeface="Arial Narrow"/>
              </a:rPr>
              <a:t>1</a:t>
            </a:r>
            <a:r>
              <a:rPr b="0" lang="en-IN" sz="3200" strike="noStrike" u="none">
                <a:solidFill>
                  <a:srgbClr val="ffffff"/>
                </a:solidFill>
                <a:effectLst/>
                <a:uFillTx/>
                <a:latin typeface="Arial Narrow"/>
              </a:rPr>
              <a:t>	</a:t>
            </a:r>
            <a:r>
              <a:rPr b="1" lang="en-IN" sz="3200" strike="noStrike" u="none">
                <a:solidFill>
                  <a:srgbClr val="ffffff"/>
                </a:solidFill>
                <a:effectLst/>
                <a:uFillTx/>
                <a:latin typeface="Arial Narrow"/>
              </a:rPr>
              <a:t>$8 1.1 $a 2002/2003</a:t>
            </a:r>
            <a:endParaRPr b="0" lang="en-IN" sz="3200" strike="noStrike" u="none">
              <a:solidFill>
                <a:srgbClr val="ffffff"/>
              </a:solidFill>
              <a:effectLst/>
              <a:uFillTx/>
              <a:latin typeface="Arial Narrow"/>
            </a:endParaRPr>
          </a:p>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Arial Narrow"/>
              </a:rPr>
              <a:t>[Note that the link and even sequence number can be reused for base volumes, supplements, and indexes.]</a:t>
            </a:r>
            <a:endParaRPr b="0" lang="en-IN" sz="2800" strike="noStrike" u="none">
              <a:solidFill>
                <a:srgbClr val="ffffff"/>
              </a:solidFill>
              <a:effectLst/>
              <a:uFillTx/>
              <a:latin typeface="Arial Narrow"/>
            </a:endParaRPr>
          </a:p>
        </p:txBody>
      </p:sp>
      <p:sp>
        <p:nvSpPr>
          <p:cNvPr id="3" name="PlaceHolder 2"/>
          <p:cNvSpPr>
            <a:spLocks noGrp="1"/>
          </p:cNvSpPr>
          <p:nvPr>
            <p:ph type="sldNum" idx="3"/>
          </p:nvPr>
        </p:nvSpPr>
        <p:spPr/>
        <p:txBody>
          <a:bodyPr/>
          <a:p>
            <a:fld id="{D5E34B4C-6B74-49FD-97AF-243CC6EEFD2E}" type="slidenum">
              <a:t>38</a:t>
            </a:fld>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238" name="Footer Placeholder 3"/>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239" name="Slide Number Placeholder 4"/>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ABC8269-8995-481F-9D08-FB3D60BB2F09}"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240"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Answers—Exercise 3</a:t>
            </a:r>
            <a:endParaRPr b="0" lang="en-IN" sz="4400" strike="noStrike" u="none">
              <a:solidFill>
                <a:srgbClr val="ffff66"/>
              </a:solidFill>
              <a:effectLst/>
              <a:uFillTx/>
              <a:latin typeface="Tahoma"/>
            </a:endParaRPr>
          </a:p>
        </p:txBody>
      </p:sp>
      <p:sp>
        <p:nvSpPr>
          <p:cNvPr id="241" name="Text Box 3"/>
          <p:cNvSpPr/>
          <p:nvPr/>
        </p:nvSpPr>
        <p:spPr>
          <a:xfrm>
            <a:off x="457200" y="1752480"/>
            <a:ext cx="8305920" cy="581760"/>
          </a:xfrm>
          <a:prstGeom prst="rect">
            <a:avLst/>
          </a:prstGeom>
          <a:noFill/>
          <a:ln w="0">
            <a:noFill/>
          </a:ln>
        </p:spPr>
        <p:style>
          <a:lnRef idx="0"/>
          <a:fillRef idx="0"/>
          <a:effectRef idx="0"/>
          <a:fontRef idx="minor"/>
        </p:style>
        <p:txBody>
          <a:bodyPr lIns="90000" rIns="90000" tIns="46800" bIns="46800" anchor="t">
            <a:spAutoFit/>
          </a:bodyPr>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Arial Narrow"/>
              </a:rPr>
              <a:t>86</a:t>
            </a:r>
            <a:r>
              <a:rPr b="1" lang="en-IN" sz="3200" strike="noStrike" u="none">
                <a:solidFill>
                  <a:srgbClr val="ffffff"/>
                </a:solidFill>
                <a:effectLst/>
                <a:uFillTx/>
                <a:latin typeface="Arial Narrow"/>
              </a:rPr>
              <a:t>3</a:t>
            </a:r>
            <a:r>
              <a:rPr b="0" lang="en-IN" sz="3200" strike="noStrike" u="none">
                <a:solidFill>
                  <a:srgbClr val="ffffff"/>
                </a:solidFill>
                <a:effectLst/>
                <a:uFillTx/>
                <a:latin typeface="Arial Narrow"/>
              </a:rPr>
              <a:t> 4</a:t>
            </a:r>
            <a:r>
              <a:rPr b="1" lang="en-IN" sz="3200" strike="noStrike" u="none">
                <a:solidFill>
                  <a:srgbClr val="ffffff"/>
                </a:solidFill>
                <a:effectLst/>
                <a:uFillTx/>
                <a:latin typeface="Arial Narrow"/>
              </a:rPr>
              <a:t>0</a:t>
            </a:r>
            <a:r>
              <a:rPr b="0" lang="en-IN" sz="3200" strike="noStrike" u="none">
                <a:solidFill>
                  <a:srgbClr val="ffffff"/>
                </a:solidFill>
                <a:effectLst/>
                <a:uFillTx/>
                <a:latin typeface="Arial Narrow"/>
              </a:rPr>
              <a:t> </a:t>
            </a:r>
            <a:r>
              <a:rPr b="1" lang="en-IN" sz="3200" strike="noStrike" u="none">
                <a:solidFill>
                  <a:srgbClr val="ffffff"/>
                </a:solidFill>
                <a:effectLst/>
                <a:uFillTx/>
                <a:latin typeface="Arial Narrow"/>
              </a:rPr>
              <a:t>$8 1.1 $a 4 $b 1-3 $i 2002 $j 01-03</a:t>
            </a:r>
            <a:endParaRPr b="0" lang="en-IN" sz="3200" strike="noStrike" u="none">
              <a:solidFill>
                <a:srgbClr val="ffffff"/>
              </a:solidFill>
              <a:effectLst/>
              <a:uFillTx/>
              <a:latin typeface="Arial Narrow"/>
            </a:endParaRPr>
          </a:p>
        </p:txBody>
      </p:sp>
      <p:sp>
        <p:nvSpPr>
          <p:cNvPr id="242" name="Text Box 4"/>
          <p:cNvSpPr/>
          <p:nvPr/>
        </p:nvSpPr>
        <p:spPr>
          <a:xfrm>
            <a:off x="533520" y="3048120"/>
            <a:ext cx="8076960" cy="520920"/>
          </a:xfrm>
          <a:prstGeom prst="rect">
            <a:avLst/>
          </a:prstGeom>
          <a:noFill/>
          <a:ln w="0">
            <a:noFill/>
          </a:ln>
        </p:spPr>
        <p:style>
          <a:lnRef idx="0"/>
          <a:fillRef idx="0"/>
          <a:effectRef idx="0"/>
          <a:fontRef idx="minor"/>
        </p:style>
        <p:txBody>
          <a:bodyPr lIns="90000" rIns="90000" tIns="46800" bIns="4680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Arial Narrow"/>
              </a:rPr>
              <a:t>Display:  ser.3:v.4:release 1(2002:Jan.)-4:3(2002:Mar.)</a:t>
            </a:r>
            <a:endParaRPr b="0" lang="en-IN" sz="2800" strike="noStrike" u="none">
              <a:solidFill>
                <a:srgbClr val="ffffff"/>
              </a:solidFill>
              <a:effectLst/>
              <a:uFillTx/>
              <a:latin typeface="Arial Narrow"/>
            </a:endParaRPr>
          </a:p>
        </p:txBody>
      </p:sp>
      <p:sp>
        <p:nvSpPr>
          <p:cNvPr id="3" name="PlaceHolder 2"/>
          <p:cNvSpPr>
            <a:spLocks noGrp="1"/>
          </p:cNvSpPr>
          <p:nvPr>
            <p:ph type="sldNum" idx="3"/>
          </p:nvPr>
        </p:nvSpPr>
        <p:spPr/>
        <p:txBody>
          <a:bodyPr/>
          <a:p>
            <a:fld id="{C65DBB67-5C17-4EA6-A010-62895D736995}" type="slidenum">
              <a:t>39</a:t>
            </a:fld>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243" name="Footer Placeholder 3"/>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244" name="Slide Number Placeholder 4"/>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93F9968-0187-4952-841D-12BE57128CAA}"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245"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Answers—Exercise 4</a:t>
            </a:r>
            <a:endParaRPr b="0" lang="en-IN" sz="4400" strike="noStrike" u="none">
              <a:solidFill>
                <a:srgbClr val="ffff66"/>
              </a:solidFill>
              <a:effectLst/>
              <a:uFillTx/>
              <a:latin typeface="Tahoma"/>
            </a:endParaRPr>
          </a:p>
        </p:txBody>
      </p:sp>
      <p:sp>
        <p:nvSpPr>
          <p:cNvPr id="246" name="Text Box 3"/>
          <p:cNvSpPr/>
          <p:nvPr/>
        </p:nvSpPr>
        <p:spPr>
          <a:xfrm>
            <a:off x="304920" y="1295280"/>
            <a:ext cx="8839080" cy="4291560"/>
          </a:xfrm>
          <a:prstGeom prst="rect">
            <a:avLst/>
          </a:prstGeom>
          <a:noFill/>
          <a:ln w="0">
            <a:noFill/>
          </a:ln>
        </p:spPr>
        <p:style>
          <a:lnRef idx="0"/>
          <a:fillRef idx="0"/>
          <a:effectRef idx="0"/>
          <a:fontRef idx="minor"/>
        </p:style>
        <p:txBody>
          <a:bodyPr lIns="90000" rIns="90000" tIns="46800" bIns="46800" anchor="t">
            <a:spAutoFit/>
          </a:bodyPr>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Arial Narrow"/>
              </a:rPr>
              <a:t>86</a:t>
            </a:r>
            <a:r>
              <a:rPr b="1" lang="en-IN" sz="3200" strike="noStrike" u="none">
                <a:solidFill>
                  <a:srgbClr val="ffffff"/>
                </a:solidFill>
                <a:effectLst/>
                <a:uFillTx/>
                <a:latin typeface="Arial Narrow"/>
              </a:rPr>
              <a:t>3</a:t>
            </a:r>
            <a:r>
              <a:rPr b="0" lang="en-IN" sz="3200" strike="noStrike" u="none">
                <a:solidFill>
                  <a:srgbClr val="ffffff"/>
                </a:solidFill>
                <a:effectLst/>
                <a:uFillTx/>
                <a:latin typeface="Arial Narrow"/>
              </a:rPr>
              <a:t> 4</a:t>
            </a:r>
            <a:r>
              <a:rPr b="1" lang="en-IN" sz="3200" strike="noStrike" u="none">
                <a:solidFill>
                  <a:srgbClr val="ffffff"/>
                </a:solidFill>
                <a:effectLst/>
                <a:uFillTx/>
                <a:latin typeface="Arial Narrow"/>
              </a:rPr>
              <a:t>0</a:t>
            </a:r>
            <a:r>
              <a:rPr b="0" lang="en-IN" sz="3200" strike="noStrike" u="none">
                <a:solidFill>
                  <a:srgbClr val="ffffff"/>
                </a:solidFill>
                <a:effectLst/>
                <a:uFillTx/>
                <a:latin typeface="Arial Narrow"/>
              </a:rPr>
              <a:t>	</a:t>
            </a:r>
            <a:r>
              <a:rPr b="1" lang="en-IN" sz="3200" strike="noStrike" u="none">
                <a:solidFill>
                  <a:srgbClr val="ffffff"/>
                </a:solidFill>
                <a:effectLst/>
                <a:uFillTx/>
                <a:latin typeface="Arial Narrow"/>
              </a:rPr>
              <a:t>$8 1.1 $a 10 $i 2000/2001</a:t>
            </a:r>
            <a:endParaRPr b="0" lang="en-IN" sz="3200" strike="noStrike" u="none">
              <a:solidFill>
                <a:srgbClr val="ffffff"/>
              </a:solidFill>
              <a:effectLst/>
              <a:uFillTx/>
              <a:latin typeface="Arial Narrow"/>
            </a:endParaRPr>
          </a:p>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Arial Narrow"/>
              </a:rPr>
              <a:t>863 41</a:t>
            </a:r>
            <a:r>
              <a:rPr b="0" lang="en-IN" sz="3200" strike="noStrike" u="none">
                <a:solidFill>
                  <a:srgbClr val="ffffff"/>
                </a:solidFill>
                <a:effectLst/>
                <a:uFillTx/>
                <a:latin typeface="Arial Narrow"/>
              </a:rPr>
              <a:t>	</a:t>
            </a:r>
            <a:r>
              <a:rPr b="0" lang="en-IN" sz="3200" strike="noStrike" u="none">
                <a:solidFill>
                  <a:srgbClr val="ffffff"/>
                </a:solidFill>
                <a:effectLst/>
                <a:uFillTx/>
                <a:latin typeface="Arial Narrow"/>
              </a:rPr>
              <a:t>$8 1.2 $a 11 $b 1 $i 2001 $j 09</a:t>
            </a:r>
            <a:endParaRPr b="0" lang="en-IN" sz="3200" strike="noStrike" u="none">
              <a:solidFill>
                <a:srgbClr val="ffffff"/>
              </a:solidFill>
              <a:effectLst/>
              <a:uFillTx/>
              <a:latin typeface="Arial Narrow"/>
            </a:endParaRPr>
          </a:p>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Arial Narrow"/>
            </a:endParaRPr>
          </a:p>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Arial Narrow"/>
              </a:rPr>
              <a:t>Display:  v. 10(2000/2001)</a:t>
            </a:r>
            <a:endParaRPr b="0" lang="en-IN" sz="3200" strike="noStrike" u="none">
              <a:solidFill>
                <a:srgbClr val="ffffff"/>
              </a:solidFill>
              <a:effectLst/>
              <a:uFillTx/>
              <a:latin typeface="Arial Narrow"/>
            </a:endParaRPr>
          </a:p>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Arial Narrow"/>
              </a:rPr>
              <a:t>	</a:t>
            </a:r>
            <a:r>
              <a:rPr b="0" lang="en-IN" sz="3200" strike="noStrike" u="none">
                <a:solidFill>
                  <a:srgbClr val="ffffff"/>
                </a:solidFill>
                <a:effectLst/>
                <a:uFillTx/>
                <a:latin typeface="Arial Narrow"/>
              </a:rPr>
              <a:t>     v. 11:1</a:t>
            </a:r>
            <a:r>
              <a:rPr b="0" lang="en-IN" sz="3200" strike="noStrike" u="none" baseline="30000">
                <a:solidFill>
                  <a:srgbClr val="ffffff"/>
                </a:solidFill>
                <a:effectLst/>
                <a:uFillTx/>
                <a:latin typeface="Arial Narrow"/>
              </a:rPr>
              <a:t>st</a:t>
            </a:r>
            <a:r>
              <a:rPr b="0" lang="en-IN" sz="3200" strike="noStrike" u="none">
                <a:solidFill>
                  <a:srgbClr val="ffffff"/>
                </a:solidFill>
                <a:effectLst/>
                <a:uFillTx/>
                <a:latin typeface="Arial Narrow"/>
              </a:rPr>
              <a:t> semester(2001:Sept.)</a:t>
            </a:r>
            <a:endParaRPr b="0" lang="en-IN" sz="3200" strike="noStrike" u="none">
              <a:solidFill>
                <a:srgbClr val="ffffff"/>
              </a:solidFill>
              <a:effectLst/>
              <a:uFillTx/>
              <a:latin typeface="Arial Narrow"/>
            </a:endParaRPr>
          </a:p>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Arial Narrow"/>
            </a:endParaRPr>
          </a:p>
        </p:txBody>
      </p:sp>
      <p:sp>
        <p:nvSpPr>
          <p:cNvPr id="3" name="PlaceHolder 2"/>
          <p:cNvSpPr>
            <a:spLocks noGrp="1"/>
          </p:cNvSpPr>
          <p:nvPr>
            <p:ph type="sldNum" idx="3"/>
          </p:nvPr>
        </p:nvSpPr>
        <p:spPr/>
        <p:txBody>
          <a:bodyPr/>
          <a:p>
            <a:fld id="{A7C93F92-CC73-4891-BC58-66693F93683A}" type="slidenum">
              <a:t>40</a:t>
            </a:fld>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247" name="Footer Placeholder 3"/>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248" name="Slide Number Placeholder 4"/>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8138247-59BA-4E12-9EA5-1CCAC247B045}"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249"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Answers—Exercise 5</a:t>
            </a:r>
            <a:endParaRPr b="0" lang="en-IN" sz="4400" strike="noStrike" u="none">
              <a:solidFill>
                <a:srgbClr val="ffff66"/>
              </a:solidFill>
              <a:effectLst/>
              <a:uFillTx/>
              <a:latin typeface="Tahoma"/>
            </a:endParaRPr>
          </a:p>
        </p:txBody>
      </p:sp>
      <p:sp>
        <p:nvSpPr>
          <p:cNvPr id="250" name="Text Box 3"/>
          <p:cNvSpPr/>
          <p:nvPr/>
        </p:nvSpPr>
        <p:spPr>
          <a:xfrm>
            <a:off x="838080" y="1219320"/>
            <a:ext cx="7925040" cy="5033520"/>
          </a:xfrm>
          <a:prstGeom prst="rect">
            <a:avLst/>
          </a:prstGeom>
          <a:noFill/>
          <a:ln w="0">
            <a:noFill/>
          </a:ln>
        </p:spPr>
        <p:style>
          <a:lnRef idx="0"/>
          <a:fillRef idx="0"/>
          <a:effectRef idx="0"/>
          <a:fontRef idx="minor"/>
        </p:style>
        <p:txBody>
          <a:bodyPr lIns="90000" rIns="90000" tIns="46800" bIns="46800" anchor="t">
            <a:spAutoFit/>
          </a:bodyPr>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Arial Narrow"/>
              </a:rPr>
              <a:t>86</a:t>
            </a:r>
            <a:r>
              <a:rPr b="1" lang="en-IN" sz="3200" strike="noStrike" u="none">
                <a:solidFill>
                  <a:srgbClr val="ffffff"/>
                </a:solidFill>
                <a:effectLst/>
                <a:uFillTx/>
                <a:latin typeface="Arial Narrow"/>
              </a:rPr>
              <a:t>3</a:t>
            </a:r>
            <a:r>
              <a:rPr b="0" lang="en-IN" sz="3200" strike="noStrike" u="none">
                <a:solidFill>
                  <a:srgbClr val="ffffff"/>
                </a:solidFill>
                <a:effectLst/>
                <a:uFillTx/>
                <a:latin typeface="Arial Narrow"/>
              </a:rPr>
              <a:t> 4</a:t>
            </a:r>
            <a:r>
              <a:rPr b="1" lang="en-IN" sz="3200" strike="noStrike" u="none">
                <a:solidFill>
                  <a:srgbClr val="ffffff"/>
                </a:solidFill>
                <a:effectLst/>
                <a:uFillTx/>
                <a:latin typeface="Arial Narrow"/>
              </a:rPr>
              <a:t>3</a:t>
            </a:r>
            <a:r>
              <a:rPr b="0" lang="en-IN" sz="3200" strike="noStrike" u="none">
                <a:solidFill>
                  <a:srgbClr val="ffffff"/>
                </a:solidFill>
                <a:effectLst/>
                <a:uFillTx/>
                <a:latin typeface="Arial Narrow"/>
              </a:rPr>
              <a:t>	</a:t>
            </a:r>
            <a:r>
              <a:rPr b="0" lang="en-IN" sz="3200" strike="noStrike" u="none">
                <a:solidFill>
                  <a:srgbClr val="ffffff"/>
                </a:solidFill>
                <a:effectLst/>
                <a:uFillTx/>
                <a:latin typeface="Arial Narrow"/>
              </a:rPr>
              <a:t>$8 </a:t>
            </a:r>
            <a:r>
              <a:rPr b="1" lang="en-IN" sz="3200" strike="noStrike" u="none">
                <a:solidFill>
                  <a:srgbClr val="ffffff"/>
                </a:solidFill>
                <a:effectLst/>
                <a:uFillTx/>
                <a:latin typeface="Arial Narrow"/>
              </a:rPr>
              <a:t>1.1 $a 20 $i 2000</a:t>
            </a:r>
            <a:endParaRPr b="0" lang="en-IN" sz="3200" strike="noStrike" u="none">
              <a:solidFill>
                <a:srgbClr val="ffffff"/>
              </a:solidFill>
              <a:effectLst/>
              <a:uFillTx/>
              <a:latin typeface="Arial Narrow"/>
            </a:endParaRPr>
          </a:p>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Arial Narrow"/>
              </a:rPr>
              <a:t>86</a:t>
            </a:r>
            <a:r>
              <a:rPr b="1" lang="en-IN" sz="3200" strike="noStrike" u="none">
                <a:solidFill>
                  <a:srgbClr val="ffffff"/>
                </a:solidFill>
                <a:effectLst/>
                <a:uFillTx/>
                <a:latin typeface="Arial Narrow"/>
              </a:rPr>
              <a:t>3</a:t>
            </a:r>
            <a:r>
              <a:rPr b="0" lang="en-IN" sz="3200" strike="noStrike" u="none">
                <a:solidFill>
                  <a:srgbClr val="ffffff"/>
                </a:solidFill>
                <a:effectLst/>
                <a:uFillTx/>
                <a:latin typeface="Arial Narrow"/>
              </a:rPr>
              <a:t> 4</a:t>
            </a:r>
            <a:r>
              <a:rPr b="1" lang="en-IN" sz="3200" strike="noStrike" u="none">
                <a:solidFill>
                  <a:srgbClr val="ffffff"/>
                </a:solidFill>
                <a:effectLst/>
                <a:uFillTx/>
                <a:latin typeface="Arial Narrow"/>
              </a:rPr>
              <a:t>3</a:t>
            </a:r>
            <a:r>
              <a:rPr b="0" lang="en-IN" sz="3200" strike="noStrike" u="none">
                <a:solidFill>
                  <a:srgbClr val="ffffff"/>
                </a:solidFill>
                <a:effectLst/>
                <a:uFillTx/>
                <a:latin typeface="Arial Narrow"/>
              </a:rPr>
              <a:t>	</a:t>
            </a:r>
            <a:r>
              <a:rPr b="0" lang="en-IN" sz="3200" strike="noStrike" u="none">
                <a:solidFill>
                  <a:srgbClr val="ffffff"/>
                </a:solidFill>
                <a:effectLst/>
                <a:uFillTx/>
                <a:latin typeface="Arial Narrow"/>
              </a:rPr>
              <a:t>$8 </a:t>
            </a:r>
            <a:r>
              <a:rPr b="1" lang="en-IN" sz="3200" strike="noStrike" u="none">
                <a:solidFill>
                  <a:srgbClr val="ffffff"/>
                </a:solidFill>
                <a:effectLst/>
                <a:uFillTx/>
                <a:latin typeface="Arial Narrow"/>
              </a:rPr>
              <a:t>1.2 $a 21 $i 2001</a:t>
            </a:r>
            <a:endParaRPr b="0" lang="en-IN" sz="3200" strike="noStrike" u="none">
              <a:solidFill>
                <a:srgbClr val="ffffff"/>
              </a:solidFill>
              <a:effectLst/>
              <a:uFillTx/>
              <a:latin typeface="Arial Narrow"/>
            </a:endParaRPr>
          </a:p>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Arial Narrow"/>
              </a:rPr>
              <a:t>86</a:t>
            </a:r>
            <a:r>
              <a:rPr b="1" lang="en-IN" sz="3200" strike="noStrike" u="none">
                <a:solidFill>
                  <a:srgbClr val="ffffff"/>
                </a:solidFill>
                <a:effectLst/>
                <a:uFillTx/>
                <a:latin typeface="Arial Narrow"/>
              </a:rPr>
              <a:t>3</a:t>
            </a:r>
            <a:r>
              <a:rPr b="0" lang="en-IN" sz="3200" strike="noStrike" u="none">
                <a:solidFill>
                  <a:srgbClr val="ffffff"/>
                </a:solidFill>
                <a:effectLst/>
                <a:uFillTx/>
                <a:latin typeface="Arial Narrow"/>
              </a:rPr>
              <a:t> 4</a:t>
            </a:r>
            <a:r>
              <a:rPr b="1" lang="en-IN" sz="3200" strike="noStrike" u="none">
                <a:solidFill>
                  <a:srgbClr val="ffffff"/>
                </a:solidFill>
                <a:effectLst/>
                <a:uFillTx/>
                <a:latin typeface="Arial Narrow"/>
              </a:rPr>
              <a:t>3</a:t>
            </a:r>
            <a:r>
              <a:rPr b="0" lang="en-IN" sz="3200" strike="noStrike" u="none">
                <a:solidFill>
                  <a:srgbClr val="ffffff"/>
                </a:solidFill>
                <a:effectLst/>
                <a:uFillTx/>
                <a:latin typeface="Arial Narrow"/>
              </a:rPr>
              <a:t>  </a:t>
            </a:r>
            <a:r>
              <a:rPr b="0" lang="en-IN" sz="3200" strike="noStrike" u="none">
                <a:solidFill>
                  <a:srgbClr val="ffffff"/>
                </a:solidFill>
                <a:effectLst/>
                <a:uFillTx/>
                <a:latin typeface="Arial Narrow"/>
              </a:rPr>
              <a:t>	</a:t>
            </a:r>
            <a:r>
              <a:rPr b="0" lang="en-IN" sz="3200" strike="noStrike" u="none">
                <a:solidFill>
                  <a:srgbClr val="ffffff"/>
                </a:solidFill>
                <a:effectLst/>
                <a:uFillTx/>
                <a:latin typeface="Arial Narrow"/>
              </a:rPr>
              <a:t>$8 </a:t>
            </a:r>
            <a:r>
              <a:rPr b="1" lang="en-IN" sz="3200" strike="noStrike" u="none">
                <a:solidFill>
                  <a:srgbClr val="ffffff"/>
                </a:solidFill>
                <a:effectLst/>
                <a:uFillTx/>
                <a:latin typeface="Arial Narrow"/>
              </a:rPr>
              <a:t>1.3 $a 22 $i 2002</a:t>
            </a:r>
            <a:endParaRPr b="0" lang="en-IN" sz="3200" strike="noStrike" u="none">
              <a:solidFill>
                <a:srgbClr val="ffffff"/>
              </a:solidFill>
              <a:effectLst/>
              <a:uFillTx/>
              <a:latin typeface="Arial Narrow"/>
            </a:endParaRPr>
          </a:p>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Arial Narrow"/>
              </a:rPr>
              <a:t>86</a:t>
            </a:r>
            <a:r>
              <a:rPr b="1" lang="en-IN" sz="3200" strike="noStrike" u="none">
                <a:solidFill>
                  <a:srgbClr val="ffffff"/>
                </a:solidFill>
                <a:effectLst/>
                <a:uFillTx/>
                <a:latin typeface="Arial Narrow"/>
              </a:rPr>
              <a:t>6</a:t>
            </a:r>
            <a:r>
              <a:rPr b="0" lang="en-IN" sz="3200" strike="noStrike" u="none">
                <a:solidFill>
                  <a:srgbClr val="ffffff"/>
                </a:solidFill>
                <a:effectLst/>
                <a:uFillTx/>
                <a:latin typeface="Arial Narrow"/>
              </a:rPr>
              <a:t> </a:t>
            </a:r>
            <a:r>
              <a:rPr b="1" lang="en-IN" sz="3200" strike="noStrike" u="none">
                <a:solidFill>
                  <a:srgbClr val="ffffff"/>
                </a:solidFill>
                <a:effectLst/>
                <a:uFillTx/>
                <a:latin typeface="Arial Narrow"/>
              </a:rPr>
              <a:t>41</a:t>
            </a:r>
            <a:r>
              <a:rPr b="0" lang="en-IN" sz="3200" strike="noStrike" u="none">
                <a:solidFill>
                  <a:srgbClr val="ffffff"/>
                </a:solidFill>
                <a:effectLst/>
                <a:uFillTx/>
                <a:latin typeface="Arial Narrow"/>
              </a:rPr>
              <a:t>	</a:t>
            </a:r>
            <a:r>
              <a:rPr b="0" lang="en-IN" sz="3200" strike="noStrike" u="none">
                <a:solidFill>
                  <a:srgbClr val="ffffff"/>
                </a:solidFill>
                <a:effectLst/>
                <a:uFillTx/>
                <a:latin typeface="Arial Narrow"/>
              </a:rPr>
              <a:t>$8 </a:t>
            </a:r>
            <a:r>
              <a:rPr b="1" lang="en-IN" sz="3200" strike="noStrike" u="none">
                <a:solidFill>
                  <a:srgbClr val="ffffff"/>
                </a:solidFill>
                <a:effectLst/>
                <a:uFillTx/>
                <a:latin typeface="Arial Narrow"/>
              </a:rPr>
              <a:t>1 $a 20-22(2000-2002)</a:t>
            </a:r>
            <a:endParaRPr b="0" lang="en-IN" sz="3200" strike="noStrike" u="none">
              <a:solidFill>
                <a:srgbClr val="ffffff"/>
              </a:solidFill>
              <a:effectLst/>
              <a:uFillTx/>
              <a:latin typeface="Arial Narrow"/>
            </a:endParaRPr>
          </a:p>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Arial Narrow"/>
            </a:endParaRPr>
          </a:p>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Arial Narrow"/>
              </a:rPr>
              <a:t>Display:  20-22(2000-2002)</a:t>
            </a:r>
            <a:endParaRPr b="0" lang="en-IN" sz="3200" strike="noStrike" u="none">
              <a:solidFill>
                <a:srgbClr val="ffffff"/>
              </a:solidFill>
              <a:effectLst/>
              <a:uFillTx/>
              <a:latin typeface="Arial Narrow"/>
            </a:endParaRPr>
          </a:p>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Arial Narrow"/>
              </a:rPr>
              <a:t>(could also be keyed in adjacent format)</a:t>
            </a:r>
            <a:endParaRPr b="0" lang="en-IN" sz="3200" strike="noStrike" u="none">
              <a:solidFill>
                <a:srgbClr val="ffffff"/>
              </a:solidFill>
              <a:effectLst/>
              <a:uFillTx/>
              <a:latin typeface="Arial Narrow"/>
            </a:endParaRPr>
          </a:p>
        </p:txBody>
      </p:sp>
      <p:sp>
        <p:nvSpPr>
          <p:cNvPr id="3" name="PlaceHolder 2"/>
          <p:cNvSpPr>
            <a:spLocks noGrp="1"/>
          </p:cNvSpPr>
          <p:nvPr>
            <p:ph type="sldNum" idx="3"/>
          </p:nvPr>
        </p:nvSpPr>
        <p:spPr/>
        <p:txBody>
          <a:bodyPr/>
          <a:p>
            <a:fld id="{6C94B5EE-CECF-4D35-A4D2-69D6B5A6AED7}" type="slidenum">
              <a:t>41</a:t>
            </a:fld>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666"/>
        </a:solidFill>
      </p:bgPr>
    </p:bg>
    <p:spTree>
      <p:nvGrpSpPr>
        <p:cNvPr id="1" name=""/>
        <p:cNvGrpSpPr/>
        <p:nvPr/>
      </p:nvGrpSpPr>
      <p:grpSpPr>
        <a:xfrm>
          <a:off x="0" y="0"/>
          <a:ext cx="0" cy="0"/>
          <a:chOff x="0" y="0"/>
          <a:chExt cx="0" cy="0"/>
        </a:xfrm>
      </p:grpSpPr>
      <p:sp>
        <p:nvSpPr>
          <p:cNvPr id="251" name="Footer Placeholder 3"/>
          <p:cNvSpPr/>
          <p:nvPr/>
        </p:nvSpPr>
        <p:spPr>
          <a:xfrm>
            <a:off x="4495680" y="6477120"/>
            <a:ext cx="4648320" cy="380880"/>
          </a:xfrm>
          <a:prstGeom prst="rect">
            <a:avLst/>
          </a:prstGeom>
          <a:noFill/>
          <a:ln w="0">
            <a:noFill/>
          </a:ln>
        </p:spPr>
        <p:style>
          <a:lnRef idx="0"/>
          <a:fillRef idx="0"/>
          <a:effectRef idx="0"/>
          <a:fontRef idx="minor"/>
        </p:style>
        <p:txBody>
          <a:bodyPr lIns="92160" rIns="92160" tIns="46080" bIns="4608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SCCTP Serial Holdings Workshop </a:t>
            </a:r>
            <a:endParaRPr b="0" lang="en-IN" sz="1400" strike="noStrike" u="none">
              <a:solidFill>
                <a:srgbClr val="ffffff"/>
              </a:solidFill>
              <a:effectLst/>
              <a:uFillTx/>
              <a:latin typeface="Arial Narrow"/>
            </a:endParaRPr>
          </a:p>
        </p:txBody>
      </p:sp>
      <p:sp>
        <p:nvSpPr>
          <p:cNvPr id="252" name="Slide Number Placeholder 4"/>
          <p:cNvSpPr/>
          <p:nvPr/>
        </p:nvSpPr>
        <p:spPr>
          <a:xfrm flipH="1">
            <a:off x="-720" y="6400800"/>
            <a:ext cx="762120" cy="457200"/>
          </a:xfrm>
          <a:prstGeom prst="rect">
            <a:avLst/>
          </a:prstGeom>
          <a:noFill/>
          <a:ln w="0">
            <a:noFill/>
          </a:ln>
        </p:spPr>
        <p:style>
          <a:lnRef idx="0"/>
          <a:fillRef idx="0"/>
          <a:effectRef idx="0"/>
          <a:fontRef idx="minor"/>
        </p:style>
        <p:txBody>
          <a:bodyPr lIns="92160" rIns="92160" tIns="46080" bIns="46080" anchor="t">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A58C165-B7B1-4041-98A8-7AA684EA7EBF}" type="slidenum">
              <a:rPr b="0" lang="en-IN" sz="1400" strike="noStrike" u="none">
                <a:solidFill>
                  <a:srgbClr val="000000"/>
                </a:solidFill>
                <a:effectLst/>
                <a:uFillTx/>
                <a:latin typeface="Times New Roman"/>
              </a:rPr>
              <a:t>&lt;number&gt;</a:t>
            </a:fld>
            <a:endParaRPr b="0" lang="en-IN" sz="1400" strike="noStrike" u="none">
              <a:solidFill>
                <a:srgbClr val="ffffff"/>
              </a:solidFill>
              <a:effectLst/>
              <a:uFillTx/>
              <a:latin typeface="Arial Narrow"/>
            </a:endParaRPr>
          </a:p>
        </p:txBody>
      </p:sp>
      <p:sp>
        <p:nvSpPr>
          <p:cNvPr id="253" name="PlaceHolder 1"/>
          <p:cNvSpPr>
            <a:spLocks noGrp="1"/>
          </p:cNvSpPr>
          <p:nvPr>
            <p:ph type="title"/>
          </p:nvPr>
        </p:nvSpPr>
        <p:spPr>
          <a:xfrm>
            <a:off x="0" y="0"/>
            <a:ext cx="9144000" cy="838080"/>
          </a:xfrm>
          <a:prstGeom prst="rect">
            <a:avLst/>
          </a:prstGeom>
          <a:solidFill>
            <a:srgbClr val="006666"/>
          </a:solid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66"/>
                </a:solidFill>
                <a:effectLst/>
                <a:uFillTx/>
                <a:latin typeface="Tahoma"/>
              </a:rPr>
              <a:t>Answers—Exercise 6</a:t>
            </a:r>
            <a:endParaRPr b="0" lang="en-IN" sz="4400" strike="noStrike" u="none">
              <a:solidFill>
                <a:srgbClr val="ffff66"/>
              </a:solidFill>
              <a:effectLst/>
              <a:uFillTx/>
              <a:latin typeface="Tahoma"/>
            </a:endParaRPr>
          </a:p>
        </p:txBody>
      </p:sp>
      <p:sp>
        <p:nvSpPr>
          <p:cNvPr id="254" name="Text Box 3"/>
          <p:cNvSpPr/>
          <p:nvPr/>
        </p:nvSpPr>
        <p:spPr>
          <a:xfrm>
            <a:off x="380880" y="1600200"/>
            <a:ext cx="8458200" cy="2065680"/>
          </a:xfrm>
          <a:prstGeom prst="rect">
            <a:avLst/>
          </a:prstGeom>
          <a:noFill/>
          <a:ln w="0">
            <a:noFill/>
          </a:ln>
        </p:spPr>
        <p:style>
          <a:lnRef idx="0"/>
          <a:fillRef idx="0"/>
          <a:effectRef idx="0"/>
          <a:fontRef idx="minor"/>
        </p:style>
        <p:txBody>
          <a:bodyPr lIns="90000" rIns="90000" tIns="46800" bIns="46800" anchor="t">
            <a:spAutoFit/>
          </a:bodyPr>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Arial Narrow"/>
              </a:rPr>
              <a:t>863 40</a:t>
            </a:r>
            <a:r>
              <a:rPr b="0" lang="en-IN" sz="3200" strike="noStrike" u="none">
                <a:solidFill>
                  <a:srgbClr val="ffffff"/>
                </a:solidFill>
                <a:effectLst/>
                <a:uFillTx/>
                <a:latin typeface="Arial Narrow"/>
              </a:rPr>
              <a:t>	</a:t>
            </a:r>
            <a:r>
              <a:rPr b="0" lang="en-IN" sz="3200" strike="noStrike" u="none">
                <a:solidFill>
                  <a:srgbClr val="ffffff"/>
                </a:solidFill>
                <a:effectLst/>
                <a:uFillTx/>
                <a:latin typeface="Arial Narrow"/>
              </a:rPr>
              <a:t>$8 1.1 $a 1-80 $g 142-222 $i 1884-1957</a:t>
            </a:r>
            <a:endParaRPr b="0" lang="en-IN" sz="3200" strike="noStrike" u="none">
              <a:solidFill>
                <a:srgbClr val="ffffff"/>
              </a:solidFill>
              <a:effectLst/>
              <a:uFillTx/>
              <a:latin typeface="Arial Narrow"/>
            </a:endParaRPr>
          </a:p>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Arial Narrow"/>
              </a:rPr>
              <a:t>Display: </a:t>
            </a:r>
            <a:endParaRPr b="0" lang="en-IN" sz="3200" strike="noStrike" u="none">
              <a:solidFill>
                <a:srgbClr val="ffffff"/>
              </a:solidFill>
              <a:effectLst/>
              <a:uFillTx/>
              <a:latin typeface="Arial Narrow"/>
            </a:endParaRPr>
          </a:p>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Arial Narrow"/>
              </a:rPr>
              <a:t>new ser.:no.1(1884)-80 (1957) =no.142-222</a:t>
            </a:r>
            <a:endParaRPr b="0" lang="en-IN" sz="3200" strike="noStrike" u="none">
              <a:solidFill>
                <a:srgbClr val="ffffff"/>
              </a:solidFill>
              <a:effectLst/>
              <a:uFillTx/>
              <a:latin typeface="Arial Narrow"/>
            </a:endParaRPr>
          </a:p>
        </p:txBody>
      </p:sp>
      <p:sp>
        <p:nvSpPr>
          <p:cNvPr id="3" name="PlaceHolder 2"/>
          <p:cNvSpPr>
            <a:spLocks noGrp="1"/>
          </p:cNvSpPr>
          <p:nvPr>
            <p:ph type="sldNum" idx="3"/>
          </p:nvPr>
        </p:nvSpPr>
        <p:spPr/>
        <p:txBody>
          <a:bodyPr/>
          <a:p>
            <a:fld id="{1848722C-0370-4743-9171-7C7715623C72}" type="slidenum">
              <a:t>42</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6438</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2000-08-17T21:02:41Z</dcterms:created>
  <dc:creator>Frieda Rosenberg</dc:creator>
  <dc:description/>
  <dc:language>en-IN</dc:language>
  <cp:lastModifiedBy>lhaw</cp:lastModifiedBy>
  <cp:lastPrinted>2000-07-15T05:22:38Z</cp:lastPrinted>
  <dcterms:modified xsi:type="dcterms:W3CDTF">2008-02-05T06:32:56Z</dcterms:modified>
  <cp:revision>108</cp:revision>
  <dc:subject/>
  <dc:title>Holdings Session 7 -- Recording Enumeration &amp; Chronology</dc:title>
</cp:coreProperties>
</file>