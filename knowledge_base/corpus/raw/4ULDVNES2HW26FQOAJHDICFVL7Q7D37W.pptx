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36.xml.rels" ContentType="application/vnd.openxmlformats-package.relationships+xml"/>
  <Override PartName="/ppt/slides/_rels/slide2.xml.rels" ContentType="application/vnd.openxmlformats-package.relationships+xml"/>
  <Override PartName="/ppt/slides/_rels/slide37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38.xml.rels" ContentType="application/vnd.openxmlformats-package.relationships+xml"/>
  <Override PartName="/ppt/slides/_rels/slide21.xml.rels" ContentType="application/vnd.openxmlformats-package.relationships+xml"/>
  <Override PartName="/ppt/slides/_rels/slide5.xml.rels" ContentType="application/vnd.openxmlformats-package.relationships+xml"/>
  <Override PartName="/ppt/slides/_rels/slide39.xml.rels" ContentType="application/vnd.openxmlformats-package.relationships+xml"/>
  <Override PartName="/ppt/slides/_rels/slide6.xml.rels" ContentType="application/vnd.openxmlformats-package.relationships+xml"/>
  <Override PartName="/ppt/slides/_rels/slide50.xml.rels" ContentType="application/vnd.openxmlformats-package.relationships+xml"/>
  <Override PartName="/ppt/slides/_rels/slide23.xml.rels" ContentType="application/vnd.openxmlformats-package.relationships+xml"/>
  <Override PartName="/ppt/slides/_rels/slide7.xml.rels" ContentType="application/vnd.openxmlformats-package.relationships+xml"/>
  <Override PartName="/ppt/slides/_rels/slide51.xml.rels" ContentType="application/vnd.openxmlformats-package.relationships+xml"/>
  <Override PartName="/ppt/slides/_rels/slide24.xml.rels" ContentType="application/vnd.openxmlformats-package.relationships+xml"/>
  <Override PartName="/ppt/slides/_rels/slide8.xml.rels" ContentType="application/vnd.openxmlformats-package.relationships+xml"/>
  <Override PartName="/ppt/slides/_rels/slide52.xml.rels" ContentType="application/vnd.openxmlformats-package.relationships+xml"/>
  <Override PartName="/ppt/slides/_rels/slide25.xml.rels" ContentType="application/vnd.openxmlformats-package.relationships+xml"/>
  <Override PartName="/ppt/slides/_rels/slide9.xml.rels" ContentType="application/vnd.openxmlformats-package.relationships+xml"/>
  <Override PartName="/ppt/slides/_rels/slide53.xml.rels" ContentType="application/vnd.openxmlformats-package.relationships+xml"/>
  <Override PartName="/ppt/slides/_rels/slide26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40.xml.rels" ContentType="application/vnd.openxmlformats-package.relationships+xml"/>
  <Override PartName="/ppt/slides/_rels/slide41.xml.rels" ContentType="application/vnd.openxmlformats-package.relationships+xml"/>
  <Override PartName="/ppt/slides/_rels/slide42.xml.rels" ContentType="application/vnd.openxmlformats-package.relationships+xml"/>
  <Override PartName="/ppt/slides/_rels/slide43.xml.rels" ContentType="application/vnd.openxmlformats-package.relationships+xml"/>
  <Override PartName="/ppt/slides/_rels/slide44.xml.rels" ContentType="application/vnd.openxmlformats-package.relationships+xml"/>
  <Override PartName="/ppt/slides/_rels/slide45.xml.rels" ContentType="application/vnd.openxmlformats-package.relationships+xml"/>
  <Override PartName="/ppt/slides/_rels/slide46.xml.rels" ContentType="application/vnd.openxmlformats-package.relationships+xml"/>
  <Override PartName="/ppt/slides/_rels/slide47.xml.rels" ContentType="application/vnd.openxmlformats-package.relationships+xml"/>
  <Override PartName="/ppt/slides/_rels/slide48.xml.rels" ContentType="application/vnd.openxmlformats-package.relationships+xml"/>
  <Override PartName="/ppt/slides/_rels/slide49.xml.rels" ContentType="application/vnd.openxmlformats-package.relationships+xml"/>
  <Override PartName="/ppt/slides/_rels/slide54.xml.rels" ContentType="application/vnd.openxmlformats-package.relationships+xml"/>
  <Override PartName="/ppt/slides/_rels/slide55.xml.rels" ContentType="application/vnd.openxmlformats-package.relationships+xml"/>
  <Override PartName="/ppt/slides/_rels/slide56.xml.rels" ContentType="application/vnd.openxmlformats-package.relationships+xml"/>
  <Override PartName="/ppt/slides/_rels/slide57.xml.rels" ContentType="application/vnd.openxmlformats-package.relationships+xml"/>
  <Override PartName="/ppt/slides/_rels/slide58.xml.rels" ContentType="application/vnd.openxmlformats-package.relationships+xml"/>
  <Override PartName="/ppt/slides/_rels/slide59.xml.rels" ContentType="application/vnd.openxmlformats-package.relationships+xml"/>
  <Override PartName="/ppt/slides/_rels/slide60.xml.rels" ContentType="application/vnd.openxmlformats-package.relationships+xml"/>
  <Override PartName="/ppt/slides/_rels/slide61.xml.rels" ContentType="application/vnd.openxmlformats-package.relationships+xml"/>
  <Override PartName="/ppt/slides/_rels/slide62.xml.rels" ContentType="application/vnd.openxmlformats-package.relationships+xml"/>
  <Override PartName="/ppt/slides/_rels/slide63.xml.rels" ContentType="application/vnd.openxmlformats-package.relationships+xml"/>
  <Override PartName="/ppt/slides/_rels/slide64.xml.rels" ContentType="application/vnd.openxmlformats-package.relationships+xml"/>
  <Override PartName="/ppt/slides/_rels/slide65.xml.rels" ContentType="application/vnd.openxmlformats-package.relationships+xml"/>
  <Override PartName="/ppt/slides/_rels/slide66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37.png" ContentType="image/png"/>
  <Override PartName="/ppt/media/image38.png" ContentType="image/png"/>
  <Override PartName="/ppt/media/image39.png" ContentType="image/png"/>
  <Override PartName="/ppt/media/image40.png" ContentType="image/png"/>
  <Override PartName="/ppt/media/image41.png" ContentType="image/png"/>
  <Override PartName="/ppt/media/image42.png" ContentType="image/png"/>
  <Override PartName="/ppt/media/image43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47.png" ContentType="image/png"/>
  <Override PartName="/ppt/media/image48.png" ContentType="image/png"/>
  <Override PartName="/ppt/media/image49.png" ContentType="image/png"/>
  <Override PartName="/ppt/media/image50.png" ContentType="image/png"/>
  <Override PartName="/ppt/media/image51.png" ContentType="image/png"/>
  <Override PartName="/ppt/media/image52.png" ContentType="image/png"/>
  <Override PartName="/ppt/media/image53.png" ContentType="image/png"/>
  <Override PartName="/ppt/media/image54.png" ContentType="image/png"/>
  <Override PartName="/ppt/media/image55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</p:sldIdLst>
  <p:sldSz cx="9144000" cy="6858000"/>
  <p:notesSz cx="6983413" cy="92694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>
            <a:off x="0" y="0"/>
            <a:ext cx="6984000" cy="927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3027240" cy="463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&lt;header&gt;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dt" idx="4"/>
          </p:nvPr>
        </p:nvSpPr>
        <p:spPr>
          <a:xfrm>
            <a:off x="3955680" y="0"/>
            <a:ext cx="3027240" cy="463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sldImg"/>
          </p:nvPr>
        </p:nvSpPr>
        <p:spPr>
          <a:xfrm>
            <a:off x="1174320" y="695160"/>
            <a:ext cx="4635720" cy="347688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98040" y="4403880"/>
            <a:ext cx="5588280" cy="417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ftr" idx="5"/>
          </p:nvPr>
        </p:nvSpPr>
        <p:spPr>
          <a:xfrm>
            <a:off x="-360" y="8805600"/>
            <a:ext cx="3027240" cy="46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6"/>
          <p:cNvSpPr>
            <a:spLocks noGrp="1"/>
          </p:cNvSpPr>
          <p:nvPr>
            <p:ph type="sldNum" idx="6"/>
          </p:nvPr>
        </p:nvSpPr>
        <p:spPr>
          <a:xfrm>
            <a:off x="3955680" y="8805600"/>
            <a:ext cx="3027240" cy="46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4635AD3-5925-42F7-B983-41E478EFFB82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 txBox="1"/>
          <p:nvPr/>
        </p:nvSpPr>
        <p:spPr>
          <a:xfrm>
            <a:off x="3955680" y="8805600"/>
            <a:ext cx="3027240" cy="46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65CECB2-8FE7-46CB-BDC9-3013A41BA0A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-360" y="8805600"/>
            <a:ext cx="3027240" cy="46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-360" y="0"/>
            <a:ext cx="3027240" cy="463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&lt;header&gt;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3955680" y="0"/>
            <a:ext cx="3027240" cy="463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1189080" y="695160"/>
            <a:ext cx="4627440" cy="347040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528120" y="4408560"/>
            <a:ext cx="5978520" cy="4162320"/>
          </a:xfrm>
          <a:prstGeom prst="rect">
            <a:avLst/>
          </a:prstGeom>
          <a:noFill/>
          <a:ln w="0">
            <a:noFill/>
          </a:ln>
        </p:spPr>
        <p:txBody>
          <a:bodyPr lIns="91080" rIns="91080" tIns="45720" bIns="4572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684360" y="4554360"/>
            <a:ext cx="5975280" cy="41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4680" rIns="94680" tIns="47520" bIns="47520" anchor="t">
            <a:noAutofit/>
          </a:bodyPr>
          <a:p>
            <a:pPr>
              <a:tabLst>
                <a:tab algn="l" pos="0"/>
                <a:tab algn="l" pos="853920"/>
                <a:tab algn="l" pos="1709640"/>
                <a:tab algn="l" pos="2565360"/>
                <a:tab algn="l" pos="3421080"/>
                <a:tab algn="r" pos="5346720"/>
                <a:tab algn="l" pos="5572080"/>
                <a:tab algn="l" pos="6500880"/>
                <a:tab algn="l" pos="7429680"/>
                <a:tab algn="l" pos="8358120"/>
                <a:tab algn="l" pos="9286920"/>
                <a:tab algn="l" pos="1021572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"/>
          <p:cNvSpPr txBox="1"/>
          <p:nvPr/>
        </p:nvSpPr>
        <p:spPr>
          <a:xfrm>
            <a:off x="3955680" y="8805600"/>
            <a:ext cx="3027240" cy="46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E578677-4520-41FD-9056-9BA6747605FF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-360" y="8805600"/>
            <a:ext cx="3027240" cy="46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-360" y="0"/>
            <a:ext cx="3027240" cy="463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&lt;header&gt;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3955680" y="0"/>
            <a:ext cx="3027240" cy="463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1179360" y="700200"/>
            <a:ext cx="4629240" cy="347184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933120" y="4405320"/>
            <a:ext cx="5118120" cy="416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944640" y="695160"/>
            <a:ext cx="5099040" cy="382428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933120" y="5097240"/>
            <a:ext cx="5118120" cy="3477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88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Statements and Reporting Presented in the “Release 3 User Interface Presentation” Importer and Brokers Sessions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488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Periodic Payment Scenario and Q&amp;A </a:t>
            </a:r>
            <a:r>
              <a:rPr b="1" lang="en-IN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 “R3 Informational Session with TSN Accounts and TSN Revenue Committees”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sldImg"/>
          </p:nvPr>
        </p:nvSpPr>
        <p:spPr>
          <a:xfrm>
            <a:off x="944640" y="695160"/>
            <a:ext cx="5099040" cy="3824280"/>
          </a:xfrm>
          <a:prstGeom prst="rect">
            <a:avLst/>
          </a:prstGeom>
          <a:ln w="0">
            <a:noFill/>
          </a:ln>
        </p:spPr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933120" y="5097240"/>
            <a:ext cx="5118120" cy="3477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88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Statements and Reporting Presented in the “Release 3 User Interface Presentation” Importer and Brokers Sessions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488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Periodic Payment Scenario and Q&amp;A </a:t>
            </a:r>
            <a:r>
              <a:rPr b="1" lang="en-IN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 “R3 Informational Session with TSN Accounts and TSN Revenue Committees”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FD038B-A413-4A95-BF8A-E0E1845D902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CBB1C3-B54B-45A9-8B69-32F9B758EE2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E9D5C5-D1C9-4F0C-B202-AADF47D2FD9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EA8E65-7387-4FAF-B986-484C106191F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1117CB-2577-4BAB-ADD3-6C4BAF0EEBE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 Conceptual Purposes Only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BE3E6D6-2BB1-4410-9F18-58A06CF226E7}" type="slidenum"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3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3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3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slideLayout" Target="../slideLayouts/slideLayout3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3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3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3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3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3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3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3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3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5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5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5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5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slideLayout" Target="../slideLayouts/slideLayout5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slideLayout" Target="../slideLayouts/slideLayout5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5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slideLayout" Target="../slideLayouts/slideLayout5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slideLayout" Target="../slideLayouts/slideLayout5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slideLayout" Target="../slideLayouts/slideLayout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slideLayout" Target="../slideLayouts/slideLayout3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3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slideLayout" Target="../slideLayouts/slideLayout3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slideLayout" Target="../slideLayouts/slideLayout3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slideLayout" Target="../slideLayouts/slideLayout3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slideLayout" Target="../slideLayouts/slideLayout5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image" Target="../media/image52.png"/><Relationship Id="rId2" Type="http://schemas.openxmlformats.org/officeDocument/2006/relationships/slideLayout" Target="../slideLayouts/slideLayout5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image" Target="../media/image53.png"/><Relationship Id="rId2" Type="http://schemas.openxmlformats.org/officeDocument/2006/relationships/slideLayout" Target="../slideLayouts/slideLayout5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image" Target="../media/image54.png"/><Relationship Id="rId2" Type="http://schemas.openxmlformats.org/officeDocument/2006/relationships/slideLayout" Target="../slideLayouts/slideLayout5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04560" y="304920"/>
            <a:ext cx="8839080" cy="1676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00099"/>
                </a:solidFill>
                <a:effectLst/>
                <a:uFillTx/>
                <a:latin typeface="Arial"/>
              </a:rPr>
              <a:t>Release 3 User Interface Presentation, including Reports Functionality: </a:t>
            </a:r>
            <a:br>
              <a:rPr sz="3200"/>
            </a:br>
            <a:r>
              <a:rPr b="1" lang="en-IN" sz="3200" strike="noStrike" u="none">
                <a:solidFill>
                  <a:srgbClr val="000099"/>
                </a:solidFill>
                <a:effectLst/>
                <a:uFillTx/>
                <a:latin typeface="Arial"/>
              </a:rPr>
              <a:t>Broker and Vendor Session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533520" y="2971800"/>
            <a:ext cx="5029200" cy="180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200" strike="noStrike" u="none">
                <a:solidFill>
                  <a:srgbClr val="333333"/>
                </a:solidFill>
                <a:effectLst/>
                <a:uFillTx/>
                <a:latin typeface="Arial"/>
              </a:rPr>
              <a:t>Presenters: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200" strike="noStrike" u="none">
                <a:solidFill>
                  <a:srgbClr val="333333"/>
                </a:solidFill>
                <a:effectLst/>
                <a:uFillTx/>
                <a:latin typeface="Arial"/>
              </a:rPr>
              <a:t>Dale Wilson, CBP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200" strike="noStrike" u="none">
                <a:solidFill>
                  <a:srgbClr val="333333"/>
                </a:solidFill>
                <a:effectLst/>
                <a:uFillTx/>
                <a:latin typeface="Arial"/>
              </a:rPr>
              <a:t>Ray Portu, eCP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200" strike="noStrike" u="none">
                <a:solidFill>
                  <a:srgbClr val="333333"/>
                </a:solidFill>
                <a:effectLst/>
                <a:uFillTx/>
                <a:latin typeface="Arial"/>
              </a:rPr>
              <a:t>Paul Nugent, eCP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333333"/>
                </a:solidFill>
                <a:effectLst/>
                <a:uFillTx/>
                <a:latin typeface="Arial"/>
              </a:rPr>
              <a:t>Kevin Smith, eCP</a:t>
            </a:r>
            <a:r>
              <a:rPr b="1" lang="en-IN" sz="2400" strike="noStrike" u="none">
                <a:solidFill>
                  <a:srgbClr val="000099"/>
                </a:solidFill>
                <a:effectLst/>
                <a:uFillTx/>
                <a:latin typeface="Arial"/>
              </a:rPr>
              <a:t> </a:t>
            </a:r>
            <a:r>
              <a:rPr b="0" lang="en-IN" sz="2000" strike="noStrike" u="none">
                <a:solidFill>
                  <a:srgbClr val="333333"/>
                </a:solidFill>
                <a:effectLst/>
                <a:uFillTx/>
                <a:latin typeface="Arial"/>
              </a:rPr>
              <a:t>	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533520" y="2286000"/>
            <a:ext cx="8229600" cy="53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spcBef>
                <a:spcPts val="187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500" strike="noStrike" u="none">
                <a:solidFill>
                  <a:srgbClr val="333333"/>
                </a:solidFill>
                <a:effectLst/>
                <a:uFillTx/>
                <a:latin typeface="Arial"/>
              </a:rPr>
              <a:t>January 28, 2004</a:t>
            </a:r>
            <a:endParaRPr b="0" lang="en-IN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1050840" y="5522760"/>
            <a:ext cx="18432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" name="" descr=""/>
          <p:cNvPicPr/>
          <p:nvPr/>
        </p:nvPicPr>
        <p:blipFill>
          <a:blip r:embed="rId1"/>
          <a:srcRect l="35626" t="37851" r="35029" b="37851"/>
          <a:stretch/>
        </p:blipFill>
        <p:spPr>
          <a:xfrm>
            <a:off x="228600" y="5029200"/>
            <a:ext cx="3733920" cy="121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91337D-7648-4246-AE5B-A860251A2CB0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Agenda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304560" y="1600200"/>
            <a:ext cx="6019560" cy="228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Introduction – Ray Portu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Account Management – Ray Portu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Account Revenue – Paul Nugent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Reports – Kevin Smith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1050840" y="5370480"/>
            <a:ext cx="18432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" name="" descr=""/>
          <p:cNvPicPr/>
          <p:nvPr/>
        </p:nvPicPr>
        <p:blipFill>
          <a:blip r:embed="rId1"/>
          <a:srcRect l="35626" t="37851" r="35029" b="37851"/>
          <a:stretch/>
        </p:blipFill>
        <p:spPr>
          <a:xfrm>
            <a:off x="609480" y="4800600"/>
            <a:ext cx="4038840" cy="121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EE5A04-5DFC-4ECD-A5A4-AD461949AA22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/>
          <p:nvPr/>
        </p:nvSpPr>
        <p:spPr>
          <a:xfrm>
            <a:off x="324000" y="2590920"/>
            <a:ext cx="8515080" cy="70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INTRODUCTION</a:t>
            </a:r>
            <a:br>
              <a:rPr sz="3200"/>
            </a:b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Ray Portu, eCP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609480" y="152280"/>
            <a:ext cx="7772400" cy="147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00099"/>
                </a:solidFill>
                <a:effectLst/>
                <a:uFillTx/>
                <a:latin typeface="Arial"/>
              </a:rPr>
              <a:t>Release 3 User Interface Presentation, including Reports Functionality:  Broker and Vendor Session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974880" y="5218200"/>
            <a:ext cx="18396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" name="" descr=""/>
          <p:cNvPicPr/>
          <p:nvPr/>
        </p:nvPicPr>
        <p:blipFill>
          <a:blip r:embed="rId1"/>
          <a:srcRect l="35626" t="37851" r="35029" b="37851"/>
          <a:stretch/>
        </p:blipFill>
        <p:spPr>
          <a:xfrm>
            <a:off x="457200" y="4495680"/>
            <a:ext cx="3886200" cy="137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D93F20-80E2-4216-9F2D-67EB5490AFDB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Introduction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228240" y="1295280"/>
            <a:ext cx="84582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55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</a:t>
            </a: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Release 3 User Interface Presentation Sector Breakout Sessions” 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55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Demonstrates ACE Release 3 account management, account revenue, and reporting graphical user interface views 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55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Describes a transition for functionality established in ACE Release 2 and functionality added in ACE Release 3.  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55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Presented in three sessions: 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550"/>
              </a:spcBef>
              <a:buClr>
                <a:srgbClr val="000000"/>
              </a:buClr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ACE Portal Importer (exporter and surety)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550"/>
              </a:spcBef>
              <a:buClr>
                <a:srgbClr val="000000"/>
              </a:buClr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ACE Portal Broker (vendor)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550"/>
              </a:spcBef>
              <a:buClr>
                <a:srgbClr val="000000"/>
              </a:buClr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ACE Portal Carrier 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22ABD0-FA41-4D61-BD11-280643D109B3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86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Introduction (continued</a:t>
            </a: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228600" y="1143000"/>
            <a:ext cx="8610480" cy="510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55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All screens shown in this session are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55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“For Conceptual Purposes Only” 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55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Morris Brokerage Account Scenario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55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Secure Data Portal Importer View of the following tabs: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55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Home 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55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Accounts 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55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Reports 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55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 (Significant Activity Log)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55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Action Plan 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55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Statements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Sample Preliminary Periodic Monthly</a:t>
            </a: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18F34E-5321-4EE1-9AFC-AF447D707D7D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" descr=""/>
          <p:cNvPicPr/>
          <p:nvPr/>
        </p:nvPicPr>
        <p:blipFill>
          <a:blip r:embed="rId1"/>
          <a:stretch/>
        </p:blipFill>
        <p:spPr>
          <a:xfrm>
            <a:off x="1486080" y="274680"/>
            <a:ext cx="6170400" cy="585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D8729C-ACE0-4BA9-99FF-796EA2019576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" descr=""/>
          <p:cNvPicPr/>
          <p:nvPr/>
        </p:nvPicPr>
        <p:blipFill>
          <a:blip r:embed="rId1"/>
          <a:stretch/>
        </p:blipFill>
        <p:spPr>
          <a:xfrm>
            <a:off x="1486080" y="274680"/>
            <a:ext cx="6170400" cy="585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74A8ED-995F-4908-B1E5-C473044467EB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" descr=""/>
          <p:cNvPicPr/>
          <p:nvPr/>
        </p:nvPicPr>
        <p:blipFill>
          <a:blip r:embed="rId1"/>
          <a:stretch/>
        </p:blipFill>
        <p:spPr>
          <a:xfrm>
            <a:off x="1447920" y="380880"/>
            <a:ext cx="6060960" cy="565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C386F9-D8AD-419E-83F3-4912336F80C9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" descr=""/>
          <p:cNvPicPr/>
          <p:nvPr/>
        </p:nvPicPr>
        <p:blipFill>
          <a:blip r:embed="rId1"/>
          <a:stretch/>
        </p:blipFill>
        <p:spPr>
          <a:xfrm>
            <a:off x="1600200" y="380880"/>
            <a:ext cx="6060960" cy="565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B53204-85ED-49C6-8AD9-F435B1368AA7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" descr=""/>
          <p:cNvPicPr/>
          <p:nvPr/>
        </p:nvPicPr>
        <p:blipFill>
          <a:blip r:embed="rId1"/>
          <a:stretch/>
        </p:blipFill>
        <p:spPr>
          <a:xfrm>
            <a:off x="1554120" y="274680"/>
            <a:ext cx="6033960" cy="585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E269E9-E6ED-437E-93E0-9FAB4DEA64F0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" descr=""/>
          <p:cNvPicPr/>
          <p:nvPr/>
        </p:nvPicPr>
        <p:blipFill>
          <a:blip r:embed="rId1"/>
          <a:stretch/>
        </p:blipFill>
        <p:spPr>
          <a:xfrm>
            <a:off x="1433520" y="274680"/>
            <a:ext cx="6275520" cy="585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CCAB1E-9424-45BB-AD08-AEBB33C46098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" descr=""/>
          <p:cNvPicPr/>
          <p:nvPr/>
        </p:nvPicPr>
        <p:blipFill>
          <a:blip r:embed="rId1"/>
          <a:stretch/>
        </p:blipFill>
        <p:spPr>
          <a:xfrm>
            <a:off x="1554120" y="274680"/>
            <a:ext cx="6033960" cy="585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03A029-A660-43E4-B394-896F58B9070F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" descr=""/>
          <p:cNvPicPr/>
          <p:nvPr/>
        </p:nvPicPr>
        <p:blipFill>
          <a:blip r:embed="rId1"/>
          <a:stretch/>
        </p:blipFill>
        <p:spPr>
          <a:xfrm>
            <a:off x="1447920" y="304920"/>
            <a:ext cx="6068880" cy="588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AC582D-2761-49F4-89CA-A863821A17B4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" descr=""/>
          <p:cNvPicPr/>
          <p:nvPr/>
        </p:nvPicPr>
        <p:blipFill>
          <a:blip r:embed="rId1"/>
          <a:stretch/>
        </p:blipFill>
        <p:spPr>
          <a:xfrm>
            <a:off x="1554120" y="274680"/>
            <a:ext cx="6033960" cy="585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BEC53B-8761-497B-97DF-19B9B72ED7B8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" descr=""/>
          <p:cNvPicPr/>
          <p:nvPr/>
        </p:nvPicPr>
        <p:blipFill>
          <a:blip r:embed="rId1"/>
          <a:stretch/>
        </p:blipFill>
        <p:spPr>
          <a:xfrm>
            <a:off x="1617840" y="380880"/>
            <a:ext cx="6078240" cy="576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4D6FC5-8B31-4E47-B89F-E88991E9ECDE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1486080" y="274680"/>
            <a:ext cx="6170400" cy="585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7CA109-B58E-4C5B-8E8B-A328FD48B822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1433520" y="274680"/>
            <a:ext cx="6275520" cy="585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5A7380-95D4-4121-BD15-223F03470643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" descr=""/>
          <p:cNvPicPr/>
          <p:nvPr/>
        </p:nvPicPr>
        <p:blipFill>
          <a:blip r:embed="rId1"/>
          <a:stretch/>
        </p:blipFill>
        <p:spPr>
          <a:xfrm>
            <a:off x="1433520" y="274680"/>
            <a:ext cx="6275520" cy="585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B9957A-8B2A-46AC-98F5-C43B180D7BF4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" descr=""/>
          <p:cNvPicPr/>
          <p:nvPr/>
        </p:nvPicPr>
        <p:blipFill>
          <a:blip r:embed="rId1"/>
          <a:stretch/>
        </p:blipFill>
        <p:spPr>
          <a:xfrm>
            <a:off x="1486080" y="274680"/>
            <a:ext cx="6170400" cy="585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3CBFAE-AD1A-49E1-812D-BB4A06E5BD97}" type="slidenum">
              <a:t>19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"/>
          <p:cNvSpPr txBox="1"/>
          <p:nvPr/>
        </p:nvSpPr>
        <p:spPr>
          <a:xfrm>
            <a:off x="457200" y="274680"/>
            <a:ext cx="8229600" cy="585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9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sng">
                <a:solidFill>
                  <a:srgbClr val="333399"/>
                </a:solidFill>
                <a:effectLst/>
                <a:uFillTx/>
                <a:latin typeface="Arial"/>
              </a:rPr>
              <a:t>Release 2 - Reports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1" lang="en-IN" sz="24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More than 40 reports regarding: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349"/>
              </a:spcBef>
              <a:buClr>
                <a:srgbClr val="000000"/>
              </a:buClr>
              <a:buFont typeface="Wingdings" charset="2"/>
              <a:buChar char="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400" strike="noStrike" u="none">
                <a:solidFill>
                  <a:srgbClr val="808080"/>
                </a:solidFill>
                <a:effectLst/>
                <a:uFillTx/>
                <a:latin typeface="Arial"/>
              </a:rPr>
              <a:t>Entry Summary Line Items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349"/>
              </a:spcBef>
              <a:buClr>
                <a:srgbClr val="000000"/>
              </a:buClr>
              <a:buFont typeface="Wingdings" charset="2"/>
              <a:buChar char="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400" strike="noStrike" u="none">
                <a:solidFill>
                  <a:srgbClr val="808080"/>
                </a:solidFill>
                <a:effectLst/>
                <a:uFillTx/>
                <a:latin typeface="Arial"/>
              </a:rPr>
              <a:t>Cargo Exam Discrepancy Details Report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349"/>
              </a:spcBef>
              <a:buClr>
                <a:srgbClr val="000000"/>
              </a:buClr>
              <a:buFont typeface="Wingdings" charset="2"/>
              <a:buChar char="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400" strike="noStrike" u="none">
                <a:solidFill>
                  <a:srgbClr val="808080"/>
                </a:solidFill>
                <a:effectLst/>
                <a:uFillTx/>
                <a:latin typeface="Arial"/>
              </a:rPr>
              <a:t>Entry Summary Discrepancy Details Report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349"/>
              </a:spcBef>
              <a:buClr>
                <a:srgbClr val="000000"/>
              </a:buClr>
              <a:buFont typeface="Wingdings" charset="2"/>
              <a:buChar char="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400" strike="noStrike" u="none">
                <a:solidFill>
                  <a:srgbClr val="808080"/>
                </a:solidFill>
                <a:effectLst/>
                <a:uFillTx/>
                <a:latin typeface="Arial"/>
              </a:rPr>
              <a:t>Aggregate Importer Reports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349"/>
              </a:spcBef>
              <a:buClr>
                <a:srgbClr val="000000"/>
              </a:buClr>
              <a:buFont typeface="Wingdings" charset="2"/>
              <a:buChar char="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400" strike="noStrike" u="none">
                <a:solidFill>
                  <a:srgbClr val="808080"/>
                </a:solidFill>
                <a:effectLst/>
                <a:uFillTx/>
                <a:latin typeface="Arial"/>
              </a:rPr>
              <a:t>Aggregate Cargo Exam Compliance Reports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349"/>
              </a:spcBef>
              <a:buClr>
                <a:srgbClr val="000000"/>
              </a:buClr>
              <a:buFont typeface="Wingdings" charset="2"/>
              <a:buChar char="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400" strike="noStrike" u="none">
                <a:solidFill>
                  <a:srgbClr val="808080"/>
                </a:solidFill>
                <a:effectLst/>
                <a:uFillTx/>
                <a:latin typeface="Arial"/>
              </a:rPr>
              <a:t>Aggregate Entry Summary Compliance Reports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Importer Quick Views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Portal interface to select report and enter queries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2DF277-7B02-4A43-9EF1-08158A240DF3}" type="slidenum">
              <a:t>20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457200" y="274680"/>
            <a:ext cx="8229600" cy="585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"/>
          <p:cNvSpPr/>
          <p:nvPr/>
        </p:nvSpPr>
        <p:spPr>
          <a:xfrm>
            <a:off x="609480" y="762120"/>
            <a:ext cx="5791320" cy="91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normAutofit fontScale="25000" lnSpcReduction="19999"/>
          </a:bodyPr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sng">
                <a:solidFill>
                  <a:srgbClr val="333399"/>
                </a:solidFill>
                <a:effectLst/>
                <a:uFillTx/>
                <a:latin typeface="Arial"/>
              </a:rPr>
              <a:t>Release 2 – Reporting Interface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" name="" descr=""/>
          <p:cNvPicPr/>
          <p:nvPr/>
        </p:nvPicPr>
        <p:blipFill>
          <a:blip r:embed="rId2"/>
          <a:srcRect l="19436" t="15265" r="4758" b="18440"/>
          <a:stretch/>
        </p:blipFill>
        <p:spPr>
          <a:xfrm>
            <a:off x="1295280" y="1676520"/>
            <a:ext cx="5943600" cy="304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614E2D-73CF-4E90-B0E5-035BF50FEA7B}" type="slidenum">
              <a:t>21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 txBox="1"/>
          <p:nvPr/>
        </p:nvSpPr>
        <p:spPr>
          <a:xfrm>
            <a:off x="457200" y="274680"/>
            <a:ext cx="8229600" cy="585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lnSpc>
                <a:spcPct val="90000"/>
              </a:lnSpc>
              <a:spcBef>
                <a:spcPts val="9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sng">
                <a:solidFill>
                  <a:srgbClr val="333399"/>
                </a:solidFill>
                <a:effectLst/>
                <a:uFillTx/>
                <a:latin typeface="Arial"/>
              </a:rPr>
              <a:t>Release 3 – AM Reports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Account Mgmt – 67 reports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451"/>
              </a:spcBef>
              <a:buClr>
                <a:srgbClr val="3333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New User Interface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451"/>
              </a:spcBef>
              <a:buClr>
                <a:srgbClr val="3333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Updated Release 2 reports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451"/>
              </a:spcBef>
              <a:buClr>
                <a:srgbClr val="3333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New Data Type (Cargo Entry)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550"/>
              </a:spcBef>
              <a:buClr>
                <a:srgbClr val="3333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New Reports</a:t>
            </a:r>
            <a:r>
              <a:rPr b="1" lang="en-IN" sz="2200" strike="noStrike" u="none">
                <a:solidFill>
                  <a:srgbClr val="808080"/>
                </a:solidFill>
                <a:effectLst/>
                <a:uFillTx/>
                <a:latin typeface="Arial"/>
              </a:rPr>
              <a:t> 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326"/>
              </a:spcBef>
              <a:buClr>
                <a:srgbClr val="808080"/>
              </a:buClr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300" strike="noStrike" u="none">
                <a:solidFill>
                  <a:srgbClr val="808080"/>
                </a:solidFill>
                <a:effectLst/>
                <a:uFillTx/>
                <a:latin typeface="Arial"/>
              </a:rPr>
              <a:t>Advanced queries (Entry Summary, Cargo Entry, Cargo Exams and Team Reviews)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326"/>
              </a:spcBef>
              <a:buClr>
                <a:srgbClr val="808080"/>
              </a:buClr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300" strike="noStrike" u="none">
                <a:solidFill>
                  <a:srgbClr val="808080"/>
                </a:solidFill>
                <a:effectLst/>
                <a:uFillTx/>
                <a:latin typeface="Arial"/>
              </a:rPr>
              <a:t>Filer by Port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326"/>
              </a:spcBef>
              <a:buClr>
                <a:srgbClr val="808080"/>
              </a:buClr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300" strike="noStrike" u="none">
                <a:solidFill>
                  <a:srgbClr val="808080"/>
                </a:solidFill>
                <a:effectLst/>
                <a:uFillTx/>
                <a:latin typeface="Arial"/>
              </a:rPr>
              <a:t>New Compliance Quick View and Reports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326"/>
              </a:spcBef>
              <a:buClr>
                <a:srgbClr val="808080"/>
              </a:buClr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300" strike="noStrike" u="none">
                <a:solidFill>
                  <a:srgbClr val="808080"/>
                </a:solidFill>
                <a:effectLst/>
                <a:uFillTx/>
                <a:latin typeface="Arial"/>
              </a:rPr>
              <a:t>Broker/Filer Quick Views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451"/>
              </a:spcBef>
              <a:buClr>
                <a:srgbClr val="3333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New Functionality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133DDB-82A3-4B8B-8B6D-B5EBF031E5C8}" type="slidenum">
              <a:t>22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>
            <a:off x="914400" y="533520"/>
            <a:ext cx="73915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Select the “Launch Reports” button to open the reporting tool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" name="" descr=""/>
          <p:cNvPicPr/>
          <p:nvPr/>
        </p:nvPicPr>
        <p:blipFill>
          <a:blip r:embed="rId1"/>
          <a:stretch/>
        </p:blipFill>
        <p:spPr>
          <a:xfrm>
            <a:off x="1828800" y="1066680"/>
            <a:ext cx="5562720" cy="513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"/>
          <p:cNvSpPr/>
          <p:nvPr/>
        </p:nvSpPr>
        <p:spPr>
          <a:xfrm>
            <a:off x="2895480" y="3048120"/>
            <a:ext cx="1371600" cy="457200"/>
          </a:xfrm>
          <a:prstGeom prst="ellipse">
            <a:avLst/>
          </a:prstGeom>
          <a:noFill/>
          <a:ln w="38160">
            <a:solidFill>
              <a:srgbClr val="ff33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 flipV="1">
            <a:off x="2895480" y="3504960"/>
            <a:ext cx="533520" cy="685800"/>
          </a:xfrm>
          <a:prstGeom prst="line">
            <a:avLst/>
          </a:prstGeom>
          <a:ln w="28440">
            <a:solidFill>
              <a:srgbClr val="ff33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C668E0-7014-476D-9F1C-277034CA54D3}" type="slidenum">
              <a:t>23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" descr=""/>
          <p:cNvPicPr/>
          <p:nvPr/>
        </p:nvPicPr>
        <p:blipFill>
          <a:blip r:embed="rId1"/>
          <a:stretch/>
        </p:blipFill>
        <p:spPr>
          <a:xfrm>
            <a:off x="762120" y="838080"/>
            <a:ext cx="7543800" cy="541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"/>
          <p:cNvSpPr/>
          <p:nvPr/>
        </p:nvSpPr>
        <p:spPr>
          <a:xfrm>
            <a:off x="534960" y="380880"/>
            <a:ext cx="82965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“Dashboard” is the default tab when opening the reporting application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457200" y="1219320"/>
            <a:ext cx="1219320" cy="380880"/>
          </a:xfrm>
          <a:prstGeom prst="ellipse">
            <a:avLst/>
          </a:prstGeom>
          <a:noFill/>
          <a:ln w="38160">
            <a:solidFill>
              <a:srgbClr val="ff33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D08200-6EAF-4BCD-B187-B7A35284E822}" type="slidenum">
              <a:t>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" descr=""/>
          <p:cNvPicPr/>
          <p:nvPr/>
        </p:nvPicPr>
        <p:blipFill>
          <a:blip r:embed="rId1"/>
          <a:stretch/>
        </p:blipFill>
        <p:spPr>
          <a:xfrm>
            <a:off x="762120" y="838080"/>
            <a:ext cx="7481880" cy="540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"/>
          <p:cNvSpPr/>
          <p:nvPr/>
        </p:nvSpPr>
        <p:spPr>
          <a:xfrm>
            <a:off x="1981080" y="4114800"/>
            <a:ext cx="1828800" cy="457200"/>
          </a:xfrm>
          <a:prstGeom prst="ellipse">
            <a:avLst/>
          </a:prstGeom>
          <a:noFill/>
          <a:ln w="28440">
            <a:solidFill>
              <a:srgbClr val="ff33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1068120" y="304920"/>
            <a:ext cx="57441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To locate an existing report, choose the “Find” tab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1371600" y="1143000"/>
            <a:ext cx="533520" cy="457200"/>
          </a:xfrm>
          <a:prstGeom prst="ellipse">
            <a:avLst/>
          </a:prstGeom>
          <a:noFill/>
          <a:ln w="28440">
            <a:solidFill>
              <a:srgbClr val="ff33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1204920" y="1484280"/>
            <a:ext cx="3078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ff3300"/>
                </a:solidFill>
                <a:effectLst/>
                <a:uFillTx/>
                <a:latin typeface="Arial"/>
              </a:rPr>
              <a:t>1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519120" y="2246400"/>
            <a:ext cx="3078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ff3300"/>
                </a:solidFill>
                <a:effectLst/>
                <a:uFillTx/>
                <a:latin typeface="Arial"/>
              </a:rPr>
              <a:t>2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4557600" y="2627280"/>
            <a:ext cx="3078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ff3300"/>
                </a:solidFill>
                <a:effectLst/>
                <a:uFillTx/>
                <a:latin typeface="Arial"/>
              </a:rPr>
              <a:t>3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1967040" y="3846600"/>
            <a:ext cx="3078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ff3300"/>
                </a:solidFill>
                <a:effectLst/>
                <a:uFillTx/>
                <a:latin typeface="Arial"/>
              </a:rPr>
              <a:t>4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C753B0-BEF9-4B90-9778-8DB11385CD44}" type="slidenum">
              <a:t>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" descr=""/>
          <p:cNvPicPr/>
          <p:nvPr/>
        </p:nvPicPr>
        <p:blipFill>
          <a:blip r:embed="rId1"/>
          <a:stretch/>
        </p:blipFill>
        <p:spPr>
          <a:xfrm>
            <a:off x="762120" y="990720"/>
            <a:ext cx="7315200" cy="528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"/>
          <p:cNvSpPr/>
          <p:nvPr/>
        </p:nvSpPr>
        <p:spPr>
          <a:xfrm>
            <a:off x="4876920" y="3505320"/>
            <a:ext cx="533160" cy="380880"/>
          </a:xfrm>
          <a:prstGeom prst="ellipse">
            <a:avLst/>
          </a:prstGeom>
          <a:noFill/>
          <a:ln w="28440">
            <a:solidFill>
              <a:srgbClr val="ff33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533520" y="609480"/>
            <a:ext cx="861048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Select the container in your dashboard where you want to store the canned report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784659-E21E-4586-983E-979C0E7A1792}" type="slidenum">
              <a:t>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" descr=""/>
          <p:cNvPicPr/>
          <p:nvPr/>
        </p:nvPicPr>
        <p:blipFill>
          <a:blip r:embed="rId1"/>
          <a:stretch/>
        </p:blipFill>
        <p:spPr>
          <a:xfrm>
            <a:off x="685800" y="838080"/>
            <a:ext cx="7543800" cy="543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"/>
          <p:cNvSpPr/>
          <p:nvPr/>
        </p:nvSpPr>
        <p:spPr>
          <a:xfrm>
            <a:off x="304920" y="380880"/>
            <a:ext cx="85341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Note the “Filer Summary Report” has been added to the “Reports” container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685800" y="4952880"/>
            <a:ext cx="1600200" cy="304920"/>
          </a:xfrm>
          <a:prstGeom prst="ellipse">
            <a:avLst/>
          </a:prstGeom>
          <a:noFill/>
          <a:ln w="38160">
            <a:solidFill>
              <a:srgbClr val="ff33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41270F-1E03-48C3-8631-04C202AF21EC}" type="slidenum">
              <a:t>27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" descr=""/>
          <p:cNvPicPr/>
          <p:nvPr/>
        </p:nvPicPr>
        <p:blipFill>
          <a:blip r:embed="rId1"/>
          <a:stretch/>
        </p:blipFill>
        <p:spPr>
          <a:xfrm>
            <a:off x="609480" y="533520"/>
            <a:ext cx="7848720" cy="565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"/>
          <p:cNvSpPr/>
          <p:nvPr/>
        </p:nvSpPr>
        <p:spPr>
          <a:xfrm>
            <a:off x="914400" y="152280"/>
            <a:ext cx="77724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Fill in the filter criteria and select “Display Report” to view the results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7086600" y="1066680"/>
            <a:ext cx="990720" cy="457200"/>
          </a:xfrm>
          <a:prstGeom prst="ellipse">
            <a:avLst/>
          </a:prstGeom>
          <a:noFill/>
          <a:ln w="28440">
            <a:solidFill>
              <a:srgbClr val="ff33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03E765-157B-440E-9651-0845C23F7253}" type="slidenum">
              <a:t>28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" descr=""/>
          <p:cNvPicPr/>
          <p:nvPr/>
        </p:nvPicPr>
        <p:blipFill>
          <a:blip r:embed="rId1"/>
          <a:stretch/>
        </p:blipFill>
        <p:spPr>
          <a:xfrm>
            <a:off x="685800" y="762120"/>
            <a:ext cx="7620120" cy="550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"/>
          <p:cNvSpPr/>
          <p:nvPr/>
        </p:nvSpPr>
        <p:spPr>
          <a:xfrm>
            <a:off x="2667960" y="304920"/>
            <a:ext cx="41317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query results are now displayed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6FF22F-E3C1-4762-B2B8-79E157628971}" type="slidenum">
              <a:t>29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" descr=""/>
          <p:cNvPicPr/>
          <p:nvPr/>
        </p:nvPicPr>
        <p:blipFill>
          <a:blip r:embed="rId1"/>
          <a:stretch/>
        </p:blipFill>
        <p:spPr>
          <a:xfrm>
            <a:off x="990720" y="1001880"/>
            <a:ext cx="7162560" cy="517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"/>
          <p:cNvSpPr/>
          <p:nvPr/>
        </p:nvSpPr>
        <p:spPr>
          <a:xfrm>
            <a:off x="6019920" y="2590920"/>
            <a:ext cx="380880" cy="380880"/>
          </a:xfrm>
          <a:prstGeom prst="ellipse">
            <a:avLst/>
          </a:prstGeom>
          <a:noFill/>
          <a:ln w="28440">
            <a:solidFill>
              <a:srgbClr val="ff33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1524960" y="609480"/>
            <a:ext cx="60494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Selecting ? will display a description of the data fields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FE439D-F8AF-493E-A818-D3C8B671F831}" type="slidenum">
              <a:t>30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762120" y="685800"/>
            <a:ext cx="7619760" cy="547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"/>
          <p:cNvSpPr/>
          <p:nvPr/>
        </p:nvSpPr>
        <p:spPr>
          <a:xfrm>
            <a:off x="4191120" y="1219320"/>
            <a:ext cx="609480" cy="457200"/>
          </a:xfrm>
          <a:prstGeom prst="ellipse">
            <a:avLst/>
          </a:prstGeom>
          <a:noFill/>
          <a:ln w="28440">
            <a:solidFill>
              <a:srgbClr val="ff33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 flipH="1" flipV="1">
            <a:off x="3962160" y="2971440"/>
            <a:ext cx="609480" cy="1066680"/>
          </a:xfrm>
          <a:prstGeom prst="line">
            <a:avLst/>
          </a:prstGeom>
          <a:ln w="28440">
            <a:solidFill>
              <a:srgbClr val="ff33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1219320" y="304920"/>
            <a:ext cx="70102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Select the “Print” function to obtain a hard copy of the report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D73E9A-A851-4113-A782-8E8801D1BD8B}" type="slidenum">
              <a:t>31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1066680" y="990720"/>
            <a:ext cx="6782040" cy="520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"/>
          <p:cNvSpPr/>
          <p:nvPr/>
        </p:nvSpPr>
        <p:spPr>
          <a:xfrm>
            <a:off x="609480" y="609480"/>
            <a:ext cx="76201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report is formatted in PDF and can be printed on a local printer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1676520" y="1600200"/>
            <a:ext cx="761760" cy="838080"/>
          </a:xfrm>
          <a:prstGeom prst="line">
            <a:avLst/>
          </a:prstGeom>
          <a:ln w="38160">
            <a:solidFill>
              <a:srgbClr val="ff0000"/>
            </a:solidFill>
            <a:miter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F15E43-B7F2-41F7-A866-B8114C9A1191}" type="slidenum">
              <a:t>32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" descr=""/>
          <p:cNvPicPr/>
          <p:nvPr/>
        </p:nvPicPr>
        <p:blipFill>
          <a:blip r:embed="rId1"/>
          <a:stretch/>
        </p:blipFill>
        <p:spPr>
          <a:xfrm>
            <a:off x="762120" y="838080"/>
            <a:ext cx="7467480" cy="540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"/>
          <p:cNvSpPr/>
          <p:nvPr/>
        </p:nvSpPr>
        <p:spPr>
          <a:xfrm flipH="1" flipV="1">
            <a:off x="3657600" y="2133360"/>
            <a:ext cx="838080" cy="152280"/>
          </a:xfrm>
          <a:prstGeom prst="line">
            <a:avLst/>
          </a:prstGeom>
          <a:ln w="28440">
            <a:solidFill>
              <a:srgbClr val="ff33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4495680" y="1447920"/>
            <a:ext cx="609840" cy="380880"/>
          </a:xfrm>
          <a:prstGeom prst="ellipse">
            <a:avLst/>
          </a:prstGeom>
          <a:noFill/>
          <a:ln w="28440">
            <a:solidFill>
              <a:srgbClr val="ff33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685800" y="380880"/>
            <a:ext cx="78487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Select the “Export” function to obtain an electronic copy of the report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20AA47-ACA8-48EB-80E7-ECA98D5FCCAB}" type="slidenum">
              <a:t>33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685800" y="762120"/>
            <a:ext cx="7620120" cy="244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"/>
          <p:cNvSpPr/>
          <p:nvPr/>
        </p:nvSpPr>
        <p:spPr>
          <a:xfrm>
            <a:off x="1220040" y="304920"/>
            <a:ext cx="52239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Example of “Exported” Excel version of report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1051920" y="3313080"/>
            <a:ext cx="50839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Example of “Exported” PDF version of report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2"/>
          <a:stretch/>
        </p:blipFill>
        <p:spPr>
          <a:xfrm>
            <a:off x="838080" y="3657600"/>
            <a:ext cx="7467840" cy="262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1D141C-77FF-4BF6-824F-3FC9B84933DA}" type="slidenum">
              <a:t>34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" descr=""/>
          <p:cNvPicPr/>
          <p:nvPr/>
        </p:nvPicPr>
        <p:blipFill>
          <a:blip r:embed="rId1"/>
          <a:stretch/>
        </p:blipFill>
        <p:spPr>
          <a:xfrm>
            <a:off x="1486080" y="274680"/>
            <a:ext cx="6170400" cy="585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07DC9E-A710-45C9-8D7B-534172E096BE}" type="slidenum">
              <a:t>35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1433520" y="274680"/>
            <a:ext cx="6275520" cy="585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05668C-1077-4C8B-9B01-02C1F216FA1B}" type="slidenum">
              <a:t>36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" descr=""/>
          <p:cNvPicPr/>
          <p:nvPr/>
        </p:nvPicPr>
        <p:blipFill>
          <a:blip r:embed="rId1"/>
          <a:stretch/>
        </p:blipFill>
        <p:spPr>
          <a:xfrm>
            <a:off x="1486080" y="274680"/>
            <a:ext cx="6170400" cy="585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F41707-CBE7-46BF-BE4D-BFCFE1A6A998}" type="slidenum">
              <a:t>37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" descr=""/>
          <p:cNvPicPr/>
          <p:nvPr/>
        </p:nvPicPr>
        <p:blipFill>
          <a:blip r:embed="rId1"/>
          <a:stretch/>
        </p:blipFill>
        <p:spPr>
          <a:xfrm>
            <a:off x="1486080" y="274680"/>
            <a:ext cx="6170400" cy="585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D5FF88-B1AD-43E1-9C5F-E33BFA3B7C15}" type="slidenum">
              <a:t>38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1487520" y="274680"/>
            <a:ext cx="6168960" cy="585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D84510-D9E4-437D-AE55-AD20369DE9A4}" type="slidenum">
              <a:t>39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1504800" y="274680"/>
            <a:ext cx="6134400" cy="585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A506A7-48D0-4C49-B2FF-77639EBBE8CF}" type="slidenum">
              <a:t>40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" descr=""/>
          <p:cNvPicPr/>
          <p:nvPr/>
        </p:nvPicPr>
        <p:blipFill>
          <a:blip r:embed="rId1"/>
          <a:stretch/>
        </p:blipFill>
        <p:spPr>
          <a:xfrm>
            <a:off x="1504800" y="274680"/>
            <a:ext cx="6134400" cy="585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A67DA3-F193-4E3B-9452-958A3AEAC54B}" type="slidenum">
              <a:t>41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" descr=""/>
          <p:cNvPicPr/>
          <p:nvPr/>
        </p:nvPicPr>
        <p:blipFill>
          <a:blip r:embed="rId1"/>
          <a:stretch/>
        </p:blipFill>
        <p:spPr>
          <a:xfrm>
            <a:off x="1504800" y="274680"/>
            <a:ext cx="6134400" cy="585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E20D69-1B22-4A4B-9391-1BA8448F391C}" type="slidenum">
              <a:t>42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"/>
          <p:cNvSpPr/>
          <p:nvPr/>
        </p:nvSpPr>
        <p:spPr>
          <a:xfrm>
            <a:off x="1422360" y="10666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440" bIns="-46440" anchor="t">
            <a:sp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1066680" y="609480"/>
            <a:ext cx="7277400" cy="545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E2D483-6983-4D92-A5AD-DB0AE96381DF}" type="slidenum">
              <a:t>43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"/>
          <p:cNvSpPr/>
          <p:nvPr/>
        </p:nvSpPr>
        <p:spPr>
          <a:xfrm>
            <a:off x="1422360" y="10666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440" bIns="-46440" anchor="t">
            <a:sp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1066680" y="457200"/>
            <a:ext cx="7277400" cy="545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B678E2-FAFD-4A66-8367-DBCCCB15B6C9}" type="slidenum">
              <a:t>44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"/>
          <p:cNvSpPr/>
          <p:nvPr/>
        </p:nvSpPr>
        <p:spPr>
          <a:xfrm>
            <a:off x="1422360" y="10666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440" bIns="-46440" anchor="t">
            <a:sp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4" name="" descr=""/>
          <p:cNvPicPr/>
          <p:nvPr/>
        </p:nvPicPr>
        <p:blipFill>
          <a:blip r:embed="rId1"/>
          <a:stretch/>
        </p:blipFill>
        <p:spPr>
          <a:xfrm>
            <a:off x="990720" y="457200"/>
            <a:ext cx="7277040" cy="545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B34917-9B17-413B-9CF5-22876D22182B}" type="slidenum">
              <a:t>45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"/>
          <p:cNvSpPr/>
          <p:nvPr/>
        </p:nvSpPr>
        <p:spPr>
          <a:xfrm>
            <a:off x="1422360" y="10666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440" bIns="-46440" anchor="t">
            <a:sp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6" name="" descr=""/>
          <p:cNvPicPr/>
          <p:nvPr/>
        </p:nvPicPr>
        <p:blipFill>
          <a:blip r:embed="rId1"/>
          <a:stretch/>
        </p:blipFill>
        <p:spPr>
          <a:xfrm>
            <a:off x="990720" y="380880"/>
            <a:ext cx="7277040" cy="545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EE8FDC-429F-4A91-98DE-0A192DC7D921}" type="slidenum">
              <a:t>46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"/>
          <p:cNvSpPr/>
          <p:nvPr/>
        </p:nvSpPr>
        <p:spPr>
          <a:xfrm>
            <a:off x="1393920" y="10414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440" bIns="-46440" anchor="t">
            <a:sp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8" name="" descr=""/>
          <p:cNvPicPr/>
          <p:nvPr/>
        </p:nvPicPr>
        <p:blipFill>
          <a:blip r:embed="rId1"/>
          <a:stretch/>
        </p:blipFill>
        <p:spPr>
          <a:xfrm>
            <a:off x="1066680" y="533520"/>
            <a:ext cx="7350120" cy="552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D62A4B-C93D-4CD0-8029-9E77387EAB9C}" type="slidenum">
              <a:t>47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"/>
          <p:cNvSpPr/>
          <p:nvPr/>
        </p:nvSpPr>
        <p:spPr>
          <a:xfrm>
            <a:off x="1422360" y="10666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440" bIns="-46440" anchor="t">
            <a:sp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" descr=""/>
          <p:cNvPicPr/>
          <p:nvPr/>
        </p:nvPicPr>
        <p:blipFill>
          <a:blip r:embed="rId1"/>
          <a:stretch/>
        </p:blipFill>
        <p:spPr>
          <a:xfrm>
            <a:off x="1066680" y="685800"/>
            <a:ext cx="7277400" cy="545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9654CD-E389-4AA2-A39F-C9D89988BD36}" type="slidenum">
              <a:t>48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"/>
          <p:cNvSpPr/>
          <p:nvPr/>
        </p:nvSpPr>
        <p:spPr>
          <a:xfrm>
            <a:off x="1393920" y="10414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440" bIns="-46440" anchor="t">
            <a:sp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" descr=""/>
          <p:cNvPicPr/>
          <p:nvPr/>
        </p:nvPicPr>
        <p:blipFill>
          <a:blip r:embed="rId1"/>
          <a:stretch/>
        </p:blipFill>
        <p:spPr>
          <a:xfrm>
            <a:off x="1143000" y="533520"/>
            <a:ext cx="7350120" cy="552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25426D-A8F1-4BBB-A017-6179C671BA0B}" type="slidenum">
              <a:t>49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"/>
          <p:cNvSpPr/>
          <p:nvPr/>
        </p:nvSpPr>
        <p:spPr>
          <a:xfrm>
            <a:off x="1422360" y="10666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440" bIns="-46440" anchor="t">
            <a:sp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4" name="" descr=""/>
          <p:cNvPicPr/>
          <p:nvPr/>
        </p:nvPicPr>
        <p:blipFill>
          <a:blip r:embed="rId1"/>
          <a:stretch/>
        </p:blipFill>
        <p:spPr>
          <a:xfrm>
            <a:off x="990720" y="533520"/>
            <a:ext cx="7277040" cy="545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84A005-801E-4042-BADC-F28768F6A1B0}" type="slidenum">
              <a:t>50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>
            <a:off x="1422360" y="10666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440" bIns="-46440" anchor="t">
            <a:sp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990720" y="609480"/>
            <a:ext cx="7277040" cy="545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335821-D620-488F-9A66-6033C86BA49F}" type="slidenum">
              <a:t>51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"/>
          <p:cNvSpPr/>
          <p:nvPr/>
        </p:nvSpPr>
        <p:spPr>
          <a:xfrm>
            <a:off x="1393920" y="10414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440" bIns="-46440" anchor="t">
            <a:sp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" descr=""/>
          <p:cNvPicPr/>
          <p:nvPr/>
        </p:nvPicPr>
        <p:blipFill>
          <a:blip r:embed="rId1"/>
          <a:stretch/>
        </p:blipFill>
        <p:spPr>
          <a:xfrm>
            <a:off x="990720" y="533520"/>
            <a:ext cx="7350120" cy="552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19C79C-EA2F-4DF4-A238-8AA520D5E124}" type="slidenum">
              <a:t>52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" descr=""/>
          <p:cNvPicPr/>
          <p:nvPr/>
        </p:nvPicPr>
        <p:blipFill>
          <a:blip r:embed="rId1"/>
          <a:stretch/>
        </p:blipFill>
        <p:spPr>
          <a:xfrm>
            <a:off x="1484280" y="274680"/>
            <a:ext cx="6175440" cy="585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BC0992-AEE8-44E6-BC9E-F030F76E332B}" type="slidenum">
              <a:t>53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" descr=""/>
          <p:cNvPicPr/>
          <p:nvPr/>
        </p:nvPicPr>
        <p:blipFill>
          <a:blip r:embed="rId1"/>
          <a:stretch/>
        </p:blipFill>
        <p:spPr>
          <a:xfrm>
            <a:off x="1484280" y="274680"/>
            <a:ext cx="6175440" cy="585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7433BB-A6C3-4B4C-8427-6A55CEA14F74}" type="slidenum">
              <a:t>54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" descr=""/>
          <p:cNvPicPr/>
          <p:nvPr/>
        </p:nvPicPr>
        <p:blipFill>
          <a:blip r:embed="rId1"/>
          <a:stretch/>
        </p:blipFill>
        <p:spPr>
          <a:xfrm>
            <a:off x="1752480" y="914400"/>
            <a:ext cx="5639040" cy="520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"/>
          <p:cNvSpPr/>
          <p:nvPr/>
        </p:nvSpPr>
        <p:spPr>
          <a:xfrm>
            <a:off x="2895480" y="2971800"/>
            <a:ext cx="1371600" cy="457200"/>
          </a:xfrm>
          <a:prstGeom prst="ellipse">
            <a:avLst/>
          </a:prstGeom>
          <a:noFill/>
          <a:ln w="38160">
            <a:solidFill>
              <a:srgbClr val="ff33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 flipV="1">
            <a:off x="2895480" y="3428640"/>
            <a:ext cx="533520" cy="685800"/>
          </a:xfrm>
          <a:prstGeom prst="line">
            <a:avLst/>
          </a:prstGeom>
          <a:ln w="28440">
            <a:solidFill>
              <a:srgbClr val="ff33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BF969C-DEDE-4579-B6DE-6184AD6F56DA}" type="slidenum">
              <a:t>55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" descr=""/>
          <p:cNvPicPr/>
          <p:nvPr/>
        </p:nvPicPr>
        <p:blipFill>
          <a:blip r:embed="rId1"/>
          <a:stretch/>
        </p:blipFill>
        <p:spPr>
          <a:xfrm>
            <a:off x="669960" y="274680"/>
            <a:ext cx="7802640" cy="585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199062-67CD-465F-99BB-7954672A162B}" type="slidenum">
              <a:t>56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669960" y="274680"/>
            <a:ext cx="7802640" cy="585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653BC1-1561-4647-8EE8-8CDBE12634C1}" type="slidenum">
              <a:t>57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" descr=""/>
          <p:cNvPicPr/>
          <p:nvPr/>
        </p:nvPicPr>
        <p:blipFill>
          <a:blip r:embed="rId1"/>
          <a:stretch/>
        </p:blipFill>
        <p:spPr>
          <a:xfrm>
            <a:off x="669960" y="274680"/>
            <a:ext cx="7802640" cy="585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1D3BEE-1706-4F82-B908-FA040884D82A}" type="slidenum">
              <a:t>58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"/>
          <p:cNvSpPr/>
          <p:nvPr/>
        </p:nvSpPr>
        <p:spPr>
          <a:xfrm>
            <a:off x="1393920" y="10414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440" bIns="-46440" anchor="t">
            <a:sp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" name="" descr=""/>
          <p:cNvPicPr/>
          <p:nvPr/>
        </p:nvPicPr>
        <p:blipFill>
          <a:blip r:embed="rId1"/>
          <a:stretch/>
        </p:blipFill>
        <p:spPr>
          <a:xfrm>
            <a:off x="1028880" y="533520"/>
            <a:ext cx="7277040" cy="545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E4A0AA-088D-432A-A969-8DEE1CF5BD34}" type="slidenum">
              <a:t>59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"/>
          <p:cNvSpPr/>
          <p:nvPr/>
        </p:nvSpPr>
        <p:spPr>
          <a:xfrm>
            <a:off x="1422360" y="10666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440" bIns="-46440" anchor="t">
            <a:sp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0" name="" descr=""/>
          <p:cNvPicPr/>
          <p:nvPr/>
        </p:nvPicPr>
        <p:blipFill>
          <a:blip r:embed="rId1"/>
          <a:stretch/>
        </p:blipFill>
        <p:spPr>
          <a:xfrm>
            <a:off x="990720" y="457200"/>
            <a:ext cx="7277040" cy="545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DF9331-7C30-4AA9-B757-161E64EEDBBD}" type="slidenum">
              <a:t>60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"/>
          <p:cNvSpPr/>
          <p:nvPr/>
        </p:nvSpPr>
        <p:spPr>
          <a:xfrm>
            <a:off x="1422360" y="10666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440" bIns="-46440" anchor="t">
            <a:sp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2" name="" descr=""/>
          <p:cNvPicPr/>
          <p:nvPr/>
        </p:nvPicPr>
        <p:blipFill>
          <a:blip r:embed="rId1"/>
          <a:stretch/>
        </p:blipFill>
        <p:spPr>
          <a:xfrm>
            <a:off x="990720" y="533520"/>
            <a:ext cx="7277040" cy="545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4A62F4-D4EA-485E-BE34-A25B1E908C8E}" type="slidenum">
              <a:t>61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"/>
          <p:cNvSpPr/>
          <p:nvPr/>
        </p:nvSpPr>
        <p:spPr>
          <a:xfrm>
            <a:off x="1422360" y="10666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440" bIns="-46440" anchor="t">
            <a:sp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" name="" descr=""/>
          <p:cNvPicPr/>
          <p:nvPr/>
        </p:nvPicPr>
        <p:blipFill>
          <a:blip r:embed="rId1"/>
          <a:stretch/>
        </p:blipFill>
        <p:spPr>
          <a:xfrm>
            <a:off x="1066680" y="609480"/>
            <a:ext cx="7277400" cy="545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A1008C-BDC8-480B-892E-3153C119B9AB}" type="slidenum">
              <a:t>62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"/>
          <p:cNvSpPr/>
          <p:nvPr/>
        </p:nvSpPr>
        <p:spPr>
          <a:xfrm>
            <a:off x="304920" y="685800"/>
            <a:ext cx="8381880" cy="541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9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STATEMENT NUMBER:  0103P12001                BUREAU OF CUSTOMS AND BORDER PROTECTION                                PAGE:        1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                                                 AUTOMATED COMMERCIAL ENVIRONMENT                   STATEMENT PRINT DATE: MM/DD/YY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                                         PERIODIC MONTHLY STATEMENT REPORT (PRELIMINARY)       CLIENT BRANCH DESIGNATION: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                                                                                                            PROCESS DATE: MM/DD/YY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STATEMENT FOR:  TEST BROKER   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IMPRT OF REC#: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BROKER/FILER#:     XXX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PROCESS DIST/PORT: DDPP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PERIODIC DAILY  STATEMENT   PRES                                                                               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STATEMENT       DATE        DATE     ESTIMATED DUTY   ESTIMATED TAX   ESTIMATED CVD   ESTIMATED ADD   USER FEES   TOTAL AMOUNT       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0103307001      11/03/03    11/04/03       1,000.00            0.00          100.00          100.00      100.00       1,300.00  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0103308001      11/04/03    11/05/03       1,000.00            0.00          100.00          100.00      100.00       1,300.00  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0103309001      11/05/03    11/06/03       1,000.00            0.00          100.00          100.00      100.00       1,300.00  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0103310001      11/06/03    11/07/03       1,000.00            0.00          100.00          100.00      100.00       1,300.00  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0103311001      11/07/03    11/08/03       1,000.00            0.00          100.00          100.00      100.00       1,300.00  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0103314001      11/10/03    11/11/03       1,000.00            0.00          100.00          100.00      100.00       1,300.00  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0103316001      11/12/03    11/13/03       1,000.00            0.00          100.00          100.00      100.00       1,300.00  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0103317001      11/13/03    11/14/03       1,000.00            0.00          100.00          100.00      100.00       1,300.00  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0103318001      11/14/03    11/15/03       1,000.00            0.00          100.00          100.00      100.00       1,300.00  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0103321001      11/17/03    11/18/03       1,000.00            0.00          100.00          100.00      100.00       1,300.00  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0103322001      11/18/03    11/19/03       1,000.00            0.00          100.00          100.00      100.00       1,300.00  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0103323001      11/19/03    11/20/03       1,000.00            0.00          100.00          100.00      100.00       1,300.00  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0103324001      11/20/03    11/21/03       1,000.00            0.00          100.00          100.00      100.00       1,300.00  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0103325001      11/21/03    11/22/03       1,000.00            0.00          100.00          100.00      100.00       1,300.00  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0103328001      11/24/03    11/25/03       1,000.00            0.00          100.00          100.00      100.00       1,300.00  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0103329001      11/25/03    11/26/03       1,000.00            0.00          100.00          100.00      100.00       1,300.00  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0103330001      11/26/03    11/27/03       1,000.00            0.00          100.00          100.00      100.00       1,300.00  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0103332001      11/28/03    11/29/03       1,000.00            0.00          100.00          100.00      100.00       1,300.00  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0103335001      12/01/03    12/04/03       1,000.00            0.00          100.00          100.00      100.00       1,300.00  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0103336001      12/02/03    12/03/03       1,000.00            0.00          100.00          100.00      100.00       1,300.00  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0103337001      12/03/03    12/04/03       1,000.00            0.00          100.00          100.00      100.00       1,300.00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0103338001      12/04/03    12/05/03       1,000.00            0.00          100.00          100.00      100.00       1,300.00  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0103339001      12/05/03    12/06/03       1,000.00            0.00          100.00          100.00      100.00       1,300.00  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0103342001      12/08/03    12/09/03       1,000.00            0.00          100.00          100.00      100.00       1,300.00  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0103343001      12/09/03    12/10/03       1,000.00            0.00          100.00          100.00      100.00       1,300.00</a:t>
            </a:r>
            <a:r>
              <a:rPr b="1" lang="en-US" sz="800" strike="noStrike" u="none">
                <a:solidFill>
                  <a:srgbClr val="000099"/>
                </a:solidFill>
                <a:effectLst/>
                <a:uFillTx/>
                <a:latin typeface="Arial"/>
                <a:ea typeface="Times New Roman"/>
              </a:rPr>
              <a:t> 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  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1828800" y="152280"/>
            <a:ext cx="51753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Sample Periodic Monthly Statement (Preliminary)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4403880" y="6208560"/>
            <a:ext cx="18396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12A537-FA4E-403B-977A-2ADB288CA7B9}" type="slidenum">
              <a:t>63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"/>
          <p:cNvSpPr/>
          <p:nvPr/>
        </p:nvSpPr>
        <p:spPr>
          <a:xfrm>
            <a:off x="304920" y="685800"/>
            <a:ext cx="8381880" cy="438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8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STATEMENT NUM:  0103P12001                   BUREAU OF CUSTOMS AND BORDER PROTECTION                                PAGE:        2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                                                 AUTOMATED COMMERCIAL ENVIRONMENT                   STATEMENT PRINT DATE: MM/DD/YY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                                          PERIODIC MONTHLY STATEMENT REPORT (PRELIMINARY)      CLIENT BRANCH DESIGNATION: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                                                                                                            PROCESS DATE: MM/DD/YY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STATEMENT FOR:  TEST BROKER   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IMPRT OF REC#: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BROKER/FILER#:     XXX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PROCESS DIST/PORT: DDPP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                                                          STATEMENT TOTALS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                                              PRELIMINARY TOTALS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         ESTIMATED DUTY                                25,000.00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         ESTIMATED TAXES                                    0.00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         ESTIMATED ADD                                  2,500.00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         ESTIMATED CVD                                  2,500.00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         COTTON FEE                                       100.00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         SUGAR FEE                                        100.00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         MAIL FEE                                         100.00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         PORK FEE                                         100.00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         BEEF FEE                                         100.00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         MERCHANDISE FEE                                  900.00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         MERC INFORMAL FEE                                100.00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         MERC SURCHARGE FEE                               100.00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         HONEY FEE                                        100.00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         WATERWAYS FEE                                    100.00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         PECAN FEE                                        100.00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         POTATO FEE                                       100.00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         LIME FEE                                         100.00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         MUSHROOM FEE                                     100.00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         WATERMELON FEE                                   100.00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         SHEEP FEE                                        100.00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         BLUEBERRY FEE                                    100.00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         TOTAL AMOUNT-DUE                              32,500.00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1828800" y="152280"/>
            <a:ext cx="51753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Sample Periodic Monthly Statement (Preliminary)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4403880" y="6208560"/>
            <a:ext cx="18396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3ECE2E-9CF9-43AE-A451-B8FED0845267}" type="slidenum">
              <a:t>64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"/>
          <p:cNvSpPr/>
          <p:nvPr/>
        </p:nvSpPr>
        <p:spPr>
          <a:xfrm>
            <a:off x="304920" y="685800"/>
            <a:ext cx="8381880" cy="181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8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STATEMENT NUMBER:  0103P12001                BUREAU OF CUSTOMS AND BORDER PROTECTION                                PAGE:        3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                                                 AUTOMATED COMMERCIAL ENVIRONMENT                   STATEMENT PRINT DATE: MM/DD/YY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                                          PERIODIC MONTHLY STATEMENT REPORT (PRELIMINARY)      CLIENT BRANCH DESIGNATION: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                                                                                                            PROCESS DATE: MM/DD/YY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STATEMENT FOR:  TEST BROKER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IMPRT OF REC#: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BROKER/FILER#:     XXX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PROCESS DIST/PORT: DDPP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                               ENTRY SUMMARIES DELETED AFTER PERIODIC DAILY STATEMENTS ACCEPTANCE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                                       PERIODIC DAILY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                                       STATEMENT        ENTRIES DELETED  DELETE SOURCE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                                       0103312001       XXX-1000001-1         ABI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3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800" strike="noStrike" u="none">
                <a:solidFill>
                  <a:srgbClr val="000099"/>
                </a:solidFill>
                <a:effectLst/>
                <a:uFillTx/>
                <a:latin typeface="Arial"/>
                <a:ea typeface="Times New Roman"/>
              </a:rPr>
              <a:t> 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1828800" y="152280"/>
            <a:ext cx="51753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Sample Periodic Monthly Statement (Preliminary)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4403880" y="6208560"/>
            <a:ext cx="18396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686DA9-8619-46E4-B40B-CA75742668FE}" type="slidenum">
              <a:t>65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" descr=""/>
          <p:cNvPicPr/>
          <p:nvPr/>
        </p:nvPicPr>
        <p:blipFill>
          <a:blip r:embed="rId1"/>
          <a:srcRect l="17059" t="24176" r="17656" b="24176"/>
          <a:stretch/>
        </p:blipFill>
        <p:spPr>
          <a:xfrm>
            <a:off x="380880" y="2057400"/>
            <a:ext cx="8305920" cy="259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52FB50-345D-418F-ADB2-14CF7CFB5B8B}" type="slidenum">
              <a:t>66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687</TotalTime>
  <Application>LibreOffice/25.2.3.2$Windows_X86_64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2004-01-04T12:24:22Z</dcterms:created>
  <dc:creator>IBM_User</dc:creator>
  <dc:description/>
  <dc:language>en-IN</dc:language>
  <cp:lastModifiedBy>Susan c. Maskell</cp:lastModifiedBy>
  <dcterms:modified xsi:type="dcterms:W3CDTF">2004-01-16T08:36:46Z</dcterms:modified>
  <cp:revision>70</cp:revision>
  <dc:subject/>
  <dc:title>Slide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r8>-1705590407</vt:r8>
  </property>
  <property fmtid="{D5CDD505-2E9C-101B-9397-08002B2CF9AE}" pid="3" name="_AuthorEmail">
    <vt:lpwstr>abrown@strtrade.com</vt:lpwstr>
  </property>
  <property fmtid="{D5CDD505-2E9C-101B-9397-08002B2CF9AE}" pid="4" name="_AuthorEmailDisplayName">
    <vt:lpwstr>Anita Brown</vt:lpwstr>
  </property>
  <property fmtid="{D5CDD505-2E9C-101B-9397-08002B2CF9AE}" pid="5" name="_EmailSubject">
    <vt:lpwstr>Release 3 Broker/Vendor UIP ready for printing</vt:lpwstr>
  </property>
</Properties>
</file>