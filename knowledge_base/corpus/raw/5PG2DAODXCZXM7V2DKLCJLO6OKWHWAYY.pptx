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55.xml" ContentType="application/vnd.openxmlformats-officedocument.presentationml.notesSlide+xml"/>
  <Override PartName="/ppt/notesSlides/notesSlide3.xml" ContentType="application/vnd.openxmlformats-officedocument.presentationml.notesSlide+xml"/>
  <Override PartName="/ppt/notesSlides/notesSlide56.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58.xml" ContentType="application/vnd.openxmlformats-officedocument.presentationml.notesSlide+xml"/>
  <Override PartName="/ppt/notesSlides/notesSlide7.xml" ContentType="application/vnd.openxmlformats-officedocument.presentationml.notesSlide+xml"/>
  <Override PartName="/ppt/notesSlides/notesSlide59.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9.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53.xml.rels" ContentType="application/vnd.openxmlformats-package.relationships+xml"/>
  <Override PartName="/ppt/notesSlides/_rels/notesSlide45.xml.rels" ContentType="application/vnd.openxmlformats-package.relationships+xml"/>
  <Override PartName="/ppt/notesSlides/_rels/notesSlide2.xml.rels" ContentType="application/vnd.openxmlformats-package.relationships+xml"/>
  <Override PartName="/ppt/notesSlides/_rels/notesSlide55.xml.rels" ContentType="application/vnd.openxmlformats-package.relationships+xml"/>
  <Override PartName="/ppt/notesSlides/_rels/notesSlide3.xml.rels" ContentType="application/vnd.openxmlformats-package.relationships+xml"/>
  <Override PartName="/ppt/notesSlides/_rels/notesSlide46.xml.rels" ContentType="application/vnd.openxmlformats-package.relationships+xml"/>
  <Override PartName="/ppt/notesSlides/_rels/notesSlide56.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58.xml.rels" ContentType="application/vnd.openxmlformats-package.relationships+xml"/>
  <Override PartName="/ppt/notesSlides/_rels/notesSlide6.xml.rels" ContentType="application/vnd.openxmlformats-package.relationships+xml"/>
  <Override PartName="/ppt/notesSlides/_rels/notesSlide59.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3.xml.rels" ContentType="application/vnd.openxmlformats-package.relationships+xml"/>
  <Override PartName="/ppt/notesSlides/_rels/notesSlide48.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_rels/notesSlide57.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38.jpeg" ContentType="image/jpeg"/>
  <Override PartName="/ppt/media/WHOOSH.WAV" ContentType="audio/x-wav"/>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media/image15.jpeg" ContentType="image/jpeg"/>
  <Override PartName="/ppt/media/image16.jpeg" ContentType="image/jpeg"/>
  <Override PartName="/ppt/media/image17.jpeg" ContentType="image/jpeg"/>
  <Override PartName="/ppt/media/image18.jpeg" ContentType="image/jpeg"/>
  <Override PartName="/ppt/media/image19.jpeg" ContentType="image/jpeg"/>
  <Override PartName="/ppt/media/image20.jpeg" ContentType="image/jpeg"/>
  <Override PartName="/ppt/media/image21.jpeg" ContentType="image/jpeg"/>
  <Override PartName="/ppt/media/image22.jpeg" ContentType="image/jpeg"/>
  <Override PartName="/ppt/media/image23.jpeg" ContentType="image/jpeg"/>
  <Override PartName="/ppt/media/image24.jpeg" ContentType="image/jpeg"/>
  <Override PartName="/ppt/media/image25.jpeg" ContentType="image/jpeg"/>
  <Override PartName="/ppt/media/image26.jpeg" ContentType="image/jpeg"/>
  <Override PartName="/ppt/media/image27.jpeg" ContentType="image/jpeg"/>
  <Override PartName="/ppt/media/image28.jpeg" ContentType="image/jpeg"/>
  <Override PartName="/ppt/media/image29.jpeg" ContentType="image/jpeg"/>
  <Override PartName="/ppt/media/image30.jpeg" ContentType="image/jpeg"/>
  <Override PartName="/ppt/media/image31.jpeg" ContentType="image/jpeg"/>
  <Override PartName="/ppt/media/image32.jpeg" ContentType="image/jpeg"/>
  <Override PartName="/ppt/media/image33.jpeg" ContentType="image/jpeg"/>
  <Override PartName="/ppt/media/image34.jpeg" ContentType="image/jpeg"/>
  <Override PartName="/ppt/media/image35.jpeg" ContentType="image/jpeg"/>
  <Override PartName="/ppt/media/image36.jpeg" ContentType="image/jpeg"/>
  <Override PartName="/ppt/media/image37.jpeg" ContentType="image/jpeg"/>
  <Override PartName="/ppt/media/image39.jpeg" ContentType="image/jpeg"/>
  <Override PartName="/ppt/media/image40.jpeg" ContentType="image/jpeg"/>
  <Override PartName="/ppt/media/image41.jpeg" ContentType="image/jpeg"/>
  <Override PartName="/ppt/media/image42.jpeg" ContentType="image/jpeg"/>
  <Override PartName="/ppt/media/image43.jpeg" ContentType="image/jpeg"/>
  <Override PartName="/ppt/media/image44.jpeg" ContentType="image/jpeg"/>
  <Override PartName="/ppt/media/image45.jpeg" ContentType="image/jpeg"/>
  <Override PartName="/ppt/media/image46.jpeg" ContentType="image/jpeg"/>
  <Override PartName="/ppt/media/image47.jpeg" ContentType="image/jpeg"/>
  <Override PartName="/ppt/media/image48.jpeg" ContentType="image/jpe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000000"/>
              </a:solidFill>
              <a:effectLst/>
              <a:uFillTx/>
              <a:latin typeface="Times New Roman"/>
            </a:endParaRPr>
          </a:p>
        </p:txBody>
      </p:sp>
      <p:sp>
        <p:nvSpPr>
          <p:cNvPr id="8"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9" name="PlaceHolder 2"/>
          <p:cNvSpPr>
            <a:spLocks noGrp="1"/>
          </p:cNvSpPr>
          <p:nvPr>
            <p:ph type="dt" idx="4"/>
          </p:nvPr>
        </p:nvSpPr>
        <p:spPr>
          <a:xfrm>
            <a:off x="3885840" y="0"/>
            <a:ext cx="297180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10" name="PlaceHolder 3"/>
          <p:cNvSpPr>
            <a:spLocks noGrp="1"/>
          </p:cNvSpPr>
          <p:nvPr>
            <p:ph type="sldImg"/>
          </p:nvPr>
        </p:nvSpPr>
        <p:spPr>
          <a:xfrm>
            <a:off x="1143000" y="685440"/>
            <a:ext cx="4572000" cy="342900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move the slide</a:t>
            </a:r>
            <a:endParaRPr b="0" lang="en-IN" sz="4400" strike="noStrike" u="none">
              <a:solidFill>
                <a:srgbClr val="000000"/>
              </a:solidFill>
              <a:effectLst/>
              <a:uFillTx/>
              <a:latin typeface="Times New Roman"/>
            </a:endParaRPr>
          </a:p>
        </p:txBody>
      </p:sp>
      <p:sp>
        <p:nvSpPr>
          <p:cNvPr id="11" name="PlaceHolder 4"/>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12" name="PlaceHolder 5"/>
          <p:cNvSpPr>
            <a:spLocks noGrp="1"/>
          </p:cNvSpPr>
          <p:nvPr>
            <p:ph type="ftr" idx="5"/>
          </p:nvPr>
        </p:nvSpPr>
        <p:spPr>
          <a:xfrm>
            <a:off x="-360" y="8686800"/>
            <a:ext cx="2971800" cy="45720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13" name="PlaceHolder 6"/>
          <p:cNvSpPr>
            <a:spLocks noGrp="1"/>
          </p:cNvSpPr>
          <p:nvPr>
            <p:ph type="sldNum" idx="6"/>
          </p:nvPr>
        </p:nvSpPr>
        <p:spPr>
          <a:xfrm>
            <a:off x="3885840" y="8686800"/>
            <a:ext cx="2971800" cy="45720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4A4C34-48D5-4AFA-8FCC-E602BE16BA8B}"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1143000" y="685800"/>
            <a:ext cx="4572000" cy="3429000"/>
          </a:xfrm>
          <a:prstGeom prst="rect">
            <a:avLst/>
          </a:prstGeom>
          <a:ln w="0">
            <a:noFill/>
          </a:ln>
        </p:spPr>
      </p:sp>
      <p:sp>
        <p:nvSpPr>
          <p:cNvPr id="8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“Une ancienne maladie tue aujourd’hui encore, plus de gens que jamais.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La tuberculose, que l’on croyait disparue à tout jamais, effectue un retour alarmant.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Nous sommes à un tournant.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Nous pouvons laisser l’épidemie mondiale de tuberculose devenir plus mortelle.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Ou alors nous pouvons agir dès maintenant pour réduire les souffrances et le nombre des victimes.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Nous sommes à un tournant.”</a:t>
            </a:r>
            <a:r>
              <a:rPr b="0" lang="en-US" sz="1200" strike="noStrike" u="none">
                <a:solidFill>
                  <a:srgbClr val="000000"/>
                </a:solidFill>
                <a:effectLst/>
                <a:uFillTx/>
                <a:latin typeface="Times New Roman"/>
                <a:ea typeface="Times New Roman"/>
              </a:rPr>
              <a: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r>
              <a:rPr b="0" i="1" lang="en-US" sz="1200" strike="noStrike" u="none">
                <a:solidFill>
                  <a:srgbClr val="000000"/>
                </a:solidFill>
                <a:effectLst/>
                <a:uFillTx/>
                <a:latin typeface="Times New Roman"/>
                <a:ea typeface="Times New Roman"/>
              </a:rPr>
              <a:t>G. Harlem Brundtland, M.D. Directeur, OMS, l998</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A l’aube du 21ème siècle, beaucoup de maladies continuent de menacer la santé des gens à travers le monde.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Maladie à la fois ancienne et moderne, la tuberculose ne fait pas exception.</a:t>
            </a: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Plus de 8 millions de cas de tuberculose apparaissent chaque année.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Et presque 2 millions de personnes en meurent.</a:t>
            </a: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Pauvreté et malnutrition entretiennent les maladies dans les pays du tiers-monde; migrations, guerres et catastrophes naturelles déclenchent des infections globales.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L’escalade globale de la tuberculose, la progression du SIDA et l’émergence de nouveaux cas de tuberculose résistant aux médicaments suscitent beaucoup d’inquiétudes.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Plusieurs agences internationales se consacrent au contrôle et à l’éradication de la tuberculose à travers le monde.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Le diagnostic à un prix abordable est essentiel.</a:t>
            </a:r>
            <a:endParaRPr b="0" lang="en-IN" sz="1200" strike="noStrike" u="none">
              <a:solidFill>
                <a:srgbClr val="000000"/>
              </a:solidFill>
              <a:effectLst/>
              <a:uFillTx/>
              <a:latin typeface="Times New Roman"/>
            </a:endParaRPr>
          </a:p>
          <a:p>
            <a:pPr indent="0" algn="just">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lgn="just">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L’Examen Microscopique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Direct de BAAR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 module d’enseignement porte essentiellement sur la technique de diagnostic de Ziehl-Neelsen pour l’examen microscopique direct des frottis d’expectoration.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Puisque la plupart des cas de tuberculose sont pulmonaires, la bacilloscopie directe des frottis d’expectoration est l’outil disponible le plus important pour le diagnostic de la tuberculose.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Il s’agit d’un diagnostic économique, rapide et simple.</a:t>
            </a:r>
            <a:r>
              <a:rPr b="0" lang="en-US" sz="1200" strike="noStrike" u="none">
                <a:solidFill>
                  <a:srgbClr val="000000"/>
                </a:solidFill>
                <a:effectLst/>
                <a:uFillTx/>
                <a:latin typeface="Times New Roman"/>
                <a:ea typeface="Times New Roman"/>
              </a:rPr>
              <a:t>	</a:t>
            </a:r>
            <a:r>
              <a:rPr b="0" lang="en-US" sz="1200" strike="noStrike" u="none">
                <a:solidFill>
                  <a:srgbClr val="000000"/>
                </a:solidFill>
                <a:effectLst/>
                <a:uFillTx/>
                <a:latin typeface="Times New Roman"/>
                <a:ea typeface="Times New Roman"/>
              </a:rPr>
              <a:t>Qui plus est, il permet de détecter les cas les plus infectieux de tuberculose.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 dépistage permet le traitement et la guérison, tout en interrompant la chaîne de transmission de la tuberculose.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Cette procédure permet aussi d’évaluer la réponse à la chimiothérapie et de surveiller le taux de guérison après traitement.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La Bacilloscopie directe des forttis d'expectoration a des aspects divers.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Parlons tout d’abord de la sécurité dans les laboratoires.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Les manipulations dans les laboratoires de tuberculose exigent un soin et des précautions speciales.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 bref aperçu des modes de transmission illustrera les dangers de la manipulation de ces microbes.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Img"/>
          </p:nvPr>
        </p:nvSpPr>
        <p:spPr>
          <a:xfrm>
            <a:off x="1143000" y="685800"/>
            <a:ext cx="4572000" cy="3429000"/>
          </a:xfrm>
          <a:prstGeom prst="rect">
            <a:avLst/>
          </a:prstGeom>
          <a:ln w="0">
            <a:noFill/>
          </a:ln>
        </p:spPr>
      </p:sp>
      <p:sp>
        <p:nvSpPr>
          <p:cNvPr id="8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Mycobacerium tuberculosis se propage à travers l’air d’une personne à une autre lorsqu’on tousse, éternue et même quand on chante ou on parle.</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Des aérosols, minuscules particules contaminées, sèchent rapidement, ce faisant ils laissent des résidus dits noyaux, de moins de 5 microns de diamètre, porteurs de microorganismes tel le bacille tuberculeux.</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Ces gouttes peuvent rester suspendues dans l’atmosphère pendant plusieurs heures. Une autre personne peut les inhaler et devenir infectée, surtout dans un espace restreint.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Rappelez-vous qu’avec les précautions nécessaires, les risques de contracter la tuberculose en laboratoire sont très minimes.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Il est primordial que tout le personnel soit conscient des risques et agisse prudemment.</a:t>
            </a:r>
            <a:endParaRPr b="0" lang="en-IN"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1143000" y="685800"/>
            <a:ext cx="4572000" cy="3429000"/>
          </a:xfrm>
          <a:prstGeom prst="rect">
            <a:avLst/>
          </a:prstGeom>
          <a:ln w="0">
            <a:noFill/>
          </a:ln>
        </p:spPr>
      </p:sp>
      <p:sp>
        <p:nvSpPr>
          <p:cNvPr id="8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 plus grand risque en laboratoire implique la collection déchantillons d’expectorations.  La préparation des frottis offrent moins de risques au technicien de laboratoire que le contact direct avec une toux.</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Puisque les patients de tuberculose sont parfois référés au laboratoire, des précautions doivent être prises pour minimiser le risque d’infection.</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Il ne faut jamais recueillir les échantillon d’expectoration à l’intérieur de la clinique ou du laboratoire. </a:t>
            </a:r>
            <a:endParaRPr b="0" lang="en-IN"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1143000" y="685800"/>
            <a:ext cx="4572000" cy="3429000"/>
          </a:xfrm>
          <a:prstGeom prst="rect">
            <a:avLst/>
          </a:prstGeom>
          <a:ln w="0">
            <a:noFill/>
          </a:ln>
        </p:spPr>
      </p:sp>
      <p:sp>
        <p:nvSpPr>
          <p:cNvPr id="9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Il est plus prudent de les recueillir à l’extérieur</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Eras Bold"/>
                <a:ea typeface="Times New Roman"/>
              </a:rPr>
              <a:t>.</a:t>
            </a: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Il faut, en tout temps, éviter la création</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d’aérosols dans le laboratoire!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L’observation d’une routine journalière facilitera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le maintien de conditions sécuritaires.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L’observation stricte des règles de sécurité est essentielle.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Ces pratiques de sécurité incluent: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Se laver les mains fréquemment, avant et après toute manipulation.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Etablir un courant d’air dans les espaces de travail pour écarter les particules infectieuses loin du personnel. Ce courant d’air doit être dirigé vers un endroit extérieur écarté et peu fréquenté.</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Ne jamais fumer ou manger dans le laboratoire!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Porter des blouses de laboratoire et utiliser des équipements de protection.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1143000" y="685800"/>
            <a:ext cx="4572000" cy="3429000"/>
          </a:xfrm>
          <a:prstGeom prst="rect">
            <a:avLst/>
          </a:prstGeom>
          <a:ln w="0">
            <a:noFill/>
          </a:ln>
        </p:spPr>
      </p:sp>
      <p:sp>
        <p:nvSpPr>
          <p:cNvPr id="9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Les masques chirurgicaux n’offrent aucune</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protection contre la tuberculose.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L’utilisation de protection respiratoire efficace, tel le respirateur N95, est très chère et probablement inutile pour autant que le technicien effectue la technique convenablement.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Une manipulation prudente lors de la préparation des frottis réduit le risque d’infection.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 faible risque que comportent ces manipulations ne justifie peut être pas le haut coût des respirateurs et des gants, alors que les ressources pour le contrôle de la tuberculose sont limitées.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Chaque pays doit évaluer les risques et décider du niveau de protection convenable et abordable.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Dans cette présentation, les techniciens ne portent ni gants ni masques.  Se laver les mains et une manipulation soigneuse sont des pratiques acceptables dans la plupart des pays.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Rappelez-vous, la sécurité est essentielle, quelle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que soit la tâche à accomplir.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Bold"/>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1143000" y="685800"/>
            <a:ext cx="4572000" cy="3429000"/>
          </a:xfrm>
          <a:prstGeom prst="rect">
            <a:avLst/>
          </a:prstGeom>
          <a:ln w="0">
            <a:noFill/>
          </a:ln>
        </p:spPr>
      </p:sp>
      <p:sp>
        <p:nvSpPr>
          <p:cNvPr id="9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Aménagement du Laboratoire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Pour exécuter la bacilloscopie, un laboratoire doit être divisé en trois espaces distincts: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1143000" y="685800"/>
            <a:ext cx="4572000" cy="3429000"/>
          </a:xfrm>
          <a:prstGeom prst="rect">
            <a:avLst/>
          </a:prstGeom>
          <a:ln w="0">
            <a:noFill/>
          </a:ln>
        </p:spPr>
      </p:sp>
      <p:sp>
        <p:nvSpPr>
          <p:cNvPr id="9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Espace 1</a:t>
            </a:r>
            <a:r>
              <a:rPr b="0" lang="en-US" sz="1200" strike="noStrike" u="none">
                <a:solidFill>
                  <a:srgbClr val="000000"/>
                </a:solidFill>
                <a:effectLst/>
                <a:uFillTx/>
                <a:latin typeface="Times New Roman"/>
                <a:ea typeface="Times New Roman"/>
              </a:rPr>
              <a:t>.</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 endroit bien illuminé avec un lavabo à eau courante pour la préparation et la coloration des frottis,</a:t>
            </a:r>
            <a:endParaRPr b="0" lang="en-IN"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sldImg"/>
          </p:nvPr>
        </p:nvSpPr>
        <p:spPr>
          <a:xfrm>
            <a:off x="1143000" y="685800"/>
            <a:ext cx="4572000" cy="3429000"/>
          </a:xfrm>
          <a:prstGeom prst="rect">
            <a:avLst/>
          </a:prstGeom>
          <a:ln w="0">
            <a:noFill/>
          </a:ln>
        </p:spPr>
      </p:sp>
      <p:sp>
        <p:nvSpPr>
          <p:cNvPr id="9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Espace 2</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une table pour le microscope.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l’électricité n’est pas disponible, cette table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doit être placée directement devant une fenêtre, et </a:t>
            </a:r>
            <a:endParaRPr b="0" lang="en-IN"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1143000" y="685800"/>
            <a:ext cx="4572000" cy="3429000"/>
          </a:xfrm>
          <a:prstGeom prst="rect">
            <a:avLst/>
          </a:prstGeom>
          <a:ln w="0">
            <a:noFill/>
          </a:ln>
        </p:spPr>
      </p:sp>
      <p:sp>
        <p:nvSpPr>
          <p:cNvPr id="10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Espace 3.</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Une table pour ranger les registres et </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pour la conservation des lames.</a:t>
            </a:r>
            <a:endParaRPr b="0" lang="en-IN"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1143000" y="685800"/>
            <a:ext cx="4572000" cy="3429000"/>
          </a:xfrm>
          <a:prstGeom prst="rect">
            <a:avLst/>
          </a:prstGeom>
          <a:ln w="0">
            <a:noFill/>
          </a:ln>
        </p:spPr>
      </p:sp>
      <p:sp>
        <p:nvSpPr>
          <p:cNvPr id="10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Collecte des Prélèvements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Deux types de récipients sont recommandés pour la collecte des expectorations: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ldImg"/>
          </p:nvPr>
        </p:nvSpPr>
        <p:spPr>
          <a:xfrm>
            <a:off x="1143000" y="685800"/>
            <a:ext cx="4572000" cy="3429000"/>
          </a:xfrm>
          <a:prstGeom prst="rect">
            <a:avLst/>
          </a:prstGeom>
          <a:ln w="0">
            <a:noFill/>
          </a:ln>
        </p:spPr>
      </p:sp>
      <p:sp>
        <p:nvSpPr>
          <p:cNvPr id="10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 premier est un récipient jetable à col large et couvercle vissant.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Il doit être fait de plastique transparent incassable et pouvoir se fermer hermétiquement pour empêcher l’échantillon de couler ou de se dessécher.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 deuxième est un récipient connu sous le nom de “Universal container” à couvercle vissant, fait en verre solide qui peut être stérilisé, nettoyé et réutilisé. </a:t>
            </a:r>
            <a:endParaRPr b="0" lang="en-IN"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1143000" y="685800"/>
            <a:ext cx="4572000" cy="3429000"/>
          </a:xfrm>
          <a:prstGeom prst="rect">
            <a:avLst/>
          </a:prstGeom>
          <a:ln w="0">
            <a:noFill/>
          </a:ln>
        </p:spPr>
      </p:sp>
      <p:sp>
        <p:nvSpPr>
          <p:cNvPr id="10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Plusieurs pays utilisent leurs propres récipients.</a:t>
            </a:r>
            <a:endParaRPr b="0" lang="en-IN"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1143000" y="685800"/>
            <a:ext cx="4572000" cy="3429000"/>
          </a:xfrm>
          <a:prstGeom prst="rect">
            <a:avLst/>
          </a:prstGeom>
          <a:ln w="0">
            <a:noFill/>
          </a:ln>
        </p:spPr>
      </p:sp>
      <p:sp>
        <p:nvSpPr>
          <p:cNvPr id="10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L’enregistrementdes échantillons</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Il est très important d’identifier clairement les échantillons pour éviter les erreurs et les délais.</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 formulaire de requête doit accompagner chaque échantillon.</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renseignements inscrits sur le formulaire doivent être les mêmes que ceux sur les crachoirs.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Il faut toujours identifier le crachoir sur sa paroi et non sur son couvercle.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Ecrivez le nom du suspect de tuberculose pulmonaire et la date de la collecte en utilisant un marqueur permanent.</a:t>
            </a:r>
            <a:endParaRPr b="0" lang="en-IN"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1143000" y="685800"/>
            <a:ext cx="4572000" cy="3429000"/>
          </a:xfrm>
          <a:prstGeom prst="rect">
            <a:avLst/>
          </a:prstGeom>
          <a:ln w="0">
            <a:noFill/>
          </a:ln>
        </p:spPr>
      </p:sp>
      <p:sp>
        <p:nvSpPr>
          <p:cNvPr id="11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Eras Bold"/>
                <a:ea typeface="Times New Roman"/>
              </a:rPr>
              <a:t>Les </a:t>
            </a:r>
            <a:r>
              <a:rPr b="0" lang="en-US" sz="1200" strike="noStrike" u="none">
                <a:solidFill>
                  <a:srgbClr val="000000"/>
                </a:solidFill>
                <a:effectLst/>
                <a:uFillTx/>
                <a:latin typeface="Times New Roman"/>
                <a:ea typeface="Times New Roman"/>
              </a:rPr>
              <a:t>É</a:t>
            </a:r>
            <a:r>
              <a:rPr b="0" lang="en-US" sz="1200" strike="noStrike" u="none">
                <a:solidFill>
                  <a:srgbClr val="000000"/>
                </a:solidFill>
                <a:effectLst/>
                <a:uFillTx/>
                <a:latin typeface="Eras Bold"/>
                <a:ea typeface="Times New Roman"/>
              </a:rPr>
              <a:t>chantillons d’Expectoration</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Eras Bold"/>
                <a:ea typeface="Times New Roman"/>
              </a:rPr>
              <a:t> </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Pour une meilleure détection des bacilles tuberculeux, une collecte de trois échantillons est recommandée.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Au moins un doit être un échantillon matinal.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Des instructions devront être données au patient de sorte qu’il produise une expectoration plutôt que de la salive.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De la salive claire, ou encore une secretion nasale, ne sont pas considérées comme des échantillons idéaux pour la tuberculose.  Néanmoins ils devront être examinés.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Des instructions spécifiques pour la collecte sont incluses dans le Manuel du Programme de Contrôle de la Tuberculose (PNT).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 bon échantillon d’expectoration doit avoir un volume suffisant, de 3 à 5 ml. Il est fréquemment épais et muqueux, il peut aussi être fluide avec des débris de tissus morts.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La couleur varie du blanc opaque jusqu’au vert.</a:t>
            </a: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expectorations sanguinolentes sont rougeâtres ou brunâtres.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Notez l’aspect des expectorations sur le formulaire de demande d’examen</a:t>
            </a:r>
            <a:r>
              <a:rPr b="1" lang="en-US" sz="1200" strike="noStrike" u="none">
                <a:solidFill>
                  <a:srgbClr val="000000"/>
                </a:solidFill>
                <a:effectLst/>
                <a:uFillTx/>
                <a:latin typeface="Times New Roman"/>
                <a:ea typeface="Times New Roman"/>
              </a:rPr>
              <a:t>.</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1143000" y="685800"/>
            <a:ext cx="4572000" cy="3429000"/>
          </a:xfrm>
          <a:prstGeom prst="rect">
            <a:avLst/>
          </a:prstGeom>
          <a:ln w="0">
            <a:noFill/>
          </a:ln>
        </p:spPr>
      </p:sp>
      <p:sp>
        <p:nvSpPr>
          <p:cNvPr id="11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Lavez-vous toujours</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Lavez-vous toujours les mains après la</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manipulation d’échantillons et de crachoirs.</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1143000" y="685800"/>
            <a:ext cx="4572000" cy="3429000"/>
          </a:xfrm>
          <a:prstGeom prst="rect">
            <a:avLst/>
          </a:prstGeom>
          <a:ln w="0">
            <a:noFill/>
          </a:ln>
        </p:spPr>
      </p:sp>
      <p:sp>
        <p:nvSpPr>
          <p:cNvPr id="11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Manipulation des </a:t>
            </a:r>
            <a:r>
              <a:rPr b="1" lang="en-US" sz="1200" strike="noStrike" u="none">
                <a:solidFill>
                  <a:srgbClr val="000000"/>
                </a:solidFill>
                <a:effectLst/>
                <a:uFillTx/>
                <a:latin typeface="Times New Roman"/>
                <a:ea typeface="Times New Roman"/>
              </a:rPr>
              <a:t>é</a:t>
            </a:r>
            <a:r>
              <a:rPr b="1" lang="en-US" sz="1200" strike="noStrike" u="none">
                <a:solidFill>
                  <a:srgbClr val="000000"/>
                </a:solidFill>
                <a:effectLst/>
                <a:uFillTx/>
                <a:latin typeface="Times New Roman"/>
                <a:ea typeface="Times New Roman"/>
              </a:rPr>
              <a:t>chantillons</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Ouvrez la boîte de transport avec précaution, et assurez-vous qu’aucun crachoir n’est ni fêlé ni brisé.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Jetez tout crachoir brisé et demandez un autre échantillon.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Tous les échantillons doivent correspondre à la liste des suspects de tuberculose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Une fois vérifiée, notez toute  information pertinente sur </a:t>
            </a:r>
            <a:r>
              <a:rPr b="1" lang="en-US" sz="1200" strike="noStrike" u="none">
                <a:solidFill>
                  <a:srgbClr val="000000"/>
                </a:solidFill>
                <a:effectLst/>
                <a:uFillTx/>
                <a:latin typeface="Times New Roman"/>
                <a:ea typeface="Times New Roman"/>
              </a:rPr>
              <a:t>le registre de laboratoire.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1143000" y="685800"/>
            <a:ext cx="4572000" cy="3429000"/>
          </a:xfrm>
          <a:prstGeom prst="rect">
            <a:avLst/>
          </a:prstGeom>
          <a:ln w="0">
            <a:noFill/>
          </a:ln>
        </p:spPr>
      </p:sp>
      <p:sp>
        <p:nvSpPr>
          <p:cNvPr id="11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Les registres de laboratoire</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registres de laboratoire de l’OMS [ou] de l’Union Internationale (l’UICTMR) sont vivement recommandés. Ne modifiez pas le format de ces registres</a:t>
            </a:r>
            <a:r>
              <a:rPr b="0" lang="en-US" sz="1200" strike="noStrike" u="none">
                <a:solidFill>
                  <a:srgbClr val="000000"/>
                </a:solidFill>
                <a:effectLst/>
                <a:uFillTx/>
                <a:latin typeface="Times New Roman"/>
                <a:ea typeface="Times New Roman"/>
              </a:rPr>
              <a: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renseignements pour chaque échantillon doivent être complets, précis et inclure: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le numéro de série du laboratoire.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la date de réception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le nom, le sexe, l’âge et l’adresse du patient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le nom de l’institution de santé</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la raison de l’examen (soit pour diagnostic, soit pour le suivi du traitement)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Inscrivez le numéro correspondant sur le crachoir. </a:t>
            </a:r>
            <a:endParaRPr b="0" lang="en-IN"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1143000" y="685800"/>
            <a:ext cx="4572000" cy="3429000"/>
          </a:xfrm>
          <a:prstGeom prst="rect">
            <a:avLst/>
          </a:prstGeom>
          <a:ln w="0">
            <a:noFill/>
          </a:ln>
        </p:spPr>
      </p:sp>
      <p:sp>
        <p:nvSpPr>
          <p:cNvPr id="11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Préparation des frottis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Pour assurer le déroulement sécuritaire et logique des manipulations, rangez instruments et matériel sur la table, toujours de la même façon.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1143000" y="685800"/>
            <a:ext cx="4572000" cy="3429000"/>
          </a:xfrm>
          <a:prstGeom prst="rect">
            <a:avLst/>
          </a:prstGeom>
          <a:ln w="0">
            <a:noFill/>
          </a:ln>
        </p:spPr>
      </p:sp>
      <p:sp>
        <p:nvSpPr>
          <p:cNvPr id="12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instruments et matériel suivants sont essentiels: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des pinces,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un marqueur ou un crayon à mine,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des applicateurs en boisun ou une anse métallique,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un flacon contenant du sable et  de l’alcool,</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(si l’on utilise une anse métallique)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un récipient pour matériel septique avec désinfectant,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un bec Bunsen ou une lampe à alcool,</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une boîte de lames neuves et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des crachoirs.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1143000" y="685800"/>
            <a:ext cx="4572000" cy="3429000"/>
          </a:xfrm>
          <a:prstGeom prst="rect">
            <a:avLst/>
          </a:prstGeom>
          <a:ln w="0">
            <a:noFill/>
          </a:ln>
        </p:spPr>
      </p:sp>
      <p:sp>
        <p:nvSpPr>
          <p:cNvPr id="12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Il faut toujours utiliser des lames neuves pour la préparation des frottis.  Elles doivent être nettoyées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avec de l’alcool et séchées en les essuyant...</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Ou encore, passées brièvement à la flamme.</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 qui éliminera tout résidu huileux qui pourrait affecter la coloration.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NE REUTILISEZ JAMAIS des lames de frottis d’expectorations pour le travail de tuberculose!  </a:t>
            </a:r>
            <a:endParaRPr b="0" lang="en-IN"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1143000" y="685800"/>
            <a:ext cx="4572000" cy="3429000"/>
          </a:xfrm>
          <a:prstGeom prst="rect">
            <a:avLst/>
          </a:prstGeom>
          <a:ln w="0">
            <a:noFill/>
          </a:ln>
        </p:spPr>
      </p:sp>
      <p:sp>
        <p:nvSpPr>
          <p:cNvPr id="12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Marquez correctement chaque lame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Marquez correctement chaque lame avec le numéro du laboratoire et de l’échantillon.  Gravez ces numéros à l’aide du diamant-marqueur sur l’extrémité de la lame.</a:t>
            </a:r>
            <a:endParaRPr b="0" lang="en-IN"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1143000" y="685800"/>
            <a:ext cx="4572000" cy="3429000"/>
          </a:xfrm>
          <a:prstGeom prst="rect">
            <a:avLst/>
          </a:prstGeom>
          <a:ln w="0">
            <a:noFill/>
          </a:ln>
        </p:spPr>
      </p:sp>
      <p:sp>
        <p:nvSpPr>
          <p:cNvPr id="12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l’extrémité des lames est dépolie, marquez le numéro de série du laboratoire avec un crayon à mine.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N’utilisez jamais le crayon gras puisque l’écriture pourrait s’effacer lors de la coloration.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1143000" y="685800"/>
            <a:ext cx="4572000" cy="3429000"/>
          </a:xfrm>
          <a:prstGeom prst="rect">
            <a:avLst/>
          </a:prstGeom>
          <a:ln w="0">
            <a:noFill/>
          </a:ln>
        </p:spPr>
      </p:sp>
      <p:sp>
        <p:nvSpPr>
          <p:cNvPr id="12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Ouvrez le crachoir lentement</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pour éviter les aérosols.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En utilisant un appliquateur en bois ou bien une anse métallique, prélevez des portions de l’expectoration pour l’examen.  Des particules solides caséeuses produisent souvent le plus grand nombre de bacilles. </a:t>
            </a:r>
            <a:endParaRPr b="0" lang="en-IN" sz="1200" strike="noStrike" u="non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1143000" y="685800"/>
            <a:ext cx="4572000" cy="3429000"/>
          </a:xfrm>
          <a:prstGeom prst="rect">
            <a:avLst/>
          </a:prstGeom>
          <a:ln w="0">
            <a:noFill/>
          </a:ln>
        </p:spPr>
      </p:sp>
      <p:sp>
        <p:nvSpPr>
          <p:cNvPr id="13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En effectuant une rotation continue, étalez  une surface ovale sur la lame, d‘à peu près  2 cm de longueur.  N’étalez qu’un seul frottis sur chaque lame.</a:t>
            </a:r>
            <a:endParaRPr b="0" lang="en-IN"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1143000" y="685800"/>
            <a:ext cx="4572000" cy="3429000"/>
          </a:xfrm>
          <a:prstGeom prst="rect">
            <a:avLst/>
          </a:prstGeom>
          <a:ln w="0">
            <a:noFill/>
          </a:ln>
        </p:spPr>
      </p:sp>
      <p:sp>
        <p:nvSpPr>
          <p:cNvPr id="13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Comment saurez-vous si l’épaisseur est correcte?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le frottis est trop mince, l’échantillon peut donner des résultats faux-positifs.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S’il est trop épais, le frottis pourrait se détacher de la lame pendant la coloration.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l’épaisseur est correcte, on peut lire un journal derrière une tache sèche Si une anse métallique est utilisée, nettoyez-la avant de l’utiliser. Trempez l’anse contaminée dans un flacon contenant de l’alcool et du sable et détachez les adhérences par des mouvements verticaux.  Ensuite, chauffez l’anse dans la flamme jusqu’à ce qu’elle devienne rouge incandescente. Laissez-la refroidrir avant la prochaine utilisation.</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Des lames mouillées peuvent créer des aérosols si on les déplace. Placez-les dans un endroit protégé où elles pourront sécher pendant 15 à 30 minutes.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NE LES CHAUFFEZ JAMAIS pour les sécher,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car cela pourrait produire des aérosols.</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1143000" y="685800"/>
            <a:ext cx="4572000" cy="3429000"/>
          </a:xfrm>
          <a:prstGeom prst="rect">
            <a:avLst/>
          </a:prstGeom>
          <a:ln w="0">
            <a:noFill/>
          </a:ln>
        </p:spPr>
      </p:sp>
      <p:sp>
        <p:nvSpPr>
          <p:cNvPr id="13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Lorsque quelles seront sèches, fixez les lames avec la flamme bleue d’un bec Bunsen.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Avec des pinces, passez la lame brièvement 3 fois à la flamme, le frottis tourné vers le haut.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La fixation par la chaleur assure que l’expectoration colle à la lame. Une chaleur excessive peut endommager les bacilles. Par contre, si la chaleur n’est pas assez forte, les bacilles peuvent se détacher pendant la coloration. </a:t>
            </a:r>
            <a:endParaRPr b="0" lang="en-IN" sz="12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1143000" y="685800"/>
            <a:ext cx="4572000" cy="3429000"/>
          </a:xfrm>
          <a:prstGeom prst="rect">
            <a:avLst/>
          </a:prstGeom>
          <a:ln w="0">
            <a:noFill/>
          </a:ln>
        </p:spPr>
      </p:sp>
      <p:sp>
        <p:nvSpPr>
          <p:cNvPr id="13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Coloration de Frottis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Parce que les bacilles de la tuberculose retiennent leur coloration primaire même après le traitement aux solutions acides concentrées, on les appelle acido-résistants.Dans la méthode de coloration de Ziehl-Neelsen qui utilise la fuschine phéniquée et le bleu de méthylène, les organismes acido-résistants sont colorés en rouge.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sldImg"/>
          </p:nvPr>
        </p:nvSpPr>
        <p:spPr>
          <a:xfrm>
            <a:off x="1143000" y="685800"/>
            <a:ext cx="4572000" cy="3429000"/>
          </a:xfrm>
          <a:prstGeom prst="rect">
            <a:avLst/>
          </a:prstGeom>
          <a:ln w="0">
            <a:noFill/>
          </a:ln>
        </p:spPr>
      </p:sp>
      <p:sp>
        <p:nvSpPr>
          <p:cNvPr id="13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Apprêtez  l’espace  du laboratoire destiné à la coloration.</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Placez les articles suivants sur le comptoir près de l’évier: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solutions colorantes, une horloge, les pinces, un récipient pour le goupillon imbibé d’alcool ou un bec Bunsen et un plateau pour les lames fixées. Une grille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porte-lames doit être placée sur l’évier.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1143000" y="685800"/>
            <a:ext cx="4572000" cy="3429000"/>
          </a:xfrm>
          <a:prstGeom prst="rect">
            <a:avLst/>
          </a:prstGeom>
          <a:ln w="0">
            <a:noFill/>
          </a:ln>
        </p:spPr>
      </p:sp>
      <p:sp>
        <p:nvSpPr>
          <p:cNvPr id="141" name="PlaceHolder 2"/>
          <p:cNvSpPr>
            <a:spLocks noGrp="1"/>
          </p:cNvSpPr>
          <p:nvPr>
            <p:ph type="body"/>
          </p:nvPr>
        </p:nvSpPr>
        <p:spPr>
          <a:xfrm>
            <a:off x="914400" y="4343400"/>
            <a:ext cx="5029200" cy="4114800"/>
          </a:xfrm>
          <a:prstGeom prst="rect">
            <a:avLst/>
          </a:prstGeom>
          <a:solidFill>
            <a:srgbClr val="ffffff"/>
          </a:solidFill>
          <a:ln w="9360">
            <a:solidFill>
              <a:srgbClr val="000000"/>
            </a:solidFill>
            <a:miter/>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Pour assurer qualité et uniformité, beaucoup de pays produisent les réactifs dans un laboratoire central.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Pour de plus amples renseignements, consultez les manuels de  l’ OMS et de l’Union Internationale (l’UICTMR).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Tous les réactifs doivent avoir une date de fin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de validité.  Eliminez tout réactif échu.</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1143000" y="685800"/>
            <a:ext cx="4572000" cy="3429000"/>
          </a:xfrm>
          <a:prstGeom prst="rect">
            <a:avLst/>
          </a:prstGeom>
          <a:ln w="0">
            <a:noFill/>
          </a:ln>
        </p:spPr>
      </p:sp>
      <p:sp>
        <p:nvSpPr>
          <p:cNvPr id="14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Filtrez la fuschsine phéniquée avant de l’utiliser. Si un précipité est encore détectable, éliminez le colorant.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1143000" y="685800"/>
            <a:ext cx="4572000" cy="3429000"/>
          </a:xfrm>
          <a:prstGeom prst="rect">
            <a:avLst/>
          </a:prstGeom>
          <a:ln w="0">
            <a:noFill/>
          </a:ln>
        </p:spPr>
      </p:sp>
      <p:sp>
        <p:nvSpPr>
          <p:cNvPr id="14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La  marche à suivre pour la technique de coloration  doit être affichée au mur au dessus de l’évier.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Pour éviter la contamination transferée, n’effectuez jamais cette manipulation en série  dans des bacs à coloration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Maintenant, étudions les étapes importantes de la technique de coloration.</a:t>
            </a:r>
            <a:endParaRPr b="0" lang="en-IN" sz="12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1143000" y="685800"/>
            <a:ext cx="4572000" cy="3429000"/>
          </a:xfrm>
          <a:prstGeom prst="rect">
            <a:avLst/>
          </a:prstGeom>
          <a:ln w="0">
            <a:noFill/>
          </a:ln>
        </p:spPr>
      </p:sp>
      <p:sp>
        <p:nvSpPr>
          <p:cNvPr id="14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 l’aide des pinces placez les lames sur le porte-lames, frottis tournés vers le haut.  Orientez toutes les lames uniformément.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lames ne doivent jamais se toucher car il y aurait risque de contamination transferée.  Pour le contrôle de qualité, incluez quotidiennement un contrôle positif et un négatif.</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Ne colorez jamais plus de 12 lames à la fois. </a:t>
            </a:r>
            <a:endParaRPr b="0" lang="en-IN" sz="1200" strike="noStrike" u="non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1143000" y="685800"/>
            <a:ext cx="4572000" cy="3429000"/>
          </a:xfrm>
          <a:prstGeom prst="rect">
            <a:avLst/>
          </a:prstGeom>
          <a:ln w="0">
            <a:noFill/>
          </a:ln>
        </p:spPr>
      </p:sp>
      <p:sp>
        <p:nvSpPr>
          <p:cNvPr id="14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Couvrez la surface entière de chaque lame avec de la fuschsine phéniquée. Utilisez la flamme d’un bec Bunsen ou celle d’un goupillon imbibé d’alcool à brûler] pour chauffez légèrement les lames jusqu’à  l’émission de vapeur.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En aucun cas, le colorant ne doit bouillir ou se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dessécher sur la lame. L’ébullition pourrait modifier la morphologie des bacilles de la tuberculose ce qui pourrait mener à des de faux résultats.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Laissez agir le colorant chaud pendant 5 minutes, conservez la chaleur pendant cette période, le temps nécessaire pour que la fuschine phéniqué pénètre et colore la paroi cellulaire.</a:t>
            </a:r>
            <a:endParaRPr b="0" lang="en-IN" sz="12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1143000" y="685800"/>
            <a:ext cx="4572000" cy="3429000"/>
          </a:xfrm>
          <a:prstGeom prst="rect">
            <a:avLst/>
          </a:prstGeom>
          <a:ln w="0">
            <a:noFill/>
          </a:ln>
        </p:spPr>
      </p:sp>
      <p:sp>
        <p:nvSpPr>
          <p:cNvPr id="15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Rincez doucement à l’aide d’un filet d’eau froide jusqu’à  ce que tout le colorant libre soit entraîné. Soyez prudent en rinçant pour que l’eau ne détache pas le frottis de la lame.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Inclinez les lames une à une pour en égoutter l’eau.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Ceci élimine l’eau résiduelle qui pourrait diluer le prochain réactif. </a:t>
            </a:r>
            <a:endParaRPr b="0" lang="en-IN" sz="1200" strike="noStrike" u="non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1143000" y="685800"/>
            <a:ext cx="4572000" cy="3429000"/>
          </a:xfrm>
          <a:prstGeom prst="rect">
            <a:avLst/>
          </a:prstGeom>
          <a:ln w="0">
            <a:noFill/>
          </a:ln>
        </p:spPr>
      </p:sp>
      <p:sp>
        <p:nvSpPr>
          <p:cNvPr id="15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Couvrez chaque lame avec une solution décolorante, tel l’alcool-acide.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Laissez le décolorant sur la lame pendant 3 minutes.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la lame n’est pas suffisamment décolorée, des éléments autres que les bacilles tuberculeux présents dans l’expectoration pourraient retenir la coloration, ce qui pourrait causer des résultats faux-positifs.</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1143000" y="685800"/>
            <a:ext cx="4572000" cy="3429000"/>
          </a:xfrm>
          <a:prstGeom prst="rect">
            <a:avLst/>
          </a:prstGeom>
          <a:ln w="0">
            <a:noFill/>
          </a:ln>
        </p:spPr>
      </p:sp>
      <p:sp>
        <p:nvSpPr>
          <p:cNvPr id="155"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Rincez les lames de nouveau soigneusement et inclinez les une à une pour les faire égoutter.  Si la lame reste encore rose, rajoutez du décolorant pendant 1 à 3 minutes.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1143000" y="685800"/>
            <a:ext cx="4572000" cy="3429000"/>
          </a:xfrm>
          <a:prstGeom prst="rect">
            <a:avLst/>
          </a:prstGeom>
          <a:ln w="0">
            <a:noFill/>
          </a:ln>
        </p:spPr>
      </p:sp>
      <p:sp>
        <p:nvSpPr>
          <p:cNvPr id="15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Contre-colorez ensuite au bleu de méthylène pendant 1 minute.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1143000" y="685800"/>
            <a:ext cx="4572000" cy="3429000"/>
          </a:xfrm>
          <a:prstGeom prst="rect">
            <a:avLst/>
          </a:prstGeom>
          <a:ln w="0">
            <a:noFill/>
          </a:ln>
        </p:spPr>
      </p:sp>
      <p:sp>
        <p:nvSpPr>
          <p:cNvPr id="15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Rincez encore doucement avec un filet d’eau, et inclinez les une à une pour les faire égoutter.</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Finalement, inclinez chaque lame et placez-les sur un porte-lame pour les sécher.</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Ne pas sécher au papier buvard.</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Après coloration nettoyez, s’il le faut, le verso de chaque lame avec une serviette en papier imbibée d’alcool. N’examinez pas les lames avant qu’elles ne soient complètement sèches.</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Couvrez les lames pour les protéger de la lumière du soleil qui pourrait décolorer les BAARs.</a:t>
            </a:r>
            <a:r>
              <a:rPr b="0" lang="en-US" sz="1200" strike="noStrike" u="none">
                <a:solidFill>
                  <a:srgbClr val="000000"/>
                </a:solidFill>
                <a:effectLst/>
                <a:uFillTx/>
                <a:latin typeface="Times New Roman"/>
                <a:ea typeface="Times New Roman"/>
              </a:rPr>
              <a:t>	</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1143000" y="685800"/>
            <a:ext cx="4572000" cy="3429000"/>
          </a:xfrm>
          <a:prstGeom prst="rect">
            <a:avLst/>
          </a:prstGeom>
          <a:ln w="0">
            <a:noFill/>
          </a:ln>
        </p:spPr>
      </p:sp>
      <p:sp>
        <p:nvSpPr>
          <p:cNvPr id="16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L’Examen au Microscope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Un microsope binoculaire de bonne qualité est</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recommandé pour examiner les frottis colorés.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Il doit être équipé d’une source de lumière électrique ainsi que d’un miroir, d’un objectif à immersion, magnification 100 fois, d’oculaires de grossissement 8-10X et d’une platine porte-objets.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L’entretien et le nettoyage quotidien sont essentiels pour éviter la poussière, l’accumulation d’huile et l’humidité.  La lecture des lames s’effectue de préférence dans un endroit avec lumière tamisée.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Par contre, s’il n’y a pas d’électricité, on utilise la lumière du jour comme source de lumière et le microscope devra  donc être placé devant une fenêtre.</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1143000" y="685800"/>
            <a:ext cx="4572000" cy="3429000"/>
          </a:xfrm>
          <a:prstGeom prst="rect">
            <a:avLst/>
          </a:prstGeom>
          <a:ln w="0">
            <a:noFill/>
          </a:ln>
        </p:spPr>
      </p:sp>
      <p:sp>
        <p:nvSpPr>
          <p:cNvPr id="16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Placez les articles suivants près du microscope: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Un flacon d’huile à immersion, du solvant organique, du papier pour le nettoyage des objectifs, un registre de laboratoire et une boîte de rangement pour les lames examinées.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Utilisez un objectif de magnification 40 fois pour la mise au point et choisissez un endroit approprié sur la lame.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Déposez une goutte d’huile d’immersion sur le frottis coloré.  Laissez tomber une goutte sur la lame.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Ne touchez jamais la lame avec l’applicateur d’huile.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Ceci pourrait causer une contamination transférée sur la prochaine lame.</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Bold"/>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Faites basculer le porte-objectifs pour mettre en place l’objectif de magnification 100 fois.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Ensuite, abaissez lentement l’objectif de magnification 100 fois jusqu’au ras de la lame dans la goutte d’huile.</a:t>
            </a:r>
            <a:r>
              <a:rPr b="0" lang="en-US" sz="1200" strike="noStrike" u="none">
                <a:solidFill>
                  <a:srgbClr val="ff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L’objectif ne doit jamais toucher la lame.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Ceci pourrait endommager l’objectif et même briser la lame.</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Tout en regardant dans les oculaires, ajustez  l’objectif et mettez-le au point jusqu’au moment où l’image de la préparation apparaît.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Terminez la mise au point à l’aide de la vis micrométrique</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1143000" y="685800"/>
            <a:ext cx="4572000" cy="3429000"/>
          </a:xfrm>
          <a:prstGeom prst="rect">
            <a:avLst/>
          </a:prstGeom>
          <a:ln w="0">
            <a:noFill/>
          </a:ln>
        </p:spPr>
      </p:sp>
      <p:sp>
        <p:nvSpPr>
          <p:cNvPr id="165" name="PlaceHolder 2"/>
          <p:cNvSpPr>
            <a:spLocks noGrp="1"/>
          </p:cNvSpPr>
          <p:nvPr>
            <p:ph type="body"/>
          </p:nvPr>
        </p:nvSpPr>
        <p:spPr>
          <a:xfrm>
            <a:off x="914400" y="4343400"/>
            <a:ext cx="5029200" cy="4114800"/>
          </a:xfrm>
          <a:prstGeom prst="rect">
            <a:avLst/>
          </a:prstGeom>
          <a:solidFill>
            <a:srgbClr val="ffffff"/>
          </a:solidFill>
          <a:ln w="9360">
            <a:solidFill>
              <a:srgbClr val="000000"/>
            </a:solidFill>
            <a:miter/>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Examinez au moins 100 champs microscopiques avant de déclarer une lame négative.  L’examen de moins de 100 champs peut causer un résultat faux-négatif. Si la lame est positive vous pouvez lire moins de 100 champs.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Lisez systématiquement pour éviter tout chevauchement et déplacez la lame dans le sens de la longueur, pour examiner le champ suivant.</a:t>
            </a:r>
            <a:r>
              <a:rPr b="0" lang="en-US" sz="1200" strike="noStrike" u="none">
                <a:solidFill>
                  <a:srgbClr val="000000"/>
                </a:solidFill>
                <a:effectLst/>
                <a:uFillTx/>
                <a:latin typeface="Times New Roman"/>
              </a:rPr>
              <a:t> </a:t>
            </a:r>
            <a:endParaRPr b="0" lang="en-IN" sz="1200" strike="noStrike" u="non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1143000" y="685800"/>
            <a:ext cx="4572000" cy="3429000"/>
          </a:xfrm>
          <a:prstGeom prst="rect">
            <a:avLst/>
          </a:prstGeom>
          <a:ln w="0">
            <a:noFill/>
          </a:ln>
        </p:spPr>
      </p:sp>
      <p:sp>
        <p:nvSpPr>
          <p:cNvPr id="16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bacilles tuberculeux apparaissent comme de fins bâtonnets rouges légèrement incurvés, granuleux, isolés, par paires ou en amas, se détachant nettement sur le fond bleu de la préparation.</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Comptez le nombre de BAARs par champ et notez ce nombre sur le rapport de laboratoire.</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Après avoir examiné la lame minutieusement, enlevez-la de la platine du microscope.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Vérifiez de nouveau le numéro d’identification gravé sur la lame et notez les résultats immédiatement dans le registre du laboratoire.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1143000" y="685800"/>
            <a:ext cx="4572000" cy="3429000"/>
          </a:xfrm>
          <a:prstGeom prst="rect">
            <a:avLst/>
          </a:prstGeom>
          <a:ln w="0">
            <a:noFill/>
          </a:ln>
        </p:spPr>
      </p:sp>
      <p:sp>
        <p:nvSpPr>
          <p:cNvPr id="16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 la fin de l’examen, enlevez l’huile de la lame.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Lorsque sèches, placez soigneusement les lames dans une boîte de rangement pour le transfert à un laboratoire de contrôle de qualité.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Ceci doit être fait régulièrement comme le stipulent les directives du PNT. </a:t>
            </a:r>
            <a:endParaRPr b="0" lang="en-IN" sz="1200" strike="noStrike" u="non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1143000" y="685800"/>
            <a:ext cx="4572000" cy="3429000"/>
          </a:xfrm>
          <a:prstGeom prst="rect">
            <a:avLst/>
          </a:prstGeom>
          <a:ln w="0">
            <a:noFill/>
          </a:ln>
        </p:spPr>
      </p:sp>
      <p:sp>
        <p:nvSpPr>
          <p:cNvPr id="17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Avant d’examiner la lame suivante, essuyez la lentille d’immersion avec du papier spécial pour nettoyer les objectifs.  Ceci évitera la contamination transferée qui pourrait causer des résultats faux-positifs.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Manipulez les échantillons très prudemment!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Tous les échantillons d’expectoration doivent être considérés comme potentiellement infectieux.</a:t>
            </a: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Gardez tous les échantillons jusqu’à ce que les frottis aient été examinées et enregistrés.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Ensuite, stérilisez et jetez-les.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crachoirs jetables ne doivent être utilisés qu’une seule fois.</a:t>
            </a:r>
            <a:r>
              <a:rPr b="0" lang="en-US" sz="1200" strike="noStrike" u="none">
                <a:solidFill>
                  <a:srgbClr val="000000"/>
                </a:solidFill>
                <a:effectLst/>
                <a:uFillTx/>
                <a:latin typeface="Times New Roman"/>
                <a:ea typeface="Times New Roman"/>
              </a:rPr>
              <a:t>	</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Bold"/>
                <a:ea typeface="Times New Roman"/>
              </a:rPr>
              <a:t> </a:t>
            </a:r>
            <a:endParaRPr b="0" lang="en-IN" sz="1200" strike="noStrike" u="non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1143000" y="685800"/>
            <a:ext cx="4572000" cy="3429000"/>
          </a:xfrm>
          <a:prstGeom prst="rect">
            <a:avLst/>
          </a:prstGeom>
          <a:ln w="0">
            <a:noFill/>
          </a:ln>
        </p:spPr>
      </p:sp>
      <p:sp>
        <p:nvSpPr>
          <p:cNvPr id="17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Enregistrement et Déclaration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Il est très important que les résultats de tous les </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examens microscopiques soient notés correctement</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dans le registre du laboratoire de tuberculose. </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Pour une référence rapide marquez les résultats</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positifs en rouge.</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l’on trouve des BAARs, notez vos observations “frottis BAAR positif.” Ces patients sont infectieux et doivent être pris en charge et traités avec un régime efficace.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examens microscopiques et les déclarations devraient s'effectuer dans les délais les plus brefs, préférablement dans les 24 heures ou moins.</a:t>
            </a:r>
            <a:r>
              <a:rPr b="0" lang="en-US" sz="1200" strike="noStrike" u="none">
                <a:solidFill>
                  <a:srgbClr val="000000"/>
                </a:solidFill>
                <a:effectLst/>
                <a:uFillTx/>
                <a:latin typeface="Times New Roman"/>
              </a:rPr>
              <a:t> </a:t>
            </a:r>
            <a:endParaRPr b="0" lang="en-IN" sz="1200" strike="noStrike" u="non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1143000" y="685800"/>
            <a:ext cx="4572000" cy="3429000"/>
          </a:xfrm>
          <a:prstGeom prst="rect">
            <a:avLst/>
          </a:prstGeom>
          <a:ln w="0">
            <a:noFill/>
          </a:ln>
        </p:spPr>
      </p:sp>
      <p:sp>
        <p:nvSpPr>
          <p:cNvPr id="175" name="PlaceHolder 2"/>
          <p:cNvSpPr>
            <a:spLocks noGrp="1"/>
          </p:cNvSpPr>
          <p:nvPr>
            <p:ph type="body"/>
          </p:nvPr>
        </p:nvSpPr>
        <p:spPr>
          <a:xfrm>
            <a:off x="914400" y="4343400"/>
            <a:ext cx="5029200" cy="4114800"/>
          </a:xfrm>
          <a:prstGeom prst="rect">
            <a:avLst/>
          </a:prstGeom>
          <a:solidFill>
            <a:srgbClr val="ffffff"/>
          </a:solidFill>
          <a:ln w="9360">
            <a:solidFill>
              <a:srgbClr val="000000"/>
            </a:solidFill>
            <a:miter/>
          </a:ln>
        </p:spPr>
        <p:txBody>
          <a:bodyPr lIns="90000" rIns="90000" tIns="46800" bIns="46800" anchor="t">
            <a:noAutofit/>
          </a:bodyPr>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Méthodes recommandées par l’OMS et l’Union Internationale (l’UICTMR) pour l’enregistrement des résultats: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Négatif: Déclarez: 'BAAR négatif' ou aucun </a:t>
            </a:r>
            <a:endParaRPr b="0" lang="en-IN" sz="1200" strike="noStrike" u="none">
              <a:solidFill>
                <a:srgbClr val="000000"/>
              </a:solidFill>
              <a:effectLst/>
              <a:uFillTx/>
              <a:latin typeface="Times New Roman"/>
            </a:endParaRPr>
          </a:p>
          <a:p>
            <a:pPr indent="0" algn="ctr">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organisme observé sur 100 champs.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Positif: Déclarez: 'BAAR positif'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Inscrivez le nombre de BAARs.</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 nombre d’BAAR observé est une indication du degré de contagiosité et de la gravité de la maladie.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Les résultats doivent être quantifiés.</a:t>
            </a:r>
            <a:r>
              <a:rPr b="0" lang="en-US" sz="1200" strike="noStrike" u="none">
                <a:solidFill>
                  <a:srgbClr val="000000"/>
                </a:solidFill>
                <a:effectLst/>
                <a:uFillTx/>
                <a:latin typeface="Times New Roman"/>
              </a:rPr>
              <a:t> </a:t>
            </a:r>
            <a:endParaRPr b="0" lang="en-IN" sz="1200" strike="noStrike" u="non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1143000" y="685800"/>
            <a:ext cx="4572000" cy="3429000"/>
          </a:xfrm>
          <a:prstGeom prst="rect">
            <a:avLst/>
          </a:prstGeom>
          <a:ln w="0">
            <a:noFill/>
          </a:ln>
        </p:spPr>
      </p:sp>
      <p:sp>
        <p:nvSpPr>
          <p:cNvPr id="177" name="PlaceHolder 2"/>
          <p:cNvSpPr>
            <a:spLocks noGrp="1"/>
          </p:cNvSpPr>
          <p:nvPr>
            <p:ph type="body"/>
          </p:nvPr>
        </p:nvSpPr>
        <p:spPr>
          <a:xfrm>
            <a:off x="914400" y="4343400"/>
            <a:ext cx="5029200" cy="4114800"/>
          </a:xfrm>
          <a:prstGeom prst="rect">
            <a:avLst/>
          </a:prstGeom>
          <a:solidFill>
            <a:srgbClr val="ffffff"/>
          </a:solidFill>
          <a:ln w="9360">
            <a:solidFill>
              <a:srgbClr val="000000"/>
            </a:solidFill>
            <a:miter/>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L’échelle semi-quantitative suivante est recommandée pour la méthode de coloration de Ziehl-Neelsen: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Page 33.</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Si aucun BAAR n’est observé dans 100 champs, notez: aucun BAAR observé.</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Si  1 à 9  BAARs sont observés dans 100 champs, notez le nombre exact.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Si 10 à 99 BAARs sont observés dans 100 champs, notez 1+.</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Si 1 à 10  BAARs sont observés par champ, notez 2+.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Si plus de 10 BAARs sont observés par champ, notez 3+.</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1143000" y="685800"/>
            <a:ext cx="4572000" cy="3429000"/>
          </a:xfrm>
          <a:prstGeom prst="rect">
            <a:avLst/>
          </a:prstGeom>
          <a:ln w="0">
            <a:noFill/>
          </a:ln>
        </p:spPr>
      </p:sp>
      <p:sp>
        <p:nvSpPr>
          <p:cNvPr id="179" name="PlaceHolder 2"/>
          <p:cNvSpPr>
            <a:spLocks noGrp="1"/>
          </p:cNvSpPr>
          <p:nvPr>
            <p:ph type="body"/>
          </p:nvPr>
        </p:nvSpPr>
        <p:spPr>
          <a:xfrm>
            <a:off x="914400" y="4343400"/>
            <a:ext cx="5029200" cy="4114800"/>
          </a:xfrm>
          <a:prstGeom prst="rect">
            <a:avLst/>
          </a:prstGeom>
          <a:solidFill>
            <a:srgbClr val="ffffff"/>
          </a:solidFill>
          <a:ln w="9360">
            <a:solidFill>
              <a:srgbClr val="000000"/>
            </a:solidFill>
            <a:miter/>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Inscrivez dans votre rapport les renseignements suivants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L’évaluation de la qualité de l’échantillon</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La méthode de coloration utilisée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Les résultats de l’examen</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La date de l’examen</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La signature du technicien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En plus des bacilles tuberculeux, il existe beaucoup d’autres espèces de mycobactéries. N’essayez-pas de les identifier à l’aide d’un microscope; notez seulement le nombre.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Après avoir complété le rapport de laboratoire, envoyez-le au centre de santé qui y donnera suite.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1143000" y="685800"/>
            <a:ext cx="4572000" cy="3429000"/>
          </a:xfrm>
          <a:prstGeom prst="rect">
            <a:avLst/>
          </a:prstGeom>
          <a:ln w="0">
            <a:noFill/>
          </a:ln>
        </p:spPr>
      </p:sp>
      <p:sp>
        <p:nvSpPr>
          <p:cNvPr id="181"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Contrôle de Qualité Dans Le Laboratoire</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de Tuberculose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La contrôle de qualité devrait toujours être effectué dans le laboratoire pour assurer la fiabilité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et la reproductibilité des résultats </a:t>
            </a:r>
            <a:r>
              <a:rPr b="0" lang="en-US" sz="1200" strike="noStrike" u="none">
                <a:solidFill>
                  <a:srgbClr val="000000"/>
                </a:solidFill>
                <a:effectLst/>
                <a:uFillTx/>
                <a:latin typeface="Times New Roman"/>
                <a:ea typeface="Times New Roman"/>
              </a:rPr>
              <a:t>.</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Effectuez un contrôle de qualité sur chaque nouveau lot de colorants</a:t>
            </a:r>
            <a:r>
              <a:rPr b="1" lang="en-US" sz="1200" strike="noStrike" u="none">
                <a:solidFill>
                  <a:srgbClr val="000000"/>
                </a:solidFill>
                <a:effectLst/>
                <a:uFillTx/>
                <a:latin typeface="Times New Roman"/>
                <a:ea typeface="Times New Roman"/>
              </a:rPr>
              <a:t>. </a:t>
            </a:r>
            <a:r>
              <a:rPr b="0" lang="en-US" sz="1200" strike="noStrike" u="none">
                <a:solidFill>
                  <a:srgbClr val="000000"/>
                </a:solidFill>
                <a:effectLst/>
                <a:uFillTx/>
                <a:latin typeface="Times New Roman"/>
                <a:ea typeface="Times New Roman"/>
              </a:rPr>
              <a:t>Tenez compte de ces résultats avant de lire les lames d’un patient.  Cette activité importante fournira la preuve d’exactitude de la méthode de coloration et du fonctionnement du microscope.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Lorsque les contrôles révèlent une coloration inadéquate, déterminez-en la cause et corrigez-la.</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le contrôle négatif reste rouge après la coloration ceci pourrait être le  résultat d’une décoloration incomplète.</a:t>
            </a:r>
            <a:endParaRPr b="0" lang="en-IN" sz="1200" strike="noStrike" u="non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1143000" y="685800"/>
            <a:ext cx="4572000" cy="3429000"/>
          </a:xfrm>
          <a:prstGeom prst="rect">
            <a:avLst/>
          </a:prstGeom>
          <a:ln w="0">
            <a:noFill/>
          </a:ln>
        </p:spPr>
      </p:sp>
      <p:sp>
        <p:nvSpPr>
          <p:cNvPr id="183"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la lame du contrôle positif ne montre pas de BAARs, soit que les réactifs sont défectueux, soit que la procédure a été effectuée incorrectement. Lorsque le problème a été identifié et corrigé, répétez la coloration avec des lames et des contrôles nouveaux.</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Chaque phase de la bacilloscopie doit être effectuée prudemment. Une erreur à n’importe quelle étape peut mener à de  faux résultats.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1143000" y="685800"/>
            <a:ext cx="4572000" cy="3429000"/>
          </a:xfrm>
          <a:prstGeom prst="rect">
            <a:avLst/>
          </a:prstGeom>
          <a:ln w="0">
            <a:noFill/>
          </a:ln>
        </p:spPr>
      </p:sp>
      <p:sp>
        <p:nvSpPr>
          <p:cNvPr id="185" name="PlaceHolder 2"/>
          <p:cNvSpPr>
            <a:spLocks noGrp="1"/>
          </p:cNvSpPr>
          <p:nvPr>
            <p:ph type="body"/>
          </p:nvPr>
        </p:nvSpPr>
        <p:spPr>
          <a:xfrm>
            <a:off x="914400" y="4343400"/>
            <a:ext cx="5029200" cy="4114800"/>
          </a:xfrm>
          <a:prstGeom prst="rect">
            <a:avLst/>
          </a:prstGeom>
          <a:solidFill>
            <a:srgbClr val="ffffff"/>
          </a:solidFill>
          <a:ln w="9360">
            <a:solidFill>
              <a:srgbClr val="000000"/>
            </a:solidFill>
            <a:miter/>
          </a:ln>
        </p:spPr>
        <p:txBody>
          <a:bodyPr lIns="90000" rIns="90000" tIns="46800" bIns="46800" anchor="t">
            <a:noAutofit/>
          </a:bodyPr>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Voici quelques causes menant à des résultats faux-positifs: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1" lang="en-US" sz="1200" strike="noStrike" u="none">
                <a:solidFill>
                  <a:srgbClr val="000000"/>
                </a:solidFill>
                <a:effectLst/>
                <a:uFillTx/>
                <a:latin typeface="Times New Roman"/>
                <a:ea typeface="Times New Roman"/>
              </a:rPr>
              <a:t>Des erreurs dans la manipulation des échantillons ou dans l’enregistrement de résultats.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1" lang="en-US" sz="1200" strike="noStrike" u="none">
                <a:solidFill>
                  <a:srgbClr val="000000"/>
                </a:solidFill>
                <a:effectLst/>
                <a:uFillTx/>
                <a:latin typeface="Symbol"/>
                <a:ea typeface="Symbol"/>
              </a:rPr>
              <a:t></a:t>
            </a:r>
            <a:r>
              <a:rPr b="1" lang="en-US" sz="1200" strike="noStrike" u="none">
                <a:solidFill>
                  <a:srgbClr val="000000"/>
                </a:solidFill>
                <a:effectLst/>
                <a:uFillTx/>
                <a:latin typeface="Times New Roman"/>
                <a:ea typeface="Times New Roman"/>
              </a:rPr>
              <a:t>La réutilisation des crachoirs  ou celle des lames positives.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1" lang="en-US" sz="1200" strike="noStrike" u="none">
                <a:solidFill>
                  <a:srgbClr val="000000"/>
                </a:solidFill>
                <a:effectLst/>
                <a:uFillTx/>
                <a:latin typeface="Symbol"/>
                <a:ea typeface="Symbol"/>
              </a:rPr>
              <a:t></a:t>
            </a:r>
            <a:r>
              <a:rPr b="1" lang="en-US" sz="1200" strike="noStrike" u="none">
                <a:solidFill>
                  <a:srgbClr val="000000"/>
                </a:solidFill>
                <a:effectLst/>
                <a:uFillTx/>
                <a:latin typeface="Times New Roman"/>
                <a:ea typeface="Times New Roman"/>
              </a:rPr>
              <a:t>De la fuschsine phéniquée non-filtrée.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Symbol"/>
                <a:ea typeface="Symbol"/>
              </a:rPr>
              <a:t></a:t>
            </a:r>
            <a:r>
              <a:rPr b="1" lang="en-US" sz="1200" strike="noStrike" u="none">
                <a:solidFill>
                  <a:srgbClr val="000000"/>
                </a:solidFill>
                <a:effectLst/>
                <a:uFillTx/>
                <a:latin typeface="Times New Roman"/>
                <a:ea typeface="Times New Roman"/>
              </a:rPr>
              <a:t>    De l’huile d’immersion contaminée et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Symbol"/>
                <a:ea typeface="Symbol"/>
              </a:rPr>
              <a:t></a:t>
            </a:r>
            <a:r>
              <a:rPr b="1" lang="en-US" sz="1200" strike="noStrike" u="none">
                <a:solidFill>
                  <a:srgbClr val="000000"/>
                </a:solidFill>
                <a:effectLst/>
                <a:uFillTx/>
                <a:latin typeface="Times New Roman"/>
                <a:ea typeface="Times New Roman"/>
              </a:rPr>
              <a:t>    Une décoloration inadéquate.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143000" y="685800"/>
            <a:ext cx="4572000" cy="3429000"/>
          </a:xfrm>
          <a:prstGeom prst="rect">
            <a:avLst/>
          </a:prstGeom>
          <a:ln w="0">
            <a:noFill/>
          </a:ln>
        </p:spPr>
      </p:sp>
      <p:sp>
        <p:nvSpPr>
          <p:cNvPr id="187"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Voici quelques causes menant à des résultats faux-négatifs: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Symbol"/>
                <a:ea typeface="Symbol"/>
              </a:rPr>
              <a:t></a:t>
            </a:r>
            <a:r>
              <a:rPr b="1" lang="en-US" sz="1200" strike="noStrike" u="none">
                <a:solidFill>
                  <a:srgbClr val="000000"/>
                </a:solidFill>
                <a:effectLst/>
                <a:uFillTx/>
                <a:latin typeface="Times New Roman"/>
                <a:ea typeface="Times New Roman"/>
              </a:rPr>
              <a:t>Des erreurs dans la manipulation d’échantillons ou dans l’enregistrement des résultats.</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Symbol"/>
                <a:ea typeface="Symbol"/>
              </a:rPr>
              <a:t></a:t>
            </a:r>
            <a:r>
              <a:rPr b="1" lang="en-US" sz="1200" strike="noStrike" u="none">
                <a:solidFill>
                  <a:srgbClr val="000000"/>
                </a:solidFill>
                <a:effectLst/>
                <a:uFillTx/>
                <a:latin typeface="Times New Roman"/>
                <a:ea typeface="Times New Roman"/>
              </a:rPr>
              <a:t>Des expectorations de  mauvaise qualité.</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Symbol"/>
                <a:ea typeface="Symbol"/>
              </a:rPr>
              <a:t></a:t>
            </a:r>
            <a:r>
              <a:rPr b="1" lang="en-US" sz="1200" strike="noStrike" u="none">
                <a:solidFill>
                  <a:srgbClr val="000000"/>
                </a:solidFill>
                <a:effectLst/>
                <a:uFillTx/>
                <a:latin typeface="Times New Roman"/>
                <a:ea typeface="Times New Roman"/>
              </a:rPr>
              <a:t>Une décoloration excessive.</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Symbol"/>
                <a:ea typeface="Symbol"/>
              </a:rPr>
              <a:t></a:t>
            </a:r>
            <a:r>
              <a:rPr b="1" lang="en-US" sz="1200" strike="noStrike" u="none">
                <a:solidFill>
                  <a:srgbClr val="000000"/>
                </a:solidFill>
                <a:effectLst/>
                <a:uFillTx/>
                <a:latin typeface="Times New Roman"/>
                <a:ea typeface="Times New Roman"/>
              </a:rPr>
              <a:t>    Une lecture de moins de 100 champs microscopiques.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1143000" y="685800"/>
            <a:ext cx="4572000" cy="3429000"/>
          </a:xfrm>
          <a:prstGeom prst="rect">
            <a:avLst/>
          </a:prstGeom>
          <a:ln w="0">
            <a:noFill/>
          </a:ln>
        </p:spPr>
      </p:sp>
      <p:sp>
        <p:nvSpPr>
          <p:cNvPr id="189" name="PlaceHolder 2"/>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Un rapport erroné peut avoir des résultats désastreux!!</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un résultat faux-positif est enregistré, le patient sera pris en charge inutilement.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S’il s’agit d’un examen de suivi, le traitement sera allongé.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Des médicaments coûteux seront gaspillés et malheureusement le patient et sa famille pourront subir un choc émotif grave.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Aussi, les patients pourront perdre confiance dans le traitement.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Si, par contre, un résulat faux-négatif est enregistré, une autre série d’événements catastrophiques peut se déclencher.</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0" lang="en-US" sz="1200" strike="noStrike" u="none">
                <a:solidFill>
                  <a:srgbClr val="000000"/>
                </a:solidFill>
                <a:effectLst/>
                <a:uFillTx/>
                <a:latin typeface="Times New Roman"/>
                <a:ea typeface="Times New Roman"/>
              </a:rPr>
              <a:t>Le patient atteint de tuberculose ne sera pas pris en charge.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Symbol"/>
                <a:ea typeface="Symbol"/>
              </a:rPr>
              <a:t></a:t>
            </a:r>
            <a:r>
              <a:rPr b="0" lang="en-US" sz="1200" strike="noStrike" u="none">
                <a:solidFill>
                  <a:srgbClr val="000000"/>
                </a:solidFill>
                <a:effectLst/>
                <a:uFillTx/>
                <a:latin typeface="Times New Roman"/>
                <a:ea typeface="Times New Roman"/>
              </a:rPr>
              <a:t>        </a:t>
            </a:r>
            <a:r>
              <a:rPr b="0" lang="en-US" sz="1200" strike="noStrike" u="none">
                <a:solidFill>
                  <a:srgbClr val="000000"/>
                </a:solidFill>
                <a:effectLst/>
                <a:uFillTx/>
                <a:latin typeface="Times New Roman"/>
                <a:ea typeface="Times New Roman"/>
              </a:rPr>
              <a:t>S’il s’agissait d’un examen de suivi, la phase intensive de la thérapie ne serait pas continuée, ce qui menerait à un traitement inadéquat.</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Ceci peut causer des souffrances supplémentaires, la propagation de la tuberculose aux membres de la famille et à la communauté et même la mort du patient.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ea typeface="Times New Roman"/>
              </a:rPr>
              <a:t>La fiabilité des résultats à chaque pas est essentielle au bien-être et à la santé de beaucoup de personnes.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En tant que membre de la campagne globale pour le contrôle de cette redoutable maladie, le rôle du technicien de laboratoire est aussi important que </a:t>
            </a:r>
            <a:endParaRPr b="0" lang="en-IN" sz="1200" strike="noStrike" u="none">
              <a:solidFill>
                <a:srgbClr val="000000"/>
              </a:solidFill>
              <a:effectLst/>
              <a:uFillTx/>
              <a:latin typeface="Times New Roman"/>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celui de n’importe quel autre membre de l’équipe de contrôle de la tuberculose.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sng">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Pour que d’importants programmes de contrôle et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de prévention à travers le monde réussissent, la bacilloscopie, un maillon critique dans la chaîne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du contrôle de la tuberculose, doit être fiable.</a:t>
            </a: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 </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ea typeface="Times New Roman"/>
              </a:rPr>
              <a:t>Nous sommes à un tournant…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061F60E7-4AAF-4704-815C-FEE8A78C2313}"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Times New Roman"/>
            </a:endParaRPr>
          </a:p>
        </p:txBody>
      </p:sp>
      <p:sp>
        <p:nvSpPr>
          <p:cNvPr id="6" name="PlaceHolder 2"/>
          <p:cNvSpPr>
            <a:spLocks noGrp="1"/>
          </p:cNvSpPr>
          <p:nvPr>
            <p:ph/>
          </p:nvPr>
        </p:nvSpPr>
        <p:spPr>
          <a:xfrm>
            <a:off x="685800" y="1981080"/>
            <a:ext cx="7772400" cy="411480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A6AA278-E2A2-468F-8CBF-866D1AF2EE41}"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edit the title text format</a:t>
            </a:r>
            <a:endParaRPr b="0" lang="en-IN" sz="4400" strike="noStrike" u="none">
              <a:solidFill>
                <a:srgbClr val="000000"/>
              </a:solidFill>
              <a:effectLst/>
              <a:uFillTx/>
              <a:latin typeface="Times New Roman"/>
            </a:endParaRPr>
          </a:p>
        </p:txBody>
      </p:sp>
      <p:sp>
        <p:nvSpPr>
          <p:cNvPr id="1" name="PlaceHolder 2"/>
          <p:cNvSpPr>
            <a:spLocks noGrp="1"/>
          </p:cNvSpPr>
          <p:nvPr>
            <p:ph type="body"/>
          </p:nvPr>
        </p:nvSpPr>
        <p:spPr>
          <a:xfrm>
            <a:off x="685800" y="198108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2" name="PlaceHolder 3"/>
          <p:cNvSpPr>
            <a:spLocks noGrp="1"/>
          </p:cNvSpPr>
          <p:nvPr>
            <p:ph type="dt" idx="1"/>
          </p:nvPr>
        </p:nvSpPr>
        <p:spPr>
          <a:xfrm>
            <a:off x="685800" y="6248520"/>
            <a:ext cx="1905120" cy="45720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3" name="PlaceHolder 4"/>
          <p:cNvSpPr>
            <a:spLocks noGrp="1"/>
          </p:cNvSpPr>
          <p:nvPr>
            <p:ph type="ftr" idx="2"/>
          </p:nvPr>
        </p:nvSpPr>
        <p:spPr>
          <a:xfrm>
            <a:off x="3124080" y="6248520"/>
            <a:ext cx="2895840" cy="45720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6553080" y="624852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C0F1FCC-564A-4FB9-A17F-EDBBFFC813E0}" type="slidenum">
              <a:rPr b="0" lang="en-US"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audio" Target="../media/WHOOSH.WAV"/><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audio" Target="../media/WHOOSH.WAV"/><Relationship Id="rId2"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audio" Target="../media/WHOOSH.WAV"/><Relationship Id="rId2" Type="http://schemas.openxmlformats.org/officeDocument/2006/relationships/slideLayout" Target="../slideLayouts/slideLayout2.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32.jpe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33.jpe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1.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37.jpe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38.jpeg"/><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39.jpeg"/><Relationship Id="rId2"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40.jpeg"/><Relationship Id="rId2" Type="http://schemas.openxmlformats.org/officeDocument/2006/relationships/slideLayout" Target="../slideLayouts/slideLayout1.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audio" Target="../media/WHOOSH.WAV"/><Relationship Id="rId2" Type="http://schemas.openxmlformats.org/officeDocument/2006/relationships/slideLayout" Target="../slideLayouts/slideLayout2.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1.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42.jpeg"/><Relationship Id="rId2" Type="http://schemas.openxmlformats.org/officeDocument/2006/relationships/slideLayout" Target="../slideLayouts/slideLayout1.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43.jpeg"/><Relationship Id="rId2" Type="http://schemas.openxmlformats.org/officeDocument/2006/relationships/slideLayout" Target="../slideLayouts/slideLayout1.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Relationships xmlns="http://schemas.openxmlformats.org/package/2006/relationships"><Relationship Id="rId1" Type="http://schemas.openxmlformats.org/officeDocument/2006/relationships/image" Target="../media/image44.jpeg"/><Relationship Id="rId2" Type="http://schemas.openxmlformats.org/officeDocument/2006/relationships/slideLayout" Target="../slideLayouts/slideLayout1.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audio" Target="../media/WHOOSH.WAV"/><Relationship Id="rId2" Type="http://schemas.openxmlformats.org/officeDocument/2006/relationships/slideLayout" Target="../slideLayouts/slideLayout2.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audio" Target="../media/WHOOSH.WAV"/><Relationship Id="rId2" Type="http://schemas.openxmlformats.org/officeDocument/2006/relationships/slideLayout" Target="../slideLayouts/slideLayout2.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audio" Target="../media/WHOOSH.WAV"/><Relationship Id="rId2" Type="http://schemas.openxmlformats.org/officeDocument/2006/relationships/slideLayout" Target="../slideLayouts/slideLayout2.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45.jpeg"/><Relationship Id="rId2"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46.jpeg"/><Relationship Id="rId2" Type="http://schemas.openxmlformats.org/officeDocument/2006/relationships/slideLayout" Target="../slideLayouts/slideLayout1.xml"/><Relationship Id="rId3"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47.jpeg"/><Relationship Id="rId2" Type="http://schemas.openxmlformats.org/officeDocument/2006/relationships/slideLayout" Target="../slideLayouts/slideLayout1.xml"/><Relationship Id="rId3"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audio" Target="../media/WHOOSH.WAV"/><Relationship Id="rId2" Type="http://schemas.openxmlformats.org/officeDocument/2006/relationships/slideLayout" Target="../slideLayouts/slideLayout2.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48.jpeg"/><Relationship Id="rId2" Type="http://schemas.openxmlformats.org/officeDocument/2006/relationships/slideLayout" Target="../slideLayouts/slideLayout1.xml"/><Relationship Id="rId3" Type="http://schemas.openxmlformats.org/officeDocument/2006/relationships/notesSlide" Target="../notesSlides/notesSlide5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4" name="French%20title%231" descr=""/>
          <p:cNvPicPr/>
          <p:nvPr/>
        </p:nvPicPr>
        <p:blipFill>
          <a:blip r:embed="rId1"/>
          <a:stretch/>
        </p:blipFill>
        <p:spPr>
          <a:xfrm>
            <a:off x="528480" y="528480"/>
            <a:ext cx="8080560" cy="5386680"/>
          </a:xfrm>
          <a:prstGeom prst="rect">
            <a:avLst/>
          </a:prstGeom>
          <a:noFill/>
          <a:ln w="0">
            <a:noFill/>
          </a:ln>
        </p:spPr>
      </p:pic>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5" name="%232%20Animation" descr=""/>
          <p:cNvPicPr/>
          <p:nvPr/>
        </p:nvPicPr>
        <p:blipFill>
          <a:blip r:embed="rId1"/>
          <a:stretch/>
        </p:blipFill>
        <p:spPr>
          <a:xfrm>
            <a:off x="528480" y="528480"/>
            <a:ext cx="7824960" cy="5869080"/>
          </a:xfrm>
          <a:prstGeom prst="rect">
            <a:avLst/>
          </a:prstGeom>
          <a:noFill/>
          <a:ln w="0">
            <a:noFill/>
          </a:ln>
        </p:spPr>
      </p:pic>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6" name="%233%20door%20point" descr=""/>
          <p:cNvPicPr/>
          <p:nvPr/>
        </p:nvPicPr>
        <p:blipFill>
          <a:blip r:embed="rId1"/>
          <a:stretch/>
        </p:blipFill>
        <p:spPr>
          <a:xfrm>
            <a:off x="528480" y="528480"/>
            <a:ext cx="7824960" cy="5869080"/>
          </a:xfrm>
          <a:prstGeom prst="rect">
            <a:avLst/>
          </a:prstGeom>
          <a:noFill/>
          <a:ln w="0">
            <a:noFill/>
          </a:ln>
        </p:spPr>
      </p:pic>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7" name="%234%20Coughing%20outside" descr=""/>
          <p:cNvPicPr/>
          <p:nvPr/>
        </p:nvPicPr>
        <p:blipFill>
          <a:blip r:embed="rId1"/>
          <a:stretch/>
        </p:blipFill>
        <p:spPr>
          <a:xfrm>
            <a:off x="528480" y="528480"/>
            <a:ext cx="7824960" cy="5869080"/>
          </a:xfrm>
          <a:prstGeom prst="rect">
            <a:avLst/>
          </a:prstGeom>
          <a:noFill/>
          <a:ln w="0">
            <a:noFill/>
          </a:ln>
        </p:spPr>
      </p:pic>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cc"/>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228600" y="685440"/>
            <a:ext cx="777240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4400" strike="noStrike" u="none">
                <a:solidFill>
                  <a:srgbClr val="ffffff"/>
                </a:solidFill>
                <a:effectLst/>
                <a:uFillTx/>
                <a:latin typeface="Times New Roman"/>
              </a:rPr>
              <a:t>Sécurité</a:t>
            </a:r>
            <a:endParaRPr b="0" lang="en-IN" sz="4400" strike="noStrike" u="none">
              <a:solidFill>
                <a:srgbClr val="000000"/>
              </a:solidFill>
              <a:effectLst/>
              <a:uFillTx/>
              <a:latin typeface="Times New Roman"/>
            </a:endParaRPr>
          </a:p>
        </p:txBody>
      </p:sp>
      <p:sp>
        <p:nvSpPr>
          <p:cNvPr id="19" name="PlaceHolder 2"/>
          <p:cNvSpPr>
            <a:spLocks noGrp="1"/>
          </p:cNvSpPr>
          <p:nvPr>
            <p:ph/>
          </p:nvPr>
        </p:nvSpPr>
        <p:spPr>
          <a:xfrm>
            <a:off x="838080" y="1981080"/>
            <a:ext cx="7772400" cy="4114800"/>
          </a:xfrm>
          <a:prstGeom prst="rect">
            <a:avLst/>
          </a:prstGeom>
          <a:noFill/>
          <a:ln w="0">
            <a:noFill/>
          </a:ln>
        </p:spPr>
        <p:txBody>
          <a:bodyPr lIns="90000" rIns="90000" tIns="46800" bIns="46800" anchor="t">
            <a:normAutofit/>
          </a:bodyPr>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Se laver les mains</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Courant d'air</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Ne jamais fumer ou manger dans le laboratoire!</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Blouses de laboratoire et équipements de protection.</a:t>
            </a:r>
            <a:endParaRPr b="0" lang="en-IN" sz="3200" strike="noStrike" u="none">
              <a:solidFill>
                <a:srgbClr val="000000"/>
              </a:solidFill>
              <a:effectLst/>
              <a:uFillTx/>
              <a:latin typeface="Times New Roman"/>
            </a:endParaRPr>
          </a:p>
        </p:txBody>
      </p:sp>
    </p:spTree>
  </p:cSld>
  <p:transition spd="med" advTm="8000">
    <p:random/>
    <p:sndAc>
      <p:stSnd>
        <p:snd r:embed="rId1" name="WHOOSH.WAV"/>
      </p:stSnd>
    </p:sndAc>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0" name="%236%20Surgical%20mask" descr=""/>
          <p:cNvPicPr/>
          <p:nvPr/>
        </p:nvPicPr>
        <p:blipFill>
          <a:blip r:embed="rId1"/>
          <a:stretch/>
        </p:blipFill>
        <p:spPr>
          <a:xfrm>
            <a:off x="528480" y="533520"/>
            <a:ext cx="8209080" cy="5875200"/>
          </a:xfrm>
          <a:prstGeom prst="rect">
            <a:avLst/>
          </a:prstGeom>
          <a:noFill/>
          <a:ln w="0">
            <a:noFill/>
          </a:ln>
        </p:spPr>
      </p:pic>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1" name="FR%237%20lab%20argmnt" descr=""/>
          <p:cNvPicPr/>
          <p:nvPr/>
        </p:nvPicPr>
        <p:blipFill>
          <a:blip r:embed="rId1"/>
          <a:stretch/>
        </p:blipFill>
        <p:spPr>
          <a:xfrm>
            <a:off x="528480" y="528480"/>
            <a:ext cx="8080560" cy="5386680"/>
          </a:xfrm>
          <a:prstGeom prst="rect">
            <a:avLst/>
          </a:prstGeom>
          <a:noFill/>
          <a:ln w="0">
            <a:noFill/>
          </a:ln>
        </p:spPr>
      </p:pic>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2" name="%238%20Area%201" descr=""/>
          <p:cNvPicPr/>
          <p:nvPr/>
        </p:nvPicPr>
        <p:blipFill>
          <a:blip r:embed="rId1"/>
          <a:stretch/>
        </p:blipFill>
        <p:spPr>
          <a:xfrm>
            <a:off x="528480" y="528480"/>
            <a:ext cx="8080560" cy="6059520"/>
          </a:xfrm>
          <a:prstGeom prst="rect">
            <a:avLst/>
          </a:prstGeom>
          <a:noFill/>
          <a:ln w="0">
            <a:noFill/>
          </a:ln>
        </p:spPr>
      </p:pic>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3" name="%239%20Area%202" descr=""/>
          <p:cNvPicPr/>
          <p:nvPr/>
        </p:nvPicPr>
        <p:blipFill>
          <a:blip r:embed="rId1"/>
          <a:stretch/>
        </p:blipFill>
        <p:spPr>
          <a:xfrm>
            <a:off x="528480" y="528480"/>
            <a:ext cx="8080560" cy="6059520"/>
          </a:xfrm>
          <a:prstGeom prst="rect">
            <a:avLst/>
          </a:prstGeom>
          <a:noFill/>
          <a:ln w="0">
            <a:noFill/>
          </a:ln>
        </p:spPr>
      </p:pic>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4" name="%2310%20Area%203" descr=""/>
          <p:cNvPicPr/>
          <p:nvPr/>
        </p:nvPicPr>
        <p:blipFill>
          <a:blip r:embed="rId1"/>
          <a:stretch/>
        </p:blipFill>
        <p:spPr>
          <a:xfrm>
            <a:off x="528480" y="528480"/>
            <a:ext cx="8080560" cy="6059520"/>
          </a:xfrm>
          <a:prstGeom prst="rect">
            <a:avLst/>
          </a:prstGeom>
          <a:noFill/>
          <a:ln w="0">
            <a:noFill/>
          </a:ln>
        </p:spPr>
      </p:pic>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5" name="FR%2311specimen" descr=""/>
          <p:cNvPicPr/>
          <p:nvPr/>
        </p:nvPicPr>
        <p:blipFill>
          <a:blip r:embed="rId1"/>
          <a:stretch/>
        </p:blipFill>
        <p:spPr>
          <a:xfrm>
            <a:off x="528480" y="528480"/>
            <a:ext cx="8080560" cy="5386680"/>
          </a:xfrm>
          <a:prstGeom prst="rect">
            <a:avLst/>
          </a:prstGeom>
          <a:noFill/>
          <a:ln w="0">
            <a:noFill/>
          </a:ln>
        </p:spPr>
      </p:pic>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6" name="%2312%20Two%20containers" descr=""/>
          <p:cNvPicPr/>
          <p:nvPr/>
        </p:nvPicPr>
        <p:blipFill>
          <a:blip r:embed="rId1"/>
          <a:stretch/>
        </p:blipFill>
        <p:spPr>
          <a:xfrm>
            <a:off x="533520" y="528480"/>
            <a:ext cx="8080200" cy="6143760"/>
          </a:xfrm>
          <a:prstGeom prst="rect">
            <a:avLst/>
          </a:prstGeom>
          <a:noFill/>
          <a:ln w="0">
            <a:noFill/>
          </a:ln>
        </p:spPr>
      </p:pic>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7" name="%2313%20Many%20countries%20containers" descr=""/>
          <p:cNvPicPr/>
          <p:nvPr/>
        </p:nvPicPr>
        <p:blipFill>
          <a:blip r:embed="rId1"/>
          <a:stretch/>
        </p:blipFill>
        <p:spPr>
          <a:xfrm>
            <a:off x="528480" y="528480"/>
            <a:ext cx="8080560" cy="6002640"/>
          </a:xfrm>
          <a:prstGeom prst="rect">
            <a:avLst/>
          </a:prstGeom>
          <a:noFill/>
          <a:ln w="0">
            <a:noFill/>
          </a:ln>
        </p:spPr>
      </p:pic>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8" name="%2314%20Writing%20on%20container" descr=""/>
          <p:cNvPicPr/>
          <p:nvPr/>
        </p:nvPicPr>
        <p:blipFill>
          <a:blip r:embed="rId1"/>
          <a:stretch/>
        </p:blipFill>
        <p:spPr>
          <a:xfrm>
            <a:off x="528480" y="528480"/>
            <a:ext cx="8080560" cy="5376960"/>
          </a:xfrm>
          <a:prstGeom prst="rect">
            <a:avLst/>
          </a:prstGeom>
          <a:noFill/>
          <a:ln w="0">
            <a:noFill/>
          </a:ln>
        </p:spPr>
      </p:pic>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9" name="%2315%204%20specimens" descr=""/>
          <p:cNvPicPr/>
          <p:nvPr/>
        </p:nvPicPr>
        <p:blipFill>
          <a:blip r:embed="rId1"/>
          <a:stretch/>
        </p:blipFill>
        <p:spPr>
          <a:xfrm>
            <a:off x="528480" y="528480"/>
            <a:ext cx="8080560" cy="5378760"/>
          </a:xfrm>
          <a:prstGeom prst="rect">
            <a:avLst/>
          </a:prstGeom>
          <a:noFill/>
          <a:ln w="0">
            <a:noFill/>
          </a:ln>
        </p:spPr>
      </p:pic>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0" name="%2316%20Washing%20Hands" descr=""/>
          <p:cNvPicPr/>
          <p:nvPr/>
        </p:nvPicPr>
        <p:blipFill>
          <a:blip r:embed="rId1"/>
          <a:stretch/>
        </p:blipFill>
        <p:spPr>
          <a:xfrm>
            <a:off x="528480" y="528480"/>
            <a:ext cx="8080560" cy="5376960"/>
          </a:xfrm>
          <a:prstGeom prst="rect">
            <a:avLst/>
          </a:prstGeom>
          <a:noFill/>
          <a:ln w="0">
            <a:noFill/>
          </a:ln>
        </p:spPr>
      </p:pic>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1" name="FR%2317%20handling" descr=""/>
          <p:cNvPicPr/>
          <p:nvPr/>
        </p:nvPicPr>
        <p:blipFill>
          <a:blip r:embed="rId1"/>
          <a:stretch/>
        </p:blipFill>
        <p:spPr>
          <a:xfrm>
            <a:off x="528480" y="528480"/>
            <a:ext cx="8080560" cy="5386680"/>
          </a:xfrm>
          <a:prstGeom prst="rect">
            <a:avLst/>
          </a:prstGeom>
          <a:noFill/>
          <a:ln w="0">
            <a:noFill/>
          </a:ln>
        </p:spPr>
      </p:pic>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2" name="%2318%20writing%20in%20register" descr=""/>
          <p:cNvPicPr/>
          <p:nvPr/>
        </p:nvPicPr>
        <p:blipFill>
          <a:blip r:embed="rId1"/>
          <a:stretch/>
        </p:blipFill>
        <p:spPr>
          <a:xfrm>
            <a:off x="528480" y="528480"/>
            <a:ext cx="8080560" cy="5376960"/>
          </a:xfrm>
          <a:prstGeom prst="rect">
            <a:avLst/>
          </a:prstGeom>
          <a:noFill/>
          <a:ln w="0">
            <a:noFill/>
          </a:ln>
        </p:spPr>
      </p:pic>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cc"/>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228600" y="456840"/>
            <a:ext cx="777240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imes New Roman"/>
              </a:rPr>
              <a:t>Les renseignements</a:t>
            </a:r>
            <a:endParaRPr b="0" lang="en-IN" sz="4400" strike="noStrike" u="none">
              <a:solidFill>
                <a:srgbClr val="000000"/>
              </a:solidFill>
              <a:effectLst/>
              <a:uFillTx/>
              <a:latin typeface="Times New Roman"/>
            </a:endParaRPr>
          </a:p>
        </p:txBody>
      </p:sp>
      <p:sp>
        <p:nvSpPr>
          <p:cNvPr id="34" name="PlaceHolder 2"/>
          <p:cNvSpPr>
            <a:spLocks noGrp="1"/>
          </p:cNvSpPr>
          <p:nvPr>
            <p:ph/>
          </p:nvPr>
        </p:nvSpPr>
        <p:spPr>
          <a:xfrm>
            <a:off x="762120" y="1752480"/>
            <a:ext cx="7772400" cy="4114800"/>
          </a:xfrm>
          <a:prstGeom prst="rect">
            <a:avLst/>
          </a:prstGeom>
          <a:noFill/>
          <a:ln w="0">
            <a:noFill/>
          </a:ln>
        </p:spPr>
        <p:txBody>
          <a:bodyPr lIns="90000" rIns="90000" tIns="46800" bIns="46800" anchor="t">
            <a:normAutofit/>
          </a:bodyPr>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Le numéro de série du laboratoire</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La date de réception</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Le nom, le sexe, l'âge et l'adresse du patient</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Le nom de l'institution de santé</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La raison de l'examen</a:t>
            </a:r>
            <a:endParaRPr b="0" lang="en-IN" sz="3200" strike="noStrike" u="none">
              <a:solidFill>
                <a:srgbClr val="000000"/>
              </a:solidFill>
              <a:effectLst/>
              <a:uFillTx/>
              <a:latin typeface="Times New Roman"/>
            </a:endParaRPr>
          </a:p>
        </p:txBody>
      </p:sp>
    </p:spTree>
  </p:cSld>
  <p:transition spd="med" advTm="8000">
    <p:random/>
    <p:sndAc>
      <p:stSnd>
        <p:snd r:embed="rId1" name="WHOOSH.WAV"/>
      </p:stSnd>
    </p:sndAc>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5" name="FR%2320%20smear%20prep" descr=""/>
          <p:cNvPicPr/>
          <p:nvPr/>
        </p:nvPicPr>
        <p:blipFill>
          <a:blip r:embed="rId1"/>
          <a:stretch/>
        </p:blipFill>
        <p:spPr>
          <a:xfrm>
            <a:off x="528480" y="528480"/>
            <a:ext cx="8080560" cy="5386680"/>
          </a:xfrm>
          <a:prstGeom prst="rect">
            <a:avLst/>
          </a:prstGeom>
          <a:noFill/>
          <a:ln w="0">
            <a:noFill/>
          </a:ln>
        </p:spPr>
      </p:pic>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6" name="%2321%20smearprep" descr=""/>
          <p:cNvPicPr/>
          <p:nvPr/>
        </p:nvPicPr>
        <p:blipFill>
          <a:blip r:embed="rId1"/>
          <a:stretch/>
        </p:blipFill>
        <p:spPr>
          <a:xfrm>
            <a:off x="528480" y="528480"/>
            <a:ext cx="8080560" cy="6061320"/>
          </a:xfrm>
          <a:prstGeom prst="rect">
            <a:avLst/>
          </a:prstGeom>
          <a:noFill/>
          <a:ln w="0">
            <a:noFill/>
          </a:ln>
        </p:spPr>
      </p:pic>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7" name="%2322%20flame%20slide" descr=""/>
          <p:cNvPicPr/>
          <p:nvPr/>
        </p:nvPicPr>
        <p:blipFill>
          <a:blip r:embed="rId1"/>
          <a:stretch/>
        </p:blipFill>
        <p:spPr>
          <a:xfrm>
            <a:off x="528480" y="528480"/>
            <a:ext cx="8080560" cy="6059520"/>
          </a:xfrm>
          <a:prstGeom prst="rect">
            <a:avLst/>
          </a:prstGeom>
          <a:noFill/>
          <a:ln w="0">
            <a:noFill/>
          </a:ln>
        </p:spPr>
      </p:pic>
    </p:spTree>
  </p:cSld>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8" name="%2323%20pencil%20on%20frosted%20slide" descr=""/>
          <p:cNvPicPr/>
          <p:nvPr/>
        </p:nvPicPr>
        <p:blipFill>
          <a:blip r:embed="rId1"/>
          <a:stretch/>
        </p:blipFill>
        <p:spPr>
          <a:xfrm>
            <a:off x="528480" y="528480"/>
            <a:ext cx="8080560" cy="5376960"/>
          </a:xfrm>
          <a:prstGeom prst="rect">
            <a:avLst/>
          </a:prstGeom>
          <a:noFill/>
          <a:ln w="0">
            <a:noFill/>
          </a:ln>
        </p:spPr>
      </p:pic>
    </p:spTree>
  </p:cSld>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9" name="%2324%20Labeling%20unfrosted%20slide,%20diamond%20marker" descr=""/>
          <p:cNvPicPr/>
          <p:nvPr/>
        </p:nvPicPr>
        <p:blipFill>
          <a:blip r:embed="rId1"/>
          <a:stretch/>
        </p:blipFill>
        <p:spPr>
          <a:xfrm>
            <a:off x="528480" y="528480"/>
            <a:ext cx="8080560" cy="5376960"/>
          </a:xfrm>
          <a:prstGeom prst="rect">
            <a:avLst/>
          </a:prstGeom>
          <a:noFill/>
          <a:ln w="0">
            <a:noFill/>
          </a:ln>
        </p:spPr>
      </p:pic>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0" name="%2325%20Smear%20Prep%20REPLACE" descr=""/>
          <p:cNvPicPr/>
          <p:nvPr/>
        </p:nvPicPr>
        <p:blipFill>
          <a:blip r:embed="rId1"/>
          <a:stretch/>
        </p:blipFill>
        <p:spPr>
          <a:xfrm>
            <a:off x="533520" y="528480"/>
            <a:ext cx="8080200" cy="5376960"/>
          </a:xfrm>
          <a:prstGeom prst="rect">
            <a:avLst/>
          </a:prstGeom>
          <a:noFill/>
          <a:ln w="0">
            <a:noFill/>
          </a:ln>
        </p:spPr>
      </p:pic>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1" name="%2326%20Smear%20Prep%20loop" descr=""/>
          <p:cNvPicPr/>
          <p:nvPr/>
        </p:nvPicPr>
        <p:blipFill>
          <a:blip r:embed="rId1"/>
          <a:stretch/>
        </p:blipFill>
        <p:spPr>
          <a:xfrm>
            <a:off x="528480" y="528480"/>
            <a:ext cx="8080560" cy="5376960"/>
          </a:xfrm>
          <a:prstGeom prst="rect">
            <a:avLst/>
          </a:prstGeom>
          <a:noFill/>
          <a:ln w="0">
            <a:noFill/>
          </a:ln>
        </p:spPr>
      </p:pic>
    </p:spTree>
  </p:cSld>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2" name="%2327%20Newspaper" descr=""/>
          <p:cNvPicPr/>
          <p:nvPr/>
        </p:nvPicPr>
        <p:blipFill>
          <a:blip r:embed="rId1"/>
          <a:stretch/>
        </p:blipFill>
        <p:spPr>
          <a:xfrm>
            <a:off x="528480" y="528480"/>
            <a:ext cx="8080560" cy="5376960"/>
          </a:xfrm>
          <a:prstGeom prst="rect">
            <a:avLst/>
          </a:prstGeom>
          <a:noFill/>
          <a:ln w="0">
            <a:noFill/>
          </a:ln>
        </p:spPr>
      </p:pic>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3" name="%2328%20flame%20smear" descr=""/>
          <p:cNvPicPr/>
          <p:nvPr/>
        </p:nvPicPr>
        <p:blipFill>
          <a:blip r:embed="rId1"/>
          <a:stretch/>
        </p:blipFill>
        <p:spPr>
          <a:xfrm>
            <a:off x="528480" y="528480"/>
            <a:ext cx="8080560" cy="5378760"/>
          </a:xfrm>
          <a:prstGeom prst="rect">
            <a:avLst/>
          </a:prstGeom>
          <a:noFill/>
          <a:ln w="0">
            <a:noFill/>
          </a:ln>
        </p:spPr>
      </p:pic>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4" name="FR%2329%20staining" descr=""/>
          <p:cNvPicPr/>
          <p:nvPr/>
        </p:nvPicPr>
        <p:blipFill>
          <a:blip r:embed="rId1"/>
          <a:stretch/>
        </p:blipFill>
        <p:spPr>
          <a:xfrm>
            <a:off x="528480" y="528480"/>
            <a:ext cx="8080560" cy="5386680"/>
          </a:xfrm>
          <a:prstGeom prst="rect">
            <a:avLst/>
          </a:prstGeom>
          <a:noFill/>
          <a:ln w="0">
            <a:noFill/>
          </a:ln>
        </p:spPr>
      </p:pic>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5" name="%2330%20Smear" descr=""/>
          <p:cNvPicPr/>
          <p:nvPr/>
        </p:nvPicPr>
        <p:blipFill>
          <a:blip r:embed="rId1"/>
          <a:stretch/>
        </p:blipFill>
        <p:spPr>
          <a:xfrm>
            <a:off x="528480" y="528480"/>
            <a:ext cx="8080560" cy="5376960"/>
          </a:xfrm>
          <a:prstGeom prst="rect">
            <a:avLst/>
          </a:prstGeom>
          <a:noFill/>
          <a:ln w="0">
            <a:noFill/>
          </a:ln>
        </p:spPr>
      </p:pic>
    </p:spTree>
  </p:cSld>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6" name="%2331staining%20setup" descr=""/>
          <p:cNvPicPr/>
          <p:nvPr/>
        </p:nvPicPr>
        <p:blipFill>
          <a:blip r:embed="rId1"/>
          <a:stretch/>
        </p:blipFill>
        <p:spPr>
          <a:xfrm>
            <a:off x="528480" y="528480"/>
            <a:ext cx="8080560" cy="5678640"/>
          </a:xfrm>
          <a:prstGeom prst="rect">
            <a:avLst/>
          </a:prstGeom>
          <a:noFill/>
          <a:ln w="0">
            <a:noFill/>
          </a:ln>
        </p:spPr>
      </p:pic>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cc"/>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533520" y="914040"/>
            <a:ext cx="777240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imes New Roman"/>
              </a:rPr>
              <a:t>Les réactifs de référence</a:t>
            </a:r>
            <a:endParaRPr b="0" lang="en-IN" sz="4400" strike="noStrike" u="none">
              <a:solidFill>
                <a:srgbClr val="000000"/>
              </a:solidFill>
              <a:effectLst/>
              <a:uFillTx/>
              <a:latin typeface="Times New Roman"/>
            </a:endParaRPr>
          </a:p>
        </p:txBody>
      </p:sp>
      <p:sp>
        <p:nvSpPr>
          <p:cNvPr id="48" name="PlaceHolder 2"/>
          <p:cNvSpPr>
            <a:spLocks noGrp="1"/>
          </p:cNvSpPr>
          <p:nvPr>
            <p:ph/>
          </p:nvPr>
        </p:nvSpPr>
        <p:spPr>
          <a:xfrm>
            <a:off x="685800" y="2514600"/>
            <a:ext cx="7772400" cy="4114800"/>
          </a:xfrm>
          <a:prstGeom prst="rect">
            <a:avLst/>
          </a:prstGeom>
          <a:noFill/>
          <a:ln w="0">
            <a:noFill/>
          </a:ln>
        </p:spPr>
        <p:txBody>
          <a:bodyPr lIns="90000" rIns="90000" tIns="46800" bIns="46800" anchor="t">
            <a:normAutofit/>
          </a:bodyPr>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Fuschine phéniquée</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Solution décolorante d’acide-alcool ou d’acide sulfurique </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Contre-colorant  au bleu de méthylène</a:t>
            </a:r>
            <a:r>
              <a:rPr b="0" lang="en-IN" sz="3200" strike="noStrike" u="none">
                <a:solidFill>
                  <a:srgbClr val="ffffff"/>
                </a:solidFill>
                <a:effectLst/>
                <a:uFillTx/>
                <a:latin typeface="Arial"/>
              </a:rPr>
              <a:t>.</a:t>
            </a:r>
            <a:endParaRPr b="0" lang="en-IN" sz="3200" strike="noStrike" u="none">
              <a:solidFill>
                <a:srgbClr val="000000"/>
              </a:solidFill>
              <a:effectLst/>
              <a:uFillTx/>
              <a:latin typeface="Times New Roman"/>
            </a:endParaRPr>
          </a:p>
        </p:txBody>
      </p:sp>
    </p:spTree>
  </p:cSld>
  <p:transition spd="med" advTm="8000">
    <p:random/>
    <p:sndAc>
      <p:stSnd>
        <p:snd r:embed="rId1" name="WHOOSH.WAV"/>
      </p:stSnd>
    </p:sndAc>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9" name="%2333%20Filtering%20Carbol%20Fuchsin" descr=""/>
          <p:cNvPicPr/>
          <p:nvPr/>
        </p:nvPicPr>
        <p:blipFill>
          <a:blip r:embed="rId1"/>
          <a:stretch/>
        </p:blipFill>
        <p:spPr>
          <a:xfrm>
            <a:off x="528480" y="528480"/>
            <a:ext cx="8080560" cy="6059520"/>
          </a:xfrm>
          <a:prstGeom prst="rect">
            <a:avLst/>
          </a:prstGeom>
          <a:noFill/>
          <a:ln w="0">
            <a:noFill/>
          </a:ln>
        </p:spPr>
      </p:pic>
    </p:spTree>
  </p:cSld>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0" name="%2334%20Pointing%20instructions" descr=""/>
          <p:cNvPicPr/>
          <p:nvPr/>
        </p:nvPicPr>
        <p:blipFill>
          <a:blip r:embed="rId1"/>
          <a:stretch/>
        </p:blipFill>
        <p:spPr>
          <a:xfrm>
            <a:off x="528480" y="528480"/>
            <a:ext cx="8080560" cy="5376960"/>
          </a:xfrm>
          <a:prstGeom prst="rect">
            <a:avLst/>
          </a:prstGeom>
          <a:noFill/>
          <a:ln w="0">
            <a:noFill/>
          </a:ln>
        </p:spPr>
      </p:pic>
    </p:spTree>
  </p:cSld>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1" name="%2335%20slide%20rack%20to%20QC" descr=""/>
          <p:cNvPicPr/>
          <p:nvPr/>
        </p:nvPicPr>
        <p:blipFill>
          <a:blip r:embed="rId1"/>
          <a:stretch/>
        </p:blipFill>
        <p:spPr>
          <a:xfrm>
            <a:off x="528480" y="528480"/>
            <a:ext cx="8080560" cy="5281920"/>
          </a:xfrm>
          <a:prstGeom prst="rect">
            <a:avLst/>
          </a:prstGeom>
          <a:noFill/>
          <a:ln w="0">
            <a:noFill/>
          </a:ln>
        </p:spPr>
      </p:pic>
    </p:spTree>
  </p:cSld>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2" name="%2336%20Carbol%20Fuschsin%20steaming" descr=""/>
          <p:cNvPicPr/>
          <p:nvPr/>
        </p:nvPicPr>
        <p:blipFill>
          <a:blip r:embed="rId1"/>
          <a:stretch/>
        </p:blipFill>
        <p:spPr>
          <a:xfrm>
            <a:off x="533520" y="528480"/>
            <a:ext cx="8080200" cy="5376960"/>
          </a:xfrm>
          <a:prstGeom prst="rect">
            <a:avLst/>
          </a:prstGeom>
          <a:noFill/>
          <a:ln w="0">
            <a:noFill/>
          </a:ln>
        </p:spPr>
      </p:pic>
    </p:spTree>
  </p:cSld>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3" name="%2337%20Slide%20Rinse" descr=""/>
          <p:cNvPicPr/>
          <p:nvPr/>
        </p:nvPicPr>
        <p:blipFill>
          <a:blip r:embed="rId1"/>
          <a:stretch/>
        </p:blipFill>
        <p:spPr>
          <a:xfrm>
            <a:off x="528480" y="528480"/>
            <a:ext cx="8080560" cy="5376960"/>
          </a:xfrm>
          <a:prstGeom prst="rect">
            <a:avLst/>
          </a:prstGeom>
          <a:noFill/>
          <a:ln w="0">
            <a:noFill/>
          </a:ln>
        </p:spPr>
      </p:pic>
    </p:spTree>
  </p:cSld>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4" name="%2338%20acid%20alcohol" descr=""/>
          <p:cNvPicPr/>
          <p:nvPr/>
        </p:nvPicPr>
        <p:blipFill>
          <a:blip r:embed="rId1"/>
          <a:stretch/>
        </p:blipFill>
        <p:spPr>
          <a:xfrm>
            <a:off x="528480" y="528480"/>
            <a:ext cx="8080560" cy="5386680"/>
          </a:xfrm>
          <a:prstGeom prst="rect">
            <a:avLst/>
          </a:prstGeom>
          <a:noFill/>
          <a:ln w="0">
            <a:noFill/>
          </a:ln>
        </p:spPr>
      </p:pic>
    </p:spTree>
  </p:cSld>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5" name="%2339%20pink%20slide" descr=""/>
          <p:cNvPicPr/>
          <p:nvPr/>
        </p:nvPicPr>
        <p:blipFill>
          <a:blip r:embed="rId1"/>
          <a:stretch/>
        </p:blipFill>
        <p:spPr>
          <a:xfrm>
            <a:off x="528480" y="528480"/>
            <a:ext cx="8080560" cy="5376960"/>
          </a:xfrm>
          <a:prstGeom prst="rect">
            <a:avLst/>
          </a:prstGeom>
          <a:noFill/>
          <a:ln w="0">
            <a:noFill/>
          </a:ln>
        </p:spPr>
      </p:pic>
    </p:spTree>
  </p:cSld>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6" name="%2340%20Methylene%20Blue" descr=""/>
          <p:cNvPicPr/>
          <p:nvPr/>
        </p:nvPicPr>
        <p:blipFill>
          <a:blip r:embed="rId1"/>
          <a:stretch/>
        </p:blipFill>
        <p:spPr>
          <a:xfrm>
            <a:off x="528480" y="528480"/>
            <a:ext cx="8080560" cy="5376960"/>
          </a:xfrm>
          <a:prstGeom prst="rect">
            <a:avLst/>
          </a:prstGeom>
          <a:noFill/>
          <a:ln w="0">
            <a:noFill/>
          </a:ln>
        </p:spPr>
      </p:pic>
    </p:spTree>
  </p:cSld>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7" name="%2341%20Slide%20tilt" descr=""/>
          <p:cNvPicPr/>
          <p:nvPr/>
        </p:nvPicPr>
        <p:blipFill>
          <a:blip r:embed="rId1"/>
          <a:stretch/>
        </p:blipFill>
        <p:spPr>
          <a:xfrm>
            <a:off x="528480" y="528480"/>
            <a:ext cx="8080560" cy="6059520"/>
          </a:xfrm>
          <a:prstGeom prst="rect">
            <a:avLst/>
          </a:prstGeom>
          <a:noFill/>
          <a:ln w="0">
            <a:noFill/>
          </a:ln>
        </p:spPr>
      </p:pic>
    </p:spTree>
  </p:cSld>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8" name="FR%2342%20exam%20microscope" descr=""/>
          <p:cNvPicPr/>
          <p:nvPr/>
        </p:nvPicPr>
        <p:blipFill>
          <a:blip r:embed="rId1"/>
          <a:stretch/>
        </p:blipFill>
        <p:spPr>
          <a:xfrm>
            <a:off x="528480" y="528480"/>
            <a:ext cx="8080560" cy="5386680"/>
          </a:xfrm>
          <a:prstGeom prst="rect">
            <a:avLst/>
          </a:prstGeom>
          <a:noFill/>
          <a:ln w="0">
            <a:noFill/>
          </a:ln>
        </p:spPr>
      </p:pic>
    </p:spTree>
  </p:cSld>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9" name="%2343%20Microscope" descr=""/>
          <p:cNvPicPr/>
          <p:nvPr/>
        </p:nvPicPr>
        <p:blipFill>
          <a:blip r:embed="rId1"/>
          <a:stretch/>
        </p:blipFill>
        <p:spPr>
          <a:xfrm>
            <a:off x="528480" y="528480"/>
            <a:ext cx="8080560" cy="5376960"/>
          </a:xfrm>
          <a:prstGeom prst="rect">
            <a:avLst/>
          </a:prstGeom>
          <a:noFill/>
          <a:ln w="0">
            <a:noFill/>
          </a:ln>
        </p:spPr>
      </p:pic>
    </p:spTree>
  </p:cSld>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60" name="%2344%20Oil%20drop%20to%20slide" descr=""/>
          <p:cNvPicPr/>
          <p:nvPr/>
        </p:nvPicPr>
        <p:blipFill>
          <a:blip r:embed="rId1"/>
          <a:stretch/>
        </p:blipFill>
        <p:spPr>
          <a:xfrm>
            <a:off x="528480" y="528480"/>
            <a:ext cx="8080560" cy="6059520"/>
          </a:xfrm>
          <a:prstGeom prst="rect">
            <a:avLst/>
          </a:prstGeom>
          <a:noFill/>
          <a:ln w="0">
            <a:noFill/>
          </a:ln>
        </p:spPr>
      </p:pic>
    </p:spTree>
  </p:cSld>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cc"/>
        </a:solidFill>
      </p:bgPr>
    </p:bg>
    <p:spTree>
      <p:nvGrpSpPr>
        <p:cNvPr id="1" name=""/>
        <p:cNvGrpSpPr/>
        <p:nvPr/>
      </p:nvGrpSpPr>
      <p:grpSpPr>
        <a:xfrm>
          <a:off x="0" y="0"/>
          <a:ext cx="0" cy="0"/>
          <a:chOff x="0" y="0"/>
          <a:chExt cx="0" cy="0"/>
        </a:xfrm>
      </p:grpSpPr>
      <p:sp>
        <p:nvSpPr>
          <p:cNvPr id="61" name="PlaceHolder 1"/>
          <p:cNvSpPr>
            <a:spLocks noGrp="1"/>
          </p:cNvSpPr>
          <p:nvPr>
            <p:ph/>
          </p:nvPr>
        </p:nvSpPr>
        <p:spPr>
          <a:xfrm>
            <a:off x="914400" y="1981080"/>
            <a:ext cx="7772400" cy="4114800"/>
          </a:xfrm>
          <a:prstGeom prst="rect">
            <a:avLst/>
          </a:prstGeom>
          <a:noFill/>
          <a:ln w="0">
            <a:noFill/>
          </a:ln>
        </p:spPr>
        <p:txBody>
          <a:bodyPr lIns="90000" rIns="90000" tIns="46800" bIns="46800" anchor="t">
            <a:normAutofit/>
          </a:bodyPr>
          <a:p>
            <a:pPr marL="343080" indent="-343080">
              <a:spcBef>
                <a:spcPts val="901"/>
              </a:spcBef>
              <a:buClr>
                <a:srgbClr val="ffff66"/>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3600" strike="noStrike" u="none">
                <a:solidFill>
                  <a:srgbClr val="ffff66"/>
                </a:solidFill>
                <a:effectLst/>
                <a:uFillTx/>
                <a:latin typeface="Times New Roman"/>
              </a:rPr>
              <a:t>100 champs!!</a:t>
            </a:r>
            <a:endParaRPr b="0" lang="en-IN" sz="3600" strike="noStrike" u="none">
              <a:solidFill>
                <a:srgbClr val="000000"/>
              </a:solidFill>
              <a:effectLst/>
              <a:uFillTx/>
              <a:latin typeface="Times New Roman"/>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L’examen de moins de 100 champs peut causer un résultat faux-négatif. </a:t>
            </a:r>
            <a:endParaRPr b="0" lang="en-IN" sz="3200" strike="noStrike" u="none">
              <a:solidFill>
                <a:srgbClr val="000000"/>
              </a:solidFill>
              <a:effectLst/>
              <a:uFillTx/>
              <a:latin typeface="Times New Roman"/>
            </a:endParaRPr>
          </a:p>
        </p:txBody>
      </p:sp>
    </p:spTree>
  </p:cSld>
  <p:transition spd="med" advTm="8000">
    <p:random/>
    <p:sndAc>
      <p:stSnd>
        <p:snd r:embed="rId1" name="WHOOSH.WAV"/>
      </p:stSnd>
    </p:sndAc>
  </p:transition>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62" name="%2346%204+%20Smear" descr=""/>
          <p:cNvPicPr/>
          <p:nvPr/>
        </p:nvPicPr>
        <p:blipFill>
          <a:blip r:embed="rId1"/>
          <a:stretch/>
        </p:blipFill>
        <p:spPr>
          <a:xfrm>
            <a:off x="528480" y="528480"/>
            <a:ext cx="8080560" cy="5376960"/>
          </a:xfrm>
          <a:prstGeom prst="rect">
            <a:avLst/>
          </a:prstGeom>
          <a:noFill/>
          <a:ln w="0">
            <a:noFill/>
          </a:ln>
        </p:spPr>
      </p:pic>
    </p:spTree>
  </p:cSld>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63" name="%2347%20Slide%20Solvent" descr=""/>
          <p:cNvPicPr/>
          <p:nvPr/>
        </p:nvPicPr>
        <p:blipFill>
          <a:blip r:embed="rId1"/>
          <a:stretch/>
        </p:blipFill>
        <p:spPr>
          <a:xfrm>
            <a:off x="528480" y="528480"/>
            <a:ext cx="8080560" cy="6059520"/>
          </a:xfrm>
          <a:prstGeom prst="rect">
            <a:avLst/>
          </a:prstGeom>
          <a:noFill/>
          <a:ln w="0">
            <a:noFill/>
          </a:ln>
        </p:spPr>
      </p:pic>
    </p:spTree>
  </p:cSld>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64" name="%2348%20lens%20clean" descr=""/>
          <p:cNvPicPr/>
          <p:nvPr/>
        </p:nvPicPr>
        <p:blipFill>
          <a:blip r:embed="rId1"/>
          <a:stretch/>
        </p:blipFill>
        <p:spPr>
          <a:xfrm>
            <a:off x="528480" y="528480"/>
            <a:ext cx="8080560" cy="6059520"/>
          </a:xfrm>
          <a:prstGeom prst="rect">
            <a:avLst/>
          </a:prstGeom>
          <a:noFill/>
          <a:ln w="0">
            <a:noFill/>
          </a:ln>
        </p:spPr>
      </p:pic>
    </p:spTree>
  </p:cSld>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99"/>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762120" y="456840"/>
            <a:ext cx="7772400" cy="152388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L’ Évacuation des Échantillons</a:t>
            </a:r>
            <a:endParaRPr b="0" lang="en-IN" sz="4400" strike="noStrike" u="none">
              <a:solidFill>
                <a:srgbClr val="000000"/>
              </a:solidFill>
              <a:effectLst/>
              <a:uFillTx/>
              <a:latin typeface="Times New Roman"/>
            </a:endParaRPr>
          </a:p>
        </p:txBody>
      </p:sp>
      <p:sp>
        <p:nvSpPr>
          <p:cNvPr id="66" name="PlaceHolder 2"/>
          <p:cNvSpPr>
            <a:spLocks noGrp="1"/>
          </p:cNvSpPr>
          <p:nvPr>
            <p:ph/>
          </p:nvPr>
        </p:nvSpPr>
        <p:spPr>
          <a:xfrm>
            <a:off x="914400" y="2514240"/>
            <a:ext cx="7772400" cy="3809880"/>
          </a:xfrm>
          <a:prstGeom prst="rect">
            <a:avLst/>
          </a:prstGeom>
          <a:noFill/>
          <a:ln w="0">
            <a:noFill/>
          </a:ln>
        </p:spPr>
        <p:txBody>
          <a:bodyPr lIns="90000" rIns="90000" tIns="46800" bIns="46800" anchor="t">
            <a:normAutofit/>
          </a:bodyPr>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Ébullition</a:t>
            </a:r>
            <a:endParaRPr b="0" lang="en-IN" sz="3200" strike="noStrike" u="none">
              <a:solidFill>
                <a:srgbClr val="000000"/>
              </a:solidFill>
              <a:effectLst/>
              <a:uFillTx/>
              <a:latin typeface="Times New Roman"/>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Autoclavage</a:t>
            </a:r>
            <a:endParaRPr b="0" lang="en-IN" sz="3200" strike="noStrike" u="none">
              <a:solidFill>
                <a:srgbClr val="000000"/>
              </a:solidFill>
              <a:effectLst/>
              <a:uFillTx/>
              <a:latin typeface="Times New Roman"/>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imes New Roman"/>
              </a:rPr>
              <a:t>Incinération</a:t>
            </a:r>
            <a:endParaRPr b="0" lang="en-IN" sz="3200" strike="noStrike" u="none">
              <a:solidFill>
                <a:srgbClr val="000000"/>
              </a:solidFill>
              <a:effectLst/>
              <a:uFillTx/>
              <a:latin typeface="Times New Roman"/>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Tree>
  </p:cSld>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67" name="FR%2350%20recording" descr=""/>
          <p:cNvPicPr/>
          <p:nvPr/>
        </p:nvPicPr>
        <p:blipFill>
          <a:blip r:embed="rId1"/>
          <a:stretch/>
        </p:blipFill>
        <p:spPr>
          <a:xfrm>
            <a:off x="528480" y="528480"/>
            <a:ext cx="8080560" cy="5386680"/>
          </a:xfrm>
          <a:prstGeom prst="rect">
            <a:avLst/>
          </a:prstGeom>
          <a:noFill/>
          <a:ln w="0">
            <a:noFill/>
          </a:ln>
        </p:spPr>
      </p:pic>
    </p:spTree>
  </p:cSld>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cc"/>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228600" y="456840"/>
            <a:ext cx="777240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imes New Roman"/>
              </a:rPr>
              <a:t>L’OMS et L’UICTMR </a:t>
            </a:r>
            <a:endParaRPr b="0" lang="en-IN" sz="4400" strike="noStrike" u="none">
              <a:solidFill>
                <a:srgbClr val="000000"/>
              </a:solidFill>
              <a:effectLst/>
              <a:uFillTx/>
              <a:latin typeface="Times New Roman"/>
            </a:endParaRPr>
          </a:p>
        </p:txBody>
      </p:sp>
      <p:sp>
        <p:nvSpPr>
          <p:cNvPr id="69" name="PlaceHolder 2"/>
          <p:cNvSpPr>
            <a:spLocks noGrp="1"/>
          </p:cNvSpPr>
          <p:nvPr>
            <p:ph/>
          </p:nvPr>
        </p:nvSpPr>
        <p:spPr>
          <a:xfrm>
            <a:off x="685800" y="1752480"/>
            <a:ext cx="7772400" cy="4114800"/>
          </a:xfrm>
          <a:prstGeom prst="rect">
            <a:avLst/>
          </a:prstGeom>
          <a:noFill/>
          <a:ln w="0">
            <a:noFill/>
          </a:ln>
        </p:spPr>
        <p:txBody>
          <a:bodyPr lIns="90000" rIns="90000" tIns="46800" bIns="46800" anchor="t">
            <a:normAutofit/>
          </a:bodyPr>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Négatif: Déclarez: "BAAR négatif" ou aucun organisme observé sur 100 champs.</a:t>
            </a:r>
            <a:endParaRPr b="0" lang="en-IN" sz="3200" strike="noStrike" u="none">
              <a:solidFill>
                <a:srgbClr val="000000"/>
              </a:solidFill>
              <a:effectLst/>
              <a:uFillTx/>
              <a:latin typeface="Times New Roman"/>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Positif: Déclarez: "BAAR positif" . Inscrivez le nombre de BAARs.</a:t>
            </a:r>
            <a:endParaRPr b="0" lang="en-IN" sz="3200" strike="noStrike" u="none">
              <a:solidFill>
                <a:srgbClr val="000000"/>
              </a:solidFill>
              <a:effectLst/>
              <a:uFillTx/>
              <a:latin typeface="Times New Roman"/>
            </a:endParaRPr>
          </a:p>
        </p:txBody>
      </p:sp>
    </p:spTree>
  </p:cSld>
  <p:transition spd="med" advTm="8000">
    <p:random/>
    <p:sndAc>
      <p:stSnd>
        <p:snd r:embed="rId1" name="WHOOSH.WAV"/>
      </p:stSnd>
    </p:sndAc>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cc"/>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228600" y="1142640"/>
            <a:ext cx="777240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imes New Roman"/>
              </a:rPr>
              <a:t>Semi-quantitative suivant :</a:t>
            </a:r>
            <a:br>
              <a:rPr sz="4000"/>
            </a:br>
            <a:r>
              <a:rPr b="0" lang="en-IN" sz="4000" strike="noStrike" u="none">
                <a:solidFill>
                  <a:srgbClr val="ffffff"/>
                </a:solidFill>
                <a:effectLst/>
                <a:uFillTx/>
                <a:latin typeface="Times New Roman"/>
              </a:rPr>
              <a:t> Ziehl-Neelsen</a:t>
            </a:r>
            <a:endParaRPr b="0" lang="en-IN" sz="4000" strike="noStrike" u="none">
              <a:solidFill>
                <a:srgbClr val="000000"/>
              </a:solidFill>
              <a:effectLst/>
              <a:uFillTx/>
              <a:latin typeface="Times New Roman"/>
            </a:endParaRPr>
          </a:p>
        </p:txBody>
      </p:sp>
      <p:sp>
        <p:nvSpPr>
          <p:cNvPr id="71" name="PlaceHolder 2"/>
          <p:cNvSpPr>
            <a:spLocks noGrp="1"/>
          </p:cNvSpPr>
          <p:nvPr>
            <p:ph/>
          </p:nvPr>
        </p:nvSpPr>
        <p:spPr>
          <a:xfrm>
            <a:off x="685800" y="2438280"/>
            <a:ext cx="7772400" cy="4267440"/>
          </a:xfrm>
          <a:prstGeom prst="rect">
            <a:avLst/>
          </a:prstGeom>
          <a:noFill/>
          <a:ln w="0">
            <a:noFill/>
          </a:ln>
        </p:spPr>
        <p:txBody>
          <a:bodyPr lIns="90000" rIns="90000" tIns="46800" bIns="46800" anchor="t">
            <a:normAutofit/>
          </a:bodyPr>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Si aucun BAAR n'est observé dans 100 champs,</a:t>
            </a:r>
            <a:endParaRPr b="0" lang="en-IN" sz="2800" strike="noStrike" u="none">
              <a:solidFill>
                <a:srgbClr val="000000"/>
              </a:solidFill>
              <a:effectLst/>
              <a:uFillTx/>
              <a:latin typeface="Times New Roman"/>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66"/>
                </a:solidFill>
                <a:effectLst/>
                <a:uFillTx/>
                <a:latin typeface="Times New Roman"/>
              </a:rPr>
              <a:t>                                     notez: “aucun BAAR observé”. </a:t>
            </a:r>
            <a:endParaRPr b="0" lang="en-IN" sz="2800" strike="noStrike" u="none">
              <a:solidFill>
                <a:srgbClr val="000000"/>
              </a:solidFill>
              <a:effectLst/>
              <a:uFillTx/>
              <a:latin typeface="Times New Roman"/>
            </a:endParaRPr>
          </a:p>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Si 1 à 9  BAARs /100 champs, </a:t>
            </a:r>
            <a:r>
              <a:rPr b="0" lang="en-US" sz="2800" strike="noStrike" u="none">
                <a:solidFill>
                  <a:srgbClr val="ffff66"/>
                </a:solidFill>
                <a:effectLst/>
                <a:uFillTx/>
                <a:latin typeface="Times New Roman"/>
              </a:rPr>
              <a:t>notez le nombre exact.</a:t>
            </a:r>
            <a:endParaRPr b="0" lang="en-IN" sz="2800" strike="noStrike" u="none">
              <a:solidFill>
                <a:srgbClr val="000000"/>
              </a:solidFill>
              <a:effectLst/>
              <a:uFillTx/>
              <a:latin typeface="Times New Roman"/>
            </a:endParaRPr>
          </a:p>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Si 10 à 99  BAARs /100 champs, notez</a:t>
            </a:r>
            <a:r>
              <a:rPr b="0" lang="en-US" sz="2800" strike="noStrike" u="none">
                <a:solidFill>
                  <a:srgbClr val="ffffff"/>
                </a:solidFill>
                <a:effectLst/>
                <a:uFillTx/>
                <a:latin typeface="Times New Roman"/>
              </a:rPr>
              <a:t>	</a:t>
            </a:r>
            <a:r>
              <a:rPr b="0" lang="en-US" sz="2800" strike="noStrike" u="none">
                <a:solidFill>
                  <a:srgbClr val="ffffff"/>
                </a:solidFill>
                <a:effectLst/>
                <a:uFillTx/>
                <a:latin typeface="Times New Roman"/>
              </a:rPr>
              <a:t>    </a:t>
            </a:r>
            <a:r>
              <a:rPr b="0" lang="en-US" sz="2800" strike="noStrike" u="none">
                <a:solidFill>
                  <a:srgbClr val="ffff66"/>
                </a:solidFill>
                <a:effectLst/>
                <a:uFillTx/>
                <a:latin typeface="Times New Roman"/>
              </a:rPr>
              <a:t>1+</a:t>
            </a:r>
            <a:endParaRPr b="0" lang="en-IN" sz="2800" strike="noStrike" u="none">
              <a:solidFill>
                <a:srgbClr val="000000"/>
              </a:solidFill>
              <a:effectLst/>
              <a:uFillTx/>
              <a:latin typeface="Times New Roman"/>
            </a:endParaRPr>
          </a:p>
          <a:p>
            <a:pPr marL="343080" indent="-343080">
              <a:lnSpc>
                <a:spcPct val="90000"/>
              </a:lnSpc>
              <a:spcBef>
                <a:spcPts val="901"/>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Si 1 à 10  BAARs /champ, notez</a:t>
            </a:r>
            <a:r>
              <a:rPr b="0" lang="en-US" sz="2800" strike="noStrike" u="none">
                <a:solidFill>
                  <a:srgbClr val="ffffff"/>
                </a:solidFill>
                <a:effectLst/>
                <a:uFillTx/>
                <a:latin typeface="Times New Roman"/>
              </a:rPr>
              <a:t>	</a:t>
            </a:r>
            <a:r>
              <a:rPr b="0" lang="en-US" sz="2800" strike="noStrike" u="none">
                <a:solidFill>
                  <a:srgbClr val="ffffff"/>
                </a:solidFill>
                <a:effectLst/>
                <a:uFillTx/>
                <a:latin typeface="Times New Roman"/>
              </a:rPr>
              <a:t>	</a:t>
            </a:r>
            <a:r>
              <a:rPr b="0" lang="en-US" sz="2800" strike="noStrike" u="none">
                <a:solidFill>
                  <a:srgbClr val="ffffff"/>
                </a:solidFill>
                <a:effectLst/>
                <a:uFillTx/>
                <a:latin typeface="Times New Roman"/>
              </a:rPr>
              <a:t>    </a:t>
            </a:r>
            <a:r>
              <a:rPr b="0" lang="en-US" sz="2800" strike="noStrike" u="none">
                <a:solidFill>
                  <a:srgbClr val="ffff66"/>
                </a:solidFill>
                <a:effectLst/>
                <a:uFillTx/>
                <a:latin typeface="Times New Roman"/>
              </a:rPr>
              <a:t>2+</a:t>
            </a:r>
            <a:r>
              <a:rPr b="0" lang="en-US" sz="3600" strike="noStrike" u="none">
                <a:solidFill>
                  <a:srgbClr val="ffffff"/>
                </a:solidFill>
                <a:effectLst/>
                <a:uFillTx/>
                <a:latin typeface="Times New Roman"/>
              </a:rPr>
              <a:t> </a:t>
            </a:r>
            <a:endParaRPr b="0" lang="en-IN" sz="3600" strike="noStrike" u="none">
              <a:solidFill>
                <a:srgbClr val="000000"/>
              </a:solidFill>
              <a:effectLst/>
              <a:uFillTx/>
              <a:latin typeface="Times New Roman"/>
            </a:endParaRPr>
          </a:p>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Si plus de 10  BAARs /champ, notez</a:t>
            </a:r>
            <a:r>
              <a:rPr b="0" lang="en-US" sz="2800" strike="noStrike" u="none">
                <a:solidFill>
                  <a:srgbClr val="ffffff"/>
                </a:solidFill>
                <a:effectLst/>
                <a:uFillTx/>
                <a:latin typeface="Times New Roman"/>
              </a:rPr>
              <a:t>	</a:t>
            </a:r>
            <a:r>
              <a:rPr b="0" lang="en-US" sz="2800" strike="noStrike" u="none">
                <a:solidFill>
                  <a:srgbClr val="ffffff"/>
                </a:solidFill>
                <a:effectLst/>
                <a:uFillTx/>
                <a:latin typeface="Times New Roman"/>
              </a:rPr>
              <a:t>      </a:t>
            </a:r>
            <a:r>
              <a:rPr b="0" lang="en-US" sz="2800" strike="noStrike" u="none">
                <a:solidFill>
                  <a:srgbClr val="ffffff"/>
                </a:solidFill>
                <a:effectLst/>
                <a:uFillTx/>
                <a:latin typeface="Times New Roman"/>
              </a:rPr>
              <a:t>	</a:t>
            </a:r>
            <a:r>
              <a:rPr b="0" lang="en-US" sz="2800" strike="noStrike" u="none">
                <a:solidFill>
                  <a:srgbClr val="ffffff"/>
                </a:solidFill>
                <a:effectLst/>
                <a:uFillTx/>
                <a:latin typeface="Times New Roman"/>
              </a:rPr>
              <a:t>    </a:t>
            </a:r>
            <a:r>
              <a:rPr b="0" lang="en-US" sz="2800" strike="noStrike" u="none">
                <a:solidFill>
                  <a:srgbClr val="ffff66"/>
                </a:solidFill>
                <a:effectLst/>
                <a:uFillTx/>
                <a:latin typeface="Times New Roman"/>
              </a:rPr>
              <a:t>3+</a:t>
            </a:r>
            <a:endParaRPr b="0" lang="en-IN" sz="2800" strike="noStrike" u="none">
              <a:solidFill>
                <a:srgbClr val="000000"/>
              </a:solidFill>
              <a:effectLst/>
              <a:uFillTx/>
              <a:latin typeface="Times New Roman"/>
            </a:endParaRPr>
          </a:p>
        </p:txBody>
      </p:sp>
    </p:spTree>
  </p:cSld>
  <p:transition spd="med" advTm="8000">
    <p:random/>
    <p:sndAc>
      <p:stSnd>
        <p:snd r:embed="rId1" name="WHOOSH.WAV"/>
      </p:stSnd>
    </p:sndAc>
  </p:transition>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cc"/>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1371240"/>
            <a:ext cx="777240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Inscrivez dans votre rapport les renseignements suivants:</a:t>
            </a:r>
            <a:endParaRPr b="0" lang="en-IN" sz="4000" strike="noStrike" u="none">
              <a:solidFill>
                <a:srgbClr val="000000"/>
              </a:solidFill>
              <a:effectLst/>
              <a:uFillTx/>
              <a:latin typeface="Times New Roman"/>
            </a:endParaRPr>
          </a:p>
        </p:txBody>
      </p:sp>
      <p:sp>
        <p:nvSpPr>
          <p:cNvPr id="73" name="PlaceHolder 2"/>
          <p:cNvSpPr>
            <a:spLocks noGrp="1"/>
          </p:cNvSpPr>
          <p:nvPr>
            <p:ph/>
          </p:nvPr>
        </p:nvSpPr>
        <p:spPr>
          <a:xfrm>
            <a:off x="1066680" y="2666880"/>
            <a:ext cx="7772400" cy="4114800"/>
          </a:xfrm>
          <a:prstGeom prst="rect">
            <a:avLst/>
          </a:prstGeom>
          <a:noFill/>
          <a:ln w="0">
            <a:noFill/>
          </a:ln>
        </p:spPr>
        <p:txBody>
          <a:bodyPr lIns="90000" rIns="90000" tIns="46800" bIns="46800" anchor="t">
            <a:normAutofit/>
          </a:bodyPr>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L'évaluation de la qualité de l'échantillon</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La méthode de coloration utilisée</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Les résultats de l’examen</a:t>
            </a:r>
            <a:endParaRPr b="0" lang="en-IN" sz="3200" strike="noStrike" u="none">
              <a:solidFill>
                <a:srgbClr val="000000"/>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La signature du technicien</a:t>
            </a:r>
            <a:endParaRPr b="0" lang="en-IN" sz="3200" strike="noStrike" u="none">
              <a:solidFill>
                <a:srgbClr val="000000"/>
              </a:solidFill>
              <a:effectLst/>
              <a:uFillTx/>
              <a:latin typeface="Times New Roman"/>
            </a:endParaRPr>
          </a:p>
        </p:txBody>
      </p:sp>
    </p:spTree>
  </p:cSld>
  <p:transition spd="med" advTm="8000">
    <p:random/>
    <p:sndAc>
      <p:stSnd>
        <p:snd r:embed="rId1" name="WHOOSH.WAV"/>
      </p:stSnd>
    </p:sndAc>
  </p:transition>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74" name="FR%2354%20QCinLab" descr=""/>
          <p:cNvPicPr/>
          <p:nvPr/>
        </p:nvPicPr>
        <p:blipFill>
          <a:blip r:embed="rId1"/>
          <a:stretch/>
        </p:blipFill>
        <p:spPr>
          <a:xfrm>
            <a:off x="528480" y="528480"/>
            <a:ext cx="8080560" cy="5386680"/>
          </a:xfrm>
          <a:prstGeom prst="rect">
            <a:avLst/>
          </a:prstGeom>
          <a:noFill/>
          <a:ln w="0">
            <a:noFill/>
          </a:ln>
        </p:spPr>
      </p:pic>
    </p:spTree>
  </p:cSld>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75" name="%2355%20A%20and%20F%20at%20scope" descr=""/>
          <p:cNvPicPr/>
          <p:nvPr/>
        </p:nvPicPr>
        <p:blipFill>
          <a:blip r:embed="rId1"/>
          <a:stretch/>
        </p:blipFill>
        <p:spPr>
          <a:xfrm>
            <a:off x="528480" y="528480"/>
            <a:ext cx="8080560" cy="5376960"/>
          </a:xfrm>
          <a:prstGeom prst="rect">
            <a:avLst/>
          </a:prstGeom>
          <a:noFill/>
          <a:ln w="0">
            <a:noFill/>
          </a:ln>
        </p:spPr>
      </p:pic>
    </p:spTree>
  </p:cSld>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76" name="%2356%20slideQC" descr=""/>
          <p:cNvPicPr/>
          <p:nvPr/>
        </p:nvPicPr>
        <p:blipFill>
          <a:blip r:embed="rId1"/>
          <a:stretch/>
        </p:blipFill>
        <p:spPr>
          <a:xfrm>
            <a:off x="528480" y="528480"/>
            <a:ext cx="8080560" cy="5926320"/>
          </a:xfrm>
          <a:prstGeom prst="rect">
            <a:avLst/>
          </a:prstGeom>
          <a:noFill/>
          <a:ln w="0">
            <a:noFill/>
          </a:ln>
        </p:spPr>
      </p:pic>
    </p:spTree>
  </p:cSld>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99"/>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380880" y="1218960"/>
            <a:ext cx="7772400" cy="11430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imes New Roman"/>
              </a:rPr>
              <a:t>Voici quelques causes menant à des résultats faux-positifs:</a:t>
            </a:r>
            <a:endParaRPr b="0" lang="en-IN" sz="4000" strike="noStrike" u="none">
              <a:solidFill>
                <a:srgbClr val="000000"/>
              </a:solidFill>
              <a:effectLst/>
              <a:uFillTx/>
              <a:latin typeface="Times New Roman"/>
            </a:endParaRPr>
          </a:p>
        </p:txBody>
      </p:sp>
      <p:sp>
        <p:nvSpPr>
          <p:cNvPr id="78" name="PlaceHolder 2"/>
          <p:cNvSpPr>
            <a:spLocks noGrp="1"/>
          </p:cNvSpPr>
          <p:nvPr>
            <p:ph/>
          </p:nvPr>
        </p:nvSpPr>
        <p:spPr>
          <a:xfrm>
            <a:off x="838080" y="2514600"/>
            <a:ext cx="7772400" cy="4114800"/>
          </a:xfrm>
          <a:prstGeom prst="rect">
            <a:avLst/>
          </a:prstGeom>
          <a:noFill/>
          <a:ln w="0">
            <a:noFill/>
          </a:ln>
        </p:spPr>
        <p:txBody>
          <a:bodyPr lIns="90000" rIns="90000" tIns="46800" bIns="46800" anchor="t">
            <a:normAutofit/>
          </a:bodyPr>
          <a:p>
            <a:pPr marL="343080" indent="-343080">
              <a:lnSpc>
                <a:spcPct val="11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Des erreurs dans la manipulation des échantillons ou dans l'enregistrement de résultats</a:t>
            </a:r>
            <a:endParaRPr b="0" lang="en-IN" sz="2800" strike="noStrike" u="none">
              <a:solidFill>
                <a:srgbClr val="000000"/>
              </a:solidFill>
              <a:effectLst/>
              <a:uFillTx/>
              <a:latin typeface="Times New Roman"/>
            </a:endParaRPr>
          </a:p>
          <a:p>
            <a:pPr marL="343080" indent="-343080">
              <a:lnSpc>
                <a:spcPct val="11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La réutilisation des crachoirs ou celle des lames positives</a:t>
            </a:r>
            <a:endParaRPr b="0" lang="en-IN" sz="2800" strike="noStrike" u="none">
              <a:solidFill>
                <a:srgbClr val="000000"/>
              </a:solidFill>
              <a:effectLst/>
              <a:uFillTx/>
              <a:latin typeface="Times New Roman"/>
            </a:endParaRPr>
          </a:p>
          <a:p>
            <a:pPr marL="343080" indent="-343080">
              <a:lnSpc>
                <a:spcPct val="11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De la fuschsine phéniquée non-filtrée</a:t>
            </a:r>
            <a:endParaRPr b="0" lang="en-IN" sz="2800" strike="noStrike" u="none">
              <a:solidFill>
                <a:srgbClr val="000000"/>
              </a:solidFill>
              <a:effectLst/>
              <a:uFillTx/>
              <a:latin typeface="Times New Roman"/>
            </a:endParaRPr>
          </a:p>
          <a:p>
            <a:pPr marL="343080" indent="-343080">
              <a:lnSpc>
                <a:spcPct val="11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De l'huile d'immersion contaminée </a:t>
            </a:r>
            <a:endParaRPr b="0" lang="en-IN" sz="2800" strike="noStrike" u="none">
              <a:solidFill>
                <a:srgbClr val="000000"/>
              </a:solidFill>
              <a:effectLst/>
              <a:uFillTx/>
              <a:latin typeface="Times New Roman"/>
            </a:endParaRPr>
          </a:p>
          <a:p>
            <a:pPr marL="343080" indent="-343080">
              <a:lnSpc>
                <a:spcPct val="11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rPr>
              <a:t>Une décoloration inadéquate</a:t>
            </a:r>
            <a:endParaRPr b="0" lang="en-IN" sz="2800" strike="noStrike" u="none">
              <a:solidFill>
                <a:srgbClr val="000000"/>
              </a:solidFill>
              <a:effectLst/>
              <a:uFillTx/>
              <a:latin typeface="Times New Roman"/>
            </a:endParaRPr>
          </a:p>
        </p:txBody>
      </p:sp>
    </p:spTree>
  </p:cSld>
  <p:transition spd="med" advTm="8000">
    <p:random/>
    <p:sndAc>
      <p:stSnd>
        <p:snd r:embed="rId1" name="WHOOSH.WAV"/>
      </p:stSnd>
    </p:sndAc>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99"/>
        </a:solidFill>
      </p:bgPr>
    </p:bg>
    <p:spTree>
      <p:nvGrpSpPr>
        <p:cNvPr id="1" name=""/>
        <p:cNvGrpSpPr/>
        <p:nvPr/>
      </p:nvGrpSpPr>
      <p:grpSpPr>
        <a:xfrm>
          <a:off x="0" y="0"/>
          <a:ext cx="0" cy="0"/>
          <a:chOff x="0" y="0"/>
          <a:chExt cx="0" cy="0"/>
        </a:xfrm>
      </p:grpSpPr>
      <p:sp>
        <p:nvSpPr>
          <p:cNvPr id="79" name=""/>
          <p:cNvSpPr txBox="1"/>
          <p:nvPr/>
        </p:nvSpPr>
        <p:spPr>
          <a:xfrm>
            <a:off x="3124080" y="6248520"/>
            <a:ext cx="2895840" cy="457200"/>
          </a:xfrm>
          <a:prstGeom prst="rect">
            <a:avLst/>
          </a:prstGeom>
          <a:noFill/>
          <a:ln w="0">
            <a:noFill/>
          </a:ln>
        </p:spPr>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ffffff"/>
                </a:solidFill>
                <a:effectLst/>
                <a:uFillTx/>
                <a:latin typeface="Times New Roman"/>
              </a:rPr>
              <a:t>&lt;footer&gt;</a:t>
            </a:r>
            <a:endParaRPr b="0" lang="en-IN" sz="1400" strike="noStrike" u="none">
              <a:solidFill>
                <a:srgbClr val="000000"/>
              </a:solidFill>
              <a:effectLst/>
              <a:uFillTx/>
              <a:latin typeface="Times New Roman"/>
            </a:endParaRPr>
          </a:p>
        </p:txBody>
      </p:sp>
      <p:sp>
        <p:nvSpPr>
          <p:cNvPr id="80" name=""/>
          <p:cNvSpPr txBox="1"/>
          <p:nvPr/>
        </p:nvSpPr>
        <p:spPr>
          <a:xfrm>
            <a:off x="685800" y="6248520"/>
            <a:ext cx="1905120" cy="457200"/>
          </a:xfrm>
          <a:prstGeom prst="rect">
            <a:avLst/>
          </a:prstGeom>
          <a:noFill/>
          <a:ln w="0">
            <a:noFill/>
          </a:ln>
        </p:spPr>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ffffff"/>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81" name="PlaceHolder 1"/>
          <p:cNvSpPr>
            <a:spLocks noGrp="1"/>
          </p:cNvSpPr>
          <p:nvPr>
            <p:ph type="title"/>
          </p:nvPr>
        </p:nvSpPr>
        <p:spPr>
          <a:xfrm>
            <a:off x="685800" y="1142640"/>
            <a:ext cx="7772400" cy="11430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000" strike="noStrike" u="none">
                <a:solidFill>
                  <a:srgbClr val="ffffff"/>
                </a:solidFill>
                <a:effectLst/>
                <a:uFillTx/>
                <a:latin typeface="Tahoma"/>
              </a:rPr>
              <a:t>Voici quelques causes menant à des résultats faux-négatifs:</a:t>
            </a:r>
            <a:endParaRPr b="0" lang="en-IN" sz="4000" strike="noStrike" u="none">
              <a:solidFill>
                <a:srgbClr val="000000"/>
              </a:solidFill>
              <a:effectLst/>
              <a:uFillTx/>
              <a:latin typeface="Times New Roman"/>
            </a:endParaRPr>
          </a:p>
        </p:txBody>
      </p:sp>
      <p:sp>
        <p:nvSpPr>
          <p:cNvPr id="82" name="PlaceHolder 2"/>
          <p:cNvSpPr>
            <a:spLocks noGrp="1"/>
          </p:cNvSpPr>
          <p:nvPr>
            <p:ph/>
          </p:nvPr>
        </p:nvSpPr>
        <p:spPr>
          <a:xfrm>
            <a:off x="533160" y="2743200"/>
            <a:ext cx="7848360" cy="4191120"/>
          </a:xfrm>
          <a:prstGeom prst="rect">
            <a:avLst/>
          </a:prstGeom>
          <a:noFill/>
          <a:ln w="0">
            <a:noFill/>
          </a:ln>
        </p:spPr>
        <p:txBody>
          <a:bodyPr lIns="90000" rIns="90000" tIns="46800" bIns="46800" anchor="t">
            <a:normAutofit/>
          </a:bodyPr>
          <a:p>
            <a:pPr marL="343080" indent="-343080">
              <a:lnSpc>
                <a:spcPct val="110000"/>
              </a:lnSpc>
              <a:spcBef>
                <a:spcPts val="601"/>
              </a:spcBef>
              <a:buClr>
                <a:srgbClr val="ffff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Des erreurs dans la manipulation d'échantillons ou dans l'enregistrement des résultats.</a:t>
            </a:r>
            <a:endParaRPr b="0" lang="en-IN" sz="2400" strike="noStrike" u="none">
              <a:solidFill>
                <a:srgbClr val="000000"/>
              </a:solidFill>
              <a:effectLst/>
              <a:uFillTx/>
              <a:latin typeface="Times New Roman"/>
            </a:endParaRPr>
          </a:p>
          <a:p>
            <a:pPr marL="343080" indent="-343080">
              <a:lnSpc>
                <a:spcPct val="110000"/>
              </a:lnSpc>
              <a:spcBef>
                <a:spcPts val="601"/>
              </a:spcBef>
              <a:buClr>
                <a:srgbClr val="ffff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Des expectorations de mauvaise qualité.</a:t>
            </a:r>
            <a:endParaRPr b="0" lang="en-IN" sz="2400" strike="noStrike" u="none">
              <a:solidFill>
                <a:srgbClr val="000000"/>
              </a:solidFill>
              <a:effectLst/>
              <a:uFillTx/>
              <a:latin typeface="Times New Roman"/>
            </a:endParaRPr>
          </a:p>
          <a:p>
            <a:pPr marL="343080" indent="-343080">
              <a:lnSpc>
                <a:spcPct val="110000"/>
              </a:lnSpc>
              <a:spcBef>
                <a:spcPts val="601"/>
              </a:spcBef>
              <a:buClr>
                <a:srgbClr val="ffff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Une décoloration excessive.</a:t>
            </a:r>
            <a:endParaRPr b="0" lang="en-IN" sz="2400" strike="noStrike" u="none">
              <a:solidFill>
                <a:srgbClr val="000000"/>
              </a:solidFill>
              <a:effectLst/>
              <a:uFillTx/>
              <a:latin typeface="Times New Roman"/>
            </a:endParaRPr>
          </a:p>
          <a:p>
            <a:pPr marL="343080" indent="-343080">
              <a:lnSpc>
                <a:spcPct val="110000"/>
              </a:lnSpc>
              <a:spcBef>
                <a:spcPts val="700"/>
              </a:spcBef>
              <a:buClr>
                <a:srgbClr val="ffff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Une lecture de moins de 100 champs microscopiques</a:t>
            </a:r>
            <a:r>
              <a:rPr b="0" lang="en-US" sz="2800" strike="noStrike" u="none">
                <a:solidFill>
                  <a:srgbClr val="ffffff"/>
                </a:solidFill>
                <a:effectLst/>
                <a:uFillTx/>
                <a:latin typeface="Tahoma"/>
              </a:rPr>
              <a:t>.</a:t>
            </a:r>
            <a:endParaRPr b="0" lang="en-IN" sz="2800" strike="noStrike" u="none">
              <a:solidFill>
                <a:srgbClr val="000000"/>
              </a:solidFill>
              <a:effectLst/>
              <a:uFillTx/>
              <a:latin typeface="Times New Roman"/>
            </a:endParaRPr>
          </a:p>
        </p:txBody>
      </p:sp>
    </p:spTree>
  </p:cSld>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83" name="French%20end%20%2360" descr=""/>
          <p:cNvPicPr/>
          <p:nvPr/>
        </p:nvPicPr>
        <p:blipFill>
          <a:blip r:embed="rId1"/>
          <a:stretch/>
        </p:blipFill>
        <p:spPr>
          <a:xfrm>
            <a:off x="528480" y="528480"/>
            <a:ext cx="8080560" cy="5386680"/>
          </a:xfrm>
          <a:prstGeom prst="rect">
            <a:avLst/>
          </a:prstGeom>
          <a:noFill/>
          <a:ln w="0">
            <a:noFill/>
          </a:ln>
        </p:spPr>
      </p:pic>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319</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2000-11-15T09:30:25Z</dcterms:created>
  <dc:creator>zer3</dc:creator>
  <dc:description/>
  <dc:language>en-IN</dc:language>
  <cp:lastModifiedBy>zer3</cp:lastModifiedBy>
  <dcterms:modified xsi:type="dcterms:W3CDTF">2000-11-29T12:09:12Z</dcterms:modified>
  <cp:revision>78</cp:revision>
  <dc:subject/>
  <dc:title>PowerPoint Presentation</dc:title>
</cp:coreProperties>
</file>