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theme/theme1.xml" ContentType="application/vnd.openxmlformats-officedocument.theme+xml"/>
  <Override PartName="/ppt/slideLayouts/slideLayout1.xml" ContentType="application/vnd.openxmlformats-officedocument.presentationml.slideLayout+xml"/>
  <Override PartName="/ppt/slideLayouts/_rels/slideLayout1.xml.rels" ContentType="application/vnd.openxmlformats-package.relationships+xml"/>
  <Override PartName="/ppt/media/image1.png" ContentType="image/png"/>
  <Override PartName="/ppt/media/image2.wmf" ContentType="image/x-wmf"/>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wmf"/>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bg>
      <p:bgPr>
        <a:solidFill>
          <a:srgbClr val="ffffff"/>
        </a:solidFill>
      </p:bgPr>
    </p:bg>
    <p:spTree>
      <p:nvGrpSpPr>
        <p:cNvPr id="1" name=""/>
        <p:cNvGrpSpPr/>
        <p:nvPr/>
      </p:nvGrpSpPr>
      <p:grpSpPr>
        <a:xfrm>
          <a:off x="0" y="0"/>
          <a:ext cx="0" cy="0"/>
          <a:chOff x="0" y="0"/>
          <a:chExt cx="0" cy="0"/>
        </a:xfrm>
      </p:grpSpPr>
      <p:sp>
        <p:nvSpPr>
          <p:cNvPr id="0" name=""/>
          <p:cNvSpPr/>
          <p:nvPr/>
        </p:nvSpPr>
        <p:spPr>
          <a:xfrm>
            <a:off x="0" y="0"/>
            <a:ext cx="9144000" cy="152280"/>
          </a:xfrm>
          <a:prstGeom prst="rect">
            <a:avLst/>
          </a:prstGeom>
          <a:gradFill rotWithShape="0">
            <a:gsLst>
              <a:gs pos="0">
                <a:srgbClr val="009900"/>
              </a:gs>
              <a:gs pos="100000">
                <a:srgbClr val="40458c"/>
              </a:gs>
            </a:gsLst>
            <a:lin ang="10800000"/>
          </a:gradFill>
          <a:ln w="0">
            <a:noFill/>
          </a:ln>
        </p:spPr>
        <p:style>
          <a:lnRef idx="0"/>
          <a:fillRef idx="0"/>
          <a:effectRef idx="0"/>
          <a:fontRef idx="minor"/>
        </p:style>
        <p:txBody>
          <a:bodyPr wrap="none" lIns="90000" rIns="90000" tIns="46800" bIns="46800" anchor="ctr">
            <a:noAutofit/>
          </a:bodyPr>
          <a:p>
            <a:endParaRPr b="0" lang="en-IN" sz="2400" strike="noStrike" u="none">
              <a:solidFill>
                <a:srgbClr val="40458c"/>
              </a:solidFill>
              <a:effectLst/>
              <a:uFillTx/>
              <a:latin typeface="Times New Roman"/>
            </a:endParaRPr>
          </a:p>
        </p:txBody>
      </p:sp>
      <p:sp>
        <p:nvSpPr>
          <p:cNvPr id="1" name="PlaceHolder 1"/>
          <p:cNvSpPr>
            <a:spLocks noGrp="1"/>
          </p:cNvSpPr>
          <p:nvPr>
            <p:ph type="title"/>
          </p:nvPr>
        </p:nvSpPr>
        <p:spPr>
          <a:xfrm>
            <a:off x="609480" y="304560"/>
            <a:ext cx="7772400" cy="11430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40458c"/>
                </a:solidFill>
                <a:effectLst/>
                <a:uFillTx/>
                <a:latin typeface="Tahoma"/>
              </a:rPr>
              <a:t>Click to edit the title text format</a:t>
            </a:r>
            <a:endParaRPr b="0" lang="en-IN" sz="4400" strike="noStrike" u="none">
              <a:solidFill>
                <a:srgbClr val="40458c"/>
              </a:solidFill>
              <a:effectLst/>
              <a:uFillTx/>
              <a:latin typeface="Tahoma"/>
            </a:endParaRPr>
          </a:p>
        </p:txBody>
      </p:sp>
      <p:sp>
        <p:nvSpPr>
          <p:cNvPr id="2" name="PlaceHolder 2"/>
          <p:cNvSpPr>
            <a:spLocks noGrp="1"/>
          </p:cNvSpPr>
          <p:nvPr>
            <p:ph type="body"/>
          </p:nvPr>
        </p:nvSpPr>
        <p:spPr>
          <a:xfrm>
            <a:off x="914400" y="1599840"/>
            <a:ext cx="7772400" cy="4267080"/>
          </a:xfrm>
          <a:prstGeom prst="rect">
            <a:avLst/>
          </a:prstGeom>
          <a:noFill/>
          <a:ln w="0">
            <a:noFill/>
          </a:ln>
        </p:spPr>
        <p:txBody>
          <a:bodyPr lIns="90000" rIns="90000" tIns="46800" bIns="46800" anchor="t">
            <a:normAutofit/>
          </a:bodyPr>
          <a:p>
            <a:pPr marL="343080" indent="-343080">
              <a:spcBef>
                <a:spcPts val="799"/>
              </a:spcBef>
              <a:buSzPct val="113122"/>
              <a:buBlip>
                <a:blip r:embed="rId2"/>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40458c"/>
                </a:solidFill>
                <a:effectLst/>
                <a:uFillTx/>
                <a:latin typeface="Tahoma"/>
              </a:rPr>
              <a:t>Click to edit the outline text format</a:t>
            </a:r>
            <a:endParaRPr b="0" lang="en-IN" sz="3200" strike="noStrike" u="none">
              <a:solidFill>
                <a:srgbClr val="40458c"/>
              </a:solidFill>
              <a:effectLst/>
              <a:uFillTx/>
              <a:latin typeface="Tahoma"/>
            </a:endParaRPr>
          </a:p>
          <a:p>
            <a:pPr lvl="1" marL="743040" indent="-285840">
              <a:spcBef>
                <a:spcPts val="799"/>
              </a:spcBef>
              <a:buClr>
                <a:srgbClr val="40458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40458c"/>
                </a:solidFill>
                <a:effectLst/>
                <a:uFillTx/>
                <a:latin typeface="Tahoma"/>
              </a:rPr>
              <a:t>Second Outline Level</a:t>
            </a:r>
            <a:endParaRPr b="0" lang="en-IN" sz="3200" strike="noStrike" u="none">
              <a:solidFill>
                <a:srgbClr val="40458c"/>
              </a:solidFill>
              <a:effectLst/>
              <a:uFillTx/>
              <a:latin typeface="Tahoma"/>
            </a:endParaRPr>
          </a:p>
          <a:p>
            <a:pPr lvl="2" marL="1143000" indent="-228600">
              <a:spcBef>
                <a:spcPts val="799"/>
              </a:spcBef>
              <a:buClr>
                <a:srgbClr val="6f89f7"/>
              </a:buClr>
              <a:buSzPct val="9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40458c"/>
                </a:solidFill>
                <a:effectLst/>
                <a:uFillTx/>
                <a:latin typeface="Tahoma"/>
              </a:rPr>
              <a:t>Third Outline Level</a:t>
            </a:r>
            <a:endParaRPr b="0" lang="en-IN" sz="3200" strike="noStrike" u="none">
              <a:solidFill>
                <a:srgbClr val="40458c"/>
              </a:solidFill>
              <a:effectLst/>
              <a:uFillTx/>
              <a:latin typeface="Tahoma"/>
            </a:endParaRPr>
          </a:p>
          <a:p>
            <a:pPr lvl="3" marL="1600200" indent="-228600">
              <a:spcBef>
                <a:spcPts val="799"/>
              </a:spcBef>
              <a:buClr>
                <a:srgbClr val="40458c"/>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40458c"/>
                </a:solidFill>
                <a:effectLst/>
                <a:uFillTx/>
                <a:latin typeface="Tahoma"/>
              </a:rPr>
              <a:t>Fourth Outline Level</a:t>
            </a:r>
            <a:endParaRPr b="0" lang="en-IN" sz="3200" strike="noStrike" u="none">
              <a:solidFill>
                <a:srgbClr val="40458c"/>
              </a:solidFill>
              <a:effectLst/>
              <a:uFillTx/>
              <a:latin typeface="Tahoma"/>
            </a:endParaRPr>
          </a:p>
          <a:p>
            <a:pPr lvl="4" marL="2057400" indent="-228600">
              <a:spcBef>
                <a:spcPts val="799"/>
              </a:spcBef>
              <a:buClr>
                <a:srgbClr val="6f89f7"/>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40458c"/>
                </a:solidFill>
                <a:effectLst/>
                <a:uFillTx/>
                <a:latin typeface="Tahoma"/>
              </a:rPr>
              <a:t>Fifth Outline Level</a:t>
            </a:r>
            <a:endParaRPr b="0" lang="en-IN" sz="3200" strike="noStrike" u="none">
              <a:solidFill>
                <a:srgbClr val="40458c"/>
              </a:solidFill>
              <a:effectLst/>
              <a:uFillTx/>
              <a:latin typeface="Tahoma"/>
            </a:endParaRPr>
          </a:p>
          <a:p>
            <a:pPr lvl="5" marL="2057400" indent="-228600">
              <a:spcBef>
                <a:spcPts val="799"/>
              </a:spcBef>
              <a:buClr>
                <a:srgbClr val="40458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40458c"/>
                </a:solidFill>
                <a:effectLst/>
                <a:uFillTx/>
                <a:latin typeface="Tahoma"/>
              </a:rPr>
              <a:t>Sixth Outline Level</a:t>
            </a:r>
            <a:endParaRPr b="0" lang="en-IN" sz="3200" strike="noStrike" u="none">
              <a:solidFill>
                <a:srgbClr val="40458c"/>
              </a:solidFill>
              <a:effectLst/>
              <a:uFillTx/>
              <a:latin typeface="Tahoma"/>
            </a:endParaRPr>
          </a:p>
          <a:p>
            <a:pPr lvl="6" marL="2057400" indent="-228600">
              <a:spcBef>
                <a:spcPts val="799"/>
              </a:spcBef>
              <a:buClr>
                <a:srgbClr val="40458c"/>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40458c"/>
                </a:solidFill>
                <a:effectLst/>
                <a:uFillTx/>
                <a:latin typeface="Tahoma"/>
              </a:rPr>
              <a:t>Seventh Outline Level</a:t>
            </a:r>
            <a:endParaRPr b="0" lang="en-IN" sz="3200" strike="noStrike" u="none">
              <a:solidFill>
                <a:srgbClr val="40458c"/>
              </a:solidFill>
              <a:effectLst/>
              <a:uFillTx/>
              <a:latin typeface="Tahoma"/>
            </a:endParaRPr>
          </a:p>
        </p:txBody>
      </p:sp>
      <p:sp>
        <p:nvSpPr>
          <p:cNvPr id="3" name="PlaceHolder 3"/>
          <p:cNvSpPr>
            <a:spLocks noGrp="1"/>
          </p:cNvSpPr>
          <p:nvPr>
            <p:ph type="dt" idx="1"/>
          </p:nvPr>
        </p:nvSpPr>
        <p:spPr>
          <a:xfrm>
            <a:off x="1981080" y="6248520"/>
            <a:ext cx="1905120" cy="457200"/>
          </a:xfrm>
          <a:prstGeom prst="rect">
            <a:avLst/>
          </a:prstGeom>
          <a:noFill/>
          <a:ln w="0">
            <a:noFill/>
          </a:ln>
        </p:spPr>
        <p:txBody>
          <a:bodyPr lIns="90000" rIns="90000" tIns="46800" bIns="46800" anchor="b">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40458c"/>
                </a:solidFill>
                <a:effectLst/>
                <a:uFillTx/>
                <a:latin typeface="Tahoma"/>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40458c"/>
                </a:solidFill>
                <a:effectLst/>
                <a:uFillTx/>
                <a:latin typeface="Tahoma"/>
              </a:rPr>
              <a:t>&lt;date/time&gt;</a:t>
            </a:r>
            <a:endParaRPr b="0" lang="en-IN" sz="1400" strike="noStrike" u="none">
              <a:solidFill>
                <a:srgbClr val="000000"/>
              </a:solidFill>
              <a:effectLst/>
              <a:uFillTx/>
              <a:latin typeface="Times New Roman"/>
            </a:endParaRPr>
          </a:p>
        </p:txBody>
      </p:sp>
      <p:sp>
        <p:nvSpPr>
          <p:cNvPr id="4" name="PlaceHolder 4"/>
          <p:cNvSpPr>
            <a:spLocks noGrp="1"/>
          </p:cNvSpPr>
          <p:nvPr>
            <p:ph type="ftr" idx="2"/>
          </p:nvPr>
        </p:nvSpPr>
        <p:spPr>
          <a:xfrm>
            <a:off x="4190760" y="6248520"/>
            <a:ext cx="2057400" cy="457200"/>
          </a:xfrm>
          <a:prstGeom prst="rect">
            <a:avLst/>
          </a:prstGeom>
          <a:noFill/>
          <a:ln w="0">
            <a:noFill/>
          </a:ln>
        </p:spPr>
        <p:txBody>
          <a:bodyPr lIns="90000" rIns="90000" tIns="46800" bIns="46800" anchor="b">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40458c"/>
                </a:solidFill>
                <a:effectLst/>
                <a:uFillTx/>
                <a:latin typeface="Tahoma"/>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40458c"/>
                </a:solidFill>
                <a:effectLst/>
                <a:uFillTx/>
                <a:latin typeface="Tahoma"/>
              </a:rPr>
              <a:t>&lt;footer&gt;</a:t>
            </a:r>
            <a:endParaRPr b="0" lang="en-IN" sz="1400" strike="noStrike" u="none">
              <a:solidFill>
                <a:srgbClr val="000000"/>
              </a:solidFill>
              <a:effectLst/>
              <a:uFillTx/>
              <a:latin typeface="Times New Roman"/>
            </a:endParaRPr>
          </a:p>
        </p:txBody>
      </p:sp>
      <p:sp>
        <p:nvSpPr>
          <p:cNvPr id="5" name=""/>
          <p:cNvSpPr/>
          <p:nvPr/>
        </p:nvSpPr>
        <p:spPr>
          <a:xfrm>
            <a:off x="8003160" y="6384960"/>
            <a:ext cx="1415160" cy="400320"/>
          </a:xfrm>
          <a:prstGeom prst="rect">
            <a:avLst/>
          </a:prstGeom>
          <a:noFill/>
          <a:ln w="0">
            <a:noFill/>
          </a:ln>
        </p:spPr>
        <p:style>
          <a:lnRef idx="0"/>
          <a:fillRef idx="0"/>
          <a:effectRef idx="0"/>
          <a:fontRef idx="minor"/>
        </p:style>
        <p:txBody>
          <a:bodyPr wrap="none" lIns="90000" rIns="90000" tIns="46800" bIns="46800" anchor="t">
            <a:spAutoFit/>
          </a:bodyPr>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988C9A8-AB4D-4A98-8C7E-D53B57EE03F7}" type="slidenum">
              <a:rPr b="0" lang="en-US" sz="2000" strike="noStrike" u="none">
                <a:solidFill>
                  <a:srgbClr val="40458c"/>
                </a:solidFill>
                <a:effectLst/>
                <a:uFillTx/>
                <a:latin typeface="Tahoma"/>
              </a:rPr>
              <a:t>&lt;number&gt;</a:t>
            </a:fld>
            <a:endParaRPr b="0" lang="en-IN" sz="2000" strike="noStrike" u="none">
              <a:solidFill>
                <a:srgbClr val="40458c"/>
              </a:solidFill>
              <a:effectLst/>
              <a:uFillTx/>
              <a:latin typeface="Times New Roman"/>
            </a:endParaRPr>
          </a:p>
        </p:txBody>
      </p:sp>
      <p:pic>
        <p:nvPicPr>
          <p:cNvPr id="6" name="" descr=""/>
          <p:cNvPicPr/>
          <p:nvPr/>
        </p:nvPicPr>
        <p:blipFill>
          <a:blip r:embed="rId3"/>
          <a:stretch/>
        </p:blipFill>
        <p:spPr>
          <a:xfrm>
            <a:off x="0" y="5226120"/>
            <a:ext cx="2438280" cy="1625400"/>
          </a:xfrm>
          <a:prstGeom prst="rect">
            <a:avLst/>
          </a:prstGeom>
          <a:noFill/>
          <a:ln w="0">
            <a:noFill/>
          </a:ln>
        </p:spPr>
      </p:pic>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image" Target="../media/image1.png"/><Relationship Id="rId5" Type="http://schemas.openxmlformats.org/officeDocument/2006/relationships/hyperlink" Target="http://www.fws.gov/birddata/databases/db_selection.html" TargetMode="External"/><Relationship Id="rId6" Type="http://schemas.openxmlformats.org/officeDocument/2006/relationships/image" Target="../media/image1.png"/><Relationship Id="rId7" Type="http://schemas.openxmlformats.org/officeDocument/2006/relationships/hyperlink" Target="http://www.fws.gov/data/fws_ims.htm" TargetMode="External"/><Relationship Id="rId8" Type="http://schemas.openxmlformats.org/officeDocument/2006/relationships/image" Target="../media/image1.png"/><Relationship Id="rId9" Type="http://schemas.openxmlformats.org/officeDocument/2006/relationships/hyperlink" Target="http://www.fws.gov/data/NWRdata.htm" TargetMode="External"/><Relationship Id="rId10" Type="http://schemas.openxmlformats.org/officeDocument/2006/relationships/image" Target="../media/image1.png"/><Relationship Id="rId11" Type="http://schemas.openxmlformats.org/officeDocument/2006/relationships/image" Target="../media/image1.png"/><Relationship Id="rId1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image" Target="../media/image1.png"/><Relationship Id="rId5" Type="http://schemas.openxmlformats.org/officeDocument/2006/relationships/image" Target="../media/image1.png"/><Relationship Id="rId6"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28600"/>
            <a:ext cx="7772400" cy="457200"/>
          </a:xfrm>
          <a:prstGeom prst="rect">
            <a:avLst/>
          </a:prstGeom>
          <a:noFill/>
          <a:ln w="0">
            <a:noFill/>
          </a:ln>
        </p:spPr>
        <p:txBody>
          <a:bodyPr lIns="90000" rIns="90000" tIns="46800" bIns="46800" anchor="b">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40458c"/>
                </a:solidFill>
                <a:effectLst/>
                <a:uFillTx/>
                <a:latin typeface="Tahoma"/>
              </a:rPr>
              <a:t>US Fish and Wildlife Service Hurricane Preparedness</a:t>
            </a:r>
            <a:endParaRPr b="0" lang="en-IN" sz="2000" strike="noStrike" u="none">
              <a:solidFill>
                <a:srgbClr val="40458c"/>
              </a:solidFill>
              <a:effectLst/>
              <a:uFillTx/>
              <a:latin typeface="Tahoma"/>
            </a:endParaRPr>
          </a:p>
        </p:txBody>
      </p:sp>
      <p:sp>
        <p:nvSpPr>
          <p:cNvPr id="8" name="PlaceHolder 2"/>
          <p:cNvSpPr>
            <a:spLocks noGrp="1"/>
          </p:cNvSpPr>
          <p:nvPr>
            <p:ph/>
          </p:nvPr>
        </p:nvSpPr>
        <p:spPr>
          <a:xfrm>
            <a:off x="152280" y="761760"/>
            <a:ext cx="8839440" cy="5105160"/>
          </a:xfrm>
          <a:prstGeom prst="rect">
            <a:avLst/>
          </a:prstGeom>
          <a:noFill/>
          <a:ln w="0">
            <a:noFill/>
          </a:ln>
        </p:spPr>
        <p:txBody>
          <a:bodyPr lIns="90000" rIns="90000" tIns="46800" bIns="46800" anchor="t">
            <a:normAutofit/>
          </a:bodyPr>
          <a:p>
            <a:pPr marL="343080" indent="-343080">
              <a:lnSpc>
                <a:spcPct val="80000"/>
              </a:lnSpc>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trike="noStrike" u="none">
                <a:solidFill>
                  <a:srgbClr val="40458c"/>
                </a:solidFill>
                <a:effectLst/>
                <a:uFillTx/>
                <a:latin typeface="Tahoma"/>
              </a:rPr>
              <a:t> </a:t>
            </a:r>
            <a:r>
              <a:rPr b="0" lang="en-US" sz="1200" strike="noStrike" u="none">
                <a:solidFill>
                  <a:srgbClr val="40458c"/>
                </a:solidFill>
                <a:effectLst/>
                <a:uFillTx/>
                <a:latin typeface="Tahoma"/>
              </a:rPr>
              <a:t>Your agency’s data products that would be useful for hurricane preparedness and response</a:t>
            </a:r>
            <a:br>
              <a:rPr sz="1200"/>
            </a:br>
            <a:r>
              <a:rPr b="0" lang="en-US" sz="1200" strike="noStrike" u="none">
                <a:solidFill>
                  <a:srgbClr val="40458c"/>
                </a:solidFill>
                <a:effectLst/>
                <a:uFillTx/>
                <a:latin typeface="Tahoma"/>
              </a:rPr>
              <a:t>* Federal facilities and personnel duty stations</a:t>
            </a:r>
            <a:endParaRPr b="0" lang="en-IN" sz="1200" strike="noStrike" u="none">
              <a:solidFill>
                <a:srgbClr val="40458c"/>
              </a:solidFill>
              <a:effectLst/>
              <a:uFillTx/>
              <a:latin typeface="Tahoma"/>
            </a:endParaRPr>
          </a:p>
          <a:p>
            <a:pPr marL="343080" indent="-343080">
              <a:lnSpc>
                <a:spcPct val="80000"/>
              </a:lnSpc>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40458c"/>
                </a:solidFill>
                <a:effectLst/>
                <a:uFillTx/>
                <a:latin typeface="Tahoma"/>
              </a:rPr>
              <a:t>Links to Regional and Washington office phone numbers:  http://www.fws.gov/offices/phone.html</a:t>
            </a:r>
            <a:endParaRPr b="0" lang="en-IN" sz="1200" strike="noStrike" u="none">
              <a:solidFill>
                <a:srgbClr val="40458c"/>
              </a:solidFill>
              <a:effectLst/>
              <a:uFillTx/>
              <a:latin typeface="Tahoma"/>
            </a:endParaRPr>
          </a:p>
          <a:p>
            <a:pPr marL="343080" indent="-343080">
              <a:lnSpc>
                <a:spcPct val="80000"/>
              </a:lnSpc>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40458c"/>
                </a:solidFill>
                <a:effectLst/>
                <a:uFillTx/>
                <a:latin typeface="Tahoma"/>
              </a:rPr>
              <a:t> Web sites  </a:t>
            </a:r>
            <a:endParaRPr b="0" lang="en-IN" sz="1200" strike="noStrike" u="none">
              <a:solidFill>
                <a:srgbClr val="40458c"/>
              </a:solidFill>
              <a:effectLst/>
              <a:uFillTx/>
              <a:latin typeface="Tahoma"/>
            </a:endParaRPr>
          </a:p>
          <a:p>
            <a:pPr marL="343080" indent="-343080">
              <a:lnSpc>
                <a:spcPct val="80000"/>
              </a:lnSpc>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40458c"/>
                </a:solidFill>
                <a:effectLst/>
                <a:uFillTx/>
                <a:latin typeface="Tahoma"/>
              </a:rPr>
              <a:t>FWS National Data Sets, http://www.fws.gov/data/FWSNatlData.htm, Links to:</a:t>
            </a:r>
            <a:endParaRPr b="0" lang="en-IN" sz="1200" strike="noStrike" u="none">
              <a:solidFill>
                <a:srgbClr val="40458c"/>
              </a:solidFill>
              <a:effectLst/>
              <a:uFillTx/>
              <a:latin typeface="Tahoma"/>
            </a:endParaRPr>
          </a:p>
          <a:p>
            <a:pPr marL="343080" indent="-343080">
              <a:lnSpc>
                <a:spcPct val="80000"/>
              </a:lnSpc>
              <a:spcBef>
                <a:spcPts val="300"/>
              </a:spcBef>
              <a:buSzPct val="301925"/>
              <a:buBlip>
                <a:blip r:embed="rId1"/>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40458c"/>
                </a:solidFill>
                <a:effectLst/>
                <a:uFillTx/>
                <a:latin typeface="Tahoma"/>
              </a:rPr>
              <a:t>CMT Data - http://www.fws.gov/data/cmtgis.htm -   contains location information on all the offices within the Service that have an organization code. Unstaffed offices and some other facilities may not be included.</a:t>
            </a:r>
            <a:endParaRPr b="0" lang="en-IN" sz="1200" strike="noStrike" u="none">
              <a:solidFill>
                <a:srgbClr val="40458c"/>
              </a:solidFill>
              <a:effectLst/>
              <a:uFillTx/>
              <a:latin typeface="Tahoma"/>
            </a:endParaRPr>
          </a:p>
          <a:p>
            <a:pPr marL="343080" indent="-343080">
              <a:lnSpc>
                <a:spcPct val="80000"/>
              </a:lnSpc>
              <a:spcBef>
                <a:spcPts val="300"/>
              </a:spcBef>
              <a:buSzPct val="301925"/>
              <a:buBlip>
                <a:blip r:embed="rId2"/>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40458c"/>
                </a:solidFill>
                <a:effectLst/>
                <a:uFillTx/>
                <a:latin typeface="Tahoma"/>
              </a:rPr>
              <a:t>IMADS - http://www.fws.gov/data/IMADS/index.htm -   Data  includes FWS Offices, National Wildlife Refuge Boundaries, State Data Links, Gulf of Maine Coastal Program</a:t>
            </a:r>
            <a:endParaRPr b="0" lang="en-IN" sz="1200" strike="noStrike" u="none">
              <a:solidFill>
                <a:srgbClr val="40458c"/>
              </a:solidFill>
              <a:effectLst/>
              <a:uFillTx/>
              <a:latin typeface="Tahoma"/>
            </a:endParaRPr>
          </a:p>
          <a:p>
            <a:pPr marL="343080" indent="-343080">
              <a:lnSpc>
                <a:spcPct val="80000"/>
              </a:lnSpc>
              <a:spcBef>
                <a:spcPts val="300"/>
              </a:spcBef>
              <a:buSzPct val="301925"/>
              <a:buBlip>
                <a:blip r:embed="rId3"/>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40458c"/>
                </a:solidFill>
                <a:effectLst/>
                <a:uFillTx/>
                <a:latin typeface="Tahoma"/>
              </a:rPr>
              <a:t>National Wetlands Inventory -  http://www.fws.gov/nwi/ -   The National Wetlands Inventory (NWI) of the U.S. Fish &amp; Wildlife Service produces information on the characteristics, extent, and status of the Nation’s wetlands and deepwater habitats.</a:t>
            </a:r>
            <a:endParaRPr b="0" lang="en-IN" sz="1200" strike="noStrike" u="none">
              <a:solidFill>
                <a:srgbClr val="40458c"/>
              </a:solidFill>
              <a:effectLst/>
              <a:uFillTx/>
              <a:latin typeface="Tahoma"/>
            </a:endParaRPr>
          </a:p>
          <a:p>
            <a:pPr marL="343080" indent="-343080">
              <a:lnSpc>
                <a:spcPct val="80000"/>
              </a:lnSpc>
              <a:spcBef>
                <a:spcPts val="300"/>
              </a:spcBef>
              <a:buSzPct val="301925"/>
              <a:buBlip>
                <a:blip r:embed="rId4"/>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40458c"/>
                </a:solidFill>
                <a:effectLst/>
                <a:uFillTx/>
                <a:latin typeface="Tahoma"/>
              </a:rPr>
              <a:t>Migratory Bird Conservation Data Center - </a:t>
            </a:r>
            <a:r>
              <a:rPr b="0" lang="en-US" sz="1200" strike="noStrike" u="sng">
                <a:solidFill>
                  <a:srgbClr val="6f89f7"/>
                </a:solidFill>
                <a:effectLst/>
                <a:uFillTx/>
                <a:latin typeface="Tahoma"/>
                <a:hlinkClick r:id="rId5"/>
              </a:rPr>
              <a:t>http://www.fws.gov/birddata/databases/db_selection.html</a:t>
            </a:r>
            <a:r>
              <a:rPr b="0" lang="en-US" sz="1200" strike="noStrike" u="none">
                <a:solidFill>
                  <a:srgbClr val="40458c"/>
                </a:solidFill>
                <a:effectLst/>
                <a:uFillTx/>
                <a:latin typeface="Tahoma"/>
              </a:rPr>
              <a:t>  The Bird Conservation Node provides access to bird population and habitat information relevent to population management, conservation planning, and evaluation. In order to make important agency databases available through the Bird Conservation Node, the FWS and USGS formed this Migratory Bird Data Center. Databases available include North American Breeding Bird Survey, Mid-Winter Waterfowl Survey, and Waterfowl Breeding Population and Habitat Survey</a:t>
            </a:r>
            <a:endParaRPr b="0" lang="en-IN" sz="1200" strike="noStrike" u="none">
              <a:solidFill>
                <a:srgbClr val="40458c"/>
              </a:solidFill>
              <a:effectLst/>
              <a:uFillTx/>
              <a:latin typeface="Tahoma"/>
            </a:endParaRPr>
          </a:p>
          <a:p>
            <a:pPr marL="343080" indent="-343080">
              <a:lnSpc>
                <a:spcPct val="80000"/>
              </a:lnSpc>
              <a:spcBef>
                <a:spcPts val="300"/>
              </a:spcBef>
              <a:buSzPct val="301925"/>
              <a:buBlip>
                <a:blip r:embed="rId6"/>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40458c"/>
                </a:solidFill>
                <a:effectLst/>
                <a:uFillTx/>
                <a:latin typeface="Tahoma"/>
              </a:rPr>
              <a:t>FWS Interactive Mapping Sites - </a:t>
            </a:r>
            <a:r>
              <a:rPr b="0" lang="en-US" sz="1200" strike="noStrike" u="sng">
                <a:solidFill>
                  <a:srgbClr val="6f89f7"/>
                </a:solidFill>
                <a:effectLst/>
                <a:uFillTx/>
                <a:latin typeface="Tahoma"/>
                <a:hlinkClick r:id="rId7"/>
              </a:rPr>
              <a:t>http://www.fws.gov/data/fws_ims.htm</a:t>
            </a:r>
            <a:r>
              <a:rPr b="0" lang="en-US" sz="1200" strike="noStrike" u="none">
                <a:solidFill>
                  <a:srgbClr val="40458c"/>
                </a:solidFill>
                <a:effectLst/>
                <a:uFillTx/>
                <a:latin typeface="Tahoma"/>
              </a:rPr>
              <a:t>  Links to Interactive Mapping sites throughout FWS including Critical Habitat Portal for Endangered Species data, Wetlands Mapper (NWI Data), Environmental Conservation On-Line System (ECOS), Bird Conservation Node (under Migratory Bird Conservation Center), Great Lakes lake sturgeon tributary database and Geographic Information System (GIS), Pacific Region Interactive Mapping Site, and Alaska Region Interactive Mapping Site - North Pacific Seabird Colony Database</a:t>
            </a:r>
            <a:endParaRPr b="0" lang="en-IN" sz="1200" strike="noStrike" u="none">
              <a:solidFill>
                <a:srgbClr val="40458c"/>
              </a:solidFill>
              <a:effectLst/>
              <a:uFillTx/>
              <a:latin typeface="Tahoma"/>
            </a:endParaRPr>
          </a:p>
          <a:p>
            <a:pPr marL="343080" indent="-343080">
              <a:lnSpc>
                <a:spcPct val="80000"/>
              </a:lnSpc>
              <a:spcBef>
                <a:spcPts val="300"/>
              </a:spcBef>
              <a:buSzPct val="301925"/>
              <a:buBlip>
                <a:blip r:embed="rId8"/>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40458c"/>
                </a:solidFill>
                <a:effectLst/>
                <a:uFillTx/>
                <a:latin typeface="Tahoma"/>
              </a:rPr>
              <a:t>FWS National Wildlife Refuge Data - </a:t>
            </a:r>
            <a:r>
              <a:rPr b="0" lang="en-US" sz="1200" strike="noStrike" u="sng">
                <a:solidFill>
                  <a:srgbClr val="6f89f7"/>
                </a:solidFill>
                <a:effectLst/>
                <a:uFillTx/>
                <a:latin typeface="Tahoma"/>
                <a:hlinkClick r:id="rId9"/>
              </a:rPr>
              <a:t>http://www.fws.gov/data/NWRdata.htm</a:t>
            </a:r>
            <a:r>
              <a:rPr b="0" lang="en-US" sz="1200" strike="noStrike" u="none">
                <a:solidFill>
                  <a:srgbClr val="40458c"/>
                </a:solidFill>
                <a:effectLst/>
                <a:uFillTx/>
                <a:latin typeface="Tahoma"/>
              </a:rPr>
              <a:t>  Links to Regional  Approved Acquisition Boundary Data - by FWS Region and by individual refuge when available, Land Ownership Status Boundary Data - where available, Wilderness Area Boundaries, Vegetation Data - limited sites, and Public Roads.</a:t>
            </a:r>
            <a:endParaRPr b="0" lang="en-IN" sz="1200" strike="noStrike" u="none">
              <a:solidFill>
                <a:srgbClr val="40458c"/>
              </a:solidFill>
              <a:effectLst/>
              <a:uFillTx/>
              <a:latin typeface="Tahoma"/>
            </a:endParaRPr>
          </a:p>
          <a:p>
            <a:pPr marL="343080" indent="-343080">
              <a:lnSpc>
                <a:spcPct val="80000"/>
              </a:lnSpc>
              <a:spcBef>
                <a:spcPts val="300"/>
              </a:spcBef>
              <a:buSzPct val="301925"/>
              <a:buBlip>
                <a:blip r:embed="rId10"/>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40458c"/>
                </a:solidFill>
                <a:effectLst/>
                <a:uFillTx/>
                <a:latin typeface="Tahoma"/>
              </a:rPr>
              <a:t>Other FWS Geospatial Data - http://www.fws.gov/data/fwsregdata.htm -   Links to Regional sites including Prairie Pothole ( North Dakota, South Dakota, and Montana) - Land Cover and Wetland Basin information, Louisiana Lands Protected through Federal Sponsorship, Region 5 Data Library, and Region 6 Data Library.</a:t>
            </a:r>
            <a:endParaRPr b="0" lang="en-IN" sz="1200" strike="noStrike" u="none">
              <a:solidFill>
                <a:srgbClr val="40458c"/>
              </a:solidFill>
              <a:effectLst/>
              <a:uFillTx/>
              <a:latin typeface="Tahoma"/>
            </a:endParaRPr>
          </a:p>
          <a:p>
            <a:pPr marL="343080" indent="0">
              <a:lnSpc>
                <a:spcPct val="80000"/>
              </a:lnSpc>
              <a:spcBef>
                <a:spcPts val="3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40458c"/>
              </a:solidFill>
              <a:effectLst/>
              <a:uFillTx/>
              <a:latin typeface="Tahoma"/>
            </a:endParaRPr>
          </a:p>
          <a:p>
            <a:pPr marL="343080" indent="-343080">
              <a:lnSpc>
                <a:spcPct val="80000"/>
              </a:lnSpc>
              <a:spcBef>
                <a:spcPts val="224"/>
              </a:spcBef>
              <a:buSzPct val="400000"/>
              <a:buBlip>
                <a:blip r:embed="rId11"/>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trike="noStrike" u="none">
                <a:solidFill>
                  <a:srgbClr val="40458c"/>
                </a:solidFill>
                <a:effectLst/>
                <a:uFillTx/>
                <a:latin typeface="Tahoma"/>
              </a:rPr>
              <a:t> Services</a:t>
            </a:r>
            <a:endParaRPr b="0" lang="en-IN" sz="900" strike="noStrike" u="none">
              <a:solidFill>
                <a:srgbClr val="40458c"/>
              </a:solidFill>
              <a:effectLst/>
              <a:uFillTx/>
              <a:latin typeface="Tahoma"/>
            </a:endParaRPr>
          </a:p>
          <a:p>
            <a:pPr marL="343080" indent="-343080">
              <a:lnSpc>
                <a:spcPct val="80000"/>
              </a:lnSpc>
              <a:spcBef>
                <a:spcPts val="2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900" strike="noStrike" u="none">
              <a:solidFill>
                <a:srgbClr val="40458c"/>
              </a:solidFill>
              <a:effectLst/>
              <a:uFillTx/>
              <a:latin typeface="Tahoma"/>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304920"/>
            <a:ext cx="7772400" cy="83808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40458c"/>
                </a:solidFill>
                <a:effectLst/>
                <a:uFillTx/>
                <a:latin typeface="Tahoma"/>
              </a:rPr>
              <a:t>Recent Activities/Agency Efforts</a:t>
            </a:r>
            <a:endParaRPr b="0" lang="en-IN" sz="2000" strike="noStrike" u="none">
              <a:solidFill>
                <a:srgbClr val="40458c"/>
              </a:solidFill>
              <a:effectLst/>
              <a:uFillTx/>
              <a:latin typeface="Tahoma"/>
            </a:endParaRPr>
          </a:p>
        </p:txBody>
      </p:sp>
      <p:sp>
        <p:nvSpPr>
          <p:cNvPr id="10" name="PlaceHolder 2"/>
          <p:cNvSpPr>
            <a:spLocks noGrp="1"/>
          </p:cNvSpPr>
          <p:nvPr>
            <p:ph/>
          </p:nvPr>
        </p:nvSpPr>
        <p:spPr>
          <a:xfrm>
            <a:off x="914400" y="1599840"/>
            <a:ext cx="7772400" cy="4267080"/>
          </a:xfrm>
          <a:prstGeom prst="rect">
            <a:avLst/>
          </a:prstGeom>
          <a:noFill/>
          <a:ln w="0">
            <a:noFill/>
          </a:ln>
        </p:spPr>
        <p:txBody>
          <a:bodyPr lIns="90000" rIns="90000" tIns="46800" bIns="46800" anchor="t">
            <a:normAutofit/>
          </a:bodyPr>
          <a:p>
            <a:pPr marL="343080" indent="-343080">
              <a:spcBef>
                <a:spcPts val="349"/>
              </a:spcBef>
              <a:buSzPct val="113122"/>
              <a:buBlip>
                <a:blip r:embed="rId1"/>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40458c"/>
                </a:solidFill>
                <a:effectLst/>
                <a:uFillTx/>
                <a:latin typeface="Tahoma"/>
              </a:rPr>
              <a:t> </a:t>
            </a:r>
            <a:r>
              <a:rPr b="0" lang="en-IN" sz="1400" strike="noStrike" u="none">
                <a:solidFill>
                  <a:srgbClr val="40458c"/>
                </a:solidFill>
                <a:effectLst/>
                <a:uFillTx/>
                <a:latin typeface="Tahoma"/>
              </a:rPr>
              <a:t>Activity related to hurricane preparedness: </a:t>
            </a:r>
            <a:endParaRPr b="0" lang="en-IN" sz="1400" strike="noStrike" u="none">
              <a:solidFill>
                <a:srgbClr val="40458c"/>
              </a:solidFill>
              <a:effectLst/>
              <a:uFillTx/>
              <a:latin typeface="Tahoma"/>
            </a:endParaRPr>
          </a:p>
          <a:p>
            <a:pPr marL="343080" indent="-343080">
              <a:spcBef>
                <a:spcPts val="349"/>
              </a:spcBef>
              <a:buSzPct val="258531"/>
              <a:buBlip>
                <a:blip r:embed="rId2"/>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40458c"/>
                </a:solidFill>
                <a:effectLst/>
                <a:uFillTx/>
                <a:latin typeface="Tahoma"/>
              </a:rPr>
              <a:t> Activity or outcome: Southeast Region did an internal review of their Hurricane response for FY 2005 and 2006: what worked, what did not, how to improve.  This is the Region hit the hardest with close to $250 million in damages in 2005 hurricane season. </a:t>
            </a:r>
            <a:endParaRPr b="0" lang="en-IN" sz="1400" strike="noStrike" u="none">
              <a:solidFill>
                <a:srgbClr val="40458c"/>
              </a:solidFill>
              <a:effectLst/>
              <a:uFillTx/>
              <a:latin typeface="Tahoma"/>
            </a:endParaRPr>
          </a:p>
          <a:p>
            <a:pPr marL="343080" indent="-343080">
              <a:spcBef>
                <a:spcPts val="349"/>
              </a:spcBef>
              <a:buSzPct val="258531"/>
              <a:buBlip>
                <a:blip r:embed="rId3"/>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40458c"/>
                </a:solidFill>
                <a:effectLst/>
                <a:uFillTx/>
                <a:latin typeface="Tahoma"/>
              </a:rPr>
              <a:t>Issue: How to be better prepared to respond rapidly, protect lives and property</a:t>
            </a:r>
            <a:endParaRPr b="0" lang="en-IN" sz="1400" strike="noStrike" u="none">
              <a:solidFill>
                <a:srgbClr val="40458c"/>
              </a:solidFill>
              <a:effectLst/>
              <a:uFillTx/>
              <a:latin typeface="Tahoma"/>
            </a:endParaRPr>
          </a:p>
          <a:p>
            <a:pPr marL="343080" indent="-343080">
              <a:spcBef>
                <a:spcPts val="349"/>
              </a:spcBef>
              <a:buSzPct val="258531"/>
              <a:buBlip>
                <a:blip r:embed="rId4"/>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40458c"/>
                </a:solidFill>
                <a:effectLst/>
                <a:uFillTx/>
                <a:latin typeface="Tahoma"/>
              </a:rPr>
              <a:t>Needs or Gaps: Better communication was probably the biggest issue:  radios and phones that work together, emergency frequencies and temporary transmission towers.  Availability of trained people (GIS, GPS, Emergency response) and the funding to pay them is also a need; GPS was used to navigate when road signs were lacking.  Ability to tie into existing data via GPS or other portable devices is crucial and the use of wireless communications and devices needs to be facilitated.  IT security issues have not been a huge problem but have the potential to become one as more data security issues arise.</a:t>
            </a:r>
            <a:endParaRPr b="0" lang="en-IN" sz="1400" strike="noStrike" u="none">
              <a:solidFill>
                <a:srgbClr val="40458c"/>
              </a:solidFill>
              <a:effectLst/>
              <a:uFillTx/>
              <a:latin typeface="Tahoma"/>
            </a:endParaRPr>
          </a:p>
          <a:p>
            <a:pPr marL="343080" indent="-343080">
              <a:spcBef>
                <a:spcPts val="799"/>
              </a:spcBef>
              <a:buSzPct val="258531"/>
              <a:buBlip>
                <a:blip r:embed="rId5"/>
              </a:buBlip>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40458c"/>
                </a:solidFill>
                <a:effectLst/>
                <a:uFillTx/>
                <a:latin typeface="Tahoma"/>
              </a:rPr>
              <a:t>*training, data, data distribution mechanisms etc</a:t>
            </a:r>
            <a:r>
              <a:rPr b="0" lang="en-IN" sz="3200" strike="noStrike" u="none">
                <a:solidFill>
                  <a:srgbClr val="40458c"/>
                </a:solidFill>
                <a:effectLst/>
                <a:uFillTx/>
                <a:latin typeface="Tahoma"/>
              </a:rPr>
              <a:t>.</a:t>
            </a:r>
            <a:endParaRPr b="0" lang="en-IN" sz="3200" strike="noStrike" u="none">
              <a:solidFill>
                <a:srgbClr val="40458c"/>
              </a:solidFill>
              <a:effectLst/>
              <a:uFillTx/>
              <a:latin typeface="Tahoma"/>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854</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2006-01-17T14:53:02Z</dcterms:created>
  <dc:creator>Douglas Nebert</dc:creator>
  <dc:description/>
  <dc:language>en-IN</dc:language>
  <cp:lastModifiedBy>rhlamb</cp:lastModifiedBy>
  <dcterms:modified xsi:type="dcterms:W3CDTF">2006-07-07T08:04:54Z</dcterms:modified>
  <cp:revision>49</cp:revision>
  <dc:subject/>
  <dc:title>Introduction to the Geospatial Profile of Enterprise Architecture</dc:title>
</cp:coreProperties>
</file>