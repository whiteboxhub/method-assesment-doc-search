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3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_rels/notesSlide19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3.xml.rels" ContentType="application/vnd.openxmlformats-package.relationships+xml"/>
  <Override PartName="/ppt/notesSlides/notesSlide23.xml" ContentType="application/vnd.openxmlformats-officedocument.presentationml.notesSlide+xml"/>
  <Override PartName="/ppt/media/image1.png" ContentType="image/png"/>
  <Override PartName="/ppt/media/image2.jpeg" ContentType="image/jpeg"/>
  <Override PartName="/ppt/media/image8.png" ContentType="image/png"/>
  <Override PartName="/ppt/media/image3.png" ContentType="image/png"/>
  <Override PartName="/ppt/media/image4.jpeg" ContentType="image/jpeg"/>
  <Override PartName="/ppt/media/image5.png" ContentType="image/png"/>
  <Override PartName="/ppt/media/image6.png" ContentType="image/png"/>
  <Override PartName="/ppt/media/image7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media/image27.png" ContentType="image/png"/>
  <Override PartName="/ppt/media/image28.png" ContentType="image/png"/>
  <Override PartName="/ppt/media/image29.png" ContentType="image/png"/>
  <Override PartName="/ppt/media/image30.png" ContentType="image/png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1"/>
          <p:cNvSpPr>
            <a:spLocks noGrp="1"/>
          </p:cNvSpPr>
          <p:nvPr>
            <p:ph type="hdr"/>
          </p:nvPr>
        </p:nvSpPr>
        <p:spPr>
          <a:xfrm>
            <a:off x="-36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dt" idx="4"/>
          </p:nvPr>
        </p:nvSpPr>
        <p:spPr>
          <a:xfrm>
            <a:off x="388440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sldImg"/>
          </p:nvPr>
        </p:nvSpPr>
        <p:spPr>
          <a:xfrm>
            <a:off x="1143000" y="685440"/>
            <a:ext cx="4572000" cy="342900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5"/>
          </p:nvPr>
        </p:nvSpPr>
        <p:spPr>
          <a:xfrm>
            <a:off x="-3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6"/>
          </p:nvPr>
        </p:nvSpPr>
        <p:spPr>
          <a:xfrm>
            <a:off x="388440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82B7650-9379-4205-BC78-C20DCFD15F4A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9D33154-1517-4E44-A256-8BAD8AC509E2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ALL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Current systems and plans (yellow) to integrate CrIMSS (2 … IDPS and NDE) and MIRS (2 … NPP and metop-B) as available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B10F006-FC5E-4770-A750-AC0DAD2D582F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81B6963-50AC-4989-8AF2-D2CE1B41E0BD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4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fld id="{5A36A9AF-F654-42A5-91DE-29EFDBEFBFC9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PlaceHolder 1"/>
          <p:cNvSpPr>
            <a:spLocks noGrp="1"/>
          </p:cNvSpPr>
          <p:nvPr>
            <p:ph type="sldImg"/>
          </p:nvPr>
        </p:nvSpPr>
        <p:spPr>
          <a:xfrm>
            <a:off x="1143000" y="68724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NPROVS runs every day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Latest achievement is the inclusion of COSMIC (NCAR) product suite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Plan is to designate COSMIC as ground truth, incorporate respective center products (including guess) and maybe derive a product of our own that is NWP independent, 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EDGE includes tropopause validation option,  but currently not exercised 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We also plan back processing for past COSMIC and CHAMP eras (I’m sure Ben can significantly reduce our work effort in this area … )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What about MetOp GRAS?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KPPs in boldface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Old NPOESS Requirements: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IORD – Integrated Operational Requirements Document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NGAS – Northrop Grumman Aerospace Systems 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“Partly Cloudy” –  ≤50% cloudiness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“Cloudy” –  &gt;50% cloudiness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Clear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– the CrIMSS EDR retrieval algorithm detected no cloud within a FOR;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Cloudy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– the CrIMSS EDR algorithm detected overcast cloud or more than three layers of clouds within a FOR;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Partly Cloudy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– the CrIMSS algorithm detected one to three layers of clouds. 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lide Number Placeholder 3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10BAAE1-69E3-4EFD-A81E-8FB44AC351C4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50C0F0B-9C8A-460D-B68C-985DE18DA630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Chris and antonia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8A58DD-CA91-4C83-8F61-206A09A5AD2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Picture 2" descr="nesdisbanner_left"/>
          <p:cNvPicPr/>
          <p:nvPr/>
        </p:nvPicPr>
        <p:blipFill>
          <a:blip r:embed="rId2">
            <a:lum bright="70000" contrast="-70000"/>
          </a:blip>
          <a:srcRect l="0" t="0" r="87279" b="-11489"/>
          <a:stretch/>
        </p:blipFill>
        <p:spPr>
          <a:xfrm>
            <a:off x="1905120" y="712800"/>
            <a:ext cx="6172200" cy="614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0" y="685440"/>
            <a:ext cx="9144000" cy="731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0" y="1600200"/>
            <a:ext cx="91440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333399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3200" strike="noStrike" u="none">
              <a:solidFill>
                <a:srgbClr val="333399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99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Second Outline Level</a:t>
            </a:r>
            <a:endParaRPr b="0" lang="en-IN" sz="3200" strike="noStrike" u="none">
              <a:solidFill>
                <a:srgbClr val="333399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ff33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Third Outline Level</a:t>
            </a:r>
            <a:endParaRPr b="0" lang="en-IN" sz="3200" strike="noStrike" u="none">
              <a:solidFill>
                <a:srgbClr val="333399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Fourth Outline Level</a:t>
            </a:r>
            <a:endParaRPr b="0" lang="en-IN" sz="3200" strike="noStrike" u="none">
              <a:solidFill>
                <a:srgbClr val="333399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Fifth Outline Level</a:t>
            </a:r>
            <a:endParaRPr b="0" lang="en-IN" sz="3200" strike="noStrike" u="none">
              <a:solidFill>
                <a:srgbClr val="333399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Sixth Outline Level</a:t>
            </a:r>
            <a:endParaRPr b="0" lang="en-IN" sz="3200" strike="noStrike" u="none">
              <a:solidFill>
                <a:srgbClr val="333399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Seventh Outline Level</a:t>
            </a:r>
            <a:endParaRPr b="0" lang="en-IN" sz="3200" strike="noStrike" u="none">
              <a:solidFill>
                <a:srgbClr val="333399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69A6311-FBA2-4F33-A662-4361DF64DACE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" name="Picture 8" descr="WideBannerLeft"/>
          <p:cNvPicPr/>
          <p:nvPr/>
        </p:nvPicPr>
        <p:blipFill>
          <a:blip r:embed="rId3"/>
          <a:stretch/>
        </p:blipFill>
        <p:spPr>
          <a:xfrm>
            <a:off x="0" y="0"/>
            <a:ext cx="4952880" cy="650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" name="Picture 9" descr="noaalogo"/>
          <p:cNvPicPr/>
          <p:nvPr/>
        </p:nvPicPr>
        <p:blipFill>
          <a:blip r:embed="rId4"/>
          <a:stretch/>
        </p:blipFill>
        <p:spPr>
          <a:xfrm>
            <a:off x="8458200" y="0"/>
            <a:ext cx="685800" cy="66528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hyperlink" Target="http://www.star.nesdis.noaa.gov/smcd/opdb/poes/NPROVS.php" TargetMode="External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28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304560" y="457200"/>
            <a:ext cx="8458200" cy="21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Satellite Products Inter-Comparison Using the NOAA Products Validation System (NPROVS) and Plans for NPP Cal/Val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subTitle"/>
          </p:nvPr>
        </p:nvSpPr>
        <p:spPr>
          <a:xfrm>
            <a:off x="1219320" y="25146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lnSpc>
                <a:spcPct val="8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Tony Reale</a:t>
            </a:r>
            <a:endParaRPr b="0" lang="en-IN" sz="1800" strike="noStrike" u="none">
              <a:solidFill>
                <a:srgbClr val="333399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8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NOAA </a:t>
            </a:r>
            <a:endParaRPr b="0" lang="en-IN" sz="1800" strike="noStrike" u="none">
              <a:solidFill>
                <a:srgbClr val="333399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8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Center for Satellite Applications and Research (STAR)</a:t>
            </a:r>
            <a:endParaRPr b="0" lang="en-IN" sz="1800" strike="noStrike" u="none">
              <a:solidFill>
                <a:srgbClr val="333399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8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333399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8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Bomin Sun, Michael Pettey, Frank Tilley, and Charles Brown</a:t>
            </a:r>
            <a:endParaRPr b="0" lang="en-IN" sz="1800" strike="noStrike" u="none">
              <a:solidFill>
                <a:srgbClr val="333399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8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(IM Systems Group)</a:t>
            </a:r>
            <a:endParaRPr b="0" lang="en-IN" sz="1800" strike="noStrike" u="none">
              <a:solidFill>
                <a:srgbClr val="333399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Box 4"/>
          <p:cNvSpPr/>
          <p:nvPr/>
        </p:nvSpPr>
        <p:spPr>
          <a:xfrm>
            <a:off x="2319840" y="5607000"/>
            <a:ext cx="4586760" cy="91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18</a:t>
            </a:r>
            <a:r>
              <a:rPr b="1" i="1" lang="en-US" sz="1800" strike="noStrike" u="none" baseline="30000">
                <a:solidFill>
                  <a:srgbClr val="000000"/>
                </a:solidFill>
                <a:effectLst/>
                <a:uFillTx/>
                <a:latin typeface="Arial"/>
              </a:rPr>
              <a:t>th</a:t>
            </a:r>
            <a:r>
              <a:rPr b="1" i="1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Conference on Satellite Meteorology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Oceanography and Climate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New Orleans, January 22-26, 2012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Box 1"/>
          <p:cNvSpPr/>
          <p:nvPr/>
        </p:nvSpPr>
        <p:spPr>
          <a:xfrm>
            <a:off x="1505160" y="4724280"/>
            <a:ext cx="62524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Acknowledgements …. Murty Divikarla (IMSG), Nick Nalli (IMSG), Chris Barnet (STAR) …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(funding under JPSS/NPP cal/val program)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0" y="685440"/>
            <a:ext cx="9144000" cy="73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Outline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1295280" y="1600200"/>
            <a:ext cx="6553440" cy="452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lnSpc>
                <a:spcPct val="80000"/>
              </a:lnSpc>
              <a:spcBef>
                <a:spcPts val="451"/>
              </a:spcBef>
              <a:buClr>
                <a:srgbClr val="333399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What is NPROVS</a:t>
            </a:r>
            <a:endParaRPr b="0" lang="en-IN" sz="1800" strike="noStrike" u="none">
              <a:solidFill>
                <a:srgbClr val="333399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400"/>
              </a:spcBef>
              <a:buClr>
                <a:srgbClr val="0099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trike="noStrike" u="none">
                <a:solidFill>
                  <a:srgbClr val="009999"/>
                </a:solidFill>
                <a:effectLst/>
                <a:uFillTx/>
                <a:latin typeface="Arial"/>
              </a:rPr>
              <a:t>What’s new</a:t>
            </a:r>
            <a:endParaRPr b="0" lang="en-IN" sz="1600" strike="noStrike" u="none">
              <a:solidFill>
                <a:srgbClr val="009999"/>
              </a:solidFill>
              <a:effectLst/>
              <a:uFillTx/>
              <a:latin typeface="Arial"/>
            </a:endParaRPr>
          </a:p>
          <a:p>
            <a:pPr marL="343080" indent="0">
              <a:lnSpc>
                <a:spcPct val="80000"/>
              </a:lnSpc>
              <a:spcBef>
                <a:spcPts val="45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333399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51"/>
              </a:spcBef>
              <a:buClr>
                <a:srgbClr val="333399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IASI vs ATOVS vs GFS vs Sonde Profiles</a:t>
            </a:r>
            <a:endParaRPr b="0" lang="en-IN" sz="1800" strike="noStrike" u="none">
              <a:solidFill>
                <a:srgbClr val="333399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400"/>
              </a:spcBef>
              <a:buClr>
                <a:srgbClr val="0099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trike="noStrike" u="none">
                <a:solidFill>
                  <a:srgbClr val="009999"/>
                </a:solidFill>
                <a:effectLst/>
                <a:uFillTx/>
                <a:latin typeface="Arial"/>
              </a:rPr>
              <a:t>QC</a:t>
            </a:r>
            <a:endParaRPr b="0" lang="en-IN" sz="1600" strike="noStrike" u="none">
              <a:solidFill>
                <a:srgbClr val="009999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400"/>
              </a:spcBef>
              <a:buClr>
                <a:srgbClr val="0099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trike="noStrike" u="none">
                <a:solidFill>
                  <a:srgbClr val="009999"/>
                </a:solidFill>
                <a:effectLst/>
                <a:uFillTx/>
                <a:latin typeface="Arial"/>
              </a:rPr>
              <a:t>Terrain</a:t>
            </a:r>
            <a:endParaRPr b="0" lang="en-IN" sz="1600" strike="noStrike" u="none">
              <a:solidFill>
                <a:srgbClr val="009999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400"/>
              </a:spcBef>
              <a:buClr>
                <a:srgbClr val="0099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trike="noStrike" u="none">
                <a:solidFill>
                  <a:srgbClr val="009999"/>
                </a:solidFill>
                <a:effectLst/>
                <a:uFillTx/>
                <a:latin typeface="Arial"/>
              </a:rPr>
              <a:t>Cloud</a:t>
            </a:r>
            <a:endParaRPr b="0" lang="en-IN" sz="1600" strike="noStrike" u="none">
              <a:solidFill>
                <a:srgbClr val="009999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4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trike="noStrike" u="none">
                <a:solidFill>
                  <a:srgbClr val="009999"/>
                </a:solidFill>
                <a:effectLst/>
                <a:uFillTx/>
                <a:latin typeface="Arial"/>
              </a:rPr>
              <a:t> </a:t>
            </a:r>
            <a:endParaRPr b="0" lang="en-IN" sz="1600" strike="noStrike" u="none">
              <a:solidFill>
                <a:srgbClr val="009999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51"/>
              </a:spcBef>
              <a:buClr>
                <a:srgbClr val="333399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Bringing in NPP</a:t>
            </a:r>
            <a:endParaRPr b="0" lang="en-IN" sz="1800" strike="noStrike" u="none">
              <a:solidFill>
                <a:srgbClr val="333399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400"/>
              </a:spcBef>
              <a:buClr>
                <a:srgbClr val="0099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trike="noStrike" u="none">
                <a:solidFill>
                  <a:srgbClr val="009999"/>
                </a:solidFill>
                <a:effectLst/>
                <a:uFillTx/>
                <a:latin typeface="Arial"/>
              </a:rPr>
              <a:t>IDPS (NGAS), NUCAPS (NOAA), MiRS</a:t>
            </a:r>
            <a:endParaRPr b="0" lang="en-IN" sz="1600" strike="noStrike" u="none">
              <a:solidFill>
                <a:srgbClr val="009999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400"/>
              </a:spcBef>
              <a:buClr>
                <a:srgbClr val="0099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trike="noStrike" u="none">
                <a:solidFill>
                  <a:srgbClr val="009999"/>
                </a:solidFill>
                <a:effectLst/>
                <a:uFillTx/>
                <a:latin typeface="Arial"/>
              </a:rPr>
              <a:t>Revised guidelines for validation</a:t>
            </a:r>
            <a:endParaRPr b="0" lang="en-IN" sz="1600" strike="noStrike" u="none">
              <a:solidFill>
                <a:srgbClr val="009999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400"/>
              </a:spcBef>
              <a:buClr>
                <a:srgbClr val="0099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trike="noStrike" u="none">
                <a:solidFill>
                  <a:srgbClr val="009999"/>
                </a:solidFill>
                <a:effectLst/>
                <a:uFillTx/>
                <a:latin typeface="Arial"/>
              </a:rPr>
              <a:t>Meeting spec</a:t>
            </a:r>
            <a:endParaRPr b="0" lang="en-IN" sz="1600" strike="noStrike" u="none">
              <a:solidFill>
                <a:srgbClr val="009999"/>
              </a:solidFill>
              <a:effectLst/>
              <a:uFillTx/>
              <a:latin typeface="Arial"/>
            </a:endParaRPr>
          </a:p>
          <a:p>
            <a:pPr marL="343080" indent="0">
              <a:lnSpc>
                <a:spcPct val="80000"/>
              </a:lnSpc>
              <a:spcBef>
                <a:spcPts val="45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333399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51"/>
              </a:spcBef>
              <a:buClr>
                <a:srgbClr val="333399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GCOS Reference Upper Air Network (GRUAN)</a:t>
            </a:r>
            <a:endParaRPr b="0" lang="en-IN" sz="1800" strike="noStrike" u="none">
              <a:solidFill>
                <a:srgbClr val="333399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400"/>
              </a:spcBef>
              <a:buClr>
                <a:srgbClr val="0099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trike="noStrike" u="none">
                <a:solidFill>
                  <a:srgbClr val="009999"/>
                </a:solidFill>
                <a:effectLst/>
                <a:uFillTx/>
                <a:latin typeface="Arial"/>
              </a:rPr>
              <a:t>Site Atmospheric State Best Estimate (SASBE)</a:t>
            </a:r>
            <a:endParaRPr b="0" lang="en-IN" sz="1600" strike="noStrike" u="none">
              <a:solidFill>
                <a:srgbClr val="009999"/>
              </a:solidFill>
              <a:effectLst/>
              <a:uFillTx/>
              <a:latin typeface="Arial"/>
            </a:endParaRPr>
          </a:p>
          <a:p>
            <a:pPr lvl="2" marL="1143000" indent="-228600">
              <a:lnSpc>
                <a:spcPct val="80000"/>
              </a:lnSpc>
              <a:spcBef>
                <a:spcPts val="349"/>
              </a:spcBef>
              <a:buClr>
                <a:srgbClr val="ff3300"/>
              </a:buClr>
              <a:buFont typeface="Arial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1400" strike="noStrike" u="none">
                <a:solidFill>
                  <a:srgbClr val="ff3300"/>
                </a:solidFill>
                <a:effectLst/>
                <a:uFillTx/>
                <a:latin typeface="Arial"/>
              </a:rPr>
              <a:t>at NPP overpass ?</a:t>
            </a:r>
            <a:endParaRPr b="0" lang="en-IN" sz="1400" strike="noStrike" u="none">
              <a:solidFill>
                <a:srgbClr val="ff33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3"/>
          <p:cNvSpPr/>
          <p:nvPr/>
        </p:nvSpPr>
        <p:spPr>
          <a:xfrm>
            <a:off x="3236760" y="2374920"/>
            <a:ext cx="2295720" cy="1306440"/>
          </a:xfrm>
          <a:prstGeom prst="rect">
            <a:avLst/>
          </a:prstGeom>
          <a:gradFill rotWithShape="0">
            <a:gsLst>
              <a:gs pos="0">
                <a:srgbClr val="ff6600"/>
              </a:gs>
              <a:gs pos="100000">
                <a:srgbClr val="cbffff"/>
              </a:gs>
            </a:gsLst>
            <a:lin ang="16200000"/>
          </a:gradFill>
          <a:ln w="9360">
            <a:solidFill>
              <a:srgbClr val="000000"/>
            </a:solidFill>
            <a:miter/>
          </a:ln>
          <a:effectLst>
            <a:outerShdw dist="23040" dir="5400000" blurRad="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RADIOSONDE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DROPSONDE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NWP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Oval 4"/>
          <p:cNvSpPr/>
          <p:nvPr/>
        </p:nvSpPr>
        <p:spPr>
          <a:xfrm>
            <a:off x="522360" y="1722600"/>
            <a:ext cx="2298600" cy="914400"/>
          </a:xfrm>
          <a:prstGeom prst="ellipse">
            <a:avLst/>
          </a:prstGeom>
          <a:gradFill rotWithShape="0">
            <a:gsLst>
              <a:gs pos="0">
                <a:srgbClr val="00ce00"/>
              </a:gs>
              <a:gs pos="100000">
                <a:srgbClr val="cbffff"/>
              </a:gs>
            </a:gsLst>
            <a:lin ang="16200000"/>
          </a:gradFill>
          <a:ln w="9360">
            <a:solidFill>
              <a:srgbClr val="000000"/>
            </a:solidFill>
            <a:miter/>
          </a:ln>
          <a:effectLst>
            <a:outerShdw dist="23040" dir="5400000" blurRad="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NASA-EOS-Aqua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i="1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AIRS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Oval 13"/>
          <p:cNvSpPr/>
          <p:nvPr/>
        </p:nvSpPr>
        <p:spPr>
          <a:xfrm>
            <a:off x="522360" y="3029040"/>
            <a:ext cx="2298600" cy="915840"/>
          </a:xfrm>
          <a:prstGeom prst="ellipse">
            <a:avLst/>
          </a:prstGeom>
          <a:gradFill rotWithShape="0">
            <a:gsLst>
              <a:gs pos="0">
                <a:srgbClr val="00ce00"/>
              </a:gs>
              <a:gs pos="100000">
                <a:srgbClr val="cbffff"/>
              </a:gs>
            </a:gsLst>
            <a:lin ang="16200000"/>
          </a:gradFill>
          <a:ln w="9360">
            <a:solidFill>
              <a:srgbClr val="000000"/>
            </a:solidFill>
            <a:miter/>
          </a:ln>
          <a:effectLst>
            <a:outerShdw dist="23040" dir="5400000" blurRad="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FORMOSAT-3,</a:t>
            </a:r>
            <a:r>
              <a:rPr b="1" lang="en-US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4 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i="1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COSMIC (UCAR)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Oval 14"/>
          <p:cNvSpPr/>
          <p:nvPr/>
        </p:nvSpPr>
        <p:spPr>
          <a:xfrm>
            <a:off x="522360" y="4402080"/>
            <a:ext cx="2298600" cy="916200"/>
          </a:xfrm>
          <a:prstGeom prst="ellipse">
            <a:avLst/>
          </a:prstGeom>
          <a:gradFill rotWithShape="0">
            <a:gsLst>
              <a:gs pos="0">
                <a:srgbClr val="00ce00"/>
              </a:gs>
              <a:gs pos="100000">
                <a:srgbClr val="cbffff"/>
              </a:gs>
            </a:gsLst>
            <a:lin ang="16200000"/>
          </a:gradFill>
          <a:ln w="9360">
            <a:solidFill>
              <a:srgbClr val="000000"/>
            </a:solidFill>
            <a:miter/>
          </a:ln>
          <a:effectLst>
            <a:outerShdw dist="23040" dir="5400000" blurRad="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DMSP F-16,</a:t>
            </a:r>
            <a:r>
              <a:rPr b="1" lang="en-US" sz="1400" strike="noStrike" u="none">
                <a:solidFill>
                  <a:srgbClr val="5f5f5f"/>
                </a:solidFill>
                <a:effectLst/>
                <a:uFillTx/>
                <a:latin typeface="Arial"/>
              </a:rPr>
              <a:t>17,18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i="1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MIRS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Oval 15"/>
          <p:cNvSpPr/>
          <p:nvPr/>
        </p:nvSpPr>
        <p:spPr>
          <a:xfrm>
            <a:off x="5977080" y="1722600"/>
            <a:ext cx="2252520" cy="914400"/>
          </a:xfrm>
          <a:prstGeom prst="ellipse">
            <a:avLst/>
          </a:prstGeom>
          <a:gradFill rotWithShape="0">
            <a:gsLst>
              <a:gs pos="0">
                <a:srgbClr val="00ce00"/>
              </a:gs>
              <a:gs pos="100000">
                <a:srgbClr val="cbffff"/>
              </a:gs>
            </a:gsLst>
            <a:lin ang="16200000"/>
          </a:gradFill>
          <a:ln w="9360">
            <a:solidFill>
              <a:srgbClr val="000000"/>
            </a:solidFill>
            <a:miter/>
          </a:ln>
          <a:effectLst>
            <a:outerShdw dist="23040" dir="5400000" blurRad="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NOAA-18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i="1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ATOVS, MIRS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Oval 16"/>
          <p:cNvSpPr/>
          <p:nvPr/>
        </p:nvSpPr>
        <p:spPr>
          <a:xfrm>
            <a:off x="5977080" y="3029040"/>
            <a:ext cx="2252520" cy="915840"/>
          </a:xfrm>
          <a:prstGeom prst="ellipse">
            <a:avLst/>
          </a:prstGeom>
          <a:gradFill rotWithShape="0">
            <a:gsLst>
              <a:gs pos="0">
                <a:srgbClr val="00ce00"/>
              </a:gs>
              <a:gs pos="100000">
                <a:srgbClr val="cbffff"/>
              </a:gs>
            </a:gsLst>
            <a:lin ang="16200000"/>
          </a:gradFill>
          <a:ln w="9360">
            <a:solidFill>
              <a:srgbClr val="000000"/>
            </a:solidFill>
            <a:miter/>
          </a:ln>
          <a:effectLst>
            <a:outerShdw dist="23040" dir="5400000" blurRad="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NOAA-19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i="1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ATOVS, MIRS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Oval 17"/>
          <p:cNvSpPr/>
          <p:nvPr/>
        </p:nvSpPr>
        <p:spPr>
          <a:xfrm>
            <a:off x="5977080" y="4402080"/>
            <a:ext cx="2252520" cy="916200"/>
          </a:xfrm>
          <a:prstGeom prst="ellipse">
            <a:avLst/>
          </a:prstGeom>
          <a:gradFill rotWithShape="0">
            <a:gsLst>
              <a:gs pos="0">
                <a:srgbClr val="00ce00"/>
              </a:gs>
              <a:gs pos="100000">
                <a:srgbClr val="cbffff"/>
              </a:gs>
            </a:gsLst>
            <a:lin ang="16200000"/>
          </a:gradFill>
          <a:ln w="9360">
            <a:solidFill>
              <a:srgbClr val="000000"/>
            </a:solidFill>
            <a:miter/>
          </a:ln>
          <a:effectLst>
            <a:outerShdw dist="23040" dir="5400000" blurRad="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MetOp-A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i="1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ATOVS, MIRS,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i="1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IASI, IASI (EU)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i="1" lang="en-US" sz="1000" strike="noStrike" u="none">
                <a:solidFill>
                  <a:srgbClr val="5f5f5f"/>
                </a:solidFill>
                <a:effectLst/>
                <a:uFillTx/>
                <a:latin typeface="Arial"/>
              </a:rPr>
              <a:t>GRAS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Oval 18"/>
          <p:cNvSpPr/>
          <p:nvPr/>
        </p:nvSpPr>
        <p:spPr>
          <a:xfrm>
            <a:off x="3236760" y="4402080"/>
            <a:ext cx="2370240" cy="916200"/>
          </a:xfrm>
          <a:prstGeom prst="ellipse">
            <a:avLst/>
          </a:prstGeom>
          <a:gradFill rotWithShape="0">
            <a:gsLst>
              <a:gs pos="0">
                <a:srgbClr val="00ce00"/>
              </a:gs>
              <a:gs pos="100000">
                <a:srgbClr val="cbffff"/>
              </a:gs>
            </a:gsLst>
            <a:lin ang="16200000"/>
          </a:gradFill>
          <a:ln w="9360">
            <a:solidFill>
              <a:srgbClr val="000000"/>
            </a:solidFill>
            <a:miter/>
          </a:ln>
          <a:effectLst>
            <a:outerShdw dist="23040" dir="5400000" blurRad="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GOES-11,13,</a:t>
            </a:r>
            <a:r>
              <a:rPr b="1" lang="en-US" sz="1400" strike="noStrike" u="none">
                <a:solidFill>
                  <a:srgbClr val="5f5f5f"/>
                </a:solidFill>
                <a:effectLst/>
                <a:uFillTx/>
                <a:latin typeface="Arial"/>
              </a:rPr>
              <a:t>12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i="1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IR Soundings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Oval 19"/>
          <p:cNvSpPr/>
          <p:nvPr/>
        </p:nvSpPr>
        <p:spPr>
          <a:xfrm>
            <a:off x="4524480" y="592200"/>
            <a:ext cx="2165400" cy="91584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prstDash val="dashDot"/>
            <a:miter/>
          </a:ln>
          <a:effectLst>
            <a:outerShdw dist="23040" dir="5400000" blurRad="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JPSS-NPP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i="1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CrIMSS (2)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i="1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MIRS 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Oval 20"/>
          <p:cNvSpPr/>
          <p:nvPr/>
        </p:nvSpPr>
        <p:spPr>
          <a:xfrm>
            <a:off x="2098800" y="592200"/>
            <a:ext cx="2144520" cy="91584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prstDash val="dashDot"/>
            <a:miter/>
          </a:ln>
          <a:effectLst>
            <a:outerShdw dist="23040" dir="5400000" blurRad="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MetOp-B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i="1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ATOVS, MIRS, 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i="1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IASI, IASI (EU)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i="1" lang="en-US" sz="1000" strike="noStrike" u="none">
                <a:solidFill>
                  <a:srgbClr val="5f5f5f"/>
                </a:solidFill>
                <a:effectLst/>
                <a:uFillTx/>
                <a:latin typeface="Arial"/>
              </a:rPr>
              <a:t>GRAS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1" name="Straight Arrow Connector 22"/>
          <p:cNvCxnSpPr>
            <a:stCxn id="22" idx="6"/>
          </p:cNvCxnSpPr>
          <p:nvPr/>
        </p:nvCxnSpPr>
        <p:spPr>
          <a:xfrm>
            <a:off x="2820600" y="2217240"/>
            <a:ext cx="416520" cy="196200"/>
          </a:xfrm>
          <a:prstGeom prst="straightConnector1">
            <a:avLst/>
          </a:prstGeom>
          <a:ln w="25560">
            <a:solidFill>
              <a:srgbClr val="000000"/>
            </a:solidFill>
            <a:miter/>
            <a:tailEnd len="med" type="arrow" w="med"/>
          </a:ln>
        </p:spPr>
      </p:cxnSp>
      <p:cxnSp>
        <p:nvCxnSpPr>
          <p:cNvPr id="32" name="Straight Arrow Connector 24"/>
          <p:cNvCxnSpPr>
            <a:stCxn id="23" idx="6"/>
          </p:cNvCxnSpPr>
          <p:nvPr/>
        </p:nvCxnSpPr>
        <p:spPr>
          <a:xfrm>
            <a:off x="2820600" y="3487320"/>
            <a:ext cx="416520" cy="2520"/>
          </a:xfrm>
          <a:prstGeom prst="straightConnector1">
            <a:avLst/>
          </a:prstGeom>
          <a:ln w="25560">
            <a:solidFill>
              <a:srgbClr val="000000"/>
            </a:solidFill>
            <a:miter/>
            <a:tailEnd len="med" type="arrow" w="med"/>
          </a:ln>
        </p:spPr>
      </p:cxnSp>
      <p:cxnSp>
        <p:nvCxnSpPr>
          <p:cNvPr id="33" name="Straight Arrow Connector 29"/>
          <p:cNvCxnSpPr>
            <a:stCxn id="24" idx="7"/>
          </p:cNvCxnSpPr>
          <p:nvPr/>
        </p:nvCxnSpPr>
        <p:spPr>
          <a:xfrm flipV="1">
            <a:off x="2484360" y="3680640"/>
            <a:ext cx="1132560" cy="855000"/>
          </a:xfrm>
          <a:prstGeom prst="straightConnector1">
            <a:avLst/>
          </a:prstGeom>
          <a:ln w="25560">
            <a:solidFill>
              <a:srgbClr val="000000"/>
            </a:solidFill>
            <a:miter/>
            <a:tailEnd len="med" type="arrow" w="med"/>
          </a:ln>
        </p:spPr>
      </p:cxnSp>
      <p:cxnSp>
        <p:nvCxnSpPr>
          <p:cNvPr id="34" name="Straight Arrow Connector 34"/>
          <p:cNvCxnSpPr/>
          <p:nvPr/>
        </p:nvCxnSpPr>
        <p:spPr>
          <a:xfrm flipV="1">
            <a:off x="4455000" y="3681000"/>
            <a:ext cx="2520" cy="721440"/>
          </a:xfrm>
          <a:prstGeom prst="straightConnector1">
            <a:avLst/>
          </a:prstGeom>
          <a:ln w="25560">
            <a:solidFill>
              <a:srgbClr val="000000"/>
            </a:solidFill>
            <a:miter/>
            <a:tailEnd len="med" type="arrow" w="med"/>
          </a:ln>
        </p:spPr>
      </p:cxnSp>
      <p:cxnSp>
        <p:nvCxnSpPr>
          <p:cNvPr id="35" name="Straight Arrow Connector 36"/>
          <p:cNvCxnSpPr>
            <a:stCxn id="27" idx="1"/>
          </p:cNvCxnSpPr>
          <p:nvPr/>
        </p:nvCxnSpPr>
        <p:spPr>
          <a:xfrm flipH="1" flipV="1">
            <a:off x="5401800" y="3680640"/>
            <a:ext cx="905760" cy="855000"/>
          </a:xfrm>
          <a:prstGeom prst="straightConnector1">
            <a:avLst/>
          </a:prstGeom>
          <a:ln w="25560">
            <a:solidFill>
              <a:srgbClr val="000000"/>
            </a:solidFill>
            <a:miter/>
            <a:tailEnd len="med" type="arrow" w="med"/>
          </a:ln>
        </p:spPr>
      </p:cxnSp>
      <p:cxnSp>
        <p:nvCxnSpPr>
          <p:cNvPr id="36" name="Straight Arrow Connector 38"/>
          <p:cNvCxnSpPr>
            <a:stCxn id="26" idx="2"/>
          </p:cNvCxnSpPr>
          <p:nvPr/>
        </p:nvCxnSpPr>
        <p:spPr>
          <a:xfrm flipH="1" flipV="1">
            <a:off x="5531760" y="3485880"/>
            <a:ext cx="445320" cy="2160"/>
          </a:xfrm>
          <a:prstGeom prst="straightConnector1">
            <a:avLst/>
          </a:prstGeom>
          <a:ln w="25560">
            <a:solidFill>
              <a:srgbClr val="000000"/>
            </a:solidFill>
            <a:miter/>
            <a:tailEnd len="med" type="arrow" w="med"/>
          </a:ln>
        </p:spPr>
      </p:cxnSp>
      <p:cxnSp>
        <p:nvCxnSpPr>
          <p:cNvPr id="37" name="Straight Arrow Connector 40"/>
          <p:cNvCxnSpPr>
            <a:stCxn id="25" idx="2"/>
          </p:cNvCxnSpPr>
          <p:nvPr/>
        </p:nvCxnSpPr>
        <p:spPr>
          <a:xfrm flipH="1">
            <a:off x="5531760" y="2216520"/>
            <a:ext cx="445320" cy="196200"/>
          </a:xfrm>
          <a:prstGeom prst="straightConnector1">
            <a:avLst/>
          </a:prstGeom>
          <a:ln w="25560">
            <a:solidFill>
              <a:srgbClr val="000000"/>
            </a:solidFill>
            <a:miter/>
            <a:tailEnd len="med" type="arrow" w="med"/>
          </a:ln>
        </p:spPr>
      </p:cxnSp>
      <p:cxnSp>
        <p:nvCxnSpPr>
          <p:cNvPr id="38" name="Straight Arrow Connector 42"/>
          <p:cNvCxnSpPr>
            <a:stCxn id="30" idx="4"/>
          </p:cNvCxnSpPr>
          <p:nvPr/>
        </p:nvCxnSpPr>
        <p:spPr>
          <a:xfrm>
            <a:off x="3171960" y="1508040"/>
            <a:ext cx="830880" cy="867600"/>
          </a:xfrm>
          <a:prstGeom prst="straightConnector1">
            <a:avLst/>
          </a:prstGeom>
          <a:ln w="25560">
            <a:solidFill>
              <a:srgbClr val="000000"/>
            </a:solidFill>
            <a:prstDash val="dash"/>
            <a:miter/>
            <a:tailEnd len="med" type="arrow" w="med"/>
          </a:ln>
        </p:spPr>
      </p:cxnSp>
      <p:cxnSp>
        <p:nvCxnSpPr>
          <p:cNvPr id="39" name="Straight Arrow Connector 44"/>
          <p:cNvCxnSpPr>
            <a:stCxn id="29" idx="4"/>
          </p:cNvCxnSpPr>
          <p:nvPr/>
        </p:nvCxnSpPr>
        <p:spPr>
          <a:xfrm flipH="1">
            <a:off x="4898160" y="1508040"/>
            <a:ext cx="708840" cy="867600"/>
          </a:xfrm>
          <a:prstGeom prst="straightConnector1">
            <a:avLst/>
          </a:prstGeom>
          <a:ln w="25560">
            <a:solidFill>
              <a:srgbClr val="000000"/>
            </a:solidFill>
            <a:prstDash val="dash"/>
            <a:miter/>
            <a:tailEnd len="med" type="arrow" w="med"/>
          </a:ln>
        </p:spPr>
      </p:cxnSp>
      <p:sp>
        <p:nvSpPr>
          <p:cNvPr id="40" name="Rectangle 21"/>
          <p:cNvSpPr/>
          <p:nvPr/>
        </p:nvSpPr>
        <p:spPr>
          <a:xfrm>
            <a:off x="2484360" y="5581800"/>
            <a:ext cx="600120" cy="237960"/>
          </a:xfrm>
          <a:prstGeom prst="rect">
            <a:avLst/>
          </a:prstGeom>
          <a:solidFill>
            <a:srgbClr val="00ce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Yes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Rectangle 22"/>
          <p:cNvSpPr/>
          <p:nvPr/>
        </p:nvSpPr>
        <p:spPr>
          <a:xfrm>
            <a:off x="4079880" y="5581800"/>
            <a:ext cx="600120" cy="237960"/>
          </a:xfrm>
          <a:prstGeom prst="rect">
            <a:avLst/>
          </a:prstGeom>
          <a:solidFill>
            <a:srgbClr val="ffff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Plan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Rectangle 23"/>
          <p:cNvSpPr/>
          <p:nvPr/>
        </p:nvSpPr>
        <p:spPr>
          <a:xfrm>
            <a:off x="5707080" y="5581800"/>
            <a:ext cx="600120" cy="237960"/>
          </a:xfrm>
          <a:prstGeom prst="rect">
            <a:avLst/>
          </a:prstGeom>
          <a:solidFill>
            <a:srgbClr val="c0c0c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Box 24"/>
          <p:cNvSpPr/>
          <p:nvPr/>
        </p:nvSpPr>
        <p:spPr>
          <a:xfrm>
            <a:off x="1753200" y="6172200"/>
            <a:ext cx="60627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NOAA Products Validation System (NPROVS)  Schematic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Line 4"/>
          <p:cNvSpPr/>
          <p:nvPr/>
        </p:nvSpPr>
        <p:spPr>
          <a:xfrm>
            <a:off x="6324480" y="2133720"/>
            <a:ext cx="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5" name="Picture 5" descr=""/>
          <p:cNvPicPr/>
          <p:nvPr/>
        </p:nvPicPr>
        <p:blipFill>
          <a:blip r:embed="rId1"/>
          <a:stretch/>
        </p:blipFill>
        <p:spPr>
          <a:xfrm>
            <a:off x="5262480" y="4114800"/>
            <a:ext cx="3652920" cy="2590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" name="Picture 6" descr=""/>
          <p:cNvPicPr/>
          <p:nvPr/>
        </p:nvPicPr>
        <p:blipFill>
          <a:blip r:embed="rId2"/>
          <a:stretch/>
        </p:blipFill>
        <p:spPr>
          <a:xfrm>
            <a:off x="0" y="1219320"/>
            <a:ext cx="4191120" cy="3200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" name="Line 11"/>
          <p:cNvSpPr/>
          <p:nvPr/>
        </p:nvSpPr>
        <p:spPr>
          <a:xfrm>
            <a:off x="1752480" y="1828800"/>
            <a:ext cx="533520" cy="1143000"/>
          </a:xfrm>
          <a:prstGeom prst="line">
            <a:avLst/>
          </a:prstGeom>
          <a:ln w="1260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Line 12"/>
          <p:cNvSpPr/>
          <p:nvPr/>
        </p:nvSpPr>
        <p:spPr>
          <a:xfrm>
            <a:off x="1981080" y="1828800"/>
            <a:ext cx="3200400" cy="2438280"/>
          </a:xfrm>
          <a:prstGeom prst="line">
            <a:avLst/>
          </a:prstGeom>
          <a:ln w="1260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" name="Picture 13" descr=""/>
          <p:cNvPicPr/>
          <p:nvPr/>
        </p:nvPicPr>
        <p:blipFill>
          <a:blip r:embed="rId3"/>
          <a:stretch/>
        </p:blipFill>
        <p:spPr>
          <a:xfrm rot="21053400">
            <a:off x="247680" y="4481640"/>
            <a:ext cx="2351160" cy="2108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" name="Picture 14" descr=""/>
          <p:cNvPicPr/>
          <p:nvPr/>
        </p:nvPicPr>
        <p:blipFill>
          <a:blip r:embed="rId4"/>
          <a:stretch/>
        </p:blipFill>
        <p:spPr>
          <a:xfrm rot="21030000">
            <a:off x="2771280" y="4246200"/>
            <a:ext cx="2244960" cy="1925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" name="Line 15"/>
          <p:cNvSpPr/>
          <p:nvPr/>
        </p:nvSpPr>
        <p:spPr>
          <a:xfrm flipH="1">
            <a:off x="1143000" y="1828800"/>
            <a:ext cx="457200" cy="2743200"/>
          </a:xfrm>
          <a:prstGeom prst="line">
            <a:avLst/>
          </a:prstGeom>
          <a:ln w="1260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Line 16"/>
          <p:cNvSpPr/>
          <p:nvPr/>
        </p:nvSpPr>
        <p:spPr>
          <a:xfrm flipV="1">
            <a:off x="1066680" y="5333760"/>
            <a:ext cx="2438640" cy="152280"/>
          </a:xfrm>
          <a:prstGeom prst="line">
            <a:avLst/>
          </a:prstGeom>
          <a:ln w="1260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Box 21"/>
          <p:cNvSpPr/>
          <p:nvPr/>
        </p:nvSpPr>
        <p:spPr>
          <a:xfrm>
            <a:off x="2331720" y="3903840"/>
            <a:ext cx="10954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ff3300"/>
                </a:solidFill>
                <a:effectLst/>
                <a:uFillTx/>
                <a:latin typeface="Arial"/>
              </a:rPr>
              <a:t>PDISP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Box 22"/>
          <p:cNvSpPr/>
          <p:nvPr/>
        </p:nvSpPr>
        <p:spPr>
          <a:xfrm>
            <a:off x="6173640" y="4595760"/>
            <a:ext cx="84132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ff3300"/>
                </a:solidFill>
                <a:effectLst/>
                <a:uFillTx/>
                <a:latin typeface="Arial"/>
              </a:rPr>
              <a:t>ODS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Rectangle 24"/>
          <p:cNvSpPr/>
          <p:nvPr/>
        </p:nvSpPr>
        <p:spPr>
          <a:xfrm>
            <a:off x="1468800" y="517680"/>
            <a:ext cx="640332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NPROVS- Environmental Data Graphical Evaluation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(EDGE) Analytical Interface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Line 25"/>
          <p:cNvSpPr/>
          <p:nvPr/>
        </p:nvSpPr>
        <p:spPr>
          <a:xfrm flipV="1">
            <a:off x="1981080" y="3657240"/>
            <a:ext cx="381240" cy="1143000"/>
          </a:xfrm>
          <a:prstGeom prst="line">
            <a:avLst/>
          </a:prstGeom>
          <a:ln w="9360">
            <a:solidFill>
              <a:srgbClr val="000000"/>
            </a:solidFill>
            <a:prstDash val="dash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Line 26"/>
          <p:cNvSpPr/>
          <p:nvPr/>
        </p:nvSpPr>
        <p:spPr>
          <a:xfrm flipH="1" flipV="1">
            <a:off x="3276720" y="3581280"/>
            <a:ext cx="914400" cy="914400"/>
          </a:xfrm>
          <a:prstGeom prst="line">
            <a:avLst/>
          </a:prstGeom>
          <a:ln w="9360">
            <a:solidFill>
              <a:srgbClr val="000000"/>
            </a:solidFill>
            <a:prstDash val="lgDash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" name="Picture 29" descr=""/>
          <p:cNvPicPr/>
          <p:nvPr/>
        </p:nvPicPr>
        <p:blipFill>
          <a:blip r:embed="rId5"/>
          <a:stretch/>
        </p:blipFill>
        <p:spPr>
          <a:xfrm>
            <a:off x="4952880" y="1338120"/>
            <a:ext cx="4038840" cy="2319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" name="Rectangle 30"/>
          <p:cNvSpPr/>
          <p:nvPr/>
        </p:nvSpPr>
        <p:spPr>
          <a:xfrm>
            <a:off x="5715000" y="1447920"/>
            <a:ext cx="304920" cy="1828800"/>
          </a:xfrm>
          <a:prstGeom prst="rect">
            <a:avLst/>
          </a:prstGeom>
          <a:noFill/>
          <a:ln w="1260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Rectangle 31"/>
          <p:cNvSpPr/>
          <p:nvPr/>
        </p:nvSpPr>
        <p:spPr>
          <a:xfrm>
            <a:off x="1371600" y="1523880"/>
            <a:ext cx="609480" cy="304920"/>
          </a:xfrm>
          <a:prstGeom prst="rect">
            <a:avLst/>
          </a:prstGeom>
          <a:noFill/>
          <a:ln w="1260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Line 32"/>
          <p:cNvSpPr/>
          <p:nvPr/>
        </p:nvSpPr>
        <p:spPr>
          <a:xfrm flipH="1">
            <a:off x="3657240" y="1828800"/>
            <a:ext cx="1523880" cy="0"/>
          </a:xfrm>
          <a:prstGeom prst="line">
            <a:avLst/>
          </a:prstGeom>
          <a:ln w="1260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Box 33"/>
          <p:cNvSpPr/>
          <p:nvPr/>
        </p:nvSpPr>
        <p:spPr>
          <a:xfrm>
            <a:off x="7073640" y="1868400"/>
            <a:ext cx="126432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ff3300"/>
                </a:solidFill>
                <a:effectLst/>
                <a:uFillTx/>
                <a:latin typeface="Arial"/>
              </a:rPr>
              <a:t>NARCS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0" y="685440"/>
            <a:ext cx="9144000" cy="68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1800"/>
            </a:br>
            <a:br>
              <a:rPr sz="1800"/>
            </a:br>
            <a:r>
              <a:rPr b="1" lang="en-US" sz="3200" strike="noStrike" u="none">
                <a:solidFill>
                  <a:srgbClr val="0000ff"/>
                </a:solidFill>
                <a:effectLst/>
                <a:uFillTx/>
                <a:latin typeface="Arial"/>
              </a:rPr>
              <a:t>NPROVS Web Site</a:t>
            </a:r>
            <a:br>
              <a:rPr sz="3200"/>
            </a:b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1295280" y="1798200"/>
            <a:ext cx="6858000" cy="384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333399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Pre-computed monthly </a:t>
            </a:r>
            <a:r>
              <a:rPr b="1" i="1" lang="en-US" sz="24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performance</a:t>
            </a:r>
            <a:r>
              <a:rPr b="0" lang="en-US" sz="24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 statistics for selected product combinations</a:t>
            </a:r>
            <a:endParaRPr b="0" lang="en-IN" sz="2400" strike="noStrike" u="none">
              <a:solidFill>
                <a:srgbClr val="333399"/>
              </a:solidFill>
              <a:effectLst/>
              <a:uFillTx/>
              <a:latin typeface="Arial"/>
            </a:endParaRPr>
          </a:p>
          <a:p>
            <a:pPr marL="343080" indent="0">
              <a:lnSpc>
                <a:spcPct val="90000"/>
              </a:lnSpc>
              <a:spcBef>
                <a:spcPts val="6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333399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333399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Pre-computed </a:t>
            </a:r>
            <a:r>
              <a:rPr b="1" i="1" lang="en-US" sz="24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performance</a:t>
            </a:r>
            <a:r>
              <a:rPr b="0" lang="en-US" sz="24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 trends since April 2008</a:t>
            </a:r>
            <a:endParaRPr b="0" lang="en-IN" sz="2400" strike="noStrike" u="none">
              <a:solidFill>
                <a:srgbClr val="333399"/>
              </a:solidFill>
              <a:effectLst/>
              <a:uFillTx/>
              <a:latin typeface="Arial"/>
            </a:endParaRPr>
          </a:p>
          <a:p>
            <a:pPr marL="343080" indent="0">
              <a:lnSpc>
                <a:spcPct val="90000"/>
              </a:lnSpc>
              <a:spcBef>
                <a:spcPts val="6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333399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333399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Download PDISP and NARCS graphical display applets and datasets </a:t>
            </a:r>
            <a:endParaRPr b="0" lang="en-IN" sz="2400" strike="noStrike" u="none">
              <a:solidFill>
                <a:srgbClr val="333399"/>
              </a:solidFill>
              <a:effectLst/>
              <a:uFillTx/>
              <a:latin typeface="Arial"/>
            </a:endParaRPr>
          </a:p>
        </p:txBody>
      </p:sp>
      <p:sp>
        <p:nvSpPr>
          <p:cNvPr id="65" name="Rectangle 4"/>
          <p:cNvSpPr/>
          <p:nvPr/>
        </p:nvSpPr>
        <p:spPr>
          <a:xfrm>
            <a:off x="592560" y="6019920"/>
            <a:ext cx="805572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trike="noStrike" u="sng">
                <a:solidFill>
                  <a:srgbClr val="009999"/>
                </a:solidFill>
                <a:effectLst/>
                <a:uFillTx/>
                <a:latin typeface="Arial"/>
                <a:hlinkClick r:id="rId1"/>
              </a:rPr>
              <a:t>http://www.star.nesdis.noaa.gov/smcd/opdb/poes/NPROVS.php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4" descr=""/>
          <p:cNvPicPr/>
          <p:nvPr/>
        </p:nvPicPr>
        <p:blipFill>
          <a:blip r:embed="rId1"/>
          <a:stretch/>
        </p:blipFill>
        <p:spPr>
          <a:xfrm>
            <a:off x="457200" y="1523880"/>
            <a:ext cx="8305920" cy="4800600"/>
          </a:xfrm>
          <a:prstGeom prst="rect">
            <a:avLst/>
          </a:prstGeom>
          <a:noFill/>
          <a:ln w="3240">
            <a:solidFill>
              <a:srgbClr val="000000"/>
            </a:solidFill>
            <a:miter/>
          </a:ln>
        </p:spPr>
      </p:pic>
      <p:sp>
        <p:nvSpPr>
          <p:cNvPr id="67" name="Text Box 5"/>
          <p:cNvSpPr/>
          <p:nvPr/>
        </p:nvSpPr>
        <p:spPr>
          <a:xfrm>
            <a:off x="1371600" y="1066680"/>
            <a:ext cx="66232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GFS and CFSR Analysis and Background interpolated to sonde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Box 6"/>
          <p:cNvSpPr/>
          <p:nvPr/>
        </p:nvSpPr>
        <p:spPr>
          <a:xfrm>
            <a:off x="3351600" y="533520"/>
            <a:ext cx="2712600" cy="58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What’s New !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Rectangle 7"/>
          <p:cNvSpPr/>
          <p:nvPr/>
        </p:nvSpPr>
        <p:spPr>
          <a:xfrm>
            <a:off x="1659240" y="6324480"/>
            <a:ext cx="59619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… vertical profiles of Mean, St. Dev from Sonde and  “R</a:t>
            </a:r>
            <a:r>
              <a:rPr b="1" lang="en-US" sz="1800" strike="noStrike" u="none" baseline="30000">
                <a:solidFill>
                  <a:srgbClr val="000000"/>
                </a:solidFill>
                <a:effectLst/>
                <a:uFillTx/>
                <a:latin typeface="Arial"/>
              </a:rPr>
              <a:t>2”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1"/>
          <p:cNvSpPr/>
          <p:nvPr/>
        </p:nvSpPr>
        <p:spPr>
          <a:xfrm>
            <a:off x="4141080" y="5803920"/>
            <a:ext cx="1633320" cy="21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(courtesy Bradley Ballish, NWS)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2"/>
          <p:cNvSpPr/>
          <p:nvPr/>
        </p:nvSpPr>
        <p:spPr>
          <a:xfrm>
            <a:off x="6721200" y="5803920"/>
            <a:ext cx="1479960" cy="21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(</a:t>
            </a:r>
            <a:r>
              <a:rPr b="0" i="1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courtesy jack Wollen, NWS)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Oval 1"/>
          <p:cNvSpPr/>
          <p:nvPr/>
        </p:nvSpPr>
        <p:spPr>
          <a:xfrm>
            <a:off x="6062760" y="4800600"/>
            <a:ext cx="1100160" cy="533520"/>
          </a:xfrm>
          <a:prstGeom prst="ellipse">
            <a:avLst/>
          </a:prstGeom>
          <a:noFill/>
          <a:ln w="9360">
            <a:solidFill>
              <a:srgbClr val="92d05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4" descr=""/>
          <p:cNvPicPr/>
          <p:nvPr/>
        </p:nvPicPr>
        <p:blipFill>
          <a:blip r:embed="rId1"/>
          <a:stretch/>
        </p:blipFill>
        <p:spPr>
          <a:xfrm>
            <a:off x="380880" y="1447920"/>
            <a:ext cx="7848720" cy="2361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" name="Picture 5" descr="eric1"/>
          <p:cNvPicPr/>
          <p:nvPr/>
        </p:nvPicPr>
        <p:blipFill>
          <a:blip r:embed="rId2"/>
          <a:stretch/>
        </p:blipFill>
        <p:spPr>
          <a:xfrm>
            <a:off x="685800" y="4191120"/>
            <a:ext cx="3657600" cy="2133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" name="Picture 6" descr="eric2"/>
          <p:cNvPicPr/>
          <p:nvPr/>
        </p:nvPicPr>
        <p:blipFill>
          <a:blip r:embed="rId3"/>
          <a:stretch/>
        </p:blipFill>
        <p:spPr>
          <a:xfrm>
            <a:off x="4724280" y="4191120"/>
            <a:ext cx="3733920" cy="2133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Text Box 7"/>
          <p:cNvSpPr/>
          <p:nvPr/>
        </p:nvSpPr>
        <p:spPr>
          <a:xfrm>
            <a:off x="2515320" y="1081080"/>
            <a:ext cx="41958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Weighting the moisture % differences…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Box 8"/>
          <p:cNvSpPr/>
          <p:nvPr/>
        </p:nvSpPr>
        <p:spPr>
          <a:xfrm>
            <a:off x="2743920" y="3886200"/>
            <a:ext cx="36241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100 levels vs 1km layer averaging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Box 10"/>
          <p:cNvSpPr/>
          <p:nvPr/>
        </p:nvSpPr>
        <p:spPr>
          <a:xfrm>
            <a:off x="2286720" y="6400800"/>
            <a:ext cx="46785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… vertical profiles of differences from Sonde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Rectangle 12"/>
          <p:cNvSpPr/>
          <p:nvPr/>
        </p:nvSpPr>
        <p:spPr>
          <a:xfrm>
            <a:off x="3275280" y="533520"/>
            <a:ext cx="2712600" cy="58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What’s New !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4" descr=""/>
          <p:cNvPicPr/>
          <p:nvPr/>
        </p:nvPicPr>
        <p:blipFill>
          <a:blip r:embed="rId1"/>
          <a:stretch/>
        </p:blipFill>
        <p:spPr>
          <a:xfrm>
            <a:off x="304920" y="1600200"/>
            <a:ext cx="3886200" cy="4267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1" name="Picture 5" descr=""/>
          <p:cNvPicPr/>
          <p:nvPr/>
        </p:nvPicPr>
        <p:blipFill>
          <a:blip r:embed="rId2"/>
          <a:stretch/>
        </p:blipFill>
        <p:spPr>
          <a:xfrm>
            <a:off x="4800600" y="1600200"/>
            <a:ext cx="3733920" cy="419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Text Box 6"/>
          <p:cNvSpPr/>
          <p:nvPr/>
        </p:nvSpPr>
        <p:spPr>
          <a:xfrm>
            <a:off x="2286720" y="1233360"/>
            <a:ext cx="39546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Radiosonde Profile Characterizations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Box 7"/>
          <p:cNvSpPr/>
          <p:nvPr/>
        </p:nvSpPr>
        <p:spPr>
          <a:xfrm>
            <a:off x="823680" y="6110280"/>
            <a:ext cx="20484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Moisture Structure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Box 8"/>
          <p:cNvSpPr/>
          <p:nvPr/>
        </p:nvSpPr>
        <p:spPr>
          <a:xfrm>
            <a:off x="5563800" y="6110280"/>
            <a:ext cx="25948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Temperature Inversions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Rectangle 9"/>
          <p:cNvSpPr/>
          <p:nvPr/>
        </p:nvSpPr>
        <p:spPr>
          <a:xfrm>
            <a:off x="3046680" y="609480"/>
            <a:ext cx="2712600" cy="58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What’s New !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-360" y="944280"/>
            <a:ext cx="8839080" cy="73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Radiosonde Profile Characterization</a:t>
            </a:r>
            <a:br>
              <a:rPr sz="2800"/>
            </a:b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Parameters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2133360" y="1599840"/>
            <a:ext cx="4343400" cy="480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0">
              <a:spcBef>
                <a:spcPts val="6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333399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499"/>
              </a:spcBef>
              <a:buClr>
                <a:srgbClr val="0099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2000" strike="noStrike" u="none">
                <a:solidFill>
                  <a:srgbClr val="009900"/>
                </a:solidFill>
                <a:effectLst/>
                <a:uFillTx/>
                <a:latin typeface="Arial"/>
              </a:rPr>
              <a:t>Terrain (land, coast, ship, island)</a:t>
            </a:r>
            <a:endParaRPr b="0" lang="en-IN" sz="2000" strike="noStrike" u="none">
              <a:solidFill>
                <a:srgbClr val="009999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499"/>
              </a:spcBef>
              <a:buClr>
                <a:srgbClr val="0099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2000" strike="noStrike" u="none">
                <a:solidFill>
                  <a:srgbClr val="009900"/>
                </a:solidFill>
                <a:effectLst/>
                <a:uFillTx/>
                <a:latin typeface="Arial"/>
              </a:rPr>
              <a:t>Cloud </a:t>
            </a:r>
            <a:endParaRPr b="0" lang="en-IN" sz="2000" strike="noStrike" u="none">
              <a:solidFill>
                <a:srgbClr val="009999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499"/>
              </a:spcBef>
              <a:buClr>
                <a:srgbClr val="0099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2000" strike="noStrike" u="none">
                <a:solidFill>
                  <a:srgbClr val="009900"/>
                </a:solidFill>
                <a:effectLst/>
                <a:uFillTx/>
                <a:latin typeface="Arial"/>
              </a:rPr>
              <a:t>Day/nite </a:t>
            </a:r>
            <a:endParaRPr b="0" lang="en-IN" sz="2000" strike="noStrike" u="none">
              <a:solidFill>
                <a:srgbClr val="009999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499"/>
              </a:spcBef>
              <a:buClr>
                <a:srgbClr val="0099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2000" strike="noStrike" u="none">
                <a:solidFill>
                  <a:srgbClr val="009900"/>
                </a:solidFill>
                <a:effectLst/>
                <a:uFillTx/>
                <a:latin typeface="Arial"/>
              </a:rPr>
              <a:t>Superadiabatic</a:t>
            </a:r>
            <a:endParaRPr b="0" lang="en-IN" sz="2000" strike="noStrike" u="none">
              <a:solidFill>
                <a:srgbClr val="009999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499"/>
              </a:spcBef>
              <a:buClr>
                <a:srgbClr val="0099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2000" strike="noStrike" u="none">
                <a:solidFill>
                  <a:srgbClr val="009900"/>
                </a:solidFill>
                <a:effectLst/>
                <a:uFillTx/>
                <a:latin typeface="Arial"/>
              </a:rPr>
              <a:t>Moisture profile shape</a:t>
            </a:r>
            <a:endParaRPr b="0" lang="en-IN" sz="2000" strike="noStrike" u="none">
              <a:solidFill>
                <a:srgbClr val="009999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499"/>
              </a:spcBef>
              <a:buClr>
                <a:srgbClr val="0099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2000" strike="noStrike" u="none">
                <a:solidFill>
                  <a:srgbClr val="009900"/>
                </a:solidFill>
                <a:effectLst/>
                <a:uFillTx/>
                <a:latin typeface="Arial"/>
              </a:rPr>
              <a:t>TPW Increment</a:t>
            </a:r>
            <a:endParaRPr b="0" lang="en-IN" sz="2000" strike="noStrike" u="none">
              <a:solidFill>
                <a:srgbClr val="009999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499"/>
              </a:spcBef>
              <a:buClr>
                <a:srgbClr val="0099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2000" strike="noStrike" u="none">
                <a:solidFill>
                  <a:srgbClr val="009900"/>
                </a:solidFill>
                <a:effectLst/>
                <a:uFillTx/>
                <a:latin typeface="Arial"/>
              </a:rPr>
              <a:t>UT / LS … suspicious moisture</a:t>
            </a:r>
            <a:endParaRPr b="0" lang="en-IN" sz="2000" strike="noStrike" u="none">
              <a:solidFill>
                <a:srgbClr val="009999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499"/>
              </a:spcBef>
              <a:buClr>
                <a:srgbClr val="0099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2000" strike="noStrike" u="none">
                <a:solidFill>
                  <a:srgbClr val="009900"/>
                </a:solidFill>
                <a:effectLst/>
                <a:uFillTx/>
                <a:latin typeface="Arial"/>
              </a:rPr>
              <a:t>T inversions (surface, aloft)</a:t>
            </a:r>
            <a:endParaRPr b="0" lang="en-IN" sz="2000" strike="noStrike" u="none">
              <a:solidFill>
                <a:srgbClr val="009999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499"/>
              </a:spcBef>
              <a:buClr>
                <a:srgbClr val="0099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2000" strike="noStrike" u="none">
                <a:solidFill>
                  <a:srgbClr val="009900"/>
                </a:solidFill>
                <a:effectLst/>
                <a:uFillTx/>
                <a:latin typeface="Arial"/>
              </a:rPr>
              <a:t>Rad Correction (site, NCEP)</a:t>
            </a:r>
            <a:endParaRPr b="0" lang="en-IN" sz="2000" strike="noStrike" u="none">
              <a:solidFill>
                <a:srgbClr val="009999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499"/>
              </a:spcBef>
              <a:buClr>
                <a:srgbClr val="0099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2000" strike="noStrike" u="none">
                <a:solidFill>
                  <a:srgbClr val="009900"/>
                </a:solidFill>
                <a:effectLst/>
                <a:uFillTx/>
                <a:latin typeface="Arial"/>
              </a:rPr>
              <a:t>Instrument type</a:t>
            </a:r>
            <a:endParaRPr b="0" lang="en-IN" sz="2000" strike="noStrike" u="none">
              <a:solidFill>
                <a:srgbClr val="009999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 Box 2"/>
          <p:cNvSpPr/>
          <p:nvPr/>
        </p:nvSpPr>
        <p:spPr>
          <a:xfrm>
            <a:off x="3657600" y="395280"/>
            <a:ext cx="184320" cy="51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9" name="Picture 4" descr=""/>
          <p:cNvPicPr/>
          <p:nvPr/>
        </p:nvPicPr>
        <p:blipFill>
          <a:blip r:embed="rId1"/>
          <a:stretch/>
        </p:blipFill>
        <p:spPr>
          <a:xfrm>
            <a:off x="152280" y="1828800"/>
            <a:ext cx="8763120" cy="4648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Oval 5"/>
          <p:cNvSpPr/>
          <p:nvPr/>
        </p:nvSpPr>
        <p:spPr>
          <a:xfrm>
            <a:off x="457200" y="2057400"/>
            <a:ext cx="914400" cy="914400"/>
          </a:xfrm>
          <a:prstGeom prst="ellipse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ff3300"/>
                </a:solidFill>
                <a:effectLst/>
                <a:uFillTx/>
                <a:latin typeface="Arial"/>
              </a:rPr>
              <a:t>Raob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Oval 6"/>
          <p:cNvSpPr/>
          <p:nvPr/>
        </p:nvSpPr>
        <p:spPr>
          <a:xfrm>
            <a:off x="1219320" y="4648320"/>
            <a:ext cx="914400" cy="914400"/>
          </a:xfrm>
          <a:prstGeom prst="ellipse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ff3300"/>
                </a:solidFill>
                <a:effectLst/>
                <a:uFillTx/>
                <a:latin typeface="Arial"/>
              </a:rPr>
              <a:t>SAT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Oval 7"/>
          <p:cNvSpPr/>
          <p:nvPr/>
        </p:nvSpPr>
        <p:spPr>
          <a:xfrm>
            <a:off x="4648320" y="4648320"/>
            <a:ext cx="914400" cy="914400"/>
          </a:xfrm>
          <a:prstGeom prst="ellipse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ff3300"/>
                </a:solidFill>
                <a:effectLst/>
                <a:uFillTx/>
                <a:latin typeface="Arial"/>
              </a:rPr>
              <a:t>Space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ff3300"/>
                </a:solidFill>
                <a:effectLst/>
                <a:uFillTx/>
                <a:latin typeface="Arial"/>
              </a:rPr>
              <a:t>Time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Oval 8"/>
          <p:cNvSpPr/>
          <p:nvPr/>
        </p:nvSpPr>
        <p:spPr>
          <a:xfrm>
            <a:off x="6400800" y="4648320"/>
            <a:ext cx="914400" cy="914400"/>
          </a:xfrm>
          <a:prstGeom prst="ellipse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ff3300"/>
                </a:solidFill>
                <a:effectLst/>
                <a:uFillTx/>
                <a:latin typeface="Arial"/>
              </a:rPr>
              <a:t>Site id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Oval 9"/>
          <p:cNvSpPr/>
          <p:nvPr/>
        </p:nvSpPr>
        <p:spPr>
          <a:xfrm>
            <a:off x="7848720" y="4648320"/>
            <a:ext cx="914400" cy="914400"/>
          </a:xfrm>
          <a:prstGeom prst="ellipse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ff3300"/>
                </a:solidFill>
                <a:effectLst/>
                <a:uFillTx/>
                <a:latin typeface="Arial"/>
              </a:rPr>
              <a:t>Inst 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Rectangle 10"/>
          <p:cNvSpPr/>
          <p:nvPr/>
        </p:nvSpPr>
        <p:spPr>
          <a:xfrm>
            <a:off x="1828800" y="2057400"/>
            <a:ext cx="2819520" cy="990720"/>
          </a:xfrm>
          <a:prstGeom prst="rect">
            <a:avLst/>
          </a:prstGeom>
          <a:noFill/>
          <a:ln w="1908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Rectangle 12"/>
          <p:cNvSpPr/>
          <p:nvPr/>
        </p:nvSpPr>
        <p:spPr>
          <a:xfrm>
            <a:off x="99000" y="304920"/>
            <a:ext cx="8975880" cy="58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NOAA Products Validation System (NPROVS)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Rectangle 13"/>
          <p:cNvSpPr/>
          <p:nvPr/>
        </p:nvSpPr>
        <p:spPr>
          <a:xfrm>
            <a:off x="1990440" y="1295280"/>
            <a:ext cx="478800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PDISP user interface for display and analysis of collocated data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Oval 14"/>
          <p:cNvSpPr/>
          <p:nvPr/>
        </p:nvSpPr>
        <p:spPr>
          <a:xfrm>
            <a:off x="6400800" y="6248520"/>
            <a:ext cx="914400" cy="457200"/>
          </a:xfrm>
          <a:prstGeom prst="ellipse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1"/>
          <p:cNvSpPr/>
          <p:nvPr/>
        </p:nvSpPr>
        <p:spPr>
          <a:xfrm>
            <a:off x="3067920" y="6477120"/>
            <a:ext cx="294588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… 7500 radiosondes over 7 days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228240" y="1447560"/>
            <a:ext cx="8534520" cy="3886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IASI vs ATOVS vs GFS vs Sonde</a:t>
            </a:r>
            <a:br>
              <a:rPr sz="4000"/>
            </a:br>
            <a:br>
              <a:rPr sz="4000"/>
            </a:br>
            <a:r>
              <a:rPr b="0" lang="en-US" sz="3200" strike="noStrike" u="none">
                <a:solidFill>
                  <a:srgbClr val="009900"/>
                </a:solidFill>
                <a:effectLst/>
                <a:uFillTx/>
                <a:latin typeface="Arial"/>
              </a:rPr>
              <a:t>QC, Terrain, Cloud</a:t>
            </a:r>
            <a:br>
              <a:rPr sz="4000"/>
            </a:br>
            <a:br>
              <a:rPr sz="4000"/>
            </a:br>
            <a:br>
              <a:rPr sz="4000"/>
            </a:br>
            <a:r>
              <a:rPr b="0" lang="en-US" sz="40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Yield !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Picture 4" descr=""/>
          <p:cNvPicPr/>
          <p:nvPr/>
        </p:nvPicPr>
        <p:blipFill>
          <a:blip r:embed="rId1"/>
          <a:stretch/>
        </p:blipFill>
        <p:spPr>
          <a:xfrm>
            <a:off x="304920" y="762120"/>
            <a:ext cx="8686800" cy="563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TextBox 1"/>
          <p:cNvSpPr/>
          <p:nvPr/>
        </p:nvSpPr>
        <p:spPr>
          <a:xfrm>
            <a:off x="3818160" y="6553080"/>
            <a:ext cx="146772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c00000"/>
                </a:solidFill>
                <a:effectLst/>
                <a:uFillTx/>
                <a:latin typeface="Arial"/>
              </a:rPr>
              <a:t>Common  Sample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Picture 460" descr=""/>
          <p:cNvPicPr/>
          <p:nvPr/>
        </p:nvPicPr>
        <p:blipFill>
          <a:blip r:embed="rId1"/>
          <a:stretch/>
        </p:blipFill>
        <p:spPr>
          <a:xfrm>
            <a:off x="533520" y="990720"/>
            <a:ext cx="8001000" cy="5715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Text Box 461"/>
          <p:cNvSpPr/>
          <p:nvPr/>
        </p:nvSpPr>
        <p:spPr>
          <a:xfrm>
            <a:off x="2827080" y="696960"/>
            <a:ext cx="36615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Common Sample Yield Analysis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Box 462"/>
          <p:cNvSpPr/>
          <p:nvPr/>
        </p:nvSpPr>
        <p:spPr>
          <a:xfrm>
            <a:off x="5013360" y="1935000"/>
            <a:ext cx="1839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Box 464"/>
          <p:cNvSpPr/>
          <p:nvPr/>
        </p:nvSpPr>
        <p:spPr>
          <a:xfrm>
            <a:off x="5033880" y="2163600"/>
            <a:ext cx="45720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62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trike="noStrike" u="none">
                <a:solidFill>
                  <a:srgbClr val="009900"/>
                </a:solidFill>
                <a:effectLst/>
                <a:uFillTx/>
                <a:latin typeface="Arial"/>
              </a:rPr>
              <a:t>(10)</a:t>
            </a:r>
            <a:r>
              <a:rPr b="0" lang="en-US" sz="1000" strike="noStrike" u="none">
                <a:solidFill>
                  <a:srgbClr val="009900"/>
                </a:solidFill>
                <a:effectLst/>
                <a:uFillTx/>
                <a:latin typeface="Arial"/>
              </a:rPr>
              <a:t> 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Box 465"/>
          <p:cNvSpPr/>
          <p:nvPr/>
        </p:nvSpPr>
        <p:spPr>
          <a:xfrm>
            <a:off x="5042520" y="1935000"/>
            <a:ext cx="44820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trike="noStrike" u="none">
                <a:solidFill>
                  <a:srgbClr val="009900"/>
                </a:solidFill>
                <a:effectLst/>
                <a:uFillTx/>
                <a:latin typeface="Arial"/>
              </a:rPr>
              <a:t>(51)</a:t>
            </a:r>
            <a:r>
              <a:rPr b="0" lang="en-US" sz="1200" strike="noStrike" u="none">
                <a:solidFill>
                  <a:srgbClr val="009900"/>
                </a:solidFill>
                <a:effectLst/>
                <a:uFillTx/>
                <a:latin typeface="Arial"/>
              </a:rPr>
              <a:t> 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Box 466"/>
          <p:cNvSpPr/>
          <p:nvPr/>
        </p:nvSpPr>
        <p:spPr>
          <a:xfrm>
            <a:off x="5048280" y="2616120"/>
            <a:ext cx="4237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trike="noStrike" u="none">
                <a:solidFill>
                  <a:srgbClr val="009900"/>
                </a:solidFill>
                <a:effectLst/>
                <a:uFillTx/>
                <a:latin typeface="Arial"/>
              </a:rPr>
              <a:t>(66)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Picture 4" descr=""/>
          <p:cNvPicPr/>
          <p:nvPr/>
        </p:nvPicPr>
        <p:blipFill>
          <a:blip r:embed="rId1"/>
          <a:stretch/>
        </p:blipFill>
        <p:spPr>
          <a:xfrm>
            <a:off x="304920" y="914400"/>
            <a:ext cx="8505720" cy="556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TextBox 1"/>
          <p:cNvSpPr/>
          <p:nvPr/>
        </p:nvSpPr>
        <p:spPr>
          <a:xfrm>
            <a:off x="3577320" y="6553080"/>
            <a:ext cx="161172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c00000"/>
                </a:solidFill>
                <a:effectLst/>
                <a:uFillTx/>
                <a:latin typeface="Arial"/>
              </a:rPr>
              <a:t>Common  Sampling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Picture 4" descr="1"/>
          <p:cNvPicPr/>
          <p:nvPr/>
        </p:nvPicPr>
        <p:blipFill>
          <a:blip r:embed="rId1"/>
          <a:stretch/>
        </p:blipFill>
        <p:spPr>
          <a:xfrm>
            <a:off x="5029200" y="1143000"/>
            <a:ext cx="3505320" cy="2743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2" name="Picture 5" descr="2"/>
          <p:cNvPicPr/>
          <p:nvPr/>
        </p:nvPicPr>
        <p:blipFill>
          <a:blip r:embed="rId2"/>
          <a:stretch/>
        </p:blipFill>
        <p:spPr>
          <a:xfrm>
            <a:off x="457200" y="990720"/>
            <a:ext cx="3048120" cy="2590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3" name="Picture 6" descr="3"/>
          <p:cNvPicPr/>
          <p:nvPr/>
        </p:nvPicPr>
        <p:blipFill>
          <a:blip r:embed="rId3"/>
          <a:stretch/>
        </p:blipFill>
        <p:spPr>
          <a:xfrm>
            <a:off x="5029200" y="3962520"/>
            <a:ext cx="3505320" cy="2666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4" name="Picture 7" descr="4"/>
          <p:cNvPicPr/>
          <p:nvPr/>
        </p:nvPicPr>
        <p:blipFill>
          <a:blip r:embed="rId4"/>
          <a:stretch/>
        </p:blipFill>
        <p:spPr>
          <a:xfrm>
            <a:off x="533520" y="3886200"/>
            <a:ext cx="2971800" cy="2562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Text Box 8"/>
          <p:cNvSpPr/>
          <p:nvPr/>
        </p:nvSpPr>
        <p:spPr>
          <a:xfrm>
            <a:off x="3947400" y="1814400"/>
            <a:ext cx="816120" cy="100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+/- 3hr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50km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qc’d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Cloudy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maritime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Rectangle 9"/>
          <p:cNvSpPr/>
          <p:nvPr/>
        </p:nvSpPr>
        <p:spPr>
          <a:xfrm>
            <a:off x="3886200" y="4633920"/>
            <a:ext cx="1219320" cy="100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+/- 3hr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50km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qc’d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Cloudy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Non-maritime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1"/>
          <p:cNvSpPr/>
          <p:nvPr/>
        </p:nvSpPr>
        <p:spPr>
          <a:xfrm>
            <a:off x="3667680" y="6553080"/>
            <a:ext cx="161172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c00000"/>
                </a:solidFill>
                <a:effectLst/>
                <a:uFillTx/>
                <a:latin typeface="Arial"/>
              </a:rPr>
              <a:t>Common  Sampling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Picture 6" descr=""/>
          <p:cNvPicPr/>
          <p:nvPr/>
        </p:nvPicPr>
        <p:blipFill>
          <a:blip r:embed="rId1"/>
          <a:stretch/>
        </p:blipFill>
        <p:spPr>
          <a:xfrm>
            <a:off x="228600" y="762120"/>
            <a:ext cx="8305920" cy="5105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9" name="TextBox 1"/>
          <p:cNvSpPr/>
          <p:nvPr/>
        </p:nvSpPr>
        <p:spPr>
          <a:xfrm>
            <a:off x="3668040" y="6400800"/>
            <a:ext cx="179820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c00000"/>
                </a:solidFill>
                <a:effectLst/>
                <a:uFillTx/>
                <a:latin typeface="Arial"/>
              </a:rPr>
              <a:t>Independent  Samples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761760" y="2666520"/>
            <a:ext cx="7467480" cy="73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Bringing in NPP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Picture 4" descr=""/>
          <p:cNvPicPr/>
          <p:nvPr/>
        </p:nvPicPr>
        <p:blipFill>
          <a:blip r:embed="rId1"/>
          <a:stretch/>
        </p:blipFill>
        <p:spPr>
          <a:xfrm>
            <a:off x="209520" y="838080"/>
            <a:ext cx="8934480" cy="5181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1981080" y="456840"/>
            <a:ext cx="4724640" cy="73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CriMSS  Performance Specification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Footer Placeholder 3"/>
          <p:cNvSpPr/>
          <p:nvPr/>
        </p:nvSpPr>
        <p:spPr>
          <a:xfrm>
            <a:off x="3124080" y="6245280"/>
            <a:ext cx="2895840" cy="47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da-DK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Nalli, Barnet, et al. - AMS Jan-12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lide Number Placeholder 4"/>
          <p:cNvSpPr/>
          <p:nvPr/>
        </p:nvSpPr>
        <p:spPr>
          <a:xfrm>
            <a:off x="6553080" y="6245280"/>
            <a:ext cx="2133720" cy="47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C8B6C95-C8D7-403A-A22B-CF7C5785F216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25" name=""/>
          <p:cNvGraphicFramePr/>
          <p:nvPr/>
        </p:nvGraphicFramePr>
        <p:xfrm>
          <a:off x="1473120" y="1066680"/>
          <a:ext cx="5689800" cy="3002040"/>
        </p:xfrm>
        <a:graphic>
          <a:graphicData uri="http://schemas.openxmlformats.org/drawingml/2006/table">
            <a:tbl>
              <a:tblPr/>
              <a:tblGrid>
                <a:gridCol w="2844720"/>
                <a:gridCol w="2845080"/>
              </a:tblGrid>
              <a:tr h="465120">
                <a:tc gridSpan="2">
                  <a:txBody>
                    <a:bodyPr lIns="90000" rIns="90000" anchor="t">
                      <a:noAutofit/>
                    </a:bodyPr>
                    <a:p>
                      <a:pPr marL="343080" indent="-343080"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Atmospheric Vertical Temperature Profile (AVTP)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343080" indent="-343080"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Measurement Uncertainty – Layer Average Temperature Error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IN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274680">
                <a:tc>
                  <a:txBody>
                    <a:bodyPr lIns="90000" rIns="90000" anchor="t">
                      <a:noAutofit/>
                    </a:bodyPr>
                    <a:p>
                      <a:pPr marL="343080" indent="-34308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PARAMETER</a:t>
                      </a:r>
                      <a:endParaRPr b="0" lang="en-IN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343080" indent="-34308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THRESHOLD</a:t>
                      </a:r>
                      <a:endParaRPr b="0" lang="en-IN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</a:tr>
              <a:tr h="250920">
                <a:tc>
                  <a:txBody>
                    <a:bodyPr lIns="90000" rIns="90000" anchor="t">
                      <a:noAutofit/>
                    </a:bodyPr>
                    <a:p>
                      <a:pPr marL="343080" indent="-34308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AVTP Clear, surface to 300 mb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343080" indent="-34308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1.6 K / 1-km layer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50920">
                <a:tc>
                  <a:txBody>
                    <a:bodyPr lIns="90000" rIns="90000" anchor="t">
                      <a:noAutofit/>
                    </a:bodyPr>
                    <a:p>
                      <a:pPr marL="343080" indent="-34308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AVTP Clear, 300 to 30 mb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343080" indent="-34308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1.5 K / 3-km layer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7e7"/>
                    </a:solidFill>
                  </a:tcPr>
                </a:tc>
              </a:tr>
              <a:tr h="252360">
                <a:tc>
                  <a:txBody>
                    <a:bodyPr lIns="90000" rIns="90000" anchor="t">
                      <a:noAutofit/>
                    </a:bodyPr>
                    <a:p>
                      <a:pPr marL="343080" indent="-34308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AVTP Clear, 30 mb to 1 mb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343080" indent="-34308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1.5 K / 5-km layer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50920">
                <a:tc>
                  <a:txBody>
                    <a:bodyPr lIns="90000" rIns="90000" anchor="t">
                      <a:noAutofit/>
                    </a:bodyPr>
                    <a:p>
                      <a:pPr marL="343080" indent="-34308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AVTP Clear, 1 mb to 0.5 mb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343080" indent="-34308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3.5 K / 5-km layer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</a:tr>
              <a:tr h="250560">
                <a:tc>
                  <a:txBody>
                    <a:bodyPr lIns="90000" rIns="90000" anchor="t">
                      <a:noAutofit/>
                    </a:bodyPr>
                    <a:p>
                      <a:pPr marL="343080" indent="-34308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AVTP Cloudy , surface to 700 mb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343080" indent="-34308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2.5 K / 1-km layer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52720">
                <a:tc>
                  <a:txBody>
                    <a:bodyPr lIns="90000" rIns="90000" anchor="t">
                      <a:noAutofit/>
                    </a:bodyPr>
                    <a:p>
                      <a:pPr marL="343080" indent="-34308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AVTP Cloudy, 700 mb to 300 mb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343080" indent="-34308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1.5 K / 1-km layer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7e7"/>
                    </a:solidFill>
                  </a:tcPr>
                </a:tc>
              </a:tr>
              <a:tr h="250560">
                <a:tc>
                  <a:txBody>
                    <a:bodyPr lIns="90000" rIns="90000" anchor="t">
                      <a:noAutofit/>
                    </a:bodyPr>
                    <a:p>
                      <a:pPr marL="343080" indent="-34308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AVTP Cloudy, 300 mb to 30 mb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343080" indent="-34308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1.5 K / 3-km layer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52360">
                <a:tc>
                  <a:txBody>
                    <a:bodyPr lIns="90000" rIns="90000" anchor="t">
                      <a:noAutofit/>
                    </a:bodyPr>
                    <a:p>
                      <a:pPr marL="343080" indent="-34308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AVTP Cloudy, 30 mb to 1 mb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343080" indent="-34308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1.5 K / 5-km layer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7e7"/>
                    </a:solidFill>
                  </a:tcPr>
                </a:tc>
              </a:tr>
              <a:tr h="250920">
                <a:tc>
                  <a:txBody>
                    <a:bodyPr lIns="90000" rIns="90000" anchor="t">
                      <a:noAutofit/>
                    </a:bodyPr>
                    <a:p>
                      <a:pPr marL="343080" indent="-34308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AVTP Cloudy, 1 mb to 0.5 mb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343080" indent="-34308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3.5 K/ 5-km layer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6" name=""/>
          <p:cNvGraphicFramePr/>
          <p:nvPr/>
        </p:nvGraphicFramePr>
        <p:xfrm>
          <a:off x="1473120" y="4267080"/>
          <a:ext cx="5689800" cy="2301840"/>
        </p:xfrm>
        <a:graphic>
          <a:graphicData uri="http://schemas.openxmlformats.org/drawingml/2006/table">
            <a:tbl>
              <a:tblPr/>
              <a:tblGrid>
                <a:gridCol w="2844720"/>
                <a:gridCol w="2845080"/>
              </a:tblGrid>
              <a:tr h="473040">
                <a:tc gridSpan="2">
                  <a:txBody>
                    <a:bodyPr lIns="90000" rIns="90000" anchor="t">
                      <a:noAutofit/>
                    </a:bodyPr>
                    <a:p>
                      <a:pPr marL="343080" indent="-343080"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Atmospheric Vertical Moisture Profile (AVMP)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343080" indent="-343080"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Measurement Uncertainty – 2-km Layer Average Mixing Ratio % Error</a:t>
                      </a:r>
                      <a:endParaRPr b="0" lang="en-IN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IN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274680">
                <a:tc>
                  <a:txBody>
                    <a:bodyPr lIns="90000" rIns="90000" anchor="t">
                      <a:noAutofit/>
                    </a:bodyPr>
                    <a:p>
                      <a:pPr marL="343080" indent="-34308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PARAMETER</a:t>
                      </a:r>
                      <a:endParaRPr b="0" lang="en-IN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343080" indent="-34308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THRESHOLD</a:t>
                      </a:r>
                      <a:endParaRPr b="0" lang="en-IN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</a:tr>
              <a:tr h="259560">
                <a:tc>
                  <a:txBody>
                    <a:bodyPr lIns="90000" rIns="90000" anchor="t">
                      <a:noAutofit/>
                    </a:bodyPr>
                    <a:p>
                      <a:pPr marL="343080" indent="-34308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AVMP Clear, surface to 600 mb</a:t>
                      </a:r>
                      <a:endParaRPr b="0" lang="en-IN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343080" indent="-34308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Greater of 20% or 0.2 g/kg / 2-km layer</a:t>
                      </a:r>
                      <a:endParaRPr b="0" lang="en-IN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59560">
                <a:tc>
                  <a:txBody>
                    <a:bodyPr lIns="90000" rIns="90000" anchor="t">
                      <a:noAutofit/>
                    </a:bodyPr>
                    <a:p>
                      <a:pPr marL="343080" indent="-34308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AVMP Clear, 600 to 300 mb</a:t>
                      </a:r>
                      <a:endParaRPr b="0" lang="en-IN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343080" indent="-34308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Greater of 35% or 0.1 g/kg / 2-km layer</a:t>
                      </a:r>
                      <a:endParaRPr b="0" lang="en-IN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7e7"/>
                    </a:solidFill>
                  </a:tcPr>
                </a:tc>
              </a:tr>
              <a:tr h="259560">
                <a:tc>
                  <a:txBody>
                    <a:bodyPr lIns="90000" rIns="90000" anchor="t">
                      <a:noAutofit/>
                    </a:bodyPr>
                    <a:p>
                      <a:pPr marL="343080" indent="-34308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AVMP Clear, 300 to 100 mb</a:t>
                      </a:r>
                      <a:endParaRPr b="0" lang="en-IN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343080" indent="-34308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Greater of 35% or 0.1 g/kg / 2-km layer</a:t>
                      </a:r>
                      <a:endParaRPr b="0" lang="en-IN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9560">
                <a:tc>
                  <a:txBody>
                    <a:bodyPr lIns="90000" rIns="90000" anchor="t">
                      <a:noAutofit/>
                    </a:bodyPr>
                    <a:p>
                      <a:pPr marL="343080" indent="-34308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AVMP Cloudy, surface to 600 mb</a:t>
                      </a:r>
                      <a:endParaRPr b="0" lang="en-IN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343080" indent="-34308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Greater of 20% of 0.2 g/kg / 2-km layer</a:t>
                      </a:r>
                      <a:endParaRPr b="0" lang="en-IN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7e7e7"/>
                    </a:solidFill>
                  </a:tcPr>
                </a:tc>
              </a:tr>
              <a:tr h="259560">
                <a:tc>
                  <a:txBody>
                    <a:bodyPr lIns="90000" rIns="90000" anchor="t">
                      <a:noAutofit/>
                    </a:bodyPr>
                    <a:p>
                      <a:pPr marL="343080" indent="-34308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AVMP Cloudy, 600 mb to 400 mb</a:t>
                      </a:r>
                      <a:endParaRPr b="0" lang="en-IN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343080" indent="-34308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Greater of 40% or 0.1 g/kg / 2-km layer</a:t>
                      </a:r>
                      <a:endParaRPr b="0" lang="en-IN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59560">
                <a:tc>
                  <a:txBody>
                    <a:bodyPr lIns="90000" rIns="90000" anchor="t">
                      <a:noAutofit/>
                    </a:bodyPr>
                    <a:p>
                      <a:pPr marL="343080" indent="-34308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AVMP Cloudy, 400 mb to 100 mb</a:t>
                      </a:r>
                      <a:endParaRPr b="0" lang="en-IN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343080" indent="-34308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Greater of 40% or 0.1 g/kg / 2-km layer</a:t>
                      </a:r>
                      <a:endParaRPr b="0" lang="en-IN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</a:tr>
            </a:tbl>
          </a:graphicData>
        </a:graphic>
      </p:graphicFrame>
      <p:sp>
        <p:nvSpPr>
          <p:cNvPr id="127" name="TextBox 1"/>
          <p:cNvSpPr/>
          <p:nvPr/>
        </p:nvSpPr>
        <p:spPr>
          <a:xfrm>
            <a:off x="6629400" y="6553080"/>
            <a:ext cx="1371600" cy="21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(courtesy Nick Nalli)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456840" y="715680"/>
            <a:ext cx="8077320" cy="73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CrIMSS Validation Issues</a:t>
            </a:r>
            <a:endParaRPr b="0" lang="en-IN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761760" y="1599840"/>
            <a:ext cx="7924680" cy="4876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333399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28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Levels: “42 (T), 22(MR)”  vs 100 (T) 30 (MR)</a:t>
            </a:r>
            <a:endParaRPr b="0" lang="en-IN" sz="2800" strike="noStrike" u="none">
              <a:solidFill>
                <a:srgbClr val="333399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0099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009999"/>
                </a:solidFill>
                <a:effectLst/>
                <a:uFillTx/>
                <a:latin typeface="Arial"/>
              </a:rPr>
              <a:t>IDPS vs NUCAPS  </a:t>
            </a:r>
            <a:endParaRPr b="0" lang="en-IN" sz="2400" strike="noStrike" u="none">
              <a:solidFill>
                <a:srgbClr val="009999"/>
              </a:solidFill>
              <a:effectLst/>
              <a:uFillTx/>
              <a:latin typeface="Arial"/>
            </a:endParaRPr>
          </a:p>
          <a:p>
            <a:pPr marL="343080" indent="0">
              <a:lnSpc>
                <a:spcPct val="80000"/>
              </a:lnSpc>
              <a:spcBef>
                <a:spcPts val="70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trike="noStrike" u="none">
              <a:solidFill>
                <a:srgbClr val="333399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333399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Layers for validation (1km)</a:t>
            </a:r>
            <a:endParaRPr b="0" lang="en-IN" sz="2800" strike="noStrike" u="none">
              <a:solidFill>
                <a:srgbClr val="333399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0099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009999"/>
                </a:solidFill>
                <a:effectLst/>
                <a:uFillTx/>
                <a:latin typeface="Arial"/>
              </a:rPr>
              <a:t>T vs </a:t>
            </a:r>
            <a:r>
              <a:rPr b="0" i="1" lang="en-US" sz="2400" strike="noStrike" u="none">
                <a:solidFill>
                  <a:srgbClr val="009999"/>
                </a:solidFill>
                <a:effectLst/>
                <a:uFillTx/>
                <a:latin typeface="Arial"/>
              </a:rPr>
              <a:t>(MR vs PW …)</a:t>
            </a:r>
            <a:endParaRPr b="0" lang="en-IN" sz="2400" strike="noStrike" u="none">
              <a:solidFill>
                <a:srgbClr val="009999"/>
              </a:solidFill>
              <a:effectLst/>
              <a:uFillTx/>
              <a:latin typeface="Arial"/>
            </a:endParaRPr>
          </a:p>
          <a:p>
            <a:pPr lvl="1" marL="743040" indent="0">
              <a:lnSpc>
                <a:spcPct val="80000"/>
              </a:lnSpc>
              <a:spcBef>
                <a:spcPts val="6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9999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333399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Averaging of layers for meeting spec</a:t>
            </a:r>
            <a:endParaRPr b="0" lang="en-IN" sz="2800" strike="noStrike" u="none">
              <a:solidFill>
                <a:srgbClr val="333399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0099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009999"/>
                </a:solidFill>
                <a:effectLst/>
                <a:uFillTx/>
                <a:latin typeface="Arial"/>
              </a:rPr>
              <a:t>T, MR (clear vs cloudy), (altitude)</a:t>
            </a:r>
            <a:endParaRPr b="0" lang="en-IN" sz="2400" strike="noStrike" u="none">
              <a:solidFill>
                <a:srgbClr val="009999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0099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009999"/>
                </a:solidFill>
                <a:effectLst/>
                <a:uFillTx/>
                <a:latin typeface="Arial"/>
              </a:rPr>
              <a:t>Weighting (MR)</a:t>
            </a:r>
            <a:endParaRPr b="0" lang="en-IN" sz="2400" strike="noStrike" u="none">
              <a:solidFill>
                <a:srgbClr val="009999"/>
              </a:solidFill>
              <a:effectLst/>
              <a:uFillTx/>
              <a:latin typeface="Arial"/>
            </a:endParaRPr>
          </a:p>
          <a:p>
            <a:pPr lvl="1" marL="743040" indent="0">
              <a:lnSpc>
                <a:spcPct val="80000"/>
              </a:lnSpc>
              <a:spcBef>
                <a:spcPts val="6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9999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333399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Quality Flag … </a:t>
            </a:r>
            <a:endParaRPr b="0" lang="en-IN" sz="2800" strike="noStrike" u="none">
              <a:solidFill>
                <a:srgbClr val="333399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0099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009999"/>
                </a:solidFill>
                <a:effectLst/>
                <a:uFillTx/>
                <a:latin typeface="Arial"/>
              </a:rPr>
              <a:t>Can only reject precipitating scenes in IDPS</a:t>
            </a:r>
            <a:endParaRPr b="0" lang="en-IN" sz="2400" strike="noStrike" u="none">
              <a:solidFill>
                <a:srgbClr val="009999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Picture 2" descr=""/>
          <p:cNvPicPr/>
          <p:nvPr/>
        </p:nvPicPr>
        <p:blipFill>
          <a:blip r:embed="rId1"/>
          <a:stretch/>
        </p:blipFill>
        <p:spPr>
          <a:xfrm>
            <a:off x="1676520" y="762120"/>
            <a:ext cx="6324480" cy="5715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1" name="Oval 2"/>
          <p:cNvSpPr/>
          <p:nvPr/>
        </p:nvSpPr>
        <p:spPr>
          <a:xfrm>
            <a:off x="1752480" y="5029200"/>
            <a:ext cx="2210040" cy="1676520"/>
          </a:xfrm>
          <a:prstGeom prst="ellipse">
            <a:avLst/>
          </a:prstGeom>
          <a:noFill/>
          <a:ln w="93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Oval 3"/>
          <p:cNvSpPr/>
          <p:nvPr/>
        </p:nvSpPr>
        <p:spPr>
          <a:xfrm>
            <a:off x="6172200" y="3048120"/>
            <a:ext cx="1219320" cy="1066680"/>
          </a:xfrm>
          <a:prstGeom prst="ellipse">
            <a:avLst/>
          </a:prstGeom>
          <a:noFill/>
          <a:ln w="93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Picture 5" descr=""/>
          <p:cNvPicPr/>
          <p:nvPr/>
        </p:nvPicPr>
        <p:blipFill>
          <a:blip r:embed="rId1"/>
          <a:stretch/>
        </p:blipFill>
        <p:spPr>
          <a:xfrm>
            <a:off x="685800" y="838080"/>
            <a:ext cx="6781680" cy="5257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Text Box 6"/>
          <p:cNvSpPr/>
          <p:nvPr/>
        </p:nvSpPr>
        <p:spPr>
          <a:xfrm>
            <a:off x="7834320" y="2475000"/>
            <a:ext cx="993600" cy="14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cccc00"/>
                </a:solidFill>
                <a:effectLst/>
                <a:uFillTx/>
                <a:latin typeface="Arial"/>
              </a:rPr>
              <a:t>IASI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CrIMSS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Raob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Box 7"/>
          <p:cNvSpPr/>
          <p:nvPr/>
        </p:nvSpPr>
        <p:spPr>
          <a:xfrm>
            <a:off x="2667600" y="6324480"/>
            <a:ext cx="40561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P72 Proxy CrIMSS moved to 12/03/11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Rectangle 4"/>
          <p:cNvSpPr/>
          <p:nvPr/>
        </p:nvSpPr>
        <p:spPr>
          <a:xfrm>
            <a:off x="228600" y="4495680"/>
            <a:ext cx="8643960" cy="19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marL="343080" indent="-343080" algn="ctr">
              <a:lnSpc>
                <a:spcPct val="100000"/>
              </a:lnSpc>
              <a:tabLst>
                <a:tab algn="l" pos="0"/>
                <a:tab algn="l" pos="4176720"/>
                <a:tab algn="l" pos="8353440"/>
              </a:tabLst>
            </a:pP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Fully characterize the site atmospheric column (sonde + ancillary) 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tabLst>
                <a:tab algn="l" pos="0"/>
                <a:tab algn="l" pos="4176720"/>
                <a:tab algn="l" pos="8353440"/>
              </a:tabLst>
            </a:pP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at NPP overpass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00280" indent="-343080">
              <a:lnSpc>
                <a:spcPct val="100000"/>
              </a:lnSpc>
              <a:buClr>
                <a:srgbClr val="ff0000"/>
              </a:buClr>
              <a:buFont typeface="Times New Roman"/>
              <a:buChar char="•"/>
              <a:tabLst>
                <a:tab algn="l" pos="4176720"/>
                <a:tab algn="l" pos="8353440"/>
              </a:tabLst>
            </a:pPr>
            <a:r>
              <a:rPr b="1" lang="en-US" sz="1600" strike="noStrike" u="none">
                <a:solidFill>
                  <a:srgbClr val="ff0000"/>
                </a:solidFill>
                <a:effectLst/>
                <a:uFillTx/>
                <a:latin typeface="Times New Roman"/>
              </a:rPr>
              <a:t>ARM site atmospheric state best estimate (SASBE) for AIRS temperature and water vapor retrieval validation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…</a:t>
            </a:r>
            <a:r>
              <a:rPr b="1" i="1" lang="en-US" sz="16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Tobin et al., 2006, J. Geophys. Res., 111, D09S14</a:t>
            </a:r>
            <a:r>
              <a:rPr b="0" lang="en-US" sz="1600" strike="noStrike" u="none">
                <a:solidFill>
                  <a:srgbClr val="ff3300"/>
                </a:solidFill>
                <a:effectLst/>
                <a:uFillTx/>
                <a:latin typeface="Times New Roman"/>
              </a:rPr>
              <a:t> …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00280" indent="-343080">
              <a:lnSpc>
                <a:spcPct val="100000"/>
              </a:lnSpc>
              <a:buClr>
                <a:srgbClr val="000000"/>
              </a:buClr>
              <a:buFont typeface="Times New Roman"/>
              <a:buChar char="•"/>
              <a:tabLst>
                <a:tab algn="l" pos="4176720"/>
                <a:tab algn="l" pos="835344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Uncertainty analysis for estimating atmospheric temperature for remote sensing applications … </a:t>
            </a:r>
            <a:r>
              <a:rPr b="1" i="1" lang="en-US" sz="16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Dykema et al., International Temperature Symposium, March 2012, Los Angeles, Ca.</a:t>
            </a:r>
            <a:r>
              <a:rPr b="0" i="1" lang="en-US" sz="16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00280" indent="-343080">
              <a:lnSpc>
                <a:spcPct val="100000"/>
              </a:lnSpc>
              <a:buClr>
                <a:srgbClr val="009999"/>
              </a:buClr>
              <a:buFont typeface="Times New Roman"/>
              <a:buChar char="•"/>
              <a:tabLst>
                <a:tab algn="l" pos="4176720"/>
                <a:tab algn="l" pos="8353440"/>
              </a:tabLst>
            </a:pPr>
            <a:r>
              <a:rPr b="1" i="1" lang="en-US" sz="1600" strike="noStrike" u="none">
                <a:solidFill>
                  <a:srgbClr val="009999"/>
                </a:solidFill>
                <a:effectLst/>
                <a:uFillTx/>
                <a:latin typeface="Times New Roman"/>
              </a:rPr>
              <a:t>ICM-4 in Japan, March 2012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7" name="Picture 5" descr=""/>
          <p:cNvPicPr/>
          <p:nvPr/>
        </p:nvPicPr>
        <p:blipFill>
          <a:blip r:embed="rId1"/>
          <a:stretch/>
        </p:blipFill>
        <p:spPr>
          <a:xfrm>
            <a:off x="228600" y="1676520"/>
            <a:ext cx="3886200" cy="2819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8" name="Picture 6" descr=""/>
          <p:cNvPicPr/>
          <p:nvPr/>
        </p:nvPicPr>
        <p:blipFill>
          <a:blip r:embed="rId2"/>
          <a:stretch/>
        </p:blipFill>
        <p:spPr>
          <a:xfrm>
            <a:off x="4572000" y="1371600"/>
            <a:ext cx="4343400" cy="3200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" name="Text Box 7"/>
          <p:cNvSpPr/>
          <p:nvPr/>
        </p:nvSpPr>
        <p:spPr>
          <a:xfrm>
            <a:off x="1244160" y="533520"/>
            <a:ext cx="6802920" cy="8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NPROVS Facilitates NPP Validation within 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GCOS Reference Upper Air Network (GRUAN)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Picture 4" descr=""/>
          <p:cNvPicPr/>
          <p:nvPr/>
        </p:nvPicPr>
        <p:blipFill>
          <a:blip r:embed="rId1"/>
          <a:stretch/>
        </p:blipFill>
        <p:spPr>
          <a:xfrm>
            <a:off x="609480" y="1295280"/>
            <a:ext cx="7696440" cy="5241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" name="Text Box 5"/>
          <p:cNvSpPr/>
          <p:nvPr/>
        </p:nvSpPr>
        <p:spPr>
          <a:xfrm>
            <a:off x="5427000" y="6537240"/>
            <a:ext cx="310500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(courtesy Dian Seidel, NOAA Air Resources Lab)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Box 6"/>
          <p:cNvSpPr/>
          <p:nvPr/>
        </p:nvSpPr>
        <p:spPr>
          <a:xfrm>
            <a:off x="3962160" y="1839960"/>
            <a:ext cx="8643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dry bias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Rectangle 8"/>
          <p:cNvSpPr/>
          <p:nvPr/>
        </p:nvSpPr>
        <p:spPr>
          <a:xfrm>
            <a:off x="2586600" y="563400"/>
            <a:ext cx="4612680" cy="58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Reference for Moisture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Picture 2" descr=""/>
          <p:cNvPicPr/>
          <p:nvPr/>
        </p:nvPicPr>
        <p:blipFill>
          <a:blip r:embed="rId1"/>
          <a:stretch/>
        </p:blipFill>
        <p:spPr>
          <a:xfrm>
            <a:off x="871560" y="685800"/>
            <a:ext cx="7480440" cy="5425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" name="TextBox 2"/>
          <p:cNvSpPr/>
          <p:nvPr/>
        </p:nvSpPr>
        <p:spPr>
          <a:xfrm>
            <a:off x="5877000" y="6324480"/>
            <a:ext cx="250128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Courtesy Thierry LeBlanc  (NASA)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Box 1"/>
          <p:cNvSpPr/>
          <p:nvPr/>
        </p:nvSpPr>
        <p:spPr>
          <a:xfrm>
            <a:off x="2905920" y="1295280"/>
            <a:ext cx="2774520" cy="70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SUMMARY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Box 2"/>
          <p:cNvSpPr/>
          <p:nvPr/>
        </p:nvSpPr>
        <p:spPr>
          <a:xfrm>
            <a:off x="1828800" y="2209680"/>
            <a:ext cx="6553080" cy="37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NPROVS will provide routine and specialized CrIMMS sounding product validation versus legacy satellite product systems and forecasts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Terrain and Clouds have &gt;1.0 increased RMS impact on perceived impacts using “qc’d” legacy IASI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Provide a gateway to routine validation at emerging GCOS Reference Upper Air Network Sites 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20525</TotalTime>
  <Application>LibreOffice/25.2.3.2$Windows_X86_64 LibreOffice_project/bbb074479178df812d175f709636b368952c2ce3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2011-11-03T14:35:49Z</dcterms:created>
  <dc:creator>tony.reale</dc:creator>
  <dc:description/>
  <dc:language>en-IN</dc:language>
  <cp:lastModifiedBy>Trish Beaudwin</cp:lastModifiedBy>
  <dcterms:modified xsi:type="dcterms:W3CDTF">2012-02-15T13:52:22Z</dcterms:modified>
  <cp:revision>31</cp:revision>
  <dc:subject/>
  <dc:title>Slide 1</dc:title>
</cp:coreProperties>
</file>