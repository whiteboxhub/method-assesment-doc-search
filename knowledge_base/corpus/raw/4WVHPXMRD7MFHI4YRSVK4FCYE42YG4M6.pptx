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3.xml" ContentType="application/vnd.openxmlformats-officedocument.theme+xml"/>
  <Override PartName="/ppt/notesSlides/notesSlide7.xml" ContentType="application/vnd.openxmlformats-officedocument.presentationml.notesSlide+xml"/>
  <Override PartName="/ppt/notesSlides/_rels/notesSlide7.xml.rels" ContentType="application/vnd.openxmlformats-package.relationships+xml"/>
  <Override PartName="/ppt/embeddings/oleObject1.xlsx" ContentType="application/vnd.openxmlformats-officedocument.spreadsheetml.sheet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media/image1.wmf" ContentType="image/x-wmf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294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>
            <a:off x="0" y="0"/>
            <a:ext cx="6858000" cy="9295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IN" sz="1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hdr"/>
          </p:nvPr>
        </p:nvSpPr>
        <p:spPr>
          <a:xfrm>
            <a:off x="-360" y="0"/>
            <a:ext cx="2971800" cy="46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13"/>
          </p:nvPr>
        </p:nvSpPr>
        <p:spPr>
          <a:xfrm>
            <a:off x="3884400" y="0"/>
            <a:ext cx="2971800" cy="46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sldImg"/>
          </p:nvPr>
        </p:nvSpPr>
        <p:spPr>
          <a:xfrm>
            <a:off x="1104840" y="696960"/>
            <a:ext cx="4648320" cy="348624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Click to move the slide</a:t>
            </a:r>
            <a:endParaRPr b="1" lang="en-IN" sz="36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14"/>
          </p:nvPr>
        </p:nvSpPr>
        <p:spPr>
          <a:xfrm>
            <a:off x="-360" y="8829720"/>
            <a:ext cx="2971800" cy="46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15"/>
          </p:nvPr>
        </p:nvSpPr>
        <p:spPr>
          <a:xfrm>
            <a:off x="3884400" y="8829720"/>
            <a:ext cx="2971800" cy="46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738169-8977-49C9-9696-E305CC72747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sldImg"/>
          </p:nvPr>
        </p:nvSpPr>
        <p:spPr>
          <a:xfrm>
            <a:off x="1104840" y="69696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85800" y="4416120"/>
            <a:ext cx="5486400" cy="418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0"/>
            <a:ext cx="7620120" cy="6858000"/>
            <a:chOff x="0" y="0"/>
            <a:chExt cx="7620120" cy="6858000"/>
          </a:xfrm>
        </p:grpSpPr>
        <p:grpSp>
          <p:nvGrpSpPr>
            <p:cNvPr id="1" name=""/>
            <p:cNvGrpSpPr/>
            <p:nvPr/>
          </p:nvGrpSpPr>
          <p:grpSpPr>
            <a:xfrm>
              <a:off x="0" y="0"/>
              <a:ext cx="3200400" cy="6858000"/>
              <a:chOff x="0" y="0"/>
              <a:chExt cx="3200400" cy="6858000"/>
            </a:xfrm>
          </p:grpSpPr>
          <p:sp>
            <p:nvSpPr>
              <p:cNvPr id="2" name=""/>
              <p:cNvSpPr/>
              <p:nvPr/>
            </p:nvSpPr>
            <p:spPr>
              <a:xfrm>
                <a:off x="0" y="0"/>
                <a:ext cx="762120" cy="6858000"/>
              </a:xfrm>
              <a:prstGeom prst="rect">
                <a:avLst/>
              </a:prstGeom>
              <a:solidFill>
                <a:srgbClr val="99cc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1800" strike="noStrike" u="non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" name=""/>
              <p:cNvSpPr/>
              <p:nvPr/>
            </p:nvSpPr>
            <p:spPr>
              <a:xfrm>
                <a:off x="457200" y="0"/>
                <a:ext cx="2743200" cy="1166760"/>
              </a:xfrm>
              <a:custGeom>
                <a:avLst/>
                <a:gdLst/>
                <a:ahLst/>
                <a:rect l="l" t="t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rgbClr val="99cc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anchor="t">
                <a:noAutofit/>
              </a:bodyPr>
              <a:p>
                <a:endParaRPr b="0" lang="en-IN" sz="1800" strike="noStrike" u="non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4" name=""/>
            <p:cNvGrpSpPr/>
            <p:nvPr/>
          </p:nvGrpSpPr>
          <p:grpSpPr>
            <a:xfrm>
              <a:off x="228600" y="1981080"/>
              <a:ext cx="7391520" cy="319320"/>
              <a:chOff x="228600" y="1981080"/>
              <a:chExt cx="7391520" cy="319320"/>
            </a:xfrm>
          </p:grpSpPr>
          <p:sp>
            <p:nvSpPr>
              <p:cNvPr id="5" name=""/>
              <p:cNvSpPr/>
              <p:nvPr/>
            </p:nvSpPr>
            <p:spPr>
              <a:xfrm>
                <a:off x="609480" y="1981080"/>
                <a:ext cx="7010640" cy="317520"/>
              </a:xfrm>
              <a:prstGeom prst="roundRect">
                <a:avLst>
                  <a:gd name="adj" fmla="val 0"/>
                </a:avLst>
              </a:prstGeom>
              <a:solidFill>
                <a:srgbClr val="00336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1800" strike="noStrike" u="non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 flipH="1">
                <a:off x="228600" y="1981080"/>
                <a:ext cx="393840" cy="319320"/>
              </a:xfrm>
              <a:prstGeom prst="flowChartDelay">
                <a:avLst/>
              </a:prstGeom>
              <a:solidFill>
                <a:srgbClr val="00336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1800" strike="noStrike" u="non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6666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36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003366"/>
              </a:buClr>
              <a:buSzPct val="75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00"/>
              </a:spcBef>
              <a:buClr>
                <a:srgbClr val="003366"/>
              </a:buClr>
              <a:buSzPct val="80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1"/>
          </p:nvPr>
        </p:nvSpPr>
        <p:spPr>
          <a:xfrm>
            <a:off x="2438280" y="6248520"/>
            <a:ext cx="21304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3366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66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2"/>
          </p:nvPr>
        </p:nvSpPr>
        <p:spPr>
          <a:xfrm>
            <a:off x="5790960" y="6248520"/>
            <a:ext cx="2896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3366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66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3"/>
          </p:nvPr>
        </p:nvSpPr>
        <p:spPr>
          <a:xfrm>
            <a:off x="8388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lang="en-US" sz="26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F801007-F806-4C49-B442-DECCB27FED54}" type="slidenum"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Obj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"/>
          <p:cNvGrpSpPr/>
          <p:nvPr/>
        </p:nvGrpSpPr>
        <p:grpSpPr>
          <a:xfrm>
            <a:off x="0" y="0"/>
            <a:ext cx="7620120" cy="6858000"/>
            <a:chOff x="0" y="0"/>
            <a:chExt cx="7620120" cy="6858000"/>
          </a:xfrm>
        </p:grpSpPr>
        <p:grpSp>
          <p:nvGrpSpPr>
            <p:cNvPr id="13" name=""/>
            <p:cNvGrpSpPr/>
            <p:nvPr/>
          </p:nvGrpSpPr>
          <p:grpSpPr>
            <a:xfrm>
              <a:off x="0" y="0"/>
              <a:ext cx="3200400" cy="6858000"/>
              <a:chOff x="0" y="0"/>
              <a:chExt cx="3200400" cy="6858000"/>
            </a:xfrm>
          </p:grpSpPr>
          <p:sp>
            <p:nvSpPr>
              <p:cNvPr id="2" name=""/>
              <p:cNvSpPr/>
              <p:nvPr/>
            </p:nvSpPr>
            <p:spPr>
              <a:xfrm>
                <a:off x="0" y="0"/>
                <a:ext cx="762120" cy="6858000"/>
              </a:xfrm>
              <a:prstGeom prst="rect">
                <a:avLst/>
              </a:prstGeom>
              <a:solidFill>
                <a:srgbClr val="99cc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1800" strike="noStrike" u="non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" name=""/>
              <p:cNvSpPr/>
              <p:nvPr/>
            </p:nvSpPr>
            <p:spPr>
              <a:xfrm>
                <a:off x="457200" y="0"/>
                <a:ext cx="2743200" cy="1166760"/>
              </a:xfrm>
              <a:custGeom>
                <a:avLst/>
                <a:gdLst/>
                <a:ahLst/>
                <a:rect l="l" t="t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rgbClr val="99cc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anchor="t">
                <a:noAutofit/>
              </a:bodyPr>
              <a:p>
                <a:endParaRPr b="0" lang="en-IN" sz="1800" strike="noStrike" u="non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4" name=""/>
            <p:cNvGrpSpPr/>
            <p:nvPr/>
          </p:nvGrpSpPr>
          <p:grpSpPr>
            <a:xfrm>
              <a:off x="228600" y="1981080"/>
              <a:ext cx="7391520" cy="319320"/>
              <a:chOff x="228600" y="1981080"/>
              <a:chExt cx="7391520" cy="319320"/>
            </a:xfrm>
          </p:grpSpPr>
          <p:sp>
            <p:nvSpPr>
              <p:cNvPr id="5" name=""/>
              <p:cNvSpPr/>
              <p:nvPr/>
            </p:nvSpPr>
            <p:spPr>
              <a:xfrm>
                <a:off x="609480" y="1981080"/>
                <a:ext cx="7010640" cy="317520"/>
              </a:xfrm>
              <a:prstGeom prst="roundRect">
                <a:avLst>
                  <a:gd name="adj" fmla="val 0"/>
                </a:avLst>
              </a:prstGeom>
              <a:solidFill>
                <a:srgbClr val="00336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1800" strike="noStrike" u="non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 flipH="1">
                <a:off x="228600" y="1981080"/>
                <a:ext cx="393840" cy="319320"/>
              </a:xfrm>
              <a:prstGeom prst="flowChartDelay">
                <a:avLst/>
              </a:prstGeom>
              <a:solidFill>
                <a:srgbClr val="00336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1800" strike="noStrike" u="non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6666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36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003366"/>
              </a:buClr>
              <a:buSzPct val="75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00"/>
              </a:spcBef>
              <a:buClr>
                <a:srgbClr val="003366"/>
              </a:buClr>
              <a:buSzPct val="80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4"/>
          </p:nvPr>
        </p:nvSpPr>
        <p:spPr>
          <a:xfrm>
            <a:off x="2438280" y="6248520"/>
            <a:ext cx="21304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3366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66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5"/>
          </p:nvPr>
        </p:nvSpPr>
        <p:spPr>
          <a:xfrm>
            <a:off x="5790960" y="6248520"/>
            <a:ext cx="2896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3366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66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6"/>
          </p:nvPr>
        </p:nvSpPr>
        <p:spPr>
          <a:xfrm>
            <a:off x="8388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lang="en-US" sz="26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01BF52-96A1-4EA4-9C2C-31698C48B1B2}" type="slidenum"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"/>
          <p:cNvGrpSpPr/>
          <p:nvPr/>
        </p:nvGrpSpPr>
        <p:grpSpPr>
          <a:xfrm>
            <a:off x="0" y="0"/>
            <a:ext cx="7620120" cy="6858000"/>
            <a:chOff x="0" y="0"/>
            <a:chExt cx="7620120" cy="6858000"/>
          </a:xfrm>
        </p:grpSpPr>
        <p:grpSp>
          <p:nvGrpSpPr>
            <p:cNvPr id="21" name=""/>
            <p:cNvGrpSpPr/>
            <p:nvPr/>
          </p:nvGrpSpPr>
          <p:grpSpPr>
            <a:xfrm>
              <a:off x="0" y="0"/>
              <a:ext cx="3200400" cy="6858000"/>
              <a:chOff x="0" y="0"/>
              <a:chExt cx="3200400" cy="6858000"/>
            </a:xfrm>
          </p:grpSpPr>
          <p:sp>
            <p:nvSpPr>
              <p:cNvPr id="2" name=""/>
              <p:cNvSpPr/>
              <p:nvPr/>
            </p:nvSpPr>
            <p:spPr>
              <a:xfrm>
                <a:off x="0" y="0"/>
                <a:ext cx="762120" cy="6858000"/>
              </a:xfrm>
              <a:prstGeom prst="rect">
                <a:avLst/>
              </a:prstGeom>
              <a:solidFill>
                <a:srgbClr val="99cc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1800" strike="noStrike" u="non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" name=""/>
              <p:cNvSpPr/>
              <p:nvPr/>
            </p:nvSpPr>
            <p:spPr>
              <a:xfrm>
                <a:off x="457200" y="0"/>
                <a:ext cx="2743200" cy="1166760"/>
              </a:xfrm>
              <a:custGeom>
                <a:avLst/>
                <a:gdLst/>
                <a:ahLst/>
                <a:rect l="l" t="t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rgbClr val="99cc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anchor="t">
                <a:noAutofit/>
              </a:bodyPr>
              <a:p>
                <a:endParaRPr b="0" lang="en-IN" sz="1800" strike="noStrike" u="non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22" name=""/>
            <p:cNvGrpSpPr/>
            <p:nvPr/>
          </p:nvGrpSpPr>
          <p:grpSpPr>
            <a:xfrm>
              <a:off x="228600" y="1981080"/>
              <a:ext cx="7391520" cy="319320"/>
              <a:chOff x="228600" y="1981080"/>
              <a:chExt cx="7391520" cy="319320"/>
            </a:xfrm>
          </p:grpSpPr>
          <p:sp>
            <p:nvSpPr>
              <p:cNvPr id="5" name=""/>
              <p:cNvSpPr/>
              <p:nvPr/>
            </p:nvSpPr>
            <p:spPr>
              <a:xfrm>
                <a:off x="609480" y="1981080"/>
                <a:ext cx="7010640" cy="317520"/>
              </a:xfrm>
              <a:prstGeom prst="roundRect">
                <a:avLst>
                  <a:gd name="adj" fmla="val 0"/>
                </a:avLst>
              </a:prstGeom>
              <a:solidFill>
                <a:srgbClr val="00336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1800" strike="noStrike" u="non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 flipH="1">
                <a:off x="228600" y="1981080"/>
                <a:ext cx="393840" cy="319320"/>
              </a:xfrm>
              <a:prstGeom prst="flowChartDelay">
                <a:avLst/>
              </a:prstGeom>
              <a:solidFill>
                <a:srgbClr val="00336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46800" bIns="46800" anchor="ctr">
                <a:noAutofit/>
              </a:bodyPr>
              <a:p>
                <a:endParaRPr b="0" lang="en-IN" sz="1800" strike="noStrike" u="none">
                  <a:solidFill>
                    <a:srgbClr val="003366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4120" y="834120"/>
            <a:ext cx="7779960" cy="998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6666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36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8080" y="23619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00"/>
              </a:spcBef>
              <a:buClr>
                <a:srgbClr val="003366"/>
              </a:buClr>
              <a:buSzPct val="75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Third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00"/>
              </a:spcBef>
              <a:buClr>
                <a:srgbClr val="003366"/>
              </a:buClr>
              <a:buSzPct val="80000"/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Fourth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Fifth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Sixth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00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Seventh Outline Level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7"/>
          </p:nvPr>
        </p:nvSpPr>
        <p:spPr>
          <a:xfrm>
            <a:off x="2438280" y="6248520"/>
            <a:ext cx="21304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3366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66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8"/>
          </p:nvPr>
        </p:nvSpPr>
        <p:spPr>
          <a:xfrm>
            <a:off x="5790960" y="6248520"/>
            <a:ext cx="2896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3366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66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9"/>
          </p:nvPr>
        </p:nvSpPr>
        <p:spPr>
          <a:xfrm>
            <a:off x="83880" y="6242040"/>
            <a:ext cx="587160" cy="48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lang="en-US" sz="26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4BCA753-8461-4A99-A163-260C6B20D738}" type="slidenum"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"/>
          <p:cNvGrpSpPr/>
          <p:nvPr/>
        </p:nvGrpSpPr>
        <p:grpSpPr>
          <a:xfrm>
            <a:off x="0" y="0"/>
            <a:ext cx="5867280" cy="6858000"/>
            <a:chOff x="0" y="0"/>
            <a:chExt cx="5867280" cy="6858000"/>
          </a:xfrm>
        </p:grpSpPr>
        <p:sp>
          <p:nvSpPr>
            <p:cNvPr id="29" name=""/>
            <p:cNvSpPr/>
            <p:nvPr/>
          </p:nvSpPr>
          <p:spPr>
            <a:xfrm>
              <a:off x="0" y="0"/>
              <a:ext cx="4572000" cy="6858000"/>
            </a:xfrm>
            <a:prstGeom prst="rect">
              <a:avLst/>
            </a:prstGeom>
            <a:solidFill>
              <a:srgbClr val="99cc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685800" y="990720"/>
              <a:ext cx="5181480" cy="190476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1800" strike="noStrike" u="non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" name=""/>
          <p:cNvGrpSpPr/>
          <p:nvPr/>
        </p:nvGrpSpPr>
        <p:grpSpPr>
          <a:xfrm>
            <a:off x="3632040" y="4889520"/>
            <a:ext cx="4876920" cy="318960"/>
            <a:chOff x="3632040" y="4889520"/>
            <a:chExt cx="4876920" cy="318960"/>
          </a:xfrm>
        </p:grpSpPr>
        <p:sp>
          <p:nvSpPr>
            <p:cNvPr id="32" name=""/>
            <p:cNvSpPr/>
            <p:nvPr/>
          </p:nvSpPr>
          <p:spPr>
            <a:xfrm flipH="1">
              <a:off x="3632040" y="4889520"/>
              <a:ext cx="4626000" cy="317520"/>
            </a:xfrm>
            <a:prstGeom prst="roundRect">
              <a:avLst>
                <a:gd name="adj" fmla="val 0"/>
              </a:avLst>
            </a:prstGeom>
            <a:solidFill>
              <a:srgbClr val="0033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8248680" y="4889520"/>
              <a:ext cx="260280" cy="318960"/>
            </a:xfrm>
            <a:prstGeom prst="flowChartDelay">
              <a:avLst/>
            </a:prstGeom>
            <a:solidFill>
              <a:srgbClr val="0033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endParaRPr b="0" lang="en-IN" sz="1800" strike="noStrike" u="none">
                <a:solidFill>
                  <a:srgbClr val="003366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4" name="PlaceHolder 1"/>
          <p:cNvSpPr>
            <a:spLocks noGrp="1"/>
          </p:cNvSpPr>
          <p:nvPr>
            <p:ph type="dt" idx="10"/>
          </p:nvPr>
        </p:nvSpPr>
        <p:spPr>
          <a:xfrm>
            <a:off x="2438280" y="6248520"/>
            <a:ext cx="213048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11"/>
          </p:nvPr>
        </p:nvSpPr>
        <p:spPr>
          <a:xfrm>
            <a:off x="5790960" y="6248520"/>
            <a:ext cx="2896920" cy="47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3366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3366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2"/>
          </p:nvPr>
        </p:nvSpPr>
        <p:spPr>
          <a:xfrm>
            <a:off x="75960" y="6248520"/>
            <a:ext cx="587160" cy="488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lang="en-US" sz="26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BAAC4B6-B503-4288-8247-397277BDB7F1}" type="slidenum">
              <a:rPr b="1" lang="en-US" sz="2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2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title"/>
          </p:nvPr>
        </p:nvSpPr>
        <p:spPr>
          <a:xfrm>
            <a:off x="964800" y="1269360"/>
            <a:ext cx="7671600" cy="134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36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6666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28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Second Outline Level</a:t>
            </a:r>
            <a:endParaRPr b="0" lang="en-IN" sz="24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499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Third Outline Level</a:t>
            </a:r>
            <a:endParaRPr b="0" lang="en-IN" sz="20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51"/>
              </a:spcBef>
              <a:buClr>
                <a:srgbClr val="003366"/>
              </a:buClr>
              <a:buSzPct val="80000"/>
              <a:buFont typeface="Arial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51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51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51"/>
              </a:spcBef>
              <a:buClr>
                <a:srgbClr val="003366"/>
              </a:buClr>
              <a:buSzPct val="6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ubTitle"/>
          </p:nvPr>
        </p:nvSpPr>
        <p:spPr>
          <a:xfrm>
            <a:off x="4673520" y="3323880"/>
            <a:ext cx="4013280" cy="1423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3366cc"/>
                </a:solidFill>
                <a:effectLst/>
                <a:uFillTx/>
                <a:latin typeface="Arial"/>
              </a:rPr>
              <a:t>Office of Audit Services</a:t>
            </a:r>
            <a:endParaRPr b="0" lang="en-IN" sz="28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3366cc"/>
                </a:solidFill>
                <a:effectLst/>
                <a:uFillTx/>
                <a:latin typeface="Arial"/>
              </a:rPr>
              <a:t>Risk Assessment</a:t>
            </a:r>
            <a:endParaRPr b="0" lang="en-IN" sz="28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4495680" y="838080"/>
            <a:ext cx="320040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3886200" y="1066680"/>
            <a:ext cx="4552920" cy="192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trike="noStrike" u="none">
                <a:solidFill>
                  <a:srgbClr val="006666"/>
                </a:solidFill>
                <a:effectLst/>
                <a:uFillTx/>
                <a:latin typeface="Arial"/>
              </a:rPr>
              <a:t>California Public Employees’ Retirement System</a:t>
            </a:r>
            <a:endParaRPr b="0" lang="en-IN" sz="40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685800" y="990360"/>
            <a:ext cx="8229600" cy="190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600"/>
            </a:br>
            <a:endParaRPr b="1" lang="en-IN" sz="36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523880" y="1295280"/>
            <a:ext cx="1676520" cy="143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5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8800" strike="noStrike" u="none">
                <a:solidFill>
                  <a:srgbClr val="003366"/>
                </a:solidFill>
                <a:effectLst/>
                <a:uFillTx/>
                <a:latin typeface="CalPERSLogo"/>
              </a:rPr>
              <a:t>A</a:t>
            </a:r>
            <a:endParaRPr b="0" lang="en-IN" sz="8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600200" y="1523880"/>
            <a:ext cx="17524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61760" y="761760"/>
            <a:ext cx="79246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3366cc"/>
                </a:solidFill>
                <a:effectLst/>
                <a:uFillTx/>
                <a:latin typeface="Arial"/>
              </a:rPr>
              <a:t>Risk Assessment</a:t>
            </a:r>
            <a:r>
              <a:rPr b="1" lang="en-IN" sz="3600" strike="noStrike" u="none">
                <a:solidFill>
                  <a:srgbClr val="006666"/>
                </a:solidFill>
                <a:effectLst/>
                <a:uFillTx/>
                <a:latin typeface="Arial"/>
              </a:rPr>
              <a:t> </a:t>
            </a:r>
            <a:endParaRPr b="1" lang="en-IN" sz="36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838080" y="2590920"/>
            <a:ext cx="7693200" cy="3495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	</a:t>
            </a: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Quantitative and qualitative methods to assess the likelihood and potential impact of risk events and the current responses in place to address those risks.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61760" y="761760"/>
            <a:ext cx="79246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3366cc"/>
                </a:solidFill>
                <a:effectLst/>
                <a:uFillTx/>
                <a:latin typeface="Arial"/>
              </a:rPr>
              <a:t>Risk Assessment</a:t>
            </a:r>
            <a:r>
              <a:rPr b="1" lang="en-IN" sz="3600" strike="noStrike" u="none">
                <a:solidFill>
                  <a:srgbClr val="006666"/>
                </a:solidFill>
                <a:effectLst/>
                <a:uFillTx/>
                <a:latin typeface="Arial"/>
              </a:rPr>
              <a:t> </a:t>
            </a:r>
            <a:endParaRPr b="1" lang="en-IN" sz="36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838080" y="2514600"/>
            <a:ext cx="7693200" cy="357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Build on Prior Year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Prepare by reviewing Strategic Plan, Division Mission, upcoming changes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Conduct interviews with Management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Risk Score and Ranking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Internal Audit Discussion/Other Factors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Apply Internal Audit Resources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761760" y="761760"/>
            <a:ext cx="79246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3366cc"/>
                </a:solidFill>
                <a:effectLst/>
                <a:uFillTx/>
                <a:latin typeface="Arial"/>
              </a:rPr>
              <a:t>Resources for Risk Assessment</a:t>
            </a:r>
            <a:endParaRPr b="1" lang="en-IN" sz="36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2590560"/>
            <a:ext cx="7693200" cy="372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Board of Administration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Finance Committee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Executive Management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Senior Management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External Auditors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Internal Auditors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007720" y="772920"/>
            <a:ext cx="6459480" cy="94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3366cc"/>
                </a:solidFill>
                <a:effectLst/>
                <a:uFillTx/>
                <a:latin typeface="Arial"/>
              </a:rPr>
              <a:t>Internal Audit Programs</a:t>
            </a:r>
            <a:endParaRPr b="1" lang="en-IN" sz="40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990720" y="2514600"/>
            <a:ext cx="7162560" cy="3687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Assurance and Consulting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CalPERS’ Core Business Areas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003366"/>
              </a:buClr>
              <a:buSzPct val="75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Retirement</a:t>
            </a:r>
            <a:endParaRPr b="0" lang="en-IN" sz="24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01"/>
              </a:spcBef>
              <a:buClr>
                <a:srgbClr val="003366"/>
              </a:buClr>
              <a:buSzPct val="75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Health</a:t>
            </a:r>
            <a:endParaRPr b="0" lang="en-IN" sz="24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499"/>
              </a:spcBef>
              <a:buClr>
                <a:srgbClr val="003366"/>
              </a:buClr>
              <a:buSzPct val="75000"/>
              <a:buFont typeface="Wingdings" charset="2"/>
              <a:buChar char="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Investments</a:t>
            </a:r>
            <a:r>
              <a:rPr b="0" lang="en-IN" sz="24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	</a:t>
            </a:r>
            <a:r>
              <a:rPr b="0" lang="en-IN" sz="20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	</a:t>
            </a:r>
            <a:r>
              <a:rPr b="0" lang="en-IN" sz="20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	</a:t>
            </a:r>
            <a:endParaRPr b="0" lang="en-IN" sz="20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CalPERS Support Divisions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700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Third Party Administrators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0">
              <a:spcBef>
                <a:spcPts val="601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61760" y="761760"/>
            <a:ext cx="79246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3366cc"/>
                </a:solidFill>
                <a:effectLst/>
                <a:uFillTx/>
                <a:latin typeface="Arial"/>
              </a:rPr>
              <a:t>Internal Risk Factors</a:t>
            </a:r>
            <a:endParaRPr b="1" lang="en-IN" sz="40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990720" y="2590920"/>
            <a:ext cx="76197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01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Adequacy and Effectiveness of Controls</a:t>
            </a:r>
            <a:endParaRPr b="0" lang="en-IN" sz="24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Character and Complexity of Business Activity</a:t>
            </a:r>
            <a:endParaRPr b="0" lang="en-IN" sz="24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Dollar Size or Transaction Volume</a:t>
            </a:r>
            <a:endParaRPr b="0" lang="en-IN" sz="24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Board or Management Interest</a:t>
            </a:r>
            <a:endParaRPr b="0" lang="en-IN" sz="24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Results and Time of Previous Audits</a:t>
            </a:r>
            <a:endParaRPr b="0" lang="en-IN" sz="24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Degree of Changes in Operations</a:t>
            </a:r>
            <a:endParaRPr b="0" lang="en-IN" sz="24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01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Sensitivity of Application Information</a:t>
            </a:r>
            <a:endParaRPr b="0" lang="en-IN" sz="24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61760" y="761760"/>
            <a:ext cx="79246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006666"/>
                </a:solidFill>
                <a:effectLst/>
                <a:uFillTx/>
                <a:latin typeface="Arial"/>
              </a:rPr>
              <a:t>Develop Audit Plan</a:t>
            </a:r>
            <a:endParaRPr b="1" lang="en-IN" sz="40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975960" y="2487600"/>
            <a:ext cx="7483320" cy="3595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649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Rank High to Low</a:t>
            </a:r>
            <a:endParaRPr b="0" lang="en-IN" sz="26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49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Apply Judgment</a:t>
            </a:r>
            <a:endParaRPr b="0" lang="en-IN" sz="26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49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Some “Soft” factors </a:t>
            </a:r>
            <a:endParaRPr b="0" lang="en-IN" sz="26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49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Incorporate FISMA and other Mandatory</a:t>
            </a:r>
            <a:endParaRPr b="0" lang="en-IN" sz="26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649"/>
              </a:spcBef>
              <a:buClr>
                <a:srgbClr val="0033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6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Apply resources</a:t>
            </a:r>
            <a:endParaRPr b="0" lang="en-IN" sz="26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61760" y="761760"/>
            <a:ext cx="792468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trike="noStrike" u="none">
                <a:solidFill>
                  <a:srgbClr val="3366cc"/>
                </a:solidFill>
                <a:effectLst/>
                <a:uFillTx/>
                <a:latin typeface="Arial"/>
              </a:rPr>
              <a:t>Internal Audit Program</a:t>
            </a:r>
            <a:endParaRPr b="1" lang="en-IN" sz="4000" strike="noStrike" u="none">
              <a:solidFill>
                <a:srgbClr val="006666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5" name=""/>
          <p:cNvGraphicFramePr/>
          <p:nvPr/>
        </p:nvGraphicFramePr>
        <p:xfrm>
          <a:off x="2438280" y="3048120"/>
          <a:ext cx="4872240" cy="3589200"/>
        </p:xfrm>
        <a:graphic>
          <a:graphicData uri="http://schemas.openxmlformats.org/presentationml/2006/ole">
            <p:oleObj progId="Excel.Sheet.12" r:id="rId1" spid="">
              <p:embed/>
              <p:pic>
                <p:nvPicPr>
                  <p:cNvPr id="66" name="" descr=""/>
                  <p:cNvPicPr/>
                  <p:nvPr/>
                </p:nvPicPr>
                <p:blipFill>
                  <a:blip r:embed="rId2">
                    <a:alphaModFix amt="0"/>
                  </a:blip>
                  <a:stretch/>
                </p:blipFill>
                <p:spPr>
                  <a:xfrm>
                    <a:off x="2438280" y="3048120"/>
                    <a:ext cx="4872240" cy="35892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7" name=""/>
          <p:cNvSpPr/>
          <p:nvPr/>
        </p:nvSpPr>
        <p:spPr>
          <a:xfrm>
            <a:off x="1066680" y="1447920"/>
            <a:ext cx="26672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762120" y="2362320"/>
            <a:ext cx="5333760" cy="11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Auditable Activities/Entities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  <a:p>
            <a:pPr>
              <a:spcBef>
                <a:spcPts val="17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3366"/>
                </a:solidFill>
                <a:effectLst/>
                <a:uFillTx/>
                <a:latin typeface="Arial"/>
              </a:rPr>
              <a:t>Total = 169</a:t>
            </a:r>
            <a:endParaRPr b="0" lang="en-IN" sz="2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4800600" y="1981080"/>
            <a:ext cx="14479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3366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928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2007-06-14T08:45:18Z</dcterms:created>
  <dc:creator>Huyen Le</dc:creator>
  <dc:description/>
  <dc:language>en-IN</dc:language>
  <cp:lastModifiedBy>Sophia Santiago</cp:lastModifiedBy>
  <dcterms:modified xsi:type="dcterms:W3CDTF">2008-08-22T13:31:26Z</dcterms:modified>
  <cp:revision>53</cp:revision>
  <dc:subject/>
  <dc:title>Slide 1</dc:title>
</cp:coreProperties>
</file>