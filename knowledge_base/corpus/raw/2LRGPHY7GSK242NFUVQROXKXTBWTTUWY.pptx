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_rels/slideMaster1.xml.rels" ContentType="application/vnd.openxmlformats-package.relationships+xml"/>
  <Override PartName="/ppt/theme/theme1.xml" ContentType="application/vnd.openxmlformats-officedocument.theme+xml"/>
  <Override PartName="/ppt/media/image1.jpeg" ContentType="image/jpeg"/>
  <Override PartName="/ppt/media/image2.png" ContentType="image/png"/>
  <Override PartName="/ppt/media/image3.jpeg" ContentType="image/jpeg"/>
  <Override PartName="/ppt/media/image5.png" ContentType="image/png"/>
  <Override PartName="/ppt/media/image4.png" ContentType="image/png"/>
  <Override PartName="/ppt/media/image6.png" ContentType="image/png"/>
  <Override PartName="/ppt/media/image7.jpeg" ContentType="image/jpeg"/>
  <Override PartName="/ppt/media/image8.png" ContentType="image/png"/>
  <Override PartName="/ppt/media/image9.jpeg" ContentType="image/jpeg"/>
  <Override PartName="/ppt/media/image10.jpeg" ContentType="image/jpeg"/>
  <Override PartName="/ppt/media/image11.jpeg" ContentType="image/jpeg"/>
  <Override PartName="/ppt/media/image12.jpeg" ContentType="image/jpeg"/>
  <Override PartName="/ppt/media/image13.jpeg" ContentType="image/jpeg"/>
  <Override PartName="/ppt/media/image19.png" ContentType="image/png"/>
  <Override PartName="/ppt/media/image14.png" ContentType="image/png"/>
  <Override PartName="/ppt/media/image15.png" ContentType="image/png"/>
  <Override PartName="/ppt/media/image16.png" ContentType="image/png"/>
  <Override PartName="/ppt/media/image17.png" ContentType="image/png"/>
  <Override PartName="/ppt/media/image18.png" ContentType="image/png"/>
  <Override PartName="/ppt/media/image20.png" ContentType="image/png"/>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_rels/presentation.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Lst>
  <p:sldSz cx="9144000" cy="6858000"/>
  <p:notesSz cx="6997700" cy="9269413"/>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p:spTree>
      <p:nvGrpSpPr>
        <p:cNvPr id="1" name=""/>
        <p:cNvGrpSpPr/>
        <p:nvPr/>
      </p:nvGrpSpPr>
      <p:grpSpPr>
        <a:xfrm>
          <a:off x="0" y="0"/>
          <a:ext cx="0" cy="0"/>
          <a:chOff x="0" y="0"/>
          <a:chExt cx="0" cy="0"/>
        </a:xfrm>
      </p:grpSpPr>
      <p:sp>
        <p:nvSpPr>
          <p:cNvPr id="5" name="PlaceHolder 1"/>
          <p:cNvSpPr>
            <a:spLocks noGrp="1"/>
          </p:cNvSpPr>
          <p:nvPr>
            <p:ph type="title"/>
          </p:nvPr>
        </p:nvSpPr>
        <p:spPr>
          <a:xfrm>
            <a:off x="837720" y="151920"/>
            <a:ext cx="7162920" cy="838440"/>
          </a:xfrm>
          <a:prstGeom prst="rect">
            <a:avLst/>
          </a:prstGeom>
          <a:noFill/>
          <a:ln w="0">
            <a:noFill/>
          </a:ln>
        </p:spPr>
        <p:txBody>
          <a:bodyPr lIns="90000" rIns="90000" tIns="46800" bIns="46800" anchor="ctr">
            <a:sp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IN" sz="3000" strike="noStrike" u="none">
              <a:solidFill>
                <a:srgbClr val="660033"/>
              </a:solidFill>
              <a:effectLst/>
              <a:uFillTx/>
              <a:latin typeface="Tahoma"/>
            </a:endParaRPr>
          </a:p>
        </p:txBody>
      </p:sp>
      <p:sp>
        <p:nvSpPr>
          <p:cNvPr id="6" name="PlaceHolder 2"/>
          <p:cNvSpPr>
            <a:spLocks noGrp="1"/>
          </p:cNvSpPr>
          <p:nvPr>
            <p:ph/>
          </p:nvPr>
        </p:nvSpPr>
        <p:spPr>
          <a:xfrm>
            <a:off x="685800" y="1295280"/>
            <a:ext cx="7772400" cy="4572000"/>
          </a:xfrm>
          <a:prstGeom prst="rect">
            <a:avLst/>
          </a:prstGeom>
          <a:noFill/>
          <a:ln w="0">
            <a:noFill/>
          </a:ln>
        </p:spPr>
        <p:txBody>
          <a:bodyPr lIns="90000" rIns="90000" tIns="46800" bIns="46800" anchor="t">
            <a:normAutofit/>
          </a:bodyPr>
          <a:p>
            <a:pPr indent="0">
              <a:spcBef>
                <a:spcPts val="7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Media" preserve="1">
  <p:cSld name="Default">
    <p:spTree>
      <p:nvGrpSpPr>
        <p:cNvPr id="1" name=""/>
        <p:cNvGrpSpPr/>
        <p:nvPr/>
      </p:nvGrpSpPr>
      <p:grpSpPr>
        <a:xfrm>
          <a:off x="0" y="0"/>
          <a:ext cx="0" cy="0"/>
          <a:chOff x="0" y="0"/>
          <a:chExt cx="0" cy="0"/>
        </a:xfrm>
      </p:grpSpPr>
      <p:sp>
        <p:nvSpPr>
          <p:cNvPr id="7" name="PlaceHolder 1"/>
          <p:cNvSpPr>
            <a:spLocks noGrp="1"/>
          </p:cNvSpPr>
          <p:nvPr>
            <p:ph type="title"/>
          </p:nvPr>
        </p:nvSpPr>
        <p:spPr>
          <a:xfrm>
            <a:off x="837720" y="151920"/>
            <a:ext cx="7162920" cy="838440"/>
          </a:xfrm>
          <a:prstGeom prst="rect">
            <a:avLst/>
          </a:prstGeom>
          <a:noFill/>
          <a:ln w="0">
            <a:noFill/>
          </a:ln>
        </p:spPr>
        <p:txBody>
          <a:bodyPr lIns="90000" rIns="90000" tIns="46800" bIns="46800" anchor="ctr">
            <a:sp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IN" sz="3000" strike="noStrike" u="none">
              <a:solidFill>
                <a:srgbClr val="660033"/>
              </a:solidFill>
              <a:effectLst/>
              <a:uFillTx/>
              <a:latin typeface="Tahoma"/>
            </a:endParaRPr>
          </a:p>
        </p:txBody>
      </p:sp>
      <p:sp>
        <p:nvSpPr>
          <p:cNvPr id="8" name="PlaceHolder 2"/>
          <p:cNvSpPr>
            <a:spLocks noGrp="1"/>
          </p:cNvSpPr>
          <p:nvPr>
            <p:ph/>
          </p:nvPr>
        </p:nvSpPr>
        <p:spPr>
          <a:xfrm>
            <a:off x="685800" y="1295280"/>
            <a:ext cx="7772400" cy="4572000"/>
          </a:xfrm>
          <a:prstGeom prst="rect">
            <a:avLst/>
          </a:prstGeom>
          <a:noFill/>
          <a:ln w="0">
            <a:noFill/>
          </a:ln>
        </p:spPr>
        <p:txBody>
          <a:bodyPr lIns="90000" rIns="90000" tIns="46800" bIns="46800" anchor="t">
            <a:normAutofit/>
          </a:bodyPr>
          <a:p>
            <a:pPr indent="0">
              <a:spcBef>
                <a:spcPts val="7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000000"/>
              </a:solidFill>
              <a:effectLst/>
              <a:uFillTx/>
              <a:latin typeface="Times New Roman"/>
            </a:endParaRPr>
          </a:p>
        </p:txBody>
      </p:sp>
      <p:sp>
        <p:nvSpPr>
          <p:cNvPr id="9" name="PlaceHolder 3"/>
          <p:cNvSpPr>
            <a:spLocks noGrp="1"/>
          </p:cNvSpPr>
          <p:nvPr>
            <p:ph/>
          </p:nvPr>
        </p:nvSpPr>
        <p:spPr>
          <a:xfrm>
            <a:off x="685800" y="1295280"/>
            <a:ext cx="7772400" cy="4572000"/>
          </a:xfrm>
          <a:prstGeom prst="rect">
            <a:avLst/>
          </a:prstGeom>
          <a:noFill/>
          <a:ln w="0">
            <a:noFill/>
          </a:ln>
        </p:spPr>
        <p:txBody>
          <a:bodyPr lIns="90000" rIns="90000" tIns="46800" bIns="46800" anchor="t">
            <a:normAutofit/>
          </a:bodyPr>
          <a:p>
            <a:pPr indent="0">
              <a:spcBef>
                <a:spcPts val="7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slideLayout" Target="../slideLayouts/slideLayout1.xml"/><Relationship Id="rId4"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0" name="CCP%20ppt%20template_inside_en" descr=""/>
          <p:cNvPicPr/>
          <p:nvPr/>
        </p:nvPicPr>
        <p:blipFill>
          <a:blip r:embed="rId2"/>
          <a:stretch/>
        </p:blipFill>
        <p:spPr>
          <a:xfrm>
            <a:off x="0" y="0"/>
            <a:ext cx="9144000" cy="6865920"/>
          </a:xfrm>
          <a:prstGeom prst="rect">
            <a:avLst/>
          </a:prstGeom>
          <a:noFill/>
          <a:ln w="0">
            <a:noFill/>
          </a:ln>
        </p:spPr>
      </p:pic>
      <p:sp>
        <p:nvSpPr>
          <p:cNvPr id="1" name="PlaceHolder 1"/>
          <p:cNvSpPr>
            <a:spLocks noGrp="1"/>
          </p:cNvSpPr>
          <p:nvPr>
            <p:ph type="title"/>
          </p:nvPr>
        </p:nvSpPr>
        <p:spPr>
          <a:xfrm>
            <a:off x="837720" y="151920"/>
            <a:ext cx="7162920" cy="83844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000" strike="noStrike" u="none">
                <a:solidFill>
                  <a:srgbClr val="660033"/>
                </a:solidFill>
                <a:effectLst/>
                <a:uFillTx/>
                <a:latin typeface="Tahoma"/>
              </a:rPr>
              <a:t>Click to edit the title text format</a:t>
            </a:r>
            <a:endParaRPr b="1" lang="en-IN" sz="3000" strike="noStrike" u="none">
              <a:solidFill>
                <a:srgbClr val="660033"/>
              </a:solidFill>
              <a:effectLst/>
              <a:uFillTx/>
              <a:latin typeface="Tahoma"/>
            </a:endParaRPr>
          </a:p>
        </p:txBody>
      </p:sp>
      <p:sp>
        <p:nvSpPr>
          <p:cNvPr id="2" name="PlaceHolder 2"/>
          <p:cNvSpPr>
            <a:spLocks noGrp="1"/>
          </p:cNvSpPr>
          <p:nvPr>
            <p:ph type="body"/>
          </p:nvPr>
        </p:nvSpPr>
        <p:spPr>
          <a:xfrm>
            <a:off x="685800" y="1295280"/>
            <a:ext cx="7772400" cy="4572000"/>
          </a:xfrm>
          <a:prstGeom prst="rect">
            <a:avLst/>
          </a:prstGeom>
          <a:noFill/>
          <a:ln w="0">
            <a:noFill/>
          </a:ln>
        </p:spPr>
        <p:txBody>
          <a:bodyPr lIns="90000" rIns="90000" tIns="46800" bIns="46800" anchor="t">
            <a:normAutofit/>
          </a:bodyPr>
          <a:p>
            <a:pPr marL="343080" indent="-343080">
              <a:spcBef>
                <a:spcPts val="700"/>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Times New Roman"/>
              </a:rPr>
              <a:t>Click to edit the outline text format</a:t>
            </a:r>
            <a:endParaRPr b="0" lang="en-IN" sz="2800" strike="noStrike" u="none">
              <a:solidFill>
                <a:srgbClr val="000000"/>
              </a:solidFill>
              <a:effectLst/>
              <a:uFillTx/>
              <a:latin typeface="Times New Roman"/>
            </a:endParaRPr>
          </a:p>
          <a:p>
            <a:pPr lvl="1" marL="743040" indent="-285840">
              <a:spcBef>
                <a:spcPts val="700"/>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Times New Roman"/>
              </a:rPr>
              <a:t>Second Outline Level</a:t>
            </a:r>
            <a:endParaRPr b="0" lang="en-IN" sz="2800" strike="noStrike" u="none">
              <a:solidFill>
                <a:srgbClr val="000000"/>
              </a:solidFill>
              <a:effectLst/>
              <a:uFillTx/>
              <a:latin typeface="Times New Roman"/>
            </a:endParaRPr>
          </a:p>
          <a:p>
            <a:pPr lvl="2" marL="1143000" indent="-228600">
              <a:spcBef>
                <a:spcPts val="700"/>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Times New Roman"/>
              </a:rPr>
              <a:t>Third Outline Level</a:t>
            </a:r>
            <a:endParaRPr b="0" lang="en-IN" sz="2800" strike="noStrike" u="none">
              <a:solidFill>
                <a:srgbClr val="000000"/>
              </a:solidFill>
              <a:effectLst/>
              <a:uFillTx/>
              <a:latin typeface="Times New Roman"/>
            </a:endParaRPr>
          </a:p>
          <a:p>
            <a:pPr lvl="3" marL="1600200" indent="-228600">
              <a:spcBef>
                <a:spcPts val="700"/>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Times New Roman"/>
              </a:rPr>
              <a:t>Fourth Outline Level</a:t>
            </a:r>
            <a:endParaRPr b="0" lang="en-IN" sz="2800" strike="noStrike" u="none">
              <a:solidFill>
                <a:srgbClr val="000000"/>
              </a:solidFill>
              <a:effectLst/>
              <a:uFillTx/>
              <a:latin typeface="Times New Roman"/>
            </a:endParaRPr>
          </a:p>
          <a:p>
            <a:pPr lvl="4" marL="2057400" indent="-228600">
              <a:spcBef>
                <a:spcPts val="700"/>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Times New Roman"/>
              </a:rPr>
              <a:t>Fifth Outline Level</a:t>
            </a:r>
            <a:endParaRPr b="0" lang="en-IN" sz="2800" strike="noStrike" u="none">
              <a:solidFill>
                <a:srgbClr val="000000"/>
              </a:solidFill>
              <a:effectLst/>
              <a:uFillTx/>
              <a:latin typeface="Times New Roman"/>
            </a:endParaRPr>
          </a:p>
          <a:p>
            <a:pPr lvl="5" marL="2057400" indent="-228600">
              <a:spcBef>
                <a:spcPts val="700"/>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Times New Roman"/>
              </a:rPr>
              <a:t>Sixth Outline Level</a:t>
            </a:r>
            <a:endParaRPr b="0" lang="en-IN" sz="2800" strike="noStrike" u="none">
              <a:solidFill>
                <a:srgbClr val="000000"/>
              </a:solidFill>
              <a:effectLst/>
              <a:uFillTx/>
              <a:latin typeface="Times New Roman"/>
            </a:endParaRPr>
          </a:p>
          <a:p>
            <a:pPr lvl="6" marL="2057400" indent="-228600">
              <a:spcBef>
                <a:spcPts val="700"/>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Times New Roman"/>
              </a:rPr>
              <a:t>Seventh Outline Level</a:t>
            </a:r>
            <a:endParaRPr b="0" lang="en-IN" sz="2800" strike="noStrike" u="none">
              <a:solidFill>
                <a:srgbClr val="000000"/>
              </a:solidFill>
              <a:effectLst/>
              <a:uFillTx/>
              <a:latin typeface="Times New Roman"/>
            </a:endParaRPr>
          </a:p>
        </p:txBody>
      </p:sp>
      <p:sp>
        <p:nvSpPr>
          <p:cNvPr id="3" name=""/>
          <p:cNvSpPr/>
          <p:nvPr/>
        </p:nvSpPr>
        <p:spPr>
          <a:xfrm>
            <a:off x="5715000" y="0"/>
            <a:ext cx="184320" cy="457200"/>
          </a:xfrm>
          <a:prstGeom prst="rect">
            <a:avLst/>
          </a:prstGeom>
          <a:noFill/>
          <a:ln w="0">
            <a:noFill/>
          </a:ln>
        </p:spPr>
        <p:style>
          <a:lnRef idx="0"/>
          <a:fillRef idx="0"/>
          <a:effectRef idx="0"/>
          <a:fontRef idx="minor"/>
        </p:style>
        <p:txBody>
          <a:bodyPr wrap="none" lIns="90000" rIns="90000" tIns="46800" bIns="46800" anchor="t">
            <a:spAutoFit/>
          </a:bodyPr>
          <a:p>
            <a:endParaRPr b="0" lang="en-IN" sz="2400" strike="noStrike" u="none">
              <a:solidFill>
                <a:srgbClr val="000000"/>
              </a:solidFill>
              <a:effectLst/>
              <a:uFillTx/>
              <a:latin typeface="Times New Roman"/>
            </a:endParaRPr>
          </a:p>
        </p:txBody>
      </p:sp>
      <p:sp>
        <p:nvSpPr>
          <p:cNvPr id="4" name=""/>
          <p:cNvSpPr/>
          <p:nvPr/>
        </p:nvSpPr>
        <p:spPr>
          <a:xfrm>
            <a:off x="3352680" y="-46080"/>
            <a:ext cx="5791320" cy="276840"/>
          </a:xfrm>
          <a:prstGeom prst="rect">
            <a:avLst/>
          </a:prstGeom>
          <a:noFill/>
          <a:ln w="0">
            <a:noFill/>
          </a:ln>
        </p:spPr>
        <p:style>
          <a:lnRef idx="0"/>
          <a:fillRef idx="0"/>
          <a:effectRef idx="0"/>
          <a:fontRef idx="minor"/>
        </p:style>
        <p:txBody>
          <a:bodyPr lIns="90000" rIns="90000" tIns="46800" bIns="46800" anchor="t">
            <a:sp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CA" sz="1200" strike="noStrike" u="none">
                <a:solidFill>
                  <a:srgbClr val="ffe2a7"/>
                </a:solidFill>
                <a:effectLst/>
                <a:uFillTx/>
                <a:latin typeface="Arial"/>
              </a:rPr>
              <a:t>Reducing Canada's vulnerability to climate change - ESS</a:t>
            </a:r>
            <a:endParaRPr b="0" lang="en-IN" sz="12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49" r:id="rId3"/>
    <p:sldLayoutId id="2147483650" r:id="rId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jpeg"/><Relationship Id="rId3" Type="http://schemas.openxmlformats.org/officeDocument/2006/relationships/slideLayout" Target="../slideLayouts/slideLayout2.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4.png"/><Relationship Id="rId3"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image" Target="../media/image7.jpeg"/><Relationship Id="rId2" Type="http://schemas.openxmlformats.org/officeDocument/2006/relationships/image" Target="../media/image2.png"/><Relationship Id="rId3" Type="http://schemas.openxmlformats.org/officeDocument/2006/relationships/image" Target="../media/image8.png"/><Relationship Id="rId4"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image" Target="../media/image9.jpeg"/><Relationship Id="rId2" Type="http://schemas.openxmlformats.org/officeDocument/2006/relationships/image" Target="../media/image10.jpeg"/><Relationship Id="rId3" Type="http://schemas.openxmlformats.org/officeDocument/2006/relationships/image" Target="../media/image2.png"/><Relationship Id="rId4" Type="http://schemas.openxmlformats.org/officeDocument/2006/relationships/image" Target="../media/image11.jpeg"/><Relationship Id="rId5"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image" Target="../media/image12.jpeg"/><Relationship Id="rId2" Type="http://schemas.openxmlformats.org/officeDocument/2006/relationships/image" Target="../media/image11.jpeg"/><Relationship Id="rId3" Type="http://schemas.openxmlformats.org/officeDocument/2006/relationships/image" Target="../media/image13.jpeg"/><Relationship Id="rId4" Type="http://schemas.openxmlformats.org/officeDocument/2006/relationships/image" Target="../media/image2.png"/><Relationship Id="rId5"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 name="PlaceHolder 1"/>
          <p:cNvSpPr>
            <a:spLocks noGrp="1"/>
          </p:cNvSpPr>
          <p:nvPr>
            <p:ph type="title"/>
          </p:nvPr>
        </p:nvSpPr>
        <p:spPr>
          <a:xfrm>
            <a:off x="609480" y="914040"/>
            <a:ext cx="7848720" cy="2895480"/>
          </a:xfrm>
          <a:prstGeom prst="rect">
            <a:avLst/>
          </a:prstGeom>
          <a:noFill/>
          <a:ln w="0">
            <a:noFill/>
          </a:ln>
        </p:spPr>
        <p:txBody>
          <a:bodyPr lIns="90000" rIns="90000" tIns="46800" bIns="46800" anchor="ctr">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000" strike="noStrike" u="none">
                <a:solidFill>
                  <a:srgbClr val="660033"/>
                </a:solidFill>
                <a:effectLst/>
                <a:uFillTx/>
                <a:latin typeface="Arial"/>
              </a:rPr>
              <a:t>Is anomalous vertical motion in WAIS Ice Streams tied to subglacial water transport?</a:t>
            </a:r>
            <a:br>
              <a:rPr sz="2000"/>
            </a:br>
            <a:br>
              <a:rPr sz="2000"/>
            </a:br>
            <a:br>
              <a:rPr sz="2000"/>
            </a:br>
            <a:br>
              <a:rPr sz="2000"/>
            </a:br>
            <a:r>
              <a:rPr b="1" lang="en-US" sz="2000" strike="noStrike" u="none">
                <a:solidFill>
                  <a:srgbClr val="660033"/>
                </a:solidFill>
                <a:effectLst/>
                <a:uFillTx/>
                <a:latin typeface="Arial"/>
              </a:rPr>
              <a:t>Laurence Gray, Ian Joughin, Slawek Tulaczyk, </a:t>
            </a:r>
            <a:br>
              <a:rPr sz="2000"/>
            </a:br>
            <a:r>
              <a:rPr b="1" lang="en-US" sz="2000" strike="noStrike" u="none">
                <a:solidFill>
                  <a:srgbClr val="660033"/>
                </a:solidFill>
                <a:effectLst/>
                <a:uFillTx/>
                <a:latin typeface="Arial"/>
              </a:rPr>
              <a:t>Vandy Blue Spikes, Bob Bindschadler and Ken Jezek.</a:t>
            </a:r>
            <a:endParaRPr b="1" lang="en-IN" sz="2000" strike="noStrike" u="none">
              <a:solidFill>
                <a:srgbClr val="660033"/>
              </a:solidFill>
              <a:effectLst/>
              <a:uFillTx/>
              <a:latin typeface="Tahoma"/>
            </a:endParaRPr>
          </a:p>
        </p:txBody>
      </p:sp>
      <p:sp>
        <p:nvSpPr>
          <p:cNvPr id="11" name="PlaceHolder 2"/>
          <p:cNvSpPr>
            <a:spLocks noGrp="1"/>
          </p:cNvSpPr>
          <p:nvPr>
            <p:ph/>
          </p:nvPr>
        </p:nvSpPr>
        <p:spPr>
          <a:xfrm>
            <a:off x="457200" y="4495680"/>
            <a:ext cx="8229600" cy="1371600"/>
          </a:xfrm>
          <a:prstGeom prst="rect">
            <a:avLst/>
          </a:prstGeom>
          <a:noFill/>
          <a:ln w="0">
            <a:noFill/>
          </a:ln>
        </p:spPr>
        <p:txBody>
          <a:bodyPr lIns="90000" rIns="90000" tIns="46800" bIns="46800" anchor="t">
            <a:normAutofit/>
          </a:bodyPr>
          <a:p>
            <a:pPr marL="343080" indent="-343080">
              <a:lnSpc>
                <a:spcPct val="9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Acknowledgements;</a:t>
            </a:r>
            <a:endParaRPr b="0" lang="en-IN" sz="2000" strike="noStrike" u="none">
              <a:solidFill>
                <a:srgbClr val="000000"/>
              </a:solidFill>
              <a:effectLst/>
              <a:uFillTx/>
              <a:latin typeface="Times New Roman"/>
            </a:endParaRPr>
          </a:p>
          <a:p>
            <a:pPr marL="343080" indent="-343080">
              <a:lnSpc>
                <a:spcPct val="90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CSA/NASA for the AMM RADARSAT data.</a:t>
            </a:r>
            <a:endParaRPr b="0" lang="en-IN" sz="2000" strike="noStrike" u="none">
              <a:solidFill>
                <a:srgbClr val="000000"/>
              </a:solidFill>
              <a:effectLst/>
              <a:uFillTx/>
              <a:latin typeface="Times New Roman"/>
            </a:endParaRPr>
          </a:p>
          <a:p>
            <a:pPr marL="343080" indent="-343080">
              <a:lnSpc>
                <a:spcPct val="90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CA" sz="2000" strike="noStrike" u="none">
                <a:solidFill>
                  <a:srgbClr val="000000"/>
                </a:solidFill>
                <a:effectLst/>
                <a:uFillTx/>
                <a:latin typeface="Arial"/>
              </a:rPr>
              <a:t>SOAR, U Texas, &amp; NSF for bed and surface height data from CASERTZ </a:t>
            </a:r>
            <a:endParaRPr b="0" lang="en-IN" sz="20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bg>
      <p:bgPr>
        <a:solidFill>
          <a:srgbClr val="ffffcc"/>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304920" y="151920"/>
            <a:ext cx="2743200" cy="685800"/>
          </a:xfrm>
          <a:prstGeom prst="rect">
            <a:avLst/>
          </a:prstGeom>
          <a:noFill/>
          <a:ln w="0">
            <a:noFill/>
          </a:ln>
        </p:spPr>
        <p:txBody>
          <a:bodyPr lIns="90000" rIns="90000" tIns="46800" bIns="46800" anchor="ctr">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660033"/>
                </a:solidFill>
                <a:effectLst/>
                <a:uFillTx/>
                <a:latin typeface="Arial"/>
              </a:rPr>
              <a:t>Ice motion from RADARSAT</a:t>
            </a:r>
            <a:endParaRPr b="1" lang="en-IN" sz="2000" strike="noStrike" u="none">
              <a:solidFill>
                <a:srgbClr val="660033"/>
              </a:solidFill>
              <a:effectLst/>
              <a:uFillTx/>
              <a:latin typeface="Tahoma"/>
            </a:endParaRPr>
          </a:p>
        </p:txBody>
      </p:sp>
      <p:sp>
        <p:nvSpPr>
          <p:cNvPr id="13" name="PlaceHolder 2"/>
          <p:cNvSpPr>
            <a:spLocks noGrp="1"/>
          </p:cNvSpPr>
          <p:nvPr>
            <p:ph/>
          </p:nvPr>
        </p:nvSpPr>
        <p:spPr>
          <a:xfrm>
            <a:off x="0" y="1294920"/>
            <a:ext cx="3124080" cy="4800600"/>
          </a:xfrm>
          <a:prstGeom prst="rect">
            <a:avLst/>
          </a:prstGeom>
          <a:noFill/>
          <a:ln w="0">
            <a:noFill/>
          </a:ln>
        </p:spPr>
        <p:txBody>
          <a:bodyPr lIns="90000" rIns="90000" tIns="46800" bIns="46800" anchor="t">
            <a:normAutofit/>
          </a:bodyPr>
          <a:p>
            <a:pPr indent="0">
              <a:lnSpc>
                <a:spcPct val="9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660033"/>
                </a:solidFill>
                <a:effectLst/>
                <a:uFillTx/>
                <a:latin typeface="Arial"/>
              </a:rPr>
              <a:t>Ice motion in the WAIS has been measured using range and azimuth shifts from passes separated by 24 days. The surface parallel flow assumption was used.</a:t>
            </a:r>
            <a:endParaRPr b="0" lang="en-IN" sz="1800" strike="noStrike" u="none">
              <a:solidFill>
                <a:srgbClr val="000000"/>
              </a:solidFill>
              <a:effectLst/>
              <a:uFillTx/>
              <a:latin typeface="Times New Roman"/>
            </a:endParaRPr>
          </a:p>
          <a:p>
            <a:pPr indent="0">
              <a:lnSpc>
                <a:spcPct val="90000"/>
              </a:lnSpc>
              <a:spcBef>
                <a:spcPts val="1125"/>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Times New Roman"/>
            </a:endParaRPr>
          </a:p>
          <a:p>
            <a:pPr indent="0">
              <a:lnSpc>
                <a:spcPct val="90000"/>
              </a:lnSpc>
              <a:spcBef>
                <a:spcPts val="1125"/>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660033"/>
                </a:solidFill>
                <a:effectLst/>
                <a:uFillTx/>
                <a:latin typeface="Arial"/>
              </a:rPr>
              <a:t>In a few areas there are overlapping ascending and descending passes which allow estimation of all 3 components of ice displacement in the 24 day repeat period.</a:t>
            </a:r>
            <a:endParaRPr b="0" lang="en-IN" sz="1800" strike="noStrike" u="none">
              <a:solidFill>
                <a:srgbClr val="000000"/>
              </a:solidFill>
              <a:effectLst/>
              <a:uFillTx/>
              <a:latin typeface="Times New Roman"/>
            </a:endParaRPr>
          </a:p>
          <a:p>
            <a:pPr indent="0">
              <a:lnSpc>
                <a:spcPct val="90000"/>
              </a:lnSpc>
              <a:spcBef>
                <a:spcPts val="56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900" strike="noStrike" u="none">
              <a:solidFill>
                <a:srgbClr val="000000"/>
              </a:solidFill>
              <a:effectLst/>
              <a:uFillTx/>
              <a:latin typeface="Times New Roman"/>
            </a:endParaRPr>
          </a:p>
          <a:p>
            <a:pPr indent="0">
              <a:lnSpc>
                <a:spcPct val="90000"/>
              </a:lnSpc>
              <a:spcBef>
                <a:spcPts val="56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900" strike="noStrike" u="none">
                <a:solidFill>
                  <a:srgbClr val="660033"/>
                </a:solidFill>
                <a:effectLst/>
                <a:uFillTx/>
                <a:latin typeface="Arial"/>
              </a:rPr>
              <a:t>Joughin, I. L. Gray R. Bindschadler, S. Price, D. Morse, C. Hulbe, K. Mattar, and C. Werner, Tributaries of West Antarctic Ice Streams revealed by RADARSAT interferometry, Science, 286, (5438), 283-286, 1999.</a:t>
            </a:r>
            <a:endParaRPr b="0" lang="en-IN" sz="900" strike="noStrike" u="none">
              <a:solidFill>
                <a:srgbClr val="000000"/>
              </a:solidFill>
              <a:effectLst/>
              <a:uFillTx/>
              <a:latin typeface="Times New Roman"/>
            </a:endParaRPr>
          </a:p>
        </p:txBody>
      </p:sp>
      <p:pic>
        <p:nvPicPr>
          <p:cNvPr id="14" name="nrcan" descr=""/>
          <p:cNvPicPr/>
          <p:nvPr/>
        </p:nvPicPr>
        <p:blipFill>
          <a:blip r:embed="rId1"/>
          <a:stretch/>
        </p:blipFill>
        <p:spPr>
          <a:xfrm>
            <a:off x="0" y="6378480"/>
            <a:ext cx="9144000" cy="479520"/>
          </a:xfrm>
          <a:prstGeom prst="rect">
            <a:avLst/>
          </a:prstGeom>
          <a:noFill/>
          <a:ln w="0">
            <a:noFill/>
          </a:ln>
        </p:spPr>
      </p:pic>
      <p:pic>
        <p:nvPicPr>
          <p:cNvPr id="15" name="waismap1%20copy" descr=""/>
          <p:cNvPicPr/>
          <p:nvPr/>
        </p:nvPicPr>
        <p:blipFill>
          <a:blip r:embed="rId2"/>
          <a:stretch/>
        </p:blipFill>
        <p:spPr>
          <a:xfrm>
            <a:off x="3200400" y="228600"/>
            <a:ext cx="5943600" cy="5943600"/>
          </a:xfrm>
          <a:prstGeom prst="rect">
            <a:avLst/>
          </a:prstGeom>
          <a:noFill/>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bg>
      <p:bgPr>
        <a:solidFill>
          <a:srgbClr val="ffffcc"/>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685800" y="151920"/>
            <a:ext cx="7772400" cy="762120"/>
          </a:xfrm>
          <a:prstGeom prst="rect">
            <a:avLst/>
          </a:prstGeom>
          <a:noFill/>
          <a:ln w="0">
            <a:noFill/>
          </a:ln>
        </p:spPr>
        <p:txBody>
          <a:bodyPr lIns="90000" rIns="90000" tIns="46800" bIns="46800" anchor="ctr">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660033"/>
                </a:solidFill>
                <a:effectLst/>
                <a:uFillTx/>
                <a:latin typeface="Arial"/>
              </a:rPr>
              <a:t>Examples of vertical surface displacement</a:t>
            </a:r>
            <a:endParaRPr b="1" lang="en-IN" sz="2400" strike="noStrike" u="none">
              <a:solidFill>
                <a:srgbClr val="660033"/>
              </a:solidFill>
              <a:effectLst/>
              <a:uFillTx/>
              <a:latin typeface="Tahoma"/>
            </a:endParaRPr>
          </a:p>
        </p:txBody>
      </p:sp>
      <p:sp>
        <p:nvSpPr>
          <p:cNvPr id="17" name="PlaceHolder 2"/>
          <p:cNvSpPr>
            <a:spLocks noGrp="1"/>
          </p:cNvSpPr>
          <p:nvPr>
            <p:ph/>
          </p:nvPr>
        </p:nvSpPr>
        <p:spPr>
          <a:xfrm>
            <a:off x="685800" y="5105160"/>
            <a:ext cx="7772400" cy="1143000"/>
          </a:xfrm>
          <a:prstGeom prst="rect">
            <a:avLst/>
          </a:prstGeom>
          <a:noFill/>
          <a:ln w="0">
            <a:noFill/>
          </a:ln>
        </p:spPr>
        <p:txBody>
          <a:bodyPr lIns="90000" rIns="90000" tIns="46800" bIns="46800" anchor="t">
            <a:normAutofit/>
          </a:bodyPr>
          <a:p>
            <a:pPr marL="343080" indent="-34308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660033"/>
                </a:solidFill>
                <a:effectLst/>
                <a:uFillTx/>
                <a:latin typeface="Arial"/>
              </a:rPr>
              <a:t>Area A1 includes an area of the Kamb Ice Stream (“C”).</a:t>
            </a:r>
            <a:endParaRPr b="0" lang="en-IN" sz="1800" strike="noStrike" u="none">
              <a:solidFill>
                <a:srgbClr val="000000"/>
              </a:solidFill>
              <a:effectLst/>
              <a:uFillTx/>
              <a:latin typeface="Times New Roman"/>
            </a:endParaRPr>
          </a:p>
          <a:p>
            <a:pPr marL="343080" indent="-34308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660033"/>
                </a:solidFill>
                <a:effectLst/>
                <a:uFillTx/>
                <a:latin typeface="Arial"/>
              </a:rPr>
              <a:t>Area A2 includes a tributary of the Bindschadler Ice Stream (“D”).</a:t>
            </a:r>
            <a:endParaRPr b="0" lang="en-IN" sz="1800" strike="noStrike" u="none">
              <a:solidFill>
                <a:srgbClr val="000000"/>
              </a:solidFill>
              <a:effectLst/>
              <a:uFillTx/>
              <a:latin typeface="Times New Roman"/>
            </a:endParaRPr>
          </a:p>
          <a:p>
            <a:pPr marL="343080" indent="-34308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660033"/>
                </a:solidFill>
                <a:effectLst/>
                <a:uFillTx/>
                <a:latin typeface="Arial"/>
              </a:rPr>
              <a:t>L1 and L2 are lidar flight lines flown by SOAR in 1998 and 2000.</a:t>
            </a:r>
            <a:endParaRPr b="0" lang="en-IN" sz="1800" strike="noStrike" u="none">
              <a:solidFill>
                <a:srgbClr val="000000"/>
              </a:solidFill>
              <a:effectLst/>
              <a:uFillTx/>
              <a:latin typeface="Times New Roman"/>
            </a:endParaRPr>
          </a:p>
        </p:txBody>
      </p:sp>
      <p:pic>
        <p:nvPicPr>
          <p:cNvPr id="18" name="nrcan" descr=""/>
          <p:cNvPicPr/>
          <p:nvPr/>
        </p:nvPicPr>
        <p:blipFill>
          <a:blip r:embed="rId1"/>
          <a:stretch/>
        </p:blipFill>
        <p:spPr>
          <a:xfrm>
            <a:off x="0" y="6378480"/>
            <a:ext cx="9144000" cy="479520"/>
          </a:xfrm>
          <a:prstGeom prst="rect">
            <a:avLst/>
          </a:prstGeom>
          <a:noFill/>
          <a:ln w="0">
            <a:noFill/>
          </a:ln>
        </p:spPr>
      </p:pic>
      <p:pic>
        <p:nvPicPr>
          <p:cNvPr id="19" name="fig1_gray" descr=""/>
          <p:cNvPicPr/>
          <p:nvPr/>
        </p:nvPicPr>
        <p:blipFill>
          <a:blip r:embed="rId2"/>
          <a:stretch/>
        </p:blipFill>
        <p:spPr>
          <a:xfrm>
            <a:off x="0" y="914400"/>
            <a:ext cx="9144000" cy="3970440"/>
          </a:xfrm>
          <a:prstGeom prst="rect">
            <a:avLst/>
          </a:prstGeom>
          <a:noFill/>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bg>
      <p:bgPr>
        <a:solidFill>
          <a:srgbClr val="ffffcc"/>
        </a:solidFill>
      </p:bgPr>
    </p:bg>
    <p:spTree>
      <p:nvGrpSpPr>
        <p:cNvPr id="1" name=""/>
        <p:cNvGrpSpPr/>
        <p:nvPr/>
      </p:nvGrpSpPr>
      <p:grpSpPr>
        <a:xfrm>
          <a:off x="0" y="0"/>
          <a:ext cx="0" cy="0"/>
          <a:chOff x="0" y="0"/>
          <a:chExt cx="0" cy="0"/>
        </a:xfrm>
      </p:grpSpPr>
      <p:sp>
        <p:nvSpPr>
          <p:cNvPr id="20" name="PlaceHolder 1"/>
          <p:cNvSpPr>
            <a:spLocks noGrp="1"/>
          </p:cNvSpPr>
          <p:nvPr>
            <p:ph/>
          </p:nvPr>
        </p:nvSpPr>
        <p:spPr>
          <a:xfrm>
            <a:off x="762120" y="2666520"/>
            <a:ext cx="3581280" cy="3429000"/>
          </a:xfrm>
          <a:prstGeom prst="rect">
            <a:avLst/>
          </a:prstGeom>
          <a:noFill/>
          <a:ln w="0">
            <a:noFill/>
          </a:ln>
        </p:spPr>
        <p:txBody>
          <a:bodyPr lIns="90000" rIns="90000" tIns="46800" bIns="46800" anchor="t">
            <a:normAutofit/>
          </a:bodyPr>
          <a:p>
            <a:pPr marL="343080" indent="-343080">
              <a:lnSpc>
                <a:spcPct val="10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660033"/>
                </a:solidFill>
                <a:effectLst/>
                <a:uFillTx/>
                <a:latin typeface="Arial"/>
              </a:rPr>
              <a:t>A: Ice speed displayed as a color overlay for the overlap area.</a:t>
            </a:r>
            <a:endParaRPr b="0" lang="en-IN" sz="2000" strike="noStrike" u="none">
              <a:solidFill>
                <a:srgbClr val="000000"/>
              </a:solidFill>
              <a:effectLst/>
              <a:uFillTx/>
              <a:latin typeface="Times New Roman"/>
            </a:endParaRPr>
          </a:p>
          <a:p>
            <a:pPr marL="343080" indent="-343080">
              <a:lnSpc>
                <a:spcPct val="10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000000"/>
              </a:solidFill>
              <a:effectLst/>
              <a:uFillTx/>
              <a:latin typeface="Times New Roman"/>
            </a:endParaRPr>
          </a:p>
          <a:p>
            <a:pPr marL="343080" indent="-343080">
              <a:lnSpc>
                <a:spcPct val="10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660033"/>
                </a:solidFill>
                <a:effectLst/>
                <a:uFillTx/>
                <a:latin typeface="Arial"/>
              </a:rPr>
              <a:t>B:  Solution for 24-day vertical displacement. Note the blue area with significant surface deflation, up to ~ 50 cm.</a:t>
            </a:r>
            <a:endParaRPr b="0" lang="en-IN" sz="2000" strike="noStrike" u="none">
              <a:solidFill>
                <a:srgbClr val="000000"/>
              </a:solidFill>
              <a:effectLst/>
              <a:uFillTx/>
              <a:latin typeface="Times New Roman"/>
            </a:endParaRPr>
          </a:p>
        </p:txBody>
      </p:sp>
      <p:sp>
        <p:nvSpPr>
          <p:cNvPr id="21" name=""/>
          <p:cNvSpPr/>
          <p:nvPr/>
        </p:nvSpPr>
        <p:spPr>
          <a:xfrm>
            <a:off x="4954320" y="228600"/>
            <a:ext cx="38412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A</a:t>
            </a:r>
            <a:endParaRPr b="0" lang="en-IN" sz="2400" strike="noStrike" u="none">
              <a:solidFill>
                <a:srgbClr val="000000"/>
              </a:solidFill>
              <a:effectLst/>
              <a:uFillTx/>
              <a:latin typeface="Times New Roman"/>
            </a:endParaRPr>
          </a:p>
        </p:txBody>
      </p:sp>
      <p:sp>
        <p:nvSpPr>
          <p:cNvPr id="22" name=""/>
          <p:cNvSpPr/>
          <p:nvPr/>
        </p:nvSpPr>
        <p:spPr>
          <a:xfrm>
            <a:off x="4954320" y="3429000"/>
            <a:ext cx="38412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B</a:t>
            </a:r>
            <a:endParaRPr b="0" lang="en-IN" sz="2400" strike="noStrike" u="none">
              <a:solidFill>
                <a:srgbClr val="000000"/>
              </a:solidFill>
              <a:effectLst/>
              <a:uFillTx/>
              <a:latin typeface="Times New Roman"/>
            </a:endParaRPr>
          </a:p>
        </p:txBody>
      </p:sp>
      <p:pic>
        <p:nvPicPr>
          <p:cNvPr id="23" name="nrcan" descr=""/>
          <p:cNvPicPr/>
          <p:nvPr/>
        </p:nvPicPr>
        <p:blipFill>
          <a:blip r:embed="rId1"/>
          <a:stretch/>
        </p:blipFill>
        <p:spPr>
          <a:xfrm>
            <a:off x="0" y="6378480"/>
            <a:ext cx="9144000" cy="479520"/>
          </a:xfrm>
          <a:prstGeom prst="rect">
            <a:avLst/>
          </a:prstGeom>
          <a:noFill/>
          <a:ln w="0">
            <a:noFill/>
          </a:ln>
        </p:spPr>
      </p:pic>
      <p:pic>
        <p:nvPicPr>
          <p:cNvPr id="24" name="cvel3_bbd" descr=""/>
          <p:cNvPicPr/>
          <p:nvPr/>
        </p:nvPicPr>
        <p:blipFill>
          <a:blip r:embed="rId2"/>
          <a:stretch/>
        </p:blipFill>
        <p:spPr>
          <a:xfrm>
            <a:off x="5334120" y="0"/>
            <a:ext cx="3809880" cy="3325680"/>
          </a:xfrm>
          <a:prstGeom prst="rect">
            <a:avLst/>
          </a:prstGeom>
          <a:noFill/>
          <a:ln w="0">
            <a:noFill/>
          </a:ln>
        </p:spPr>
      </p:pic>
      <p:pic>
        <p:nvPicPr>
          <p:cNvPr id="25" name="newd3c" descr=""/>
          <p:cNvPicPr/>
          <p:nvPr/>
        </p:nvPicPr>
        <p:blipFill>
          <a:blip r:embed="rId3"/>
          <a:srcRect l="13545" t="8334" r="9376" b="11110"/>
          <a:stretch/>
        </p:blipFill>
        <p:spPr>
          <a:xfrm>
            <a:off x="5334120" y="3338640"/>
            <a:ext cx="3809880" cy="2985840"/>
          </a:xfrm>
          <a:prstGeom prst="rect">
            <a:avLst/>
          </a:prstGeom>
          <a:noFill/>
          <a:ln w="0">
            <a:noFill/>
          </a:ln>
        </p:spPr>
      </p:pic>
      <p:pic>
        <p:nvPicPr>
          <p:cNvPr id="26" name="fig1_gray" descr=""/>
          <p:cNvPicPr/>
          <p:nvPr/>
        </p:nvPicPr>
        <p:blipFill>
          <a:blip r:embed="rId4"/>
          <a:stretch/>
        </p:blipFill>
        <p:spPr>
          <a:xfrm>
            <a:off x="380880" y="228600"/>
            <a:ext cx="4267440" cy="1852560"/>
          </a:xfrm>
          <a:prstGeom prst="rect">
            <a:avLst/>
          </a:prstGeom>
          <a:noFill/>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bg>
      <p:bgPr>
        <a:solidFill>
          <a:srgbClr val="ffffcc"/>
        </a:solidFill>
      </p:bgPr>
    </p:bg>
    <p:spTree>
      <p:nvGrpSpPr>
        <p:cNvPr id="1" name=""/>
        <p:cNvGrpSpPr/>
        <p:nvPr/>
      </p:nvGrpSpPr>
      <p:grpSpPr>
        <a:xfrm>
          <a:off x="0" y="0"/>
          <a:ext cx="0" cy="0"/>
          <a:chOff x="0" y="0"/>
          <a:chExt cx="0" cy="0"/>
        </a:xfrm>
      </p:grpSpPr>
      <p:sp>
        <p:nvSpPr>
          <p:cNvPr id="27" name="PlaceHolder 1"/>
          <p:cNvSpPr>
            <a:spLocks noGrp="1"/>
          </p:cNvSpPr>
          <p:nvPr>
            <p:ph/>
          </p:nvPr>
        </p:nvSpPr>
        <p:spPr>
          <a:xfrm>
            <a:off x="685440" y="152280"/>
            <a:ext cx="5181480" cy="1905120"/>
          </a:xfrm>
          <a:prstGeom prst="rect">
            <a:avLst/>
          </a:prstGeom>
          <a:noFill/>
          <a:ln w="0">
            <a:noFill/>
          </a:ln>
        </p:spPr>
        <p:txBody>
          <a:bodyPr lIns="90000" rIns="90000" tIns="46800" bIns="46800" anchor="t">
            <a:norm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660033"/>
                </a:solidFill>
                <a:effectLst/>
                <a:uFillTx/>
                <a:latin typeface="Arial"/>
              </a:rPr>
              <a:t>Phase images from both ascending and descending SRI pairs. Note that the patterns, which reflect ‘line-of-sight displacement’, are different in the 2 geometries except for the concentric rings over the position of the surface deflation.</a:t>
            </a:r>
            <a:r>
              <a:rPr b="0" lang="en-IN" sz="2400" strike="noStrike" u="none">
                <a:solidFill>
                  <a:srgbClr val="000000"/>
                </a:solidFill>
                <a:effectLst/>
                <a:uFillTx/>
                <a:latin typeface="Times New Roman"/>
              </a:rPr>
              <a:t> </a:t>
            </a:r>
            <a:endParaRPr b="0" lang="en-IN" sz="2400" strike="noStrike" u="none">
              <a:solidFill>
                <a:srgbClr val="000000"/>
              </a:solidFill>
              <a:effectLst/>
              <a:uFillTx/>
              <a:latin typeface="Times New Roman"/>
            </a:endParaRPr>
          </a:p>
        </p:txBody>
      </p:sp>
      <p:pic>
        <p:nvPicPr>
          <p:cNvPr id="28" name="gray_fig2c" descr=""/>
          <p:cNvPicPr/>
          <p:nvPr/>
        </p:nvPicPr>
        <p:blipFill>
          <a:blip r:embed="rId1"/>
          <a:stretch/>
        </p:blipFill>
        <p:spPr>
          <a:xfrm>
            <a:off x="609480" y="2209680"/>
            <a:ext cx="7848720" cy="4033800"/>
          </a:xfrm>
          <a:prstGeom prst="rect">
            <a:avLst/>
          </a:prstGeom>
          <a:noFill/>
          <a:ln w="0">
            <a:noFill/>
          </a:ln>
        </p:spPr>
      </p:pic>
      <p:pic>
        <p:nvPicPr>
          <p:cNvPr id="29" name="nrcan" descr=""/>
          <p:cNvPicPr/>
          <p:nvPr/>
        </p:nvPicPr>
        <p:blipFill>
          <a:blip r:embed="rId2"/>
          <a:stretch/>
        </p:blipFill>
        <p:spPr>
          <a:xfrm>
            <a:off x="0" y="6378480"/>
            <a:ext cx="9144000" cy="479520"/>
          </a:xfrm>
          <a:prstGeom prst="rect">
            <a:avLst/>
          </a:prstGeom>
          <a:noFill/>
          <a:ln w="0">
            <a:noFill/>
          </a:ln>
        </p:spPr>
      </p:pic>
      <p:pic>
        <p:nvPicPr>
          <p:cNvPr id="30" name="cvel3_bbd2" descr=""/>
          <p:cNvPicPr/>
          <p:nvPr/>
        </p:nvPicPr>
        <p:blipFill>
          <a:blip r:embed="rId3"/>
          <a:stretch/>
        </p:blipFill>
        <p:spPr>
          <a:xfrm>
            <a:off x="6248520" y="0"/>
            <a:ext cx="2361960" cy="2081160"/>
          </a:xfrm>
          <a:prstGeom prst="rect">
            <a:avLst/>
          </a:prstGeom>
          <a:noFill/>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bg>
      <p:bgPr>
        <a:solidFill>
          <a:srgbClr val="ffffcc"/>
        </a:solidFill>
      </p:bgPr>
    </p:bg>
    <p:spTree>
      <p:nvGrpSpPr>
        <p:cNvPr id="1" name=""/>
        <p:cNvGrpSpPr/>
        <p:nvPr/>
      </p:nvGrpSpPr>
      <p:grpSpPr>
        <a:xfrm>
          <a:off x="0" y="0"/>
          <a:ext cx="0" cy="0"/>
          <a:chOff x="0" y="0"/>
          <a:chExt cx="0" cy="0"/>
        </a:xfrm>
      </p:grpSpPr>
      <p:sp>
        <p:nvSpPr>
          <p:cNvPr id="31" name="PlaceHolder 1"/>
          <p:cNvSpPr>
            <a:spLocks noGrp="1"/>
          </p:cNvSpPr>
          <p:nvPr>
            <p:ph/>
          </p:nvPr>
        </p:nvSpPr>
        <p:spPr>
          <a:xfrm>
            <a:off x="456840" y="2057040"/>
            <a:ext cx="3962520" cy="4343400"/>
          </a:xfrm>
          <a:prstGeom prst="rect">
            <a:avLst/>
          </a:prstGeom>
          <a:noFill/>
          <a:ln w="0">
            <a:noFill/>
          </a:ln>
        </p:spPr>
        <p:txBody>
          <a:bodyPr lIns="90000" rIns="90000" tIns="46800" bIns="46800" anchor="t">
            <a:normAutofit/>
          </a:bodyPr>
          <a:p>
            <a:pPr indent="0">
              <a:lnSpc>
                <a:spcPct val="9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660033"/>
                </a:solidFill>
                <a:effectLst/>
                <a:uFillTx/>
                <a:latin typeface="Arial"/>
              </a:rPr>
              <a:t>A</a:t>
            </a:r>
            <a:r>
              <a:rPr b="0" lang="en-US" sz="1800" strike="noStrike" u="none">
                <a:solidFill>
                  <a:srgbClr val="660033"/>
                </a:solidFill>
                <a:effectLst/>
                <a:uFillTx/>
                <a:latin typeface="Arial"/>
              </a:rPr>
              <a:t>: Horizontal velocity field interpolated from repeated GPS measurements*.</a:t>
            </a:r>
            <a:endParaRPr b="0" lang="en-IN" sz="1800" strike="noStrike" u="none">
              <a:solidFill>
                <a:srgbClr val="000000"/>
              </a:solidFill>
              <a:effectLst/>
              <a:uFillTx/>
              <a:latin typeface="Times New Roman"/>
            </a:endParaRPr>
          </a:p>
          <a:p>
            <a:pPr indent="0">
              <a:lnSpc>
                <a:spcPct val="9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Times New Roman"/>
            </a:endParaRPr>
          </a:p>
          <a:p>
            <a:pPr indent="0">
              <a:lnSpc>
                <a:spcPct val="9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660033"/>
                </a:solidFill>
                <a:effectLst/>
                <a:uFillTx/>
                <a:latin typeface="Arial"/>
              </a:rPr>
              <a:t>B</a:t>
            </a:r>
            <a:r>
              <a:rPr b="0" lang="en-US" sz="1800" strike="noStrike" u="none">
                <a:solidFill>
                  <a:srgbClr val="660033"/>
                </a:solidFill>
                <a:effectLst/>
                <a:uFillTx/>
                <a:latin typeface="Arial"/>
              </a:rPr>
              <a:t>: </a:t>
            </a:r>
            <a:r>
              <a:rPr b="0" lang="en-GB" sz="1800" strike="noStrike" u="none">
                <a:solidFill>
                  <a:srgbClr val="660033"/>
                </a:solidFill>
                <a:effectLst/>
                <a:uFillTx/>
                <a:latin typeface="Arial"/>
                <a:ea typeface="Times New Roman"/>
              </a:rPr>
              <a:t>This was used to estimate the 24-day horizontal displacements which was then combined with the radar line-of-sight displacement from an interferometric pair (from Sept. 26 and Oct. 20, 1997) to derive the local vertical displacement. The red and blue areas represent uplift and subsidence, respectively. </a:t>
            </a:r>
            <a:endParaRPr b="0" lang="en-IN" sz="1800" strike="noStrike" u="none">
              <a:solidFill>
                <a:srgbClr val="000000"/>
              </a:solidFill>
              <a:effectLst/>
              <a:uFillTx/>
              <a:latin typeface="Times New Roman"/>
            </a:endParaRPr>
          </a:p>
          <a:p>
            <a:pPr indent="0">
              <a:lnSpc>
                <a:spcPct val="90000"/>
              </a:lnSpc>
              <a:spcBef>
                <a:spcPts val="22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900" strike="noStrike" u="none">
              <a:solidFill>
                <a:srgbClr val="000000"/>
              </a:solidFill>
              <a:effectLst/>
              <a:uFillTx/>
              <a:latin typeface="Times New Roman"/>
            </a:endParaRPr>
          </a:p>
          <a:p>
            <a:pPr indent="0">
              <a:lnSpc>
                <a:spcPct val="90000"/>
              </a:lnSpc>
              <a:spcBef>
                <a:spcPts val="22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900" strike="noStrike" u="none">
                <a:solidFill>
                  <a:srgbClr val="660033"/>
                </a:solidFill>
                <a:effectLst/>
                <a:uFillTx/>
                <a:latin typeface="Arial"/>
              </a:rPr>
              <a:t>*</a:t>
            </a:r>
            <a:r>
              <a:rPr b="0" lang="en-GB" sz="900" strike="noStrike" u="none">
                <a:solidFill>
                  <a:srgbClr val="660033"/>
                </a:solidFill>
                <a:effectLst/>
                <a:uFillTx/>
                <a:latin typeface="Arial"/>
                <a:ea typeface="Times New Roman"/>
              </a:rPr>
              <a:t>  Chen, X., Bindschadler, R. A. &amp; Vornberger, P. L. Determination of velocity field and strain-rate field in West Antarctica using high precision GPS measurements. Surveying and Land Information Systems. </a:t>
            </a:r>
            <a:r>
              <a:rPr b="1" lang="en-GB" sz="900" strike="noStrike" u="none">
                <a:solidFill>
                  <a:srgbClr val="660033"/>
                </a:solidFill>
                <a:effectLst/>
                <a:uFillTx/>
                <a:latin typeface="Arial"/>
                <a:ea typeface="Times New Roman"/>
              </a:rPr>
              <a:t>58</a:t>
            </a:r>
            <a:r>
              <a:rPr b="0" lang="en-GB" sz="900" strike="noStrike" u="none">
                <a:solidFill>
                  <a:srgbClr val="660033"/>
                </a:solidFill>
                <a:effectLst/>
                <a:uFillTx/>
                <a:latin typeface="Arial"/>
                <a:ea typeface="Times New Roman"/>
              </a:rPr>
              <a:t>, 247-255 (1998).</a:t>
            </a:r>
            <a:endParaRPr b="0" lang="en-IN" sz="900" strike="noStrike" u="none">
              <a:solidFill>
                <a:srgbClr val="000000"/>
              </a:solidFill>
              <a:effectLst/>
              <a:uFillTx/>
              <a:latin typeface="Times New Roman"/>
            </a:endParaRPr>
          </a:p>
          <a:p>
            <a:pPr indent="0">
              <a:lnSpc>
                <a:spcPct val="90000"/>
              </a:lnSpc>
              <a:spcBef>
                <a:spcPts val="22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900" strike="noStrike" u="none">
              <a:solidFill>
                <a:srgbClr val="000000"/>
              </a:solidFill>
              <a:effectLst/>
              <a:uFillTx/>
              <a:latin typeface="Times New Roman"/>
            </a:endParaRPr>
          </a:p>
        </p:txBody>
      </p:sp>
      <p:pic>
        <p:nvPicPr>
          <p:cNvPr id="32" name="gray_fig3a" descr=""/>
          <p:cNvPicPr/>
          <p:nvPr/>
        </p:nvPicPr>
        <p:blipFill>
          <a:blip r:embed="rId1"/>
          <a:stretch/>
        </p:blipFill>
        <p:spPr>
          <a:xfrm>
            <a:off x="4952880" y="0"/>
            <a:ext cx="4191120" cy="2998800"/>
          </a:xfrm>
          <a:prstGeom prst="rect">
            <a:avLst/>
          </a:prstGeom>
          <a:noFill/>
          <a:ln w="0">
            <a:noFill/>
          </a:ln>
        </p:spPr>
      </p:pic>
      <p:pic>
        <p:nvPicPr>
          <p:cNvPr id="33" name="gray_fig3b" descr=""/>
          <p:cNvPicPr/>
          <p:nvPr/>
        </p:nvPicPr>
        <p:blipFill>
          <a:blip r:embed="rId2"/>
          <a:stretch/>
        </p:blipFill>
        <p:spPr>
          <a:xfrm>
            <a:off x="4952880" y="3124080"/>
            <a:ext cx="4191120" cy="3006720"/>
          </a:xfrm>
          <a:prstGeom prst="rect">
            <a:avLst/>
          </a:prstGeom>
          <a:noFill/>
          <a:ln w="0">
            <a:noFill/>
          </a:ln>
        </p:spPr>
      </p:pic>
      <p:pic>
        <p:nvPicPr>
          <p:cNvPr id="34" name="nrcan" descr=""/>
          <p:cNvPicPr/>
          <p:nvPr/>
        </p:nvPicPr>
        <p:blipFill>
          <a:blip r:embed="rId3"/>
          <a:stretch/>
        </p:blipFill>
        <p:spPr>
          <a:xfrm>
            <a:off x="0" y="6378480"/>
            <a:ext cx="9144000" cy="479520"/>
          </a:xfrm>
          <a:prstGeom prst="rect">
            <a:avLst/>
          </a:prstGeom>
          <a:noFill/>
          <a:ln w="0">
            <a:noFill/>
          </a:ln>
        </p:spPr>
      </p:pic>
      <p:sp>
        <p:nvSpPr>
          <p:cNvPr id="35" name=""/>
          <p:cNvSpPr/>
          <p:nvPr/>
        </p:nvSpPr>
        <p:spPr>
          <a:xfrm>
            <a:off x="4573440" y="152280"/>
            <a:ext cx="38412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A</a:t>
            </a:r>
            <a:endParaRPr b="0" lang="en-IN" sz="2400" strike="noStrike" u="none">
              <a:solidFill>
                <a:srgbClr val="000000"/>
              </a:solidFill>
              <a:effectLst/>
              <a:uFillTx/>
              <a:latin typeface="Times New Roman"/>
            </a:endParaRPr>
          </a:p>
        </p:txBody>
      </p:sp>
      <p:sp>
        <p:nvSpPr>
          <p:cNvPr id="36" name=""/>
          <p:cNvSpPr/>
          <p:nvPr/>
        </p:nvSpPr>
        <p:spPr>
          <a:xfrm>
            <a:off x="4573440" y="3124080"/>
            <a:ext cx="38412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B</a:t>
            </a:r>
            <a:endParaRPr b="0" lang="en-IN" sz="2400" strike="noStrike" u="none">
              <a:solidFill>
                <a:srgbClr val="000000"/>
              </a:solidFill>
              <a:effectLst/>
              <a:uFillTx/>
              <a:latin typeface="Times New Roman"/>
            </a:endParaRPr>
          </a:p>
        </p:txBody>
      </p:sp>
      <p:pic>
        <p:nvPicPr>
          <p:cNvPr id="37" name="gray_figure1" descr=""/>
          <p:cNvPicPr/>
          <p:nvPr/>
        </p:nvPicPr>
        <p:blipFill>
          <a:blip r:embed="rId4"/>
          <a:stretch/>
        </p:blipFill>
        <p:spPr>
          <a:xfrm>
            <a:off x="609480" y="0"/>
            <a:ext cx="3353040" cy="1606680"/>
          </a:xfrm>
          <a:prstGeom prst="rect">
            <a:avLst/>
          </a:prstGeom>
          <a:noFill/>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bg>
      <p:bgPr>
        <a:solidFill>
          <a:srgbClr val="ffffcc"/>
        </a:solidFill>
      </p:bgPr>
    </p:bg>
    <p:spTree>
      <p:nvGrpSpPr>
        <p:cNvPr id="1" name=""/>
        <p:cNvGrpSpPr/>
        <p:nvPr/>
      </p:nvGrpSpPr>
      <p:grpSpPr>
        <a:xfrm>
          <a:off x="0" y="0"/>
          <a:ext cx="0" cy="0"/>
          <a:chOff x="0" y="0"/>
          <a:chExt cx="0" cy="0"/>
        </a:xfrm>
      </p:grpSpPr>
      <p:sp>
        <p:nvSpPr>
          <p:cNvPr id="38" name="PlaceHolder 1"/>
          <p:cNvSpPr>
            <a:spLocks noGrp="1"/>
          </p:cNvSpPr>
          <p:nvPr>
            <p:ph/>
          </p:nvPr>
        </p:nvSpPr>
        <p:spPr>
          <a:xfrm>
            <a:off x="380520" y="228600"/>
            <a:ext cx="3962520" cy="2209680"/>
          </a:xfrm>
          <a:prstGeom prst="rect">
            <a:avLst/>
          </a:prstGeom>
          <a:noFill/>
          <a:ln w="0">
            <a:noFill/>
          </a:ln>
        </p:spPr>
        <p:txBody>
          <a:bodyPr lIns="90000" rIns="90000" tIns="46800" bIns="46800" anchor="t">
            <a:norm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660033"/>
                </a:solidFill>
                <a:effectLst/>
                <a:uFillTx/>
                <a:latin typeface="Times New Roman"/>
              </a:rPr>
              <a:t>Airborne laser altimetry also shows surface uplifts and depressions. While the height changes (~4 m vs. 0.5 m) and time span (2 years vs. 24 days) are larger, the differences are similar in shape to those  based on interferometry.</a:t>
            </a:r>
            <a:endParaRPr b="0" lang="en-IN" sz="1800" strike="noStrike" u="none">
              <a:solidFill>
                <a:srgbClr val="000000"/>
              </a:solidFill>
              <a:effectLst/>
              <a:uFillTx/>
              <a:latin typeface="Times New Roman"/>
            </a:endParaRPr>
          </a:p>
        </p:txBody>
      </p:sp>
      <p:pic>
        <p:nvPicPr>
          <p:cNvPr id="39" name="gray_fig4a" descr=""/>
          <p:cNvPicPr/>
          <p:nvPr/>
        </p:nvPicPr>
        <p:blipFill>
          <a:blip r:embed="rId1"/>
          <a:srcRect l="6457" t="0" r="1614" b="0"/>
          <a:stretch/>
        </p:blipFill>
        <p:spPr>
          <a:xfrm>
            <a:off x="4800600" y="2133720"/>
            <a:ext cx="4343400" cy="3549600"/>
          </a:xfrm>
          <a:prstGeom prst="rect">
            <a:avLst/>
          </a:prstGeom>
          <a:noFill/>
          <a:ln w="0">
            <a:noFill/>
          </a:ln>
        </p:spPr>
      </p:pic>
      <p:pic>
        <p:nvPicPr>
          <p:cNvPr id="40" name="gray_figure1" descr=""/>
          <p:cNvPicPr/>
          <p:nvPr/>
        </p:nvPicPr>
        <p:blipFill>
          <a:blip r:embed="rId2"/>
          <a:stretch/>
        </p:blipFill>
        <p:spPr>
          <a:xfrm>
            <a:off x="4952880" y="152280"/>
            <a:ext cx="3807000" cy="1825920"/>
          </a:xfrm>
          <a:prstGeom prst="rect">
            <a:avLst/>
          </a:prstGeom>
          <a:noFill/>
          <a:ln w="0">
            <a:noFill/>
          </a:ln>
        </p:spPr>
      </p:pic>
      <p:pic>
        <p:nvPicPr>
          <p:cNvPr id="41" name="gray_fig4b" descr=""/>
          <p:cNvPicPr/>
          <p:nvPr/>
        </p:nvPicPr>
        <p:blipFill>
          <a:blip r:embed="rId3"/>
          <a:srcRect l="7047" t="2813" r="1404" b="3442"/>
          <a:stretch/>
        </p:blipFill>
        <p:spPr>
          <a:xfrm>
            <a:off x="228600" y="2209680"/>
            <a:ext cx="4267080" cy="3283200"/>
          </a:xfrm>
          <a:prstGeom prst="rect">
            <a:avLst/>
          </a:prstGeom>
          <a:noFill/>
          <a:ln w="0">
            <a:noFill/>
          </a:ln>
        </p:spPr>
      </p:pic>
      <p:sp>
        <p:nvSpPr>
          <p:cNvPr id="42" name=""/>
          <p:cNvSpPr/>
          <p:nvPr/>
        </p:nvSpPr>
        <p:spPr>
          <a:xfrm>
            <a:off x="4614480" y="5867280"/>
            <a:ext cx="4533480" cy="30744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Times New Roman"/>
              </a:rPr>
              <a:t>Lidar data courtesy of the SOAR facility, U Texas, and NSF.</a:t>
            </a:r>
            <a:endParaRPr b="0" lang="en-IN" sz="1400" strike="noStrike" u="none">
              <a:solidFill>
                <a:srgbClr val="000000"/>
              </a:solidFill>
              <a:effectLst/>
              <a:uFillTx/>
              <a:latin typeface="Times New Roman"/>
            </a:endParaRPr>
          </a:p>
        </p:txBody>
      </p:sp>
      <p:pic>
        <p:nvPicPr>
          <p:cNvPr id="43" name="nrcan" descr=""/>
          <p:cNvPicPr/>
          <p:nvPr/>
        </p:nvPicPr>
        <p:blipFill>
          <a:blip r:embed="rId4"/>
          <a:stretch/>
        </p:blipFill>
        <p:spPr>
          <a:xfrm>
            <a:off x="0" y="6378480"/>
            <a:ext cx="9144000" cy="479520"/>
          </a:xfrm>
          <a:prstGeom prst="rect">
            <a:avLst/>
          </a:prstGeom>
          <a:noFill/>
          <a:ln w="0">
            <a:noFill/>
          </a:ln>
        </p:spPr>
      </p:pic>
      <p:sp>
        <p:nvSpPr>
          <p:cNvPr id="44" name=""/>
          <p:cNvSpPr/>
          <p:nvPr/>
        </p:nvSpPr>
        <p:spPr>
          <a:xfrm>
            <a:off x="289080" y="5621400"/>
            <a:ext cx="4206600" cy="55188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Data from Spikes et al. </a:t>
            </a:r>
            <a:r>
              <a:rPr b="1" lang="en-IN" sz="1000" strike="noStrike" u="none">
                <a:solidFill>
                  <a:srgbClr val="000000"/>
                </a:solidFill>
                <a:effectLst/>
                <a:uFillTx/>
                <a:latin typeface="Arial"/>
              </a:rPr>
              <a:t>Thickness changes on Whillans Ice Stream and Ice Stream C, West Antarctica, derived from laser altimeter measurements.</a:t>
            </a:r>
            <a:r>
              <a:rPr b="0" lang="en-IN" sz="1000" strike="noStrike" u="none">
                <a:solidFill>
                  <a:srgbClr val="000000"/>
                </a:solidFill>
                <a:effectLst/>
                <a:uFillTx/>
                <a:latin typeface="Arial"/>
              </a:rPr>
              <a:t> J. Glaciol. 49, 165, 2003.</a:t>
            </a:r>
            <a:endParaRPr b="0" lang="en-IN" sz="10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bg>
      <p:bgPr>
        <a:solidFill>
          <a:srgbClr val="ffffcc"/>
        </a:solidFill>
      </p:bgPr>
    </p:bg>
    <p:spTree>
      <p:nvGrpSpPr>
        <p:cNvPr id="1" name=""/>
        <p:cNvGrpSpPr/>
        <p:nvPr/>
      </p:nvGrpSpPr>
      <p:grpSpPr>
        <a:xfrm>
          <a:off x="0" y="0"/>
          <a:ext cx="0" cy="0"/>
          <a:chOff x="0" y="0"/>
          <a:chExt cx="0" cy="0"/>
        </a:xfrm>
      </p:grpSpPr>
      <p:pic>
        <p:nvPicPr>
          <p:cNvPr id="45" name="nrcan" descr=""/>
          <p:cNvPicPr/>
          <p:nvPr/>
        </p:nvPicPr>
        <p:blipFill>
          <a:blip r:embed="rId1"/>
          <a:stretch/>
        </p:blipFill>
        <p:spPr>
          <a:xfrm>
            <a:off x="0" y="6378480"/>
            <a:ext cx="9144000" cy="479520"/>
          </a:xfrm>
          <a:prstGeom prst="rect">
            <a:avLst/>
          </a:prstGeom>
          <a:noFill/>
          <a:ln w="0">
            <a:noFill/>
          </a:ln>
        </p:spPr>
      </p:pic>
      <p:pic>
        <p:nvPicPr>
          <p:cNvPr id="46" name="imgen_bed2_bbd_srf" descr=""/>
          <p:cNvPicPr/>
          <p:nvPr/>
        </p:nvPicPr>
        <p:blipFill>
          <a:blip r:embed="rId2"/>
          <a:srcRect l="13771" t="7245" r="10508" b="37682"/>
          <a:stretch/>
        </p:blipFill>
        <p:spPr>
          <a:xfrm>
            <a:off x="5791320" y="304920"/>
            <a:ext cx="3352680" cy="2895480"/>
          </a:xfrm>
          <a:prstGeom prst="rect">
            <a:avLst/>
          </a:prstGeom>
          <a:noFill/>
          <a:ln w="0">
            <a:noFill/>
          </a:ln>
        </p:spPr>
      </p:pic>
      <p:sp>
        <p:nvSpPr>
          <p:cNvPr id="47" name=""/>
          <p:cNvSpPr/>
          <p:nvPr/>
        </p:nvSpPr>
        <p:spPr>
          <a:xfrm>
            <a:off x="152280" y="228600"/>
            <a:ext cx="3983040" cy="192348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660033"/>
                </a:solidFill>
                <a:effectLst/>
                <a:uFillTx/>
                <a:latin typeface="Arial"/>
              </a:rPr>
              <a:t>The colored dots are surface and bed elevations from the CASERTZ program. There appears to be a dip in both the surface and bed elevations at the site of the surface deflation.</a:t>
            </a:r>
            <a:endParaRPr b="0" lang="en-IN" sz="2000" strike="noStrike" u="none">
              <a:solidFill>
                <a:srgbClr val="000000"/>
              </a:solidFill>
              <a:effectLst/>
              <a:uFillTx/>
              <a:latin typeface="Times New Roman"/>
            </a:endParaRPr>
          </a:p>
        </p:txBody>
      </p:sp>
      <p:pic>
        <p:nvPicPr>
          <p:cNvPr id="48" name="bot_srf_AA_1" descr=""/>
          <p:cNvPicPr/>
          <p:nvPr/>
        </p:nvPicPr>
        <p:blipFill>
          <a:blip r:embed="rId3"/>
          <a:srcRect l="7294" t="6444" r="7294" b="2776"/>
          <a:stretch/>
        </p:blipFill>
        <p:spPr>
          <a:xfrm>
            <a:off x="152280" y="3124080"/>
            <a:ext cx="4038840" cy="3219480"/>
          </a:xfrm>
          <a:prstGeom prst="rect">
            <a:avLst/>
          </a:prstGeom>
          <a:noFill/>
          <a:ln w="0">
            <a:noFill/>
          </a:ln>
        </p:spPr>
      </p:pic>
      <p:pic>
        <p:nvPicPr>
          <p:cNvPr id="49" name="imgen_bed2_bbd_bed" descr=""/>
          <p:cNvPicPr/>
          <p:nvPr/>
        </p:nvPicPr>
        <p:blipFill>
          <a:blip r:embed="rId4"/>
          <a:srcRect l="13013" t="8219" r="10537" b="36986"/>
          <a:stretch/>
        </p:blipFill>
        <p:spPr>
          <a:xfrm>
            <a:off x="5791320" y="3505320"/>
            <a:ext cx="3352680" cy="2852640"/>
          </a:xfrm>
          <a:prstGeom prst="rect">
            <a:avLst/>
          </a:prstGeom>
          <a:noFill/>
          <a:ln w="0">
            <a:noFill/>
          </a:ln>
        </p:spPr>
      </p:pic>
      <p:sp>
        <p:nvSpPr>
          <p:cNvPr id="50" name=""/>
          <p:cNvSpPr/>
          <p:nvPr/>
        </p:nvSpPr>
        <p:spPr>
          <a:xfrm>
            <a:off x="831960" y="2743200"/>
            <a:ext cx="2658600" cy="3074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660033"/>
                </a:solidFill>
                <a:effectLst/>
                <a:uFillTx/>
                <a:latin typeface="Arial"/>
              </a:rPr>
              <a:t>Surface and bed elevations (m)</a:t>
            </a:r>
            <a:endParaRPr b="0" lang="en-IN" sz="14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bg>
      <p:bgPr>
        <a:solidFill>
          <a:srgbClr val="ffffcc"/>
        </a:solidFill>
      </p:bgPr>
    </p:bg>
    <p:spTree>
      <p:nvGrpSpPr>
        <p:cNvPr id="1" name=""/>
        <p:cNvGrpSpPr/>
        <p:nvPr/>
      </p:nvGrpSpPr>
      <p:grpSpPr>
        <a:xfrm>
          <a:off x="0" y="0"/>
          <a:ext cx="0" cy="0"/>
          <a:chOff x="0" y="0"/>
          <a:chExt cx="0" cy="0"/>
        </a:xfrm>
      </p:grpSpPr>
      <p:pic>
        <p:nvPicPr>
          <p:cNvPr id="51" name="nrcan" descr=""/>
          <p:cNvPicPr/>
          <p:nvPr/>
        </p:nvPicPr>
        <p:blipFill>
          <a:blip r:embed="rId1"/>
          <a:stretch/>
        </p:blipFill>
        <p:spPr>
          <a:xfrm>
            <a:off x="0" y="6378480"/>
            <a:ext cx="9144000" cy="479520"/>
          </a:xfrm>
          <a:prstGeom prst="rect">
            <a:avLst/>
          </a:prstGeom>
          <a:noFill/>
          <a:ln w="0">
            <a:noFill/>
          </a:ln>
        </p:spPr>
      </p:pic>
      <p:sp>
        <p:nvSpPr>
          <p:cNvPr id="52" name="PlaceHolder 1"/>
          <p:cNvSpPr>
            <a:spLocks noGrp="1"/>
          </p:cNvSpPr>
          <p:nvPr>
            <p:ph/>
          </p:nvPr>
        </p:nvSpPr>
        <p:spPr>
          <a:xfrm>
            <a:off x="304560" y="1066320"/>
            <a:ext cx="4800600" cy="4800600"/>
          </a:xfrm>
          <a:prstGeom prst="rect">
            <a:avLst/>
          </a:prstGeom>
          <a:noFill/>
          <a:ln w="0">
            <a:noFill/>
          </a:ln>
        </p:spPr>
        <p:txBody>
          <a:bodyPr lIns="90000" rIns="90000" tIns="46800" bIns="46800" anchor="t">
            <a:normAutofit/>
          </a:bodyPr>
          <a:p>
            <a:pPr indent="0">
              <a:lnSpc>
                <a:spcPct val="9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660033"/>
                </a:solidFill>
                <a:effectLst/>
                <a:uFillTx/>
                <a:latin typeface="Arial"/>
              </a:rPr>
              <a:t>1.   Ice motion (non-equilibrium)… then continuity should apply. The 24 day ice volume flux through G1 is ~ (18.1</a:t>
            </a:r>
            <a:r>
              <a:rPr b="0" lang="en-IN" sz="1800" strike="noStrike" u="none">
                <a:solidFill>
                  <a:srgbClr val="660033"/>
                </a:solidFill>
                <a:effectLst/>
                <a:uFillTx/>
                <a:latin typeface="Arial"/>
                <a:ea typeface="Arial"/>
              </a:rPr>
              <a:t>±2).</a:t>
            </a:r>
            <a:r>
              <a:rPr b="0" lang="en-IN" sz="1800" strike="noStrike" u="none">
                <a:solidFill>
                  <a:srgbClr val="660033"/>
                </a:solidFill>
                <a:effectLst/>
                <a:uFillTx/>
                <a:latin typeface="Arial"/>
              </a:rPr>
              <a:t>10</a:t>
            </a:r>
            <a:r>
              <a:rPr b="0" lang="en-IN" sz="1800" strike="noStrike" u="none" baseline="30000">
                <a:solidFill>
                  <a:srgbClr val="660033"/>
                </a:solidFill>
                <a:effectLst/>
                <a:uFillTx/>
                <a:latin typeface="Arial"/>
              </a:rPr>
              <a:t>6  </a:t>
            </a:r>
            <a:r>
              <a:rPr b="0" lang="en-IN" sz="1800" strike="noStrike" u="none">
                <a:solidFill>
                  <a:srgbClr val="660033"/>
                </a:solidFill>
                <a:effectLst/>
                <a:uFillTx/>
                <a:latin typeface="Arial"/>
              </a:rPr>
              <a:t>m</a:t>
            </a:r>
            <a:r>
              <a:rPr b="0" lang="en-IN" sz="1800" strike="noStrike" u="none" baseline="30000">
                <a:solidFill>
                  <a:srgbClr val="660033"/>
                </a:solidFill>
                <a:effectLst/>
                <a:uFillTx/>
                <a:latin typeface="Arial"/>
              </a:rPr>
              <a:t>3</a:t>
            </a:r>
            <a:r>
              <a:rPr b="0" lang="en-IN" sz="1800" strike="noStrike" u="none">
                <a:solidFill>
                  <a:srgbClr val="660033"/>
                </a:solidFill>
                <a:effectLst/>
                <a:uFillTx/>
                <a:latin typeface="Arial"/>
              </a:rPr>
              <a:t>,</a:t>
            </a:r>
            <a:r>
              <a:rPr b="0" lang="en-IN" sz="1800" strike="noStrike" u="none" baseline="30000">
                <a:solidFill>
                  <a:srgbClr val="660033"/>
                </a:solidFill>
                <a:effectLst/>
                <a:uFillTx/>
                <a:latin typeface="Arial"/>
              </a:rPr>
              <a:t> </a:t>
            </a:r>
            <a:r>
              <a:rPr b="0" lang="en-IN" sz="1800" strike="noStrike" u="none">
                <a:solidFill>
                  <a:srgbClr val="660033"/>
                </a:solidFill>
                <a:effectLst/>
                <a:uFillTx/>
                <a:latin typeface="Arial"/>
              </a:rPr>
              <a:t>G2 is ~ (18.5</a:t>
            </a:r>
            <a:r>
              <a:rPr b="0" lang="en-IN" sz="1800" strike="noStrike" u="none">
                <a:solidFill>
                  <a:srgbClr val="660033"/>
                </a:solidFill>
                <a:effectLst/>
                <a:uFillTx/>
                <a:latin typeface="Arial"/>
                <a:ea typeface="Arial"/>
              </a:rPr>
              <a:t>±2).</a:t>
            </a:r>
            <a:r>
              <a:rPr b="0" lang="en-IN" sz="1800" strike="noStrike" u="none">
                <a:solidFill>
                  <a:srgbClr val="660033"/>
                </a:solidFill>
                <a:effectLst/>
                <a:uFillTx/>
                <a:latin typeface="Arial"/>
              </a:rPr>
              <a:t>10</a:t>
            </a:r>
            <a:r>
              <a:rPr b="0" lang="en-IN" sz="1800" strike="noStrike" u="none" baseline="30000">
                <a:solidFill>
                  <a:srgbClr val="660033"/>
                </a:solidFill>
                <a:effectLst/>
                <a:uFillTx/>
                <a:latin typeface="Arial"/>
              </a:rPr>
              <a:t>6  </a:t>
            </a:r>
            <a:r>
              <a:rPr b="0" lang="en-IN" sz="1800" strike="noStrike" u="none">
                <a:solidFill>
                  <a:srgbClr val="660033"/>
                </a:solidFill>
                <a:effectLst/>
                <a:uFillTx/>
                <a:latin typeface="Arial"/>
              </a:rPr>
              <a:t>m</a:t>
            </a:r>
            <a:r>
              <a:rPr b="0" lang="en-IN" sz="1800" strike="noStrike" u="none" baseline="30000">
                <a:solidFill>
                  <a:srgbClr val="660033"/>
                </a:solidFill>
                <a:effectLst/>
                <a:uFillTx/>
                <a:latin typeface="Arial"/>
              </a:rPr>
              <a:t>3</a:t>
            </a:r>
            <a:r>
              <a:rPr b="0" lang="en-IN" sz="1800" strike="noStrike" u="none">
                <a:solidFill>
                  <a:srgbClr val="660033"/>
                </a:solidFill>
                <a:effectLst/>
                <a:uFillTx/>
                <a:latin typeface="Arial"/>
              </a:rPr>
              <a:t>, but the surface subsidence is equivalent to</a:t>
            </a:r>
            <a:r>
              <a:rPr b="0" lang="en-IN" sz="1800" strike="noStrike" u="none" baseline="30000">
                <a:solidFill>
                  <a:srgbClr val="660033"/>
                </a:solidFill>
                <a:effectLst/>
                <a:uFillTx/>
                <a:latin typeface="Arial"/>
              </a:rPr>
              <a:t> </a:t>
            </a:r>
            <a:r>
              <a:rPr b="0" lang="en-IN" sz="1800" strike="noStrike" u="none">
                <a:solidFill>
                  <a:srgbClr val="660033"/>
                </a:solidFill>
                <a:effectLst/>
                <a:uFillTx/>
                <a:latin typeface="Arial"/>
              </a:rPr>
              <a:t>a volume of</a:t>
            </a:r>
            <a:r>
              <a:rPr b="0" lang="en-IN" sz="1800" strike="noStrike" u="none" baseline="30000">
                <a:solidFill>
                  <a:srgbClr val="660033"/>
                </a:solidFill>
                <a:effectLst/>
                <a:uFillTx/>
                <a:latin typeface="Arial"/>
              </a:rPr>
              <a:t> </a:t>
            </a:r>
            <a:r>
              <a:rPr b="0" lang="en-IN" sz="1800" strike="noStrike" u="none">
                <a:solidFill>
                  <a:srgbClr val="660033"/>
                </a:solidFill>
                <a:effectLst/>
                <a:uFillTx/>
                <a:latin typeface="Arial"/>
              </a:rPr>
              <a:t>~ (6.7</a:t>
            </a:r>
            <a:r>
              <a:rPr b="0" lang="en-IN" sz="1800" strike="noStrike" u="none">
                <a:solidFill>
                  <a:srgbClr val="660033"/>
                </a:solidFill>
                <a:effectLst/>
                <a:uFillTx/>
                <a:latin typeface="Arial"/>
                <a:ea typeface="Arial"/>
              </a:rPr>
              <a:t>±1). </a:t>
            </a:r>
            <a:r>
              <a:rPr b="0" lang="en-IN" sz="1800" strike="noStrike" u="none">
                <a:solidFill>
                  <a:srgbClr val="660033"/>
                </a:solidFill>
                <a:effectLst/>
                <a:uFillTx/>
                <a:latin typeface="Arial"/>
              </a:rPr>
              <a:t>10</a:t>
            </a:r>
            <a:r>
              <a:rPr b="0" lang="en-IN" sz="1800" strike="noStrike" u="none" baseline="30000">
                <a:solidFill>
                  <a:srgbClr val="660033"/>
                </a:solidFill>
                <a:effectLst/>
                <a:uFillTx/>
                <a:latin typeface="Arial"/>
              </a:rPr>
              <a:t>6  </a:t>
            </a:r>
            <a:r>
              <a:rPr b="0" lang="en-IN" sz="1800" strike="noStrike" u="none">
                <a:solidFill>
                  <a:srgbClr val="660033"/>
                </a:solidFill>
                <a:effectLst/>
                <a:uFillTx/>
                <a:latin typeface="Arial"/>
              </a:rPr>
              <a:t>m</a:t>
            </a:r>
            <a:r>
              <a:rPr b="0" lang="en-IN" sz="1800" strike="noStrike" u="none" baseline="30000">
                <a:solidFill>
                  <a:srgbClr val="660033"/>
                </a:solidFill>
                <a:effectLst/>
                <a:uFillTx/>
                <a:latin typeface="Arial"/>
              </a:rPr>
              <a:t>3</a:t>
            </a:r>
            <a:r>
              <a:rPr b="0" lang="en-IN" sz="1800" strike="noStrike" u="none">
                <a:solidFill>
                  <a:srgbClr val="660033"/>
                </a:solidFill>
                <a:effectLst/>
                <a:uFillTx/>
                <a:latin typeface="Arial"/>
              </a:rPr>
              <a:t>. </a:t>
            </a:r>
            <a:r>
              <a:rPr b="0" lang="en-IN" sz="1800" strike="noStrike" u="none" baseline="30000">
                <a:solidFill>
                  <a:srgbClr val="660033"/>
                </a:solidFill>
                <a:effectLst/>
                <a:uFillTx/>
                <a:latin typeface="Arial"/>
              </a:rPr>
              <a:t> </a:t>
            </a:r>
            <a:r>
              <a:rPr b="0" lang="en-IN" sz="1800" strike="noStrike" u="none">
                <a:solidFill>
                  <a:srgbClr val="660033"/>
                </a:solidFill>
                <a:effectLst/>
                <a:uFillTx/>
                <a:latin typeface="Arial"/>
              </a:rPr>
              <a:t>So if the subsurface ice motion mirrors the surface motion then there is not enough ice going out through G2. As we don’t have precise ice thickness estimates for G1 and G2 the error margins are just estimates.</a:t>
            </a:r>
            <a:endParaRPr b="0" lang="en-IN" sz="1800" strike="noStrike" u="none">
              <a:solidFill>
                <a:srgbClr val="000000"/>
              </a:solidFill>
              <a:effectLst/>
              <a:uFillTx/>
              <a:latin typeface="Times New Roman"/>
            </a:endParaRPr>
          </a:p>
          <a:p>
            <a:pPr indent="0">
              <a:lnSpc>
                <a:spcPct val="9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Times New Roman"/>
            </a:endParaRPr>
          </a:p>
          <a:p>
            <a:pPr indent="0">
              <a:lnSpc>
                <a:spcPct val="9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660033"/>
                </a:solidFill>
                <a:effectLst/>
                <a:uFillTx/>
                <a:latin typeface="Arial"/>
              </a:rPr>
              <a:t>Maybe the missing volume is not ice but water, so that we are observing…</a:t>
            </a:r>
            <a:endParaRPr b="0" lang="en-IN" sz="1800" strike="noStrike" u="none">
              <a:solidFill>
                <a:srgbClr val="000000"/>
              </a:solidFill>
              <a:effectLst/>
              <a:uFillTx/>
              <a:latin typeface="Times New Roman"/>
            </a:endParaRPr>
          </a:p>
          <a:p>
            <a:pPr indent="0">
              <a:lnSpc>
                <a:spcPct val="9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660033"/>
                </a:solidFill>
                <a:effectLst/>
                <a:uFillTx/>
                <a:latin typeface="Arial"/>
              </a:rPr>
              <a:t>2.   Movement of ‘pockets’ of subglacial water. Also, all the ‘features’ appear to be at hydropotential wells so water can certainly collect there.</a:t>
            </a:r>
            <a:endParaRPr b="0" lang="en-IN" sz="1800" strike="noStrike" u="none">
              <a:solidFill>
                <a:srgbClr val="000000"/>
              </a:solidFill>
              <a:effectLst/>
              <a:uFillTx/>
              <a:latin typeface="Times New Roman"/>
            </a:endParaRPr>
          </a:p>
        </p:txBody>
      </p:sp>
      <p:sp>
        <p:nvSpPr>
          <p:cNvPr id="53" name=""/>
          <p:cNvSpPr/>
          <p:nvPr/>
        </p:nvSpPr>
        <p:spPr>
          <a:xfrm>
            <a:off x="304920" y="254160"/>
            <a:ext cx="5410080" cy="64260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660033"/>
                </a:solidFill>
                <a:effectLst/>
                <a:uFillTx/>
                <a:latin typeface="Arial"/>
              </a:rPr>
              <a:t>Possible explanations for the anomalous vertical motion ?</a:t>
            </a:r>
            <a:endParaRPr b="0" lang="en-IN" sz="1800" strike="noStrike" u="none">
              <a:solidFill>
                <a:srgbClr val="000000"/>
              </a:solidFill>
              <a:effectLst/>
              <a:uFillTx/>
              <a:latin typeface="Times New Roman"/>
            </a:endParaRPr>
          </a:p>
        </p:txBody>
      </p:sp>
      <p:pic>
        <p:nvPicPr>
          <p:cNvPr id="54" name="newd3b%20copy" descr=""/>
          <p:cNvPicPr/>
          <p:nvPr/>
        </p:nvPicPr>
        <p:blipFill>
          <a:blip r:embed="rId2"/>
          <a:srcRect l="26046" t="25003" r="46880" b="41672"/>
          <a:stretch/>
        </p:blipFill>
        <p:spPr>
          <a:xfrm>
            <a:off x="5867280" y="0"/>
            <a:ext cx="2895840" cy="2671920"/>
          </a:xfrm>
          <a:prstGeom prst="rect">
            <a:avLst/>
          </a:prstGeom>
          <a:noFill/>
          <a:ln w="0">
            <a:noFill/>
          </a:ln>
        </p:spPr>
      </p:pic>
      <p:pic>
        <p:nvPicPr>
          <p:cNvPr id="55" name="profiles" descr=""/>
          <p:cNvPicPr/>
          <p:nvPr/>
        </p:nvPicPr>
        <p:blipFill>
          <a:blip r:embed="rId3"/>
          <a:srcRect l="24131" t="35366" r="47204" b="8539"/>
          <a:stretch/>
        </p:blipFill>
        <p:spPr>
          <a:xfrm>
            <a:off x="5486400" y="2743200"/>
            <a:ext cx="3657600" cy="3505320"/>
          </a:xfrm>
          <a:prstGeom prst="rect">
            <a:avLst/>
          </a:prstGeom>
          <a:noFill/>
          <a:ln w="0">
            <a:noFill/>
          </a:ln>
        </p:spPr>
      </p:pic>
      <p:sp>
        <p:nvSpPr>
          <p:cNvPr id="56" name=""/>
          <p:cNvSpPr/>
          <p:nvPr/>
        </p:nvSpPr>
        <p:spPr>
          <a:xfrm>
            <a:off x="6781680" y="1600200"/>
            <a:ext cx="76320" cy="22860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IN" sz="2400" strike="noStrike" u="none">
              <a:solidFill>
                <a:srgbClr val="000000"/>
              </a:solidFill>
              <a:effectLst/>
              <a:uFillTx/>
              <a:latin typeface="Times New Roman"/>
            </a:endParaRPr>
          </a:p>
        </p:txBody>
      </p:sp>
      <p:sp>
        <p:nvSpPr>
          <p:cNvPr id="57" name=""/>
          <p:cNvSpPr/>
          <p:nvPr/>
        </p:nvSpPr>
        <p:spPr>
          <a:xfrm>
            <a:off x="7848720" y="1447920"/>
            <a:ext cx="75960" cy="22860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IN" sz="2400" strike="noStrike" u="none">
              <a:solidFill>
                <a:srgbClr val="000000"/>
              </a:solidFill>
              <a:effectLst/>
              <a:uFillTx/>
              <a:latin typeface="Times New Roman"/>
            </a:endParaRPr>
          </a:p>
        </p:txBody>
      </p:sp>
      <p:sp>
        <p:nvSpPr>
          <p:cNvPr id="58" name=""/>
          <p:cNvSpPr/>
          <p:nvPr/>
        </p:nvSpPr>
        <p:spPr>
          <a:xfrm>
            <a:off x="5106240" y="5943600"/>
            <a:ext cx="379080" cy="3074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Arial"/>
              </a:rPr>
              <a:t>30</a:t>
            </a:r>
            <a:endParaRPr b="0" lang="en-IN" sz="1400" strike="noStrike" u="none">
              <a:solidFill>
                <a:srgbClr val="000000"/>
              </a:solidFill>
              <a:effectLst/>
              <a:uFillTx/>
              <a:latin typeface="Times New Roman"/>
            </a:endParaRPr>
          </a:p>
        </p:txBody>
      </p:sp>
      <p:sp>
        <p:nvSpPr>
          <p:cNvPr id="59" name=""/>
          <p:cNvSpPr/>
          <p:nvPr/>
        </p:nvSpPr>
        <p:spPr>
          <a:xfrm>
            <a:off x="5106240" y="5562720"/>
            <a:ext cx="379080" cy="3074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Arial"/>
              </a:rPr>
              <a:t>40</a:t>
            </a:r>
            <a:endParaRPr b="0" lang="en-IN" sz="1400" strike="noStrike" u="none">
              <a:solidFill>
                <a:srgbClr val="000000"/>
              </a:solidFill>
              <a:effectLst/>
              <a:uFillTx/>
              <a:latin typeface="Times New Roman"/>
            </a:endParaRPr>
          </a:p>
        </p:txBody>
      </p:sp>
      <p:sp>
        <p:nvSpPr>
          <p:cNvPr id="60" name=""/>
          <p:cNvSpPr/>
          <p:nvPr/>
        </p:nvSpPr>
        <p:spPr>
          <a:xfrm>
            <a:off x="6706440" y="1752480"/>
            <a:ext cx="418680" cy="3074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000000"/>
                </a:solidFill>
                <a:effectLst/>
                <a:uFillTx/>
                <a:latin typeface="Arial"/>
              </a:rPr>
              <a:t>G1</a:t>
            </a:r>
            <a:endParaRPr b="0" lang="en-IN" sz="1400" strike="noStrike" u="none">
              <a:solidFill>
                <a:srgbClr val="000000"/>
              </a:solidFill>
              <a:effectLst/>
              <a:uFillTx/>
              <a:latin typeface="Times New Roman"/>
            </a:endParaRPr>
          </a:p>
        </p:txBody>
      </p:sp>
      <p:sp>
        <p:nvSpPr>
          <p:cNvPr id="61" name=""/>
          <p:cNvSpPr/>
          <p:nvPr/>
        </p:nvSpPr>
        <p:spPr>
          <a:xfrm>
            <a:off x="7773480" y="1600200"/>
            <a:ext cx="418680" cy="3074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000000"/>
                </a:solidFill>
                <a:effectLst/>
                <a:uFillTx/>
                <a:latin typeface="Arial"/>
              </a:rPr>
              <a:t>G2</a:t>
            </a:r>
            <a:endParaRPr b="0" lang="en-IN" sz="1400" strike="noStrike" u="none">
              <a:solidFill>
                <a:srgbClr val="000000"/>
              </a:solidFill>
              <a:effectLst/>
              <a:uFillTx/>
              <a:latin typeface="Times New Roman"/>
            </a:endParaRPr>
          </a:p>
        </p:txBody>
      </p:sp>
      <p:sp>
        <p:nvSpPr>
          <p:cNvPr id="62" name=""/>
          <p:cNvSpPr/>
          <p:nvPr/>
        </p:nvSpPr>
        <p:spPr>
          <a:xfrm>
            <a:off x="5844960" y="2830680"/>
            <a:ext cx="3054960" cy="3074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Arial"/>
              </a:rPr>
              <a:t>24 day vertical displacement profiles</a:t>
            </a:r>
            <a:endParaRPr b="0" lang="en-IN" sz="1400" strike="noStrike" u="none">
              <a:solidFill>
                <a:srgbClr val="000000"/>
              </a:solidFill>
              <a:effectLst/>
              <a:uFillTx/>
              <a:latin typeface="Times New Roman"/>
            </a:endParaRPr>
          </a:p>
        </p:txBody>
      </p:sp>
      <p:sp>
        <p:nvSpPr>
          <p:cNvPr id="63" name=""/>
          <p:cNvSpPr/>
          <p:nvPr/>
        </p:nvSpPr>
        <p:spPr>
          <a:xfrm>
            <a:off x="5847480" y="4659480"/>
            <a:ext cx="2043720" cy="3074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Arial"/>
              </a:rPr>
              <a:t>Ice speed profiles (m/a)</a:t>
            </a:r>
            <a:endParaRPr b="0" lang="en-IN" sz="1400" strike="noStrike" u="none">
              <a:solidFill>
                <a:srgbClr val="000000"/>
              </a:solidFill>
              <a:effectLst/>
              <a:uFillTx/>
              <a:latin typeface="Times New Roman"/>
            </a:endParaRPr>
          </a:p>
        </p:txBody>
      </p:sp>
      <p:sp>
        <p:nvSpPr>
          <p:cNvPr id="64" name=""/>
          <p:cNvSpPr/>
          <p:nvPr/>
        </p:nvSpPr>
        <p:spPr>
          <a:xfrm>
            <a:off x="7148160" y="4354560"/>
            <a:ext cx="497880" cy="3074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Arial"/>
              </a:rPr>
              <a:t>Km.</a:t>
            </a:r>
            <a:endParaRPr b="0" lang="en-IN" sz="1400" strike="noStrike" u="none">
              <a:solidFill>
                <a:srgbClr val="000000"/>
              </a:solidFill>
              <a:effectLst/>
              <a:uFillTx/>
              <a:latin typeface="Times New Roman"/>
            </a:endParaRPr>
          </a:p>
        </p:txBody>
      </p:sp>
      <p:sp>
        <p:nvSpPr>
          <p:cNvPr id="65" name=""/>
          <p:cNvSpPr/>
          <p:nvPr/>
        </p:nvSpPr>
        <p:spPr>
          <a:xfrm>
            <a:off x="5105520" y="5181480"/>
            <a:ext cx="380880" cy="3074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Arial"/>
              </a:rPr>
              <a:t>50</a:t>
            </a:r>
            <a:endParaRPr b="0" lang="en-IN" sz="1400" strike="noStrike" u="none">
              <a:solidFill>
                <a:srgbClr val="000000"/>
              </a:solidFill>
              <a:effectLst/>
              <a:uFillTx/>
              <a:latin typeface="Times New Roman"/>
            </a:endParaRPr>
          </a:p>
        </p:txBody>
      </p:sp>
      <p:sp>
        <p:nvSpPr>
          <p:cNvPr id="66" name=""/>
          <p:cNvSpPr/>
          <p:nvPr/>
        </p:nvSpPr>
        <p:spPr>
          <a:xfrm>
            <a:off x="5259240" y="3048120"/>
            <a:ext cx="279720" cy="3074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Arial"/>
              </a:rPr>
              <a:t>0</a:t>
            </a:r>
            <a:endParaRPr b="0" lang="en-IN" sz="1400" strike="noStrike" u="none">
              <a:solidFill>
                <a:srgbClr val="000000"/>
              </a:solidFill>
              <a:effectLst/>
              <a:uFillTx/>
              <a:latin typeface="Times New Roman"/>
            </a:endParaRPr>
          </a:p>
        </p:txBody>
      </p:sp>
      <p:sp>
        <p:nvSpPr>
          <p:cNvPr id="67" name=""/>
          <p:cNvSpPr/>
          <p:nvPr/>
        </p:nvSpPr>
        <p:spPr>
          <a:xfrm>
            <a:off x="5029200" y="3352680"/>
            <a:ext cx="725760" cy="3074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Arial"/>
              </a:rPr>
              <a:t>-20 cm</a:t>
            </a:r>
            <a:endParaRPr b="0" lang="en-IN" sz="1400" strike="noStrike" u="none">
              <a:solidFill>
                <a:srgbClr val="000000"/>
              </a:solidFill>
              <a:effectLst/>
              <a:uFillTx/>
              <a:latin typeface="Times New Roman"/>
            </a:endParaRPr>
          </a:p>
        </p:txBody>
      </p:sp>
      <p:sp>
        <p:nvSpPr>
          <p:cNvPr id="68" name=""/>
          <p:cNvSpPr/>
          <p:nvPr/>
        </p:nvSpPr>
        <p:spPr>
          <a:xfrm>
            <a:off x="5029200" y="3733920"/>
            <a:ext cx="725760" cy="3074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Arial"/>
              </a:rPr>
              <a:t>-40 cm</a:t>
            </a:r>
            <a:endParaRPr b="0" lang="en-IN" sz="1400" strike="noStrike" u="none">
              <a:solidFill>
                <a:srgbClr val="000000"/>
              </a:solidFill>
              <a:effectLst/>
              <a:uFillTx/>
              <a:latin typeface="Times New Roman"/>
            </a:endParaRPr>
          </a:p>
        </p:txBody>
      </p:sp>
      <p:sp>
        <p:nvSpPr>
          <p:cNvPr id="69" name=""/>
          <p:cNvSpPr/>
          <p:nvPr/>
        </p:nvSpPr>
        <p:spPr>
          <a:xfrm>
            <a:off x="5013360" y="4049640"/>
            <a:ext cx="473040" cy="3074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Arial"/>
              </a:rPr>
              <a:t>-60</a:t>
            </a:r>
            <a:endParaRPr b="0" lang="en-IN" sz="14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bg>
      <p:bgPr>
        <a:solidFill>
          <a:srgbClr val="ffffcc"/>
        </a:solidFill>
      </p:bgPr>
    </p:bg>
    <p:spTree>
      <p:nvGrpSpPr>
        <p:cNvPr id="1" name=""/>
        <p:cNvGrpSpPr/>
        <p:nvPr/>
      </p:nvGrpSpPr>
      <p:grpSpPr>
        <a:xfrm>
          <a:off x="0" y="0"/>
          <a:ext cx="0" cy="0"/>
          <a:chOff x="0" y="0"/>
          <a:chExt cx="0" cy="0"/>
        </a:xfrm>
      </p:grpSpPr>
      <p:pic>
        <p:nvPicPr>
          <p:cNvPr id="70" name="nrcan" descr=""/>
          <p:cNvPicPr/>
          <p:nvPr/>
        </p:nvPicPr>
        <p:blipFill>
          <a:blip r:embed="rId1"/>
          <a:stretch/>
        </p:blipFill>
        <p:spPr>
          <a:xfrm>
            <a:off x="0" y="6378480"/>
            <a:ext cx="9144000" cy="479520"/>
          </a:xfrm>
          <a:prstGeom prst="rect">
            <a:avLst/>
          </a:prstGeom>
          <a:noFill/>
          <a:ln w="0">
            <a:noFill/>
          </a:ln>
        </p:spPr>
      </p:pic>
      <p:sp>
        <p:nvSpPr>
          <p:cNvPr id="71" name="PlaceHolder 1"/>
          <p:cNvSpPr>
            <a:spLocks noGrp="1"/>
          </p:cNvSpPr>
          <p:nvPr>
            <p:ph type="title"/>
          </p:nvPr>
        </p:nvSpPr>
        <p:spPr>
          <a:xfrm>
            <a:off x="151920" y="152280"/>
            <a:ext cx="3581640" cy="5181840"/>
          </a:xfrm>
          <a:prstGeom prst="rect">
            <a:avLst/>
          </a:prstGeom>
          <a:noFill/>
          <a:ln w="0">
            <a:noFill/>
          </a:ln>
        </p:spPr>
        <p:txBody>
          <a:bodyPr lIns="90000" rIns="90000" tIns="46800" bIns="46800" anchor="ctr">
            <a:noAutofit/>
          </a:bodyPr>
          <a:p>
            <a: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660033"/>
                </a:solidFill>
                <a:effectLst/>
                <a:uFillTx/>
                <a:latin typeface="Arial"/>
              </a:rPr>
              <a:t>Time varying basal conditions?</a:t>
            </a:r>
            <a:br>
              <a:rPr sz="1600"/>
            </a:br>
            <a:r>
              <a:rPr b="0" lang="en-IN" sz="1600" strike="noStrike" u="none">
                <a:solidFill>
                  <a:srgbClr val="660033"/>
                </a:solidFill>
                <a:effectLst/>
                <a:uFillTx/>
                <a:latin typeface="Arial"/>
              </a:rPr>
              <a:t> </a:t>
            </a:r>
            <a:br>
              <a:rPr sz="1600"/>
            </a:br>
            <a:r>
              <a:rPr b="0" lang="en-IN" sz="1600" strike="noStrike" u="none">
                <a:solidFill>
                  <a:srgbClr val="660033"/>
                </a:solidFill>
                <a:effectLst/>
                <a:uFillTx/>
                <a:latin typeface="Arial"/>
              </a:rPr>
              <a:t>The upper image is the vertical displacement data with a black line indicating the position of BAS near-surface RES data illustrated in the lower image. This is data courtesy of Ed King, BAS, and was presented at the IGS, Chamonix meeting. </a:t>
            </a:r>
            <a:br>
              <a:rPr sz="1600"/>
            </a:br>
            <a:br>
              <a:rPr sz="1600"/>
            </a:br>
            <a:r>
              <a:rPr b="0" lang="en-IN" sz="1600" strike="noStrike" u="none">
                <a:solidFill>
                  <a:srgbClr val="660033"/>
                </a:solidFill>
                <a:effectLst/>
                <a:uFillTx/>
                <a:latin typeface="Arial"/>
              </a:rPr>
              <a:t>Note the folds in the layering and the changes over time in the way in which the peaks and troughs are positioned in the along-flow direction. While there are undoubtedly changes in accumulation in this area, is the complexity of the layer folding evidence for changing basal conditions ?</a:t>
            </a:r>
            <a:endParaRPr b="1" lang="en-IN" sz="1600" strike="noStrike" u="none">
              <a:solidFill>
                <a:srgbClr val="660033"/>
              </a:solidFill>
              <a:effectLst/>
              <a:uFillTx/>
              <a:latin typeface="Tahoma"/>
            </a:endParaRPr>
          </a:p>
        </p:txBody>
      </p:sp>
      <p:pic>
        <p:nvPicPr>
          <p:cNvPr id="72" name="d3&amp;ek_line" descr=""/>
          <p:cNvPicPr/>
          <p:nvPr/>
        </p:nvPicPr>
        <p:blipFill>
          <a:blip r:embed="rId2"/>
          <a:stretch/>
        </p:blipFill>
        <p:spPr>
          <a:xfrm>
            <a:off x="3886200" y="0"/>
            <a:ext cx="4923000" cy="3535200"/>
          </a:xfrm>
          <a:prstGeom prst="rect">
            <a:avLst/>
          </a:prstGeom>
          <a:noFill/>
          <a:ln w="0">
            <a:noFill/>
          </a:ln>
        </p:spPr>
      </p:pic>
      <p:pic>
        <p:nvPicPr>
          <p:cNvPr id="73" name="chamonix_layers_bowl" descr=""/>
          <p:cNvPicPr/>
          <p:nvPr/>
        </p:nvPicPr>
        <p:blipFill>
          <a:blip r:embed="rId3"/>
          <a:stretch/>
        </p:blipFill>
        <p:spPr>
          <a:xfrm>
            <a:off x="3733920" y="3124080"/>
            <a:ext cx="5029200" cy="3124440"/>
          </a:xfrm>
          <a:prstGeom prst="rect">
            <a:avLst/>
          </a:prstGeom>
          <a:noFill/>
          <a:ln w="0">
            <a:noFill/>
          </a:ln>
        </p:spPr>
      </p:pic>
      <p:sp>
        <p:nvSpPr>
          <p:cNvPr id="74" name=""/>
          <p:cNvSpPr/>
          <p:nvPr/>
        </p:nvSpPr>
        <p:spPr>
          <a:xfrm flipH="1">
            <a:off x="6171840" y="2438280"/>
            <a:ext cx="685800" cy="838440"/>
          </a:xfrm>
          <a:prstGeom prst="line">
            <a:avLst/>
          </a:prstGeom>
          <a:ln w="9360">
            <a:solidFill>
              <a:srgbClr val="000000"/>
            </a:solidFill>
            <a:miter/>
            <a:tailEnd len="med" type="triangle" w="med"/>
          </a:ln>
        </p:spPr>
        <p:style>
          <a:lnRef idx="0"/>
          <a:fillRef idx="0"/>
          <a:effectRef idx="0"/>
          <a:fontRef idx="minor"/>
        </p:style>
        <p:txBody>
          <a:bodyPr lIns="90000" rIns="90000" tIns="46800" bIns="46800" anchor="t">
            <a:noAutofit/>
          </a:bodyPr>
          <a:p>
            <a:endParaRPr b="0" lang="en-IN" sz="2400" strike="noStrike" u="none">
              <a:solidFill>
                <a:srgbClr val="000000"/>
              </a:solidFill>
              <a:effectLst/>
              <a:uFillTx/>
              <a:latin typeface="Times New Roman"/>
            </a:endParaRPr>
          </a:p>
        </p:txBody>
      </p:sp>
      <p:sp>
        <p:nvSpPr>
          <p:cNvPr id="75" name=""/>
          <p:cNvSpPr/>
          <p:nvPr/>
        </p:nvSpPr>
        <p:spPr>
          <a:xfrm flipH="1">
            <a:off x="6933960" y="2590920"/>
            <a:ext cx="228600" cy="685800"/>
          </a:xfrm>
          <a:prstGeom prst="line">
            <a:avLst/>
          </a:prstGeom>
          <a:ln w="9360">
            <a:solidFill>
              <a:srgbClr val="000000"/>
            </a:solidFill>
            <a:miter/>
            <a:tailEnd len="med" type="triangle" w="med"/>
          </a:ln>
        </p:spPr>
        <p:style>
          <a:lnRef idx="0"/>
          <a:fillRef idx="0"/>
          <a:effectRef idx="0"/>
          <a:fontRef idx="minor"/>
        </p:style>
        <p:txBody>
          <a:bodyPr lIns="90000" rIns="90000" tIns="46800" bIns="46800" anchor="t">
            <a:noAutofit/>
          </a:bodyPr>
          <a:p>
            <a:endParaRPr b="0" lang="en-IN" sz="2400" strike="noStrike" u="none">
              <a:solidFill>
                <a:srgbClr val="000000"/>
              </a:solidFill>
              <a:effectLst/>
              <a:uFillTx/>
              <a:latin typeface="Times New Roman"/>
            </a:endParaRPr>
          </a:p>
        </p:txBody>
      </p:sp>
      <p:sp>
        <p:nvSpPr>
          <p:cNvPr id="76" name=""/>
          <p:cNvSpPr/>
          <p:nvPr/>
        </p:nvSpPr>
        <p:spPr>
          <a:xfrm>
            <a:off x="7772400" y="2666880"/>
            <a:ext cx="990720" cy="609840"/>
          </a:xfrm>
          <a:prstGeom prst="line">
            <a:avLst/>
          </a:prstGeom>
          <a:ln w="9360">
            <a:solidFill>
              <a:srgbClr val="000000"/>
            </a:solidFill>
            <a:miter/>
            <a:tailEnd len="med" type="triangle" w="med"/>
          </a:ln>
        </p:spPr>
        <p:style>
          <a:lnRef idx="0"/>
          <a:fillRef idx="0"/>
          <a:effectRef idx="0"/>
          <a:fontRef idx="minor"/>
        </p:style>
        <p:txBody>
          <a:bodyPr lIns="90000" rIns="90000" tIns="46800" bIns="46800" anchor="t">
            <a:noAutofit/>
          </a:bodyPr>
          <a:p>
            <a:endParaRPr b="0" lang="en-IN" sz="2400" strike="noStrike" u="none">
              <a:solidFill>
                <a:srgbClr val="000000"/>
              </a:solidFill>
              <a:effectLst/>
              <a:uFillTx/>
              <a:latin typeface="Times New Roman"/>
            </a:endParaRPr>
          </a:p>
        </p:txBody>
      </p:sp>
      <p:sp>
        <p:nvSpPr>
          <p:cNvPr id="77" name=""/>
          <p:cNvSpPr/>
          <p:nvPr/>
        </p:nvSpPr>
        <p:spPr>
          <a:xfrm flipH="1">
            <a:off x="3962160" y="2209680"/>
            <a:ext cx="1981080" cy="1067040"/>
          </a:xfrm>
          <a:prstGeom prst="line">
            <a:avLst/>
          </a:prstGeom>
          <a:ln w="9360">
            <a:solidFill>
              <a:srgbClr val="000000"/>
            </a:solidFill>
            <a:miter/>
            <a:tailEnd len="med" type="triangle" w="med"/>
          </a:ln>
        </p:spPr>
        <p:style>
          <a:lnRef idx="0"/>
          <a:fillRef idx="0"/>
          <a:effectRef idx="0"/>
          <a:fontRef idx="minor"/>
        </p:style>
        <p:txBody>
          <a:bodyPr lIns="90000" rIns="90000" tIns="46800" bIns="46800" anchor="t">
            <a:noAutofit/>
          </a:bodyPr>
          <a:p>
            <a:endParaRPr b="0" lang="en-IN" sz="2400" strike="noStrike" u="none">
              <a:solidFill>
                <a:srgbClr val="000000"/>
              </a:solidFill>
              <a:effectLst/>
              <a:uFillTx/>
              <a:latin typeface="Times New Roman"/>
            </a:endParaRPr>
          </a:p>
        </p:txBody>
      </p:sp>
      <p:sp>
        <p:nvSpPr>
          <p:cNvPr id="78" name=""/>
          <p:cNvSpPr/>
          <p:nvPr/>
        </p:nvSpPr>
        <p:spPr>
          <a:xfrm>
            <a:off x="152280" y="5410080"/>
            <a:ext cx="3581640" cy="100980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trike="noStrike" u="none">
                <a:solidFill>
                  <a:srgbClr val="000000"/>
                </a:solidFill>
                <a:effectLst/>
                <a:uFillTx/>
                <a:latin typeface="Arial"/>
                <a:ea typeface="Times New Roman"/>
              </a:rPr>
              <a:t>Lower image from</a:t>
            </a:r>
            <a:r>
              <a:rPr b="1" lang="en-GB" sz="1000" strike="noStrike" u="none">
                <a:solidFill>
                  <a:srgbClr val="000000"/>
                </a:solidFill>
                <a:effectLst/>
                <a:uFillTx/>
                <a:latin typeface="Arial"/>
                <a:ea typeface="Times New Roman"/>
              </a:rPr>
              <a:t> Radar profiles from the onset region of Ice Stream D1, Siple Coast, West Antarctic, </a:t>
            </a:r>
            <a:r>
              <a:rPr b="0" lang="en-GB" sz="1000" strike="noStrike" u="none">
                <a:solidFill>
                  <a:srgbClr val="000000"/>
                </a:solidFill>
                <a:effectLst/>
                <a:uFillTx/>
                <a:latin typeface="Arial"/>
                <a:ea typeface="Times New Roman"/>
              </a:rPr>
              <a:t>by</a:t>
            </a:r>
            <a:r>
              <a:rPr b="1" lang="en-GB" sz="1000" strike="noStrike" u="none">
                <a:solidFill>
                  <a:srgbClr val="000000"/>
                </a:solidFill>
                <a:effectLst/>
                <a:uFillTx/>
                <a:latin typeface="Arial"/>
                <a:ea typeface="Times New Roman"/>
              </a:rPr>
              <a:t> </a:t>
            </a:r>
            <a:r>
              <a:rPr b="0" lang="en-GB" sz="1000" strike="noStrike" u="none">
                <a:solidFill>
                  <a:srgbClr val="000000"/>
                </a:solidFill>
                <a:effectLst/>
                <a:uFillTx/>
                <a:latin typeface="Arial"/>
                <a:ea typeface="Times New Roman"/>
              </a:rPr>
              <a:t>E.C. King, D.L. Morse, R.B. Alley, S. Anandakrishnan, D.D. Blankenship, A.M. Smith, poster presented at the IGS Symposium, Chamonix, 2002</a:t>
            </a:r>
            <a:endParaRPr b="0" lang="en-IN" sz="1000" strike="noStrike" u="none">
              <a:solidFill>
                <a:srgbClr val="0000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Times New Roman"/>
            </a:endParaRPr>
          </a:p>
        </p:txBody>
      </p:sp>
    </p:spTree>
  </p:cSld>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9" name="PlaceHolder 1"/>
          <p:cNvSpPr>
            <a:spLocks noGrp="1"/>
          </p:cNvSpPr>
          <p:nvPr>
            <p:ph type="title"/>
          </p:nvPr>
        </p:nvSpPr>
        <p:spPr>
          <a:xfrm>
            <a:off x="914040" y="151920"/>
            <a:ext cx="7162920" cy="1219320"/>
          </a:xfrm>
          <a:prstGeom prst="rect">
            <a:avLst/>
          </a:prstGeom>
          <a:noFill/>
          <a:ln w="0">
            <a:noFill/>
          </a:ln>
        </p:spPr>
        <p:txBody>
          <a:bodyPr lIns="90000" rIns="90000" tIns="46800" bIns="46800" anchor="ctr">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000" strike="noStrike" u="none">
                <a:solidFill>
                  <a:srgbClr val="660033"/>
                </a:solidFill>
                <a:effectLst/>
                <a:uFillTx/>
                <a:latin typeface="Arial"/>
              </a:rPr>
              <a:t>Summary</a:t>
            </a:r>
            <a:endParaRPr b="1" lang="en-IN" sz="3000" strike="noStrike" u="none">
              <a:solidFill>
                <a:srgbClr val="660033"/>
              </a:solidFill>
              <a:effectLst/>
              <a:uFillTx/>
              <a:latin typeface="Tahoma"/>
            </a:endParaRPr>
          </a:p>
        </p:txBody>
      </p:sp>
      <p:sp>
        <p:nvSpPr>
          <p:cNvPr id="80" name="PlaceHolder 2"/>
          <p:cNvSpPr>
            <a:spLocks noGrp="1"/>
          </p:cNvSpPr>
          <p:nvPr>
            <p:ph/>
          </p:nvPr>
        </p:nvSpPr>
        <p:spPr>
          <a:xfrm>
            <a:off x="685800" y="1599840"/>
            <a:ext cx="7772400" cy="4419720"/>
          </a:xfrm>
          <a:prstGeom prst="rect">
            <a:avLst/>
          </a:prstGeom>
          <a:noFill/>
          <a:ln w="0">
            <a:noFill/>
          </a:ln>
        </p:spPr>
        <p:txBody>
          <a:bodyPr lIns="90000" rIns="90000" tIns="46800" bIns="46800" anchor="t">
            <a:normAutofit/>
          </a:bodyPr>
          <a:p>
            <a:pPr marL="343080" indent="-343080">
              <a:lnSpc>
                <a:spcPct val="100000"/>
              </a:lnSpc>
              <a:spcBef>
                <a:spcPts val="499"/>
              </a:spcBef>
              <a:buClr>
                <a:srgbClr val="660033"/>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660033"/>
                </a:solidFill>
                <a:effectLst/>
                <a:uFillTx/>
                <a:latin typeface="Arial"/>
              </a:rPr>
              <a:t>We have shown vertical displacement of surface ice in tributary flow in West Antarctica. The vertical movement is up to ~ 2 cm day, and could not be maintained on the long term.</a:t>
            </a:r>
            <a:endParaRPr b="0" lang="en-IN" sz="2000" strike="noStrike" u="none">
              <a:solidFill>
                <a:srgbClr val="000000"/>
              </a:solidFill>
              <a:effectLst/>
              <a:uFillTx/>
              <a:latin typeface="Times New Roman"/>
            </a:endParaRPr>
          </a:p>
          <a:p>
            <a:pPr marL="343080" indent="-343080">
              <a:lnSpc>
                <a:spcPct val="100000"/>
              </a:lnSpc>
              <a:spcBef>
                <a:spcPts val="499"/>
              </a:spcBef>
              <a:buClr>
                <a:srgbClr val="660033"/>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660033"/>
                </a:solidFill>
                <a:effectLst/>
                <a:uFillTx/>
                <a:latin typeface="Arial"/>
              </a:rPr>
              <a:t>Ice volume continuity, the shape of the features, and the position of the areas over hydropotential wells suggest that the relatively rapid height change could be due to movement of pockets of subglacial water.</a:t>
            </a:r>
            <a:endParaRPr b="0" lang="en-IN" sz="2000" strike="noStrike" u="none">
              <a:solidFill>
                <a:srgbClr val="000000"/>
              </a:solidFill>
              <a:effectLst/>
              <a:uFillTx/>
              <a:latin typeface="Times New Roman"/>
            </a:endParaRPr>
          </a:p>
          <a:p>
            <a:pPr marL="343080" indent="-343080">
              <a:lnSpc>
                <a:spcPct val="100000"/>
              </a:lnSpc>
              <a:spcBef>
                <a:spcPts val="499"/>
              </a:spcBef>
              <a:buClr>
                <a:srgbClr val="660033"/>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660033"/>
                </a:solidFill>
                <a:effectLst/>
                <a:uFillTx/>
                <a:latin typeface="Arial"/>
              </a:rPr>
              <a:t>The results may help explain the recent borehole observations of near bottom debris layers, and a 1.5m layer of subglacial water.</a:t>
            </a:r>
            <a:endParaRPr b="0" lang="en-IN" sz="2000" strike="noStrike" u="none">
              <a:solidFill>
                <a:srgbClr val="000000"/>
              </a:solidFill>
              <a:effectLst/>
              <a:uFillTx/>
              <a:latin typeface="Times New Roman"/>
            </a:endParaRPr>
          </a:p>
          <a:p>
            <a:pPr marL="343080" indent="-343080">
              <a:lnSpc>
                <a:spcPct val="100000"/>
              </a:lnSpc>
              <a:spcBef>
                <a:spcPts val="499"/>
              </a:spcBef>
              <a:buClr>
                <a:srgbClr val="660033"/>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660033"/>
                </a:solidFill>
                <a:effectLst/>
                <a:uFillTx/>
                <a:latin typeface="Arial"/>
              </a:rPr>
              <a:t>Finally, we seem to have a tenuous (?) handle on subglacial water movement. … further systematic work is required.</a:t>
            </a:r>
            <a:endParaRPr b="0" lang="en-IN" sz="20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7769</TotalTime>
  <Application>LibreOffice/25.2.3.2$Windows_X86_64 LibreOffice_project/bbb074479178df812d175f709636b368952c2ce3</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2003-05-22T10:51:01Z</dcterms:created>
  <dc:creator>trindade</dc:creator>
  <dc:description/>
  <dc:language>en-IN</dc:language>
  <cp:lastModifiedBy>Laurence Gray</cp:lastModifiedBy>
  <dcterms:modified xsi:type="dcterms:W3CDTF">2004-09-30T19:02:16Z</dcterms:modified>
  <cp:revision>70</cp:revision>
  <dc:subject/>
  <dc:title>Gabarie pour le CCT</dc:title>
</cp:coreProperties>
</file>