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5.xml" ContentType="application/vnd.openxmlformats-officedocument.presentationml.notesSlide+xml"/>
  <Override PartName="/ppt/notesSlides/_rels/notesSlide15.xml.rels" ContentType="application/vnd.openxmlformats-package.relationship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media/image1.wmf" ContentType="image/x-wmf"/>
  <Override PartName="/ppt/media/image2.wmf" ContentType="image/x-wmf"/>
  <Override PartName="/ppt/media/image3.wmf" ContentType="image/x-wmf"/>
  <Override PartName="/ppt/media/image4.wmf" ContentType="image/x-wmf"/>
  <Override PartName="/ppt/media/image5.wmf" ContentType="image/x-wmf"/>
  <Override PartName="/ppt/media/image6.wmf" ContentType="image/x-wmf"/>
  <Override PartName="/ppt/media/image7.wmf" ContentType="image/x-wmf"/>
  <Override PartName="/ppt/media/image8.wmf" ContentType="image/x-wmf"/>
  <Override PartName="/ppt/media/image9.wmf" ContentType="image/x-wmf"/>
  <Override PartName="/ppt/media/image10.wmf" ContentType="image/x-wmf"/>
  <Override PartName="/ppt/media/image11.wmf" ContentType="image/x-wmf"/>
  <Override PartName="/ppt/media/image12.wmf" ContentType="image/x-wmf"/>
  <Override PartName="/ppt/media/image13.wmf" ContentType="image/x-wmf"/>
  <Override PartName="/ppt/media/image14.wmf" ContentType="image/x-wmf"/>
  <Override PartName="/ppt/media/image15.wmf" ContentType="image/x-wmf"/>
  <Override PartName="/ppt/media/image16.wmf" ContentType="image/x-wmf"/>
  <Override PartName="/ppt/media/image17.wmf" ContentType="image/x-wmf"/>
  <Override PartName="/ppt/media/image18.wmf" ContentType="image/x-wmf"/>
  <Override PartName="/ppt/media/image19.wmf" ContentType="image/x-wmf"/>
  <Override PartName="/ppt/media/image20.wmf" ContentType="image/x-wmf"/>
  <Override PartName="/ppt/media/image21.wmf" ContentType="image/x-wmf"/>
  <Override PartName="/ppt/media/image22.wmf" ContentType="image/x-wmf"/>
  <Override PartName="/ppt/media/image23.wmf" ContentType="image/x-wmf"/>
  <Override PartName="/ppt/media/image24.wmf" ContentType="image/x-wmf"/>
  <Override PartName="/ppt/media/image25.wmf" ContentType="image/x-wmf"/>
  <Override PartName="/ppt/media/image26.wmf" ContentType="image/x-wmf"/>
  <Override PartName="/ppt/media/image27.wmf" ContentType="image/x-wmf"/>
  <Override PartName="/ppt/media/image28.wmf" ContentType="image/x-wmf"/>
  <Override PartName="/ppt/media/image29.wmf" ContentType="image/x-wmf"/>
  <Override PartName="/ppt/media/image30.wmf" ContentType="image/x-wmf"/>
  <Override PartName="/ppt/media/image31.wmf" ContentType="image/x-wmf"/>
  <Override PartName="/ppt/media/image32.wmf" ContentType="image/x-wmf"/>
  <Override PartName="/ppt/media/image33.wmf" ContentType="image/x-wmf"/>
  <Override PartName="/ppt/media/image34.wmf" ContentType="image/x-wmf"/>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9144000" cy="6858000"/>
  <p:notesSz cx="6858000" cy="9294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p:nvPr/>
        </p:nvSpPr>
        <p:spPr>
          <a:xfrm>
            <a:off x="0" y="0"/>
            <a:ext cx="6858000" cy="9295200"/>
          </a:xfrm>
          <a:prstGeom prst="rect">
            <a:avLst/>
          </a:prstGeom>
          <a:solidFill>
            <a:srgbClr val="ffffff"/>
          </a:solidFill>
          <a:ln w="0">
            <a:noFill/>
          </a:ln>
        </p:spPr>
        <p:txBody>
          <a:bodyPr lIns="90000" rIns="90000" tIns="45000" bIns="45000" anchor="ctr" anchorCtr="1">
            <a:noAutofit/>
          </a:bodyPr>
          <a:p>
            <a:endParaRPr b="0" lang="en-IN" sz="1800" strike="noStrike" u="none">
              <a:solidFill>
                <a:srgbClr val="000000"/>
              </a:solidFill>
              <a:effectLst/>
              <a:uFillTx/>
              <a:latin typeface="Arial"/>
            </a:endParaRPr>
          </a:p>
        </p:txBody>
      </p:sp>
      <p:sp>
        <p:nvSpPr>
          <p:cNvPr id="16" name="PlaceHolder 1"/>
          <p:cNvSpPr>
            <a:spLocks noGrp="1"/>
          </p:cNvSpPr>
          <p:nvPr>
            <p:ph type="hdr"/>
          </p:nvPr>
        </p:nvSpPr>
        <p:spPr>
          <a:xfrm>
            <a:off x="-360" y="0"/>
            <a:ext cx="2973240" cy="465120"/>
          </a:xfrm>
          <a:prstGeom prst="rect">
            <a:avLst/>
          </a:prstGeom>
          <a:noFill/>
          <a:ln w="0">
            <a:noFill/>
          </a:ln>
        </p:spPr>
        <p:txBody>
          <a:bodyPr lIns="91440" rIns="91440" tIns="45720" bIns="45720" anchor="t">
            <a:noAutofit/>
          </a:bodyPr>
          <a:p>
            <a:pPr indent="0">
              <a:buNone/>
              <a:tabLst>
                <a:tab algn="l" pos="0"/>
                <a:tab algn="l" pos="915840"/>
                <a:tab algn="l" pos="1832040"/>
                <a:tab algn="l" pos="2747880"/>
                <a:tab algn="l" pos="3664080"/>
                <a:tab algn="l" pos="4579920"/>
                <a:tab algn="l" pos="5495760"/>
                <a:tab algn="l" pos="6411960"/>
                <a:tab algn="l" pos="7327800"/>
                <a:tab algn="l" pos="8244000"/>
                <a:tab algn="l" pos="9159840"/>
                <a:tab algn="l" pos="10076040"/>
              </a:tabLst>
            </a:pPr>
            <a:r>
              <a:rPr b="0" lang="en-US" sz="1200" strike="noStrike" u="none">
                <a:solidFill>
                  <a:srgbClr val="000000"/>
                </a:solidFill>
                <a:effectLst/>
                <a:uFillTx/>
                <a:latin typeface="Arial"/>
              </a:rPr>
              <a:t>&lt;header&gt;</a:t>
            </a:r>
            <a:endParaRPr b="0" lang="en-IN" sz="1200" strike="noStrike" u="none">
              <a:solidFill>
                <a:srgbClr val="000000"/>
              </a:solidFill>
              <a:effectLst/>
              <a:uFillTx/>
              <a:latin typeface="Arial"/>
            </a:endParaRPr>
          </a:p>
        </p:txBody>
      </p:sp>
      <p:sp>
        <p:nvSpPr>
          <p:cNvPr id="17" name="PlaceHolder 2"/>
          <p:cNvSpPr>
            <a:spLocks noGrp="1"/>
          </p:cNvSpPr>
          <p:nvPr>
            <p:ph type="dt" idx="4"/>
          </p:nvPr>
        </p:nvSpPr>
        <p:spPr>
          <a:xfrm>
            <a:off x="3882960" y="0"/>
            <a:ext cx="2973600" cy="465120"/>
          </a:xfrm>
          <a:prstGeom prst="rect">
            <a:avLst/>
          </a:prstGeom>
          <a:noFill/>
          <a:ln w="0">
            <a:noFill/>
          </a:ln>
        </p:spPr>
        <p:txBody>
          <a:bodyPr lIns="91440" rIns="91440" tIns="45720" bIns="45720" anchor="t">
            <a:noAutofit/>
          </a:bodyPr>
          <a:lstStyle>
            <a:lvl1pPr indent="0" algn="r">
              <a:buNone/>
              <a:tabLst>
                <a:tab algn="l" pos="0"/>
                <a:tab algn="l" pos="915840"/>
                <a:tab algn="l" pos="1832040"/>
                <a:tab algn="l" pos="2747880"/>
                <a:tab algn="l" pos="3664080"/>
                <a:tab algn="l" pos="4579920"/>
                <a:tab algn="l" pos="5495760"/>
                <a:tab algn="l" pos="6411960"/>
                <a:tab algn="l" pos="7327800"/>
                <a:tab algn="l" pos="8244000"/>
                <a:tab algn="l" pos="9159840"/>
                <a:tab algn="l" pos="10076040"/>
              </a:tabLst>
              <a:defRPr b="0" lang="en-US" sz="1200" strike="noStrike" u="none">
                <a:solidFill>
                  <a:srgbClr val="000000"/>
                </a:solidFill>
                <a:effectLst/>
                <a:uFillTx/>
                <a:latin typeface="Arial"/>
              </a:defRPr>
            </a:lvl1pPr>
          </a:lstStyle>
          <a:p>
            <a:pPr indent="0" algn="r">
              <a:buNone/>
              <a:tabLst>
                <a:tab algn="l" pos="0"/>
                <a:tab algn="l" pos="915840"/>
                <a:tab algn="l" pos="1832040"/>
                <a:tab algn="l" pos="2747880"/>
                <a:tab algn="l" pos="3664080"/>
                <a:tab algn="l" pos="4579920"/>
                <a:tab algn="l" pos="5495760"/>
                <a:tab algn="l" pos="6411960"/>
                <a:tab algn="l" pos="7327800"/>
                <a:tab algn="l" pos="8244000"/>
                <a:tab algn="l" pos="9159840"/>
                <a:tab algn="l" pos="10076040"/>
              </a:tabLst>
            </a:pPr>
            <a:r>
              <a:rPr b="0" lang="en-US" sz="1200" strike="noStrike" u="none">
                <a:solidFill>
                  <a:srgbClr val="000000"/>
                </a:solidFill>
                <a:effectLst/>
                <a:uFillTx/>
                <a:latin typeface="Arial"/>
              </a:rPr>
              <a:t>&lt;date/time&gt;</a:t>
            </a:r>
            <a:endParaRPr b="0" lang="en-IN" sz="1200" strike="noStrike" u="none">
              <a:solidFill>
                <a:srgbClr val="000000"/>
              </a:solidFill>
              <a:effectLst/>
              <a:uFillTx/>
              <a:latin typeface="Arial"/>
            </a:endParaRPr>
          </a:p>
        </p:txBody>
      </p:sp>
      <p:sp>
        <p:nvSpPr>
          <p:cNvPr id="18" name="PlaceHolder 3"/>
          <p:cNvSpPr>
            <a:spLocks noGrp="1"/>
          </p:cNvSpPr>
          <p:nvPr>
            <p:ph type="sldImg"/>
          </p:nvPr>
        </p:nvSpPr>
        <p:spPr>
          <a:xfrm>
            <a:off x="1104840" y="696960"/>
            <a:ext cx="4648320" cy="3486240"/>
          </a:xfrm>
          <a:prstGeom prst="rect">
            <a:avLst/>
          </a:prstGeom>
          <a:solidFill>
            <a:srgbClr val="ffffff"/>
          </a:solid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rPr>
              <a:t>Click to move the slide</a:t>
            </a:r>
            <a:endParaRPr b="0" lang="en-IN" sz="4400" strike="noStrike" u="none">
              <a:solidFill>
                <a:srgbClr val="000000"/>
              </a:solidFill>
              <a:effectLst/>
              <a:uFillTx/>
              <a:latin typeface="Arial"/>
            </a:endParaRPr>
          </a:p>
        </p:txBody>
      </p:sp>
      <p:sp>
        <p:nvSpPr>
          <p:cNvPr id="19" name="PlaceHolder 4"/>
          <p:cNvSpPr>
            <a:spLocks noGrp="1"/>
          </p:cNvSpPr>
          <p:nvPr>
            <p:ph type="body"/>
          </p:nvPr>
        </p:nvSpPr>
        <p:spPr>
          <a:xfrm>
            <a:off x="685800" y="4416120"/>
            <a:ext cx="5486400" cy="418284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Click to edit the notes format</a:t>
            </a:r>
            <a:endParaRPr b="0" lang="en-IN" sz="1200" strike="noStrike" u="none">
              <a:solidFill>
                <a:srgbClr val="000000"/>
              </a:solidFill>
              <a:effectLst/>
              <a:uFillTx/>
              <a:latin typeface="Arial"/>
            </a:endParaRPr>
          </a:p>
        </p:txBody>
      </p:sp>
      <p:sp>
        <p:nvSpPr>
          <p:cNvPr id="20" name="PlaceHolder 5"/>
          <p:cNvSpPr>
            <a:spLocks noGrp="1"/>
          </p:cNvSpPr>
          <p:nvPr>
            <p:ph type="ftr" idx="5"/>
          </p:nvPr>
        </p:nvSpPr>
        <p:spPr>
          <a:xfrm>
            <a:off x="-360" y="8829720"/>
            <a:ext cx="2973240" cy="465120"/>
          </a:xfrm>
          <a:prstGeom prst="rect">
            <a:avLst/>
          </a:prstGeom>
          <a:noFill/>
          <a:ln w="0">
            <a:noFill/>
          </a:ln>
        </p:spPr>
        <p:txBody>
          <a:bodyPr lIns="91440" rIns="91440" tIns="45720" bIns="45720" anchor="b">
            <a:noAutofit/>
          </a:bodyPr>
          <a:lstStyle>
            <a:lvl1pPr indent="0">
              <a:buNone/>
              <a:tabLst>
                <a:tab algn="l" pos="0"/>
                <a:tab algn="l" pos="915840"/>
                <a:tab algn="l" pos="1832040"/>
                <a:tab algn="l" pos="2747880"/>
                <a:tab algn="l" pos="3664080"/>
                <a:tab algn="l" pos="4579920"/>
                <a:tab algn="l" pos="5495760"/>
                <a:tab algn="l" pos="6411960"/>
                <a:tab algn="l" pos="7327800"/>
                <a:tab algn="l" pos="8244000"/>
                <a:tab algn="l" pos="9159840"/>
                <a:tab algn="l" pos="10076040"/>
              </a:tabLst>
              <a:defRPr b="0" lang="en-US" sz="1200" strike="noStrike" u="none">
                <a:solidFill>
                  <a:srgbClr val="000000"/>
                </a:solidFill>
                <a:effectLst/>
                <a:uFillTx/>
                <a:latin typeface="Arial"/>
              </a:defRPr>
            </a:lvl1pPr>
          </a:lstStyle>
          <a:p>
            <a:pPr indent="0">
              <a:buNone/>
              <a:tabLst>
                <a:tab algn="l" pos="0"/>
                <a:tab algn="l" pos="915840"/>
                <a:tab algn="l" pos="1832040"/>
                <a:tab algn="l" pos="2747880"/>
                <a:tab algn="l" pos="3664080"/>
                <a:tab algn="l" pos="4579920"/>
                <a:tab algn="l" pos="5495760"/>
                <a:tab algn="l" pos="6411960"/>
                <a:tab algn="l" pos="7327800"/>
                <a:tab algn="l" pos="8244000"/>
                <a:tab algn="l" pos="9159840"/>
                <a:tab algn="l" pos="10076040"/>
              </a:tabLst>
            </a:pPr>
            <a:r>
              <a:rPr b="0" lang="en-US" sz="1200" strike="noStrike" u="none">
                <a:solidFill>
                  <a:srgbClr val="000000"/>
                </a:solidFill>
                <a:effectLst/>
                <a:uFillTx/>
                <a:latin typeface="Arial"/>
              </a:rPr>
              <a:t>&lt;footer&gt;</a:t>
            </a:r>
            <a:endParaRPr b="0" lang="en-IN" sz="1200" strike="noStrike" u="none">
              <a:solidFill>
                <a:srgbClr val="000000"/>
              </a:solidFill>
              <a:effectLst/>
              <a:uFillTx/>
              <a:latin typeface="Arial"/>
            </a:endParaRPr>
          </a:p>
        </p:txBody>
      </p:sp>
      <p:sp>
        <p:nvSpPr>
          <p:cNvPr id="21" name="PlaceHolder 6"/>
          <p:cNvSpPr>
            <a:spLocks noGrp="1"/>
          </p:cNvSpPr>
          <p:nvPr>
            <p:ph type="sldNum" idx="6"/>
          </p:nvPr>
        </p:nvSpPr>
        <p:spPr>
          <a:xfrm>
            <a:off x="3882960" y="8829720"/>
            <a:ext cx="2973600" cy="465120"/>
          </a:xfrm>
          <a:prstGeom prst="rect">
            <a:avLst/>
          </a:prstGeom>
          <a:noFill/>
          <a:ln w="0">
            <a:noFill/>
          </a:ln>
        </p:spPr>
        <p:txBody>
          <a:bodyPr lIns="91440" rIns="91440" tIns="45720" bIns="45720" anchor="b">
            <a:noAutofit/>
          </a:bodyPr>
          <a:lstStyle>
            <a:lvl1pPr indent="0" algn="r">
              <a:buNone/>
              <a:tabLst>
                <a:tab algn="l" pos="0"/>
                <a:tab algn="l" pos="915840"/>
                <a:tab algn="l" pos="1832040"/>
                <a:tab algn="l" pos="2747880"/>
                <a:tab algn="l" pos="3664080"/>
                <a:tab algn="l" pos="4579920"/>
                <a:tab algn="l" pos="5495760"/>
                <a:tab algn="l" pos="6411960"/>
                <a:tab algn="l" pos="7327800"/>
                <a:tab algn="l" pos="8244000"/>
                <a:tab algn="l" pos="9159840"/>
                <a:tab algn="l" pos="10076040"/>
              </a:tabLst>
              <a:defRPr b="0" lang="en-US" sz="1200" strike="noStrike" u="none">
                <a:solidFill>
                  <a:srgbClr val="000000"/>
                </a:solidFill>
                <a:effectLst/>
                <a:uFillTx/>
                <a:latin typeface="Arial"/>
              </a:defRPr>
            </a:lvl1pPr>
          </a:lstStyle>
          <a:p>
            <a:pPr indent="0" algn="r">
              <a:buNone/>
              <a:tabLst>
                <a:tab algn="l" pos="0"/>
                <a:tab algn="l" pos="915840"/>
                <a:tab algn="l" pos="1832040"/>
                <a:tab algn="l" pos="2747880"/>
                <a:tab algn="l" pos="3664080"/>
                <a:tab algn="l" pos="4579920"/>
                <a:tab algn="l" pos="5495760"/>
                <a:tab algn="l" pos="6411960"/>
                <a:tab algn="l" pos="7327800"/>
                <a:tab algn="l" pos="8244000"/>
                <a:tab algn="l" pos="9159840"/>
                <a:tab algn="l" pos="10076040"/>
              </a:tabLst>
            </a:pPr>
            <a:fld id="{FA2D331B-ABA3-4261-993C-DFC7FA7108F9}"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1104840" y="696960"/>
            <a:ext cx="4648320" cy="3486240"/>
          </a:xfrm>
          <a:prstGeom prst="rect">
            <a:avLst/>
          </a:prstGeom>
          <a:ln w="0">
            <a:noFill/>
          </a:ln>
        </p:spPr>
      </p:sp>
      <p:sp>
        <p:nvSpPr>
          <p:cNvPr id="382" name="PlaceHolder 2"/>
          <p:cNvSpPr>
            <a:spLocks noGrp="1"/>
          </p:cNvSpPr>
          <p:nvPr>
            <p:ph type="body"/>
          </p:nvPr>
        </p:nvSpPr>
        <p:spPr>
          <a:xfrm>
            <a:off x="685800" y="4416120"/>
            <a:ext cx="5486400" cy="4182840"/>
          </a:xfrm>
          <a:prstGeom prst="rect">
            <a:avLst/>
          </a:prstGeom>
          <a:noFill/>
          <a:ln w="0">
            <a:noFill/>
          </a:ln>
        </p:spPr>
        <p:txBody>
          <a:bodyPr lIns="91440" rIns="91440" tIns="45720" bIns="45720" anchor="t">
            <a:noAutofit/>
          </a:bodyPr>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700" strike="noStrike" u="none">
                <a:solidFill>
                  <a:srgbClr val="000000"/>
                </a:solidFill>
                <a:effectLst/>
                <a:uFillTx/>
                <a:latin typeface="Arial"/>
              </a:rPr>
              <a:t>HRMR Safety Report Overview</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700" strike="noStrike" u="none">
                <a:solidFill>
                  <a:srgbClr val="000000"/>
                </a:solidFill>
                <a:effectLst/>
                <a:uFillTx/>
                <a:latin typeface="Arial"/>
              </a:rPr>
              <a:t>The HRMR Safety Reports are:</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 PowerPoint slides created by the Department of Labor and Industries</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 Created for each state agency that is reporting their employee safety program results bi-</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annually as part of their Human Resources Management Report (HRMR). </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 Snapshots of five years of worker’s compensation claim data specific to that agency, as</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well as a comparison to the combined data for agencies completing HRMR reports. </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 There is a two quarter lag at the end of the five years.</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This allows each agency’s payroll data to be entered into L&amp;I’s computer system.  This</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payroll data is used to compute the number of workers per agency and quarter.</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700" strike="noStrike" u="none">
                <a:solidFill>
                  <a:srgbClr val="000000"/>
                </a:solidFill>
                <a:effectLst/>
                <a:uFillTx/>
                <a:latin typeface="Arial"/>
              </a:rPr>
              <a:t>Definitions</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700" strike="noStrike" u="none">
                <a:solidFill>
                  <a:srgbClr val="000000"/>
                </a:solidFill>
                <a:effectLst/>
                <a:uFillTx/>
                <a:latin typeface="Arial"/>
              </a:rPr>
              <a:t>Claim – </a:t>
            </a:r>
            <a:r>
              <a:rPr b="0" lang="en-US" sz="700" strike="noStrike" u="none">
                <a:solidFill>
                  <a:srgbClr val="000000"/>
                </a:solidFill>
                <a:effectLst/>
                <a:uFillTx/>
                <a:latin typeface="Arial"/>
              </a:rPr>
              <a:t>When a covered worker sustains an occupational injury or illness, that worker files a</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'claim’ for benefits.  A 'claim number' is assigned, and all wage replacement payments, medical</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provider bills, etc, for that worker and injury, are associated with that claim number.</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700" strike="noStrike" u="none">
                <a:solidFill>
                  <a:srgbClr val="000000"/>
                </a:solidFill>
                <a:effectLst/>
                <a:uFillTx/>
                <a:latin typeface="Arial"/>
              </a:rPr>
              <a:t>Report Detail</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700" strike="noStrike" u="none">
                <a:solidFill>
                  <a:srgbClr val="000000"/>
                </a:solidFill>
                <a:effectLst/>
                <a:uFillTx/>
                <a:latin typeface="Arial"/>
              </a:rPr>
              <a:t>'Allowed Annual Claim Rate'</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This chart shows your agency's rate of injuries resulting in allowed</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claims, by injury quarter, for on-the-job injuries and occupational illnesses. The rate for all</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reporting agencies is shown for comparison.</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 The rate is the number accepted claims per 200,000 annual worker hours (100 workers)</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a:t>
            </a:r>
            <a:r>
              <a:rPr b="1" lang="en-US" sz="700" strike="noStrike" u="none">
                <a:solidFill>
                  <a:srgbClr val="000000"/>
                </a:solidFill>
                <a:effectLst/>
                <a:uFillTx/>
                <a:latin typeface="Arial"/>
              </a:rPr>
              <a:t>Three rates are included in this chart:</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A)The total rate for all injuries resulting in a claim; the two groups listed below are</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exclusive of each other.</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B)The rate of injuries which required medical care, but no compensation for lost</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time.</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C)The rate of injuries which resulted in compensation for lost time in addition to</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medical care.</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700" strike="noStrike" u="none">
                <a:solidFill>
                  <a:srgbClr val="000000"/>
                </a:solidFill>
                <a:effectLst/>
                <a:uFillTx/>
                <a:latin typeface="Arial"/>
              </a:rPr>
              <a:t>'Injuries by Occupational Injury and Illness Classification (OIICS) Event’</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This section contains a pie chart which shows your agency's injuries by type* and a table which</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shows the percent and number of accepted claims by OIICS Event description and code.</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This information is useful in identifying what causes injuries so prevention can occur. Prevention</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might include root cause analysis, education, and hazard mitigation.</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 Injury Type is based on the 2 digit Major Group code of the Event or Exposure section of the Occupational</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Injury and Illness Classification System (OIICS). Groups with less than 3% of the</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total injuries are combined into the 'Misc' category.</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700" strike="noStrike" u="none">
                <a:solidFill>
                  <a:srgbClr val="000000"/>
                </a:solidFill>
                <a:effectLst/>
                <a:uFillTx/>
                <a:latin typeface="Arial"/>
              </a:rPr>
              <a:t>How to get this report for your agency:</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All worker compensation reports will be available on the L&amp;I website by the 20th of September or</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the 20th of March of each year. The data will be provided in a PowerPoint slide to which you will</a:t>
            </a:r>
            <a:endParaRPr b="0" lang="en-IN" sz="700" strike="noStrike" u="none">
              <a:solidFill>
                <a:srgbClr val="000000"/>
              </a:solidFill>
              <a:effectLst/>
              <a:uFillTx/>
              <a:latin typeface="Arial"/>
            </a:endParaRPr>
          </a:p>
          <a:p>
            <a:pPr indent="0">
              <a:spcBef>
                <a:spcPts val="26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700" strike="noStrike" u="none">
                <a:solidFill>
                  <a:srgbClr val="000000"/>
                </a:solidFill>
                <a:effectLst/>
                <a:uFillTx/>
                <a:latin typeface="Arial"/>
              </a:rPr>
              <a:t>add your own analyses and action plans.</a:t>
            </a:r>
            <a:endParaRPr b="0" lang="en-IN" sz="7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Arial"/>
            </a:endParaRPr>
          </a:p>
        </p:txBody>
      </p:sp>
      <p:sp>
        <p:nvSpPr>
          <p:cNvPr id="6" name="PlaceHolder 2"/>
          <p:cNvSpPr>
            <a:spLocks noGrp="1"/>
          </p:cNvSpPr>
          <p:nvPr>
            <p:ph type="subTitle"/>
          </p:nvPr>
        </p:nvSpPr>
        <p:spPr>
          <a:xfrm>
            <a:off x="457200" y="1600200"/>
            <a:ext cx="8229600" cy="4525920"/>
          </a:xfrm>
          <a:prstGeom prst="rect">
            <a:avLst/>
          </a:prstGeom>
          <a:noFill/>
          <a:ln w="0">
            <a:noFill/>
          </a:ln>
        </p:spPr>
        <p:txBody>
          <a:bodyPr lIns="0" rIns="0" tIns="0" bIns="0" anchor="ctr">
            <a:spAutoFit/>
          </a:bodyPr>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C06CBCF-7FED-4EAB-9A58-0025A3584382}"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Arial"/>
            </a:endParaRPr>
          </a:p>
        </p:txBody>
      </p:sp>
      <p:sp>
        <p:nvSpPr>
          <p:cNvPr id="8"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E722729-064C-4746-8694-61FD98131F2A}"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Arial"/>
            </a:endParaRPr>
          </a:p>
        </p:txBody>
      </p:sp>
      <p:sp>
        <p:nvSpPr>
          <p:cNvPr id="10"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1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B3E694FF-E07E-469E-91D7-B9CAD3FAB233}"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838BBA59-A971-499D-88FB-C4C74A033EBD}"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CE91280F-4458-4908-8CF3-F0EB1F25B82B}"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Arial"/>
            </a:endParaRPr>
          </a:p>
        </p:txBody>
      </p:sp>
      <p:sp>
        <p:nvSpPr>
          <p:cNvPr id="14"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95AC211-9BC8-4437-93A8-C6E691E3BD2C}" type="slidenum">
              <a:t>&lt;#&gt;</a:t>
            </a:fld>
          </a:p>
        </p:txBody>
      </p:sp>
      <p:sp>
        <p:nvSpPr>
          <p:cNvPr id="6" name="PlaceHolder 5"/>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rPr>
              <a:t>Click to edit the title text format</a:t>
            </a:r>
            <a:endParaRPr b="0" lang="en-IN" sz="4400" strike="noStrike" u="none">
              <a:solidFill>
                <a:srgbClr val="000000"/>
              </a:solidFill>
              <a:effectLst/>
              <a:uFillTx/>
              <a:latin typeface="Arial"/>
            </a:endParaRPr>
          </a:p>
        </p:txBody>
      </p:sp>
      <p:sp>
        <p:nvSpPr>
          <p:cNvPr id="1"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Second Outline Level</a:t>
            </a:r>
            <a:endParaRPr b="0" lang="en-IN" sz="3200" strike="noStrike" u="none">
              <a:solidFill>
                <a:srgbClr val="000000"/>
              </a:solidFill>
              <a:effectLst/>
              <a:uFillTx/>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Third Outline Level</a:t>
            </a:r>
            <a:endParaRPr b="0" lang="en-IN" sz="3200" strike="noStrike" u="none">
              <a:solidFill>
                <a:srgbClr val="000000"/>
              </a:solidFill>
              <a:effectLst/>
              <a:uFillTx/>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Fourth Outline Level</a:t>
            </a:r>
            <a:endParaRPr b="0" lang="en-IN" sz="3200" strike="noStrike" u="none">
              <a:solidFill>
                <a:srgbClr val="000000"/>
              </a:solidFill>
              <a:effectLst/>
              <a:uFillTx/>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Fifth Outline Level</a:t>
            </a:r>
            <a:endParaRPr b="0" lang="en-IN" sz="3200" strike="noStrike" u="none">
              <a:solidFill>
                <a:srgbClr val="000000"/>
              </a:solidFill>
              <a:effectLst/>
              <a:uFillTx/>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Sixth Outline Level</a:t>
            </a:r>
            <a:endParaRPr b="0" lang="en-IN" sz="3200" strike="noStrike" u="none">
              <a:solidFill>
                <a:srgbClr val="000000"/>
              </a:solidFill>
              <a:effectLst/>
              <a:uFillTx/>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Seventh Outline Level</a:t>
            </a:r>
            <a:endParaRPr b="0" lang="en-IN" sz="3200" strike="noStrike" u="none">
              <a:solidFill>
                <a:srgbClr val="000000"/>
              </a:solidFill>
              <a:effectLst/>
              <a:uFillTx/>
              <a:latin typeface="Arial"/>
            </a:endParaRPr>
          </a:p>
        </p:txBody>
      </p:sp>
      <p:sp>
        <p:nvSpPr>
          <p:cNvPr id="2"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Arial"/>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&lt;date/time&gt;</a:t>
            </a:r>
            <a:endParaRPr b="0" lang="en-IN" sz="1400" strike="noStrike" u="none">
              <a:solidFill>
                <a:srgbClr val="000000"/>
              </a:solidFill>
              <a:effectLst/>
              <a:uFillTx/>
              <a:latin typeface="Arial"/>
            </a:endParaRPr>
          </a:p>
        </p:txBody>
      </p:sp>
      <p:sp>
        <p:nvSpPr>
          <p:cNvPr id="3" name="PlaceHolder 4"/>
          <p:cNvSpPr>
            <a:spLocks noGrp="1"/>
          </p:cNvSpPr>
          <p:nvPr>
            <p:ph type="ftr" idx="2"/>
          </p:nvPr>
        </p:nvSpPr>
        <p:spPr>
          <a:xfrm>
            <a:off x="4114800" y="-360"/>
            <a:ext cx="4572000" cy="2286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0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a:rPr>
              <a:t>&lt;footer&gt;</a:t>
            </a:r>
            <a:endParaRPr b="0" lang="en-IN" sz="1000" strike="noStrike" u="none">
              <a:solidFill>
                <a:srgbClr val="000000"/>
              </a:solidFill>
              <a:effectLst/>
              <a:uFillTx/>
              <a:latin typeface="Arial"/>
            </a:endParaRPr>
          </a:p>
        </p:txBody>
      </p:sp>
      <p:sp>
        <p:nvSpPr>
          <p:cNvPr id="4" name="PlaceHolder 5"/>
          <p:cNvSpPr>
            <a:spLocks noGrp="1"/>
          </p:cNvSpPr>
          <p:nvPr>
            <p:ph type="sldNum" idx="3"/>
          </p:nvPr>
        </p:nvSpPr>
        <p:spPr>
          <a:xfrm>
            <a:off x="6857640" y="6552720"/>
            <a:ext cx="2133720" cy="30492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0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13D3AD8-683B-4E84-8550-84D1D040A6E9}" type="slidenum">
              <a:rPr b="0" lang="en-US" sz="1000" strike="noStrike" u="none">
                <a:solidFill>
                  <a:srgbClr val="000000"/>
                </a:solidFill>
                <a:effectLst/>
                <a:uFillTx/>
                <a:latin typeface="Arial"/>
              </a:rPr>
              <a:t>&lt;number&gt;</a:t>
            </a:fld>
            <a:endParaRPr b="0" lang="en-IN" sz="1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wmf"/><Relationship Id="rId3" Type="http://schemas.openxmlformats.org/officeDocument/2006/relationships/oleObject" Target="../embeddings/oleObject2.bin"/><Relationship Id="rId4" Type="http://schemas.openxmlformats.org/officeDocument/2006/relationships/image" Target="../media/image2.wmf"/><Relationship Id="rId5"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3.wmf"/><Relationship Id="rId3"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4.wmf"/><Relationship Id="rId3" Type="http://schemas.openxmlformats.org/officeDocument/2006/relationships/oleObject" Target="../embeddings/oleObject2.bin"/><Relationship Id="rId4" Type="http://schemas.openxmlformats.org/officeDocument/2006/relationships/image" Target="../media/image5.wmf"/><Relationship Id="rId5" Type="http://schemas.openxmlformats.org/officeDocument/2006/relationships/oleObject" Target="../embeddings/oleObject3.bin"/><Relationship Id="rId6" Type="http://schemas.openxmlformats.org/officeDocument/2006/relationships/image" Target="../media/image6.wmf"/><Relationship Id="rId7" Type="http://schemas.openxmlformats.org/officeDocument/2006/relationships/oleObject" Target="../embeddings/oleObject4.bin"/><Relationship Id="rId8" Type="http://schemas.openxmlformats.org/officeDocument/2006/relationships/image" Target="../media/image7.wmf"/><Relationship Id="rId9" Type="http://schemas.openxmlformats.org/officeDocument/2006/relationships/oleObject" Target="../embeddings/oleObject5.bin"/><Relationship Id="rId10" Type="http://schemas.openxmlformats.org/officeDocument/2006/relationships/image" Target="../media/image8.wmf"/><Relationship Id="rId11" Type="http://schemas.openxmlformats.org/officeDocument/2006/relationships/oleObject" Target="../embeddings/oleObject6.bin"/><Relationship Id="rId12" Type="http://schemas.openxmlformats.org/officeDocument/2006/relationships/image" Target="../media/image9.wmf"/><Relationship Id="rId13" Type="http://schemas.openxmlformats.org/officeDocument/2006/relationships/oleObject" Target="../embeddings/oleObject7.bin"/><Relationship Id="rId14" Type="http://schemas.openxmlformats.org/officeDocument/2006/relationships/image" Target="../media/image10.wmf"/><Relationship Id="rId15"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1.wmf"/><Relationship Id="rId3" Type="http://schemas.openxmlformats.org/officeDocument/2006/relationships/oleObject" Target="../embeddings/oleObject2.bin"/><Relationship Id="rId4" Type="http://schemas.openxmlformats.org/officeDocument/2006/relationships/image" Target="../media/image12.wmf"/><Relationship Id="rId5" Type="http://schemas.openxmlformats.org/officeDocument/2006/relationships/oleObject" Target="../embeddings/oleObject3.bin"/><Relationship Id="rId6" Type="http://schemas.openxmlformats.org/officeDocument/2006/relationships/image" Target="../media/image13.wmf"/><Relationship Id="rId7"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4.wmf"/><Relationship Id="rId3"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5.wmf"/><Relationship Id="rId3" Type="http://schemas.openxmlformats.org/officeDocument/2006/relationships/oleObject" Target="../embeddings/oleObject2.bin"/><Relationship Id="rId4" Type="http://schemas.openxmlformats.org/officeDocument/2006/relationships/image" Target="../media/image16.wmf"/><Relationship Id="rId5"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7.wmf"/><Relationship Id="rId3" Type="http://schemas.openxmlformats.org/officeDocument/2006/relationships/oleObject" Target="../embeddings/oleObject2.bin"/><Relationship Id="rId4" Type="http://schemas.openxmlformats.org/officeDocument/2006/relationships/image" Target="../media/image18.wmf"/><Relationship Id="rId5"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9.wmf"/><Relationship Id="rId3" Type="http://schemas.openxmlformats.org/officeDocument/2006/relationships/oleObject" Target="../embeddings/oleObject2.bin"/><Relationship Id="rId4" Type="http://schemas.openxmlformats.org/officeDocument/2006/relationships/image" Target="../media/image20.wmf"/><Relationship Id="rId5" Type="http://schemas.openxmlformats.org/officeDocument/2006/relationships/slideLayout" Target="../slideLayouts/slideLayout5.xml"/><Relationship Id="rId6"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1.wmf"/><Relationship Id="rId3" Type="http://schemas.openxmlformats.org/officeDocument/2006/relationships/oleObject" Target="../embeddings/oleObject2.bin"/><Relationship Id="rId4" Type="http://schemas.openxmlformats.org/officeDocument/2006/relationships/image" Target="../media/image22.wmf"/><Relationship Id="rId5" Type="http://schemas.openxmlformats.org/officeDocument/2006/relationships/slideLayout" Target="../slideLayouts/slideLayout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3.wmf"/><Relationship Id="rId3" Type="http://schemas.openxmlformats.org/officeDocument/2006/relationships/oleObject" Target="../embeddings/oleObject2.bin"/><Relationship Id="rId4" Type="http://schemas.openxmlformats.org/officeDocument/2006/relationships/image" Target="../media/image24.wmf"/><Relationship Id="rId5" Type="http://schemas.openxmlformats.org/officeDocument/2006/relationships/oleObject" Target="../embeddings/oleObject3.bin"/><Relationship Id="rId6" Type="http://schemas.openxmlformats.org/officeDocument/2006/relationships/image" Target="../media/image25.wmf"/><Relationship Id="rId7" Type="http://schemas.openxmlformats.org/officeDocument/2006/relationships/oleObject" Target="../embeddings/oleObject4.bin"/><Relationship Id="rId8" Type="http://schemas.openxmlformats.org/officeDocument/2006/relationships/image" Target="../media/image26.wmf"/><Relationship Id="rId9"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7.wmf"/><Relationship Id="rId3"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8.wmf"/><Relationship Id="rId3" Type="http://schemas.openxmlformats.org/officeDocument/2006/relationships/oleObject" Target="../embeddings/oleObject2.bin"/><Relationship Id="rId4" Type="http://schemas.openxmlformats.org/officeDocument/2006/relationships/image" Target="../media/image29.wmf"/><Relationship Id="rId5" Type="http://schemas.openxmlformats.org/officeDocument/2006/relationships/oleObject" Target="../embeddings/oleObject3.bin"/><Relationship Id="rId6" Type="http://schemas.openxmlformats.org/officeDocument/2006/relationships/image" Target="../media/image30.wmf"/><Relationship Id="rId7"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31.wmf"/><Relationship Id="rId3"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32.wmf"/><Relationship Id="rId3" Type="http://schemas.openxmlformats.org/officeDocument/2006/relationships/oleObject" Target="../embeddings/oleObject2.bin"/><Relationship Id="rId4" Type="http://schemas.openxmlformats.org/officeDocument/2006/relationships/image" Target="../media/image33.wmf"/><Relationship Id="rId5" Type="http://schemas.openxmlformats.org/officeDocument/2006/relationships/oleObject" Target="../embeddings/oleObject3.bin"/><Relationship Id="rId6" Type="http://schemas.openxmlformats.org/officeDocument/2006/relationships/image" Target="../media/image34.wmf"/><Relationship Id="rId7"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1676520"/>
            <a:ext cx="8229600" cy="1752480"/>
          </a:xfrm>
          <a:prstGeom prst="rect">
            <a:avLst/>
          </a:prstGeom>
          <a:noFill/>
          <a:ln w="0">
            <a:noFill/>
          </a:ln>
        </p:spPr>
        <p:txBody>
          <a:bodyPr lIns="90000" rIns="90000" tIns="46800" bIns="46800" anchor="ctr">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Black"/>
              </a:rPr>
              <a:t>State of Washington</a:t>
            </a:r>
            <a:br>
              <a:rPr sz="2000"/>
            </a:br>
            <a:r>
              <a:rPr b="0" lang="en-IN" sz="2000" strike="noStrike" u="none">
                <a:solidFill>
                  <a:srgbClr val="000000"/>
                </a:solidFill>
                <a:effectLst/>
                <a:uFillTx/>
                <a:latin typeface="Arial Black"/>
              </a:rPr>
              <a:t>Department of Printing</a:t>
            </a:r>
            <a:br>
              <a:rPr sz="2400"/>
            </a:br>
            <a:br>
              <a:rPr sz="2000"/>
            </a:br>
            <a:br>
              <a:rPr sz="2000"/>
            </a:br>
            <a:r>
              <a:rPr b="0" lang="en-IN" sz="2400" strike="noStrike" u="none">
                <a:solidFill>
                  <a:srgbClr val="000000"/>
                </a:solidFill>
                <a:effectLst/>
                <a:uFillTx/>
                <a:latin typeface="Arial Black"/>
              </a:rPr>
              <a:t>Human Resource</a:t>
            </a:r>
            <a:br>
              <a:rPr sz="2400"/>
            </a:br>
            <a:r>
              <a:rPr b="0" lang="en-IN" sz="2400" strike="noStrike" u="none">
                <a:solidFill>
                  <a:srgbClr val="000000"/>
                </a:solidFill>
                <a:effectLst/>
                <a:uFillTx/>
                <a:latin typeface="Arial Black"/>
              </a:rPr>
              <a:t>Management Report</a:t>
            </a:r>
            <a:endParaRPr b="0" lang="en-IN" sz="2400" strike="noStrike" u="none">
              <a:solidFill>
                <a:srgbClr val="000000"/>
              </a:solidFill>
              <a:effectLst/>
              <a:uFillTx/>
              <a:latin typeface="Arial"/>
            </a:endParaRPr>
          </a:p>
        </p:txBody>
      </p:sp>
      <p:grpSp>
        <p:nvGrpSpPr>
          <p:cNvPr id="23" name=""/>
          <p:cNvGrpSpPr/>
          <p:nvPr/>
        </p:nvGrpSpPr>
        <p:grpSpPr>
          <a:xfrm>
            <a:off x="5680080" y="2400480"/>
            <a:ext cx="3006720" cy="1409040"/>
            <a:chOff x="5680080" y="2400480"/>
            <a:chExt cx="3006720" cy="1409040"/>
          </a:xfrm>
        </p:grpSpPr>
        <p:grpSp>
          <p:nvGrpSpPr>
            <p:cNvPr id="24" name=""/>
            <p:cNvGrpSpPr/>
            <p:nvPr/>
          </p:nvGrpSpPr>
          <p:grpSpPr>
            <a:xfrm>
              <a:off x="5680080" y="2400480"/>
              <a:ext cx="3006720" cy="1409040"/>
              <a:chOff x="5680080" y="2400480"/>
              <a:chExt cx="3006720" cy="1409040"/>
            </a:xfrm>
          </p:grpSpPr>
          <p:sp>
            <p:nvSpPr>
              <p:cNvPr id="25" name=""/>
              <p:cNvSpPr/>
              <p:nvPr/>
            </p:nvSpPr>
            <p:spPr>
              <a:xfrm>
                <a:off x="6747120" y="3467160"/>
                <a:ext cx="882360" cy="342360"/>
              </a:xfrm>
              <a:prstGeom prst="rect">
                <a:avLst/>
              </a:prstGeom>
              <a:solidFill>
                <a:srgbClr val="663300"/>
              </a:solidFill>
              <a:ln w="28440">
                <a:solidFill>
                  <a:srgbClr val="000000"/>
                </a:solidFill>
                <a:miter/>
              </a:ln>
            </p:spPr>
            <p:style>
              <a:lnRef idx="0"/>
              <a:fillRef idx="0"/>
              <a:effectRef idx="0"/>
              <a:fontRef idx="minor"/>
            </p:style>
            <p:txBody>
              <a:bodyPr lIns="45720" rIns="4572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ff"/>
                    </a:solidFill>
                    <a:effectLst/>
                    <a:uFillTx/>
                    <a:latin typeface="Arial Narrow"/>
                  </a:rPr>
                  <a:t>Develop Workforce</a:t>
                </a:r>
                <a:endParaRPr b="0" lang="en-IN" sz="1000" strike="noStrike" u="none">
                  <a:solidFill>
                    <a:srgbClr val="000000"/>
                  </a:solidFill>
                  <a:effectLst/>
                  <a:uFillTx/>
                  <a:latin typeface="Arial"/>
                </a:endParaRPr>
              </a:p>
            </p:txBody>
          </p:sp>
          <p:sp>
            <p:nvSpPr>
              <p:cNvPr id="26" name=""/>
              <p:cNvSpPr/>
              <p:nvPr/>
            </p:nvSpPr>
            <p:spPr>
              <a:xfrm>
                <a:off x="7813800" y="2933640"/>
                <a:ext cx="873000" cy="342720"/>
              </a:xfrm>
              <a:prstGeom prst="rect">
                <a:avLst/>
              </a:prstGeom>
              <a:solidFill>
                <a:srgbClr val="4d006c"/>
              </a:solidFill>
              <a:ln w="28440">
                <a:solidFill>
                  <a:srgbClr val="000000"/>
                </a:solidFill>
                <a:miter/>
              </a:ln>
            </p:spPr>
            <p:style>
              <a:lnRef idx="0"/>
              <a:fillRef idx="0"/>
              <a:effectRef idx="0"/>
              <a:fontRef idx="minor"/>
            </p:style>
            <p:txBody>
              <a:bodyPr lIns="45720" rIns="4572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ff"/>
                    </a:solidFill>
                    <a:effectLst/>
                    <a:uFillTx/>
                    <a:latin typeface="Arial Narrow"/>
                  </a:rPr>
                  <a:t>Reinforce Performance</a:t>
                </a:r>
                <a:endParaRPr b="0" lang="en-IN" sz="1000" strike="noStrike" u="none">
                  <a:solidFill>
                    <a:srgbClr val="000000"/>
                  </a:solidFill>
                  <a:effectLst/>
                  <a:uFillTx/>
                  <a:latin typeface="Arial"/>
                </a:endParaRPr>
              </a:p>
            </p:txBody>
          </p:sp>
          <p:sp>
            <p:nvSpPr>
              <p:cNvPr id="27" name=""/>
              <p:cNvSpPr/>
              <p:nvPr/>
            </p:nvSpPr>
            <p:spPr>
              <a:xfrm>
                <a:off x="6747120" y="2933640"/>
                <a:ext cx="882360" cy="342720"/>
              </a:xfrm>
              <a:prstGeom prst="rect">
                <a:avLst/>
              </a:prstGeom>
              <a:solidFill>
                <a:srgbClr val="000066"/>
              </a:solidFill>
              <a:ln w="28440">
                <a:solidFill>
                  <a:srgbClr val="0000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ff"/>
                    </a:solidFill>
                    <a:effectLst/>
                    <a:uFillTx/>
                    <a:latin typeface="Arial Narrow"/>
                  </a:rPr>
                  <a:t>Deploy Workforce</a:t>
                </a:r>
                <a:endParaRPr b="0" lang="en-IN" sz="1000" strike="noStrike" u="none">
                  <a:solidFill>
                    <a:srgbClr val="000000"/>
                  </a:solidFill>
                  <a:effectLst/>
                  <a:uFillTx/>
                  <a:latin typeface="Arial"/>
                </a:endParaRPr>
              </a:p>
            </p:txBody>
          </p:sp>
          <p:sp>
            <p:nvSpPr>
              <p:cNvPr id="28" name=""/>
              <p:cNvSpPr/>
              <p:nvPr/>
            </p:nvSpPr>
            <p:spPr>
              <a:xfrm>
                <a:off x="6758280" y="2400480"/>
                <a:ext cx="882360" cy="342720"/>
              </a:xfrm>
              <a:prstGeom prst="rect">
                <a:avLst/>
              </a:prstGeom>
              <a:solidFill>
                <a:srgbClr val="003300"/>
              </a:solidFill>
              <a:ln w="28440">
                <a:solidFill>
                  <a:srgbClr val="0000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ff"/>
                    </a:solidFill>
                    <a:effectLst/>
                    <a:uFillTx/>
                    <a:latin typeface="Arial Narrow"/>
                  </a:rPr>
                  <a:t>Plan &amp; Align Workforce</a:t>
                </a:r>
                <a:endParaRPr b="0" lang="en-IN" sz="1000" strike="noStrike" u="none">
                  <a:solidFill>
                    <a:srgbClr val="000000"/>
                  </a:solidFill>
                  <a:effectLst/>
                  <a:uFillTx/>
                  <a:latin typeface="Arial"/>
                </a:endParaRPr>
              </a:p>
            </p:txBody>
          </p:sp>
          <p:sp>
            <p:nvSpPr>
              <p:cNvPr id="29" name=""/>
              <p:cNvSpPr/>
              <p:nvPr/>
            </p:nvSpPr>
            <p:spPr>
              <a:xfrm>
                <a:off x="5680080" y="2933640"/>
                <a:ext cx="882720" cy="342720"/>
              </a:xfrm>
              <a:prstGeom prst="rect">
                <a:avLst/>
              </a:prstGeom>
              <a:solidFill>
                <a:srgbClr val="800000"/>
              </a:solidFill>
              <a:ln w="28440">
                <a:solidFill>
                  <a:srgbClr val="0000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ff"/>
                    </a:solidFill>
                    <a:effectLst/>
                    <a:uFillTx/>
                    <a:latin typeface="Arial Narrow"/>
                  </a:rPr>
                  <a:t>Hire Workforce</a:t>
                </a:r>
                <a:endParaRPr b="0" lang="en-IN" sz="1000" strike="noStrike" u="none">
                  <a:solidFill>
                    <a:srgbClr val="000000"/>
                  </a:solidFill>
                  <a:effectLst/>
                  <a:uFillTx/>
                  <a:latin typeface="Arial"/>
                </a:endParaRPr>
              </a:p>
            </p:txBody>
          </p:sp>
        </p:grpSp>
        <p:sp>
          <p:nvSpPr>
            <p:cNvPr id="30" name=""/>
            <p:cNvSpPr/>
            <p:nvPr/>
          </p:nvSpPr>
          <p:spPr>
            <a:xfrm>
              <a:off x="7661520" y="3085920"/>
              <a:ext cx="152280" cy="0"/>
            </a:xfrm>
            <a:prstGeom prst="line">
              <a:avLst/>
            </a:prstGeom>
            <a:ln w="9360">
              <a:solidFill>
                <a:srgbClr val="000000"/>
              </a:solidFill>
              <a:miter/>
              <a:tailEnd len="sm" type="triangle" w="sm"/>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31" name=""/>
            <p:cNvSpPr/>
            <p:nvPr/>
          </p:nvSpPr>
          <p:spPr>
            <a:xfrm>
              <a:off x="6594480" y="3085920"/>
              <a:ext cx="152640" cy="0"/>
            </a:xfrm>
            <a:prstGeom prst="line">
              <a:avLst/>
            </a:prstGeom>
            <a:ln w="9360">
              <a:solidFill>
                <a:srgbClr val="000000"/>
              </a:solidFill>
              <a:miter/>
              <a:tailEnd len="sm" type="triangle" w="sm"/>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32" name=""/>
            <p:cNvSpPr/>
            <p:nvPr/>
          </p:nvSpPr>
          <p:spPr>
            <a:xfrm>
              <a:off x="7204320" y="3276720"/>
              <a:ext cx="0" cy="190080"/>
            </a:xfrm>
            <a:prstGeom prst="line">
              <a:avLst/>
            </a:prstGeom>
            <a:ln w="9360">
              <a:solidFill>
                <a:srgbClr val="000000"/>
              </a:solidFill>
              <a:miter/>
              <a:headEnd len="sm" type="triangle" w="sm"/>
              <a:tailEnd len="sm" type="triangle" w="sm"/>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33" name=""/>
            <p:cNvSpPr/>
            <p:nvPr/>
          </p:nvSpPr>
          <p:spPr>
            <a:xfrm>
              <a:off x="7204320" y="2743200"/>
              <a:ext cx="0" cy="190080"/>
            </a:xfrm>
            <a:prstGeom prst="line">
              <a:avLst/>
            </a:prstGeom>
            <a:ln w="9360">
              <a:solidFill>
                <a:srgbClr val="000000"/>
              </a:solidFill>
              <a:miter/>
              <a:headEnd len="sm" type="triangle" w="sm"/>
              <a:tailEnd len="sm" type="triangle" w="sm"/>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34" name=""/>
            <p:cNvSpPr/>
            <p:nvPr/>
          </p:nvSpPr>
          <p:spPr>
            <a:xfrm flipH="1">
              <a:off x="6137280" y="2552760"/>
              <a:ext cx="609840" cy="380520"/>
            </a:xfrm>
            <a:prstGeom prst="line">
              <a:avLst/>
            </a:prstGeom>
            <a:ln w="9360">
              <a:solidFill>
                <a:srgbClr val="000000"/>
              </a:solidFill>
              <a:miter/>
              <a:tailEnd len="sm" type="triangle" w="sm"/>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35" name=""/>
            <p:cNvSpPr/>
            <p:nvPr/>
          </p:nvSpPr>
          <p:spPr>
            <a:xfrm flipH="1" flipV="1">
              <a:off x="7640280" y="2552400"/>
              <a:ext cx="630360" cy="380520"/>
            </a:xfrm>
            <a:prstGeom prst="line">
              <a:avLst/>
            </a:prstGeom>
            <a:ln w="9360">
              <a:solidFill>
                <a:srgbClr val="000000"/>
              </a:solidFill>
              <a:miter/>
              <a:tailEnd len="sm" type="triangle" w="sm"/>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36" name=""/>
            <p:cNvSpPr/>
            <p:nvPr/>
          </p:nvSpPr>
          <p:spPr>
            <a:xfrm flipV="1">
              <a:off x="7629480" y="3276360"/>
              <a:ext cx="641520" cy="342360"/>
            </a:xfrm>
            <a:prstGeom prst="line">
              <a:avLst/>
            </a:prstGeom>
            <a:ln w="9360">
              <a:solidFill>
                <a:srgbClr val="000000"/>
              </a:solidFill>
              <a:miter/>
              <a:tailEnd len="sm" type="triangle" w="sm"/>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37" name=""/>
            <p:cNvSpPr/>
            <p:nvPr/>
          </p:nvSpPr>
          <p:spPr>
            <a:xfrm>
              <a:off x="6137280" y="3276720"/>
              <a:ext cx="609840" cy="342360"/>
            </a:xfrm>
            <a:prstGeom prst="line">
              <a:avLst/>
            </a:prstGeom>
            <a:ln w="9360">
              <a:solidFill>
                <a:srgbClr val="000000"/>
              </a:solidFill>
              <a:miter/>
              <a:tailEnd len="sm" type="triangle" w="sm"/>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grpSp>
      <p:sp>
        <p:nvSpPr>
          <p:cNvPr id="38" name=""/>
          <p:cNvSpPr/>
          <p:nvPr/>
        </p:nvSpPr>
        <p:spPr>
          <a:xfrm>
            <a:off x="762120" y="1371600"/>
            <a:ext cx="7924680" cy="0"/>
          </a:xfrm>
          <a:prstGeom prst="line">
            <a:avLst/>
          </a:prstGeom>
          <a:ln w="38160">
            <a:solidFill>
              <a:srgbClr val="000000"/>
            </a:solidFill>
            <a:miter/>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39" name=""/>
          <p:cNvSpPr/>
          <p:nvPr/>
        </p:nvSpPr>
        <p:spPr>
          <a:xfrm>
            <a:off x="685800" y="4038480"/>
            <a:ext cx="7924680" cy="0"/>
          </a:xfrm>
          <a:prstGeom prst="line">
            <a:avLst/>
          </a:prstGeom>
          <a:ln w="38160">
            <a:solidFill>
              <a:srgbClr val="000000"/>
            </a:solidFill>
            <a:miter/>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40" name=""/>
          <p:cNvSpPr/>
          <p:nvPr/>
        </p:nvSpPr>
        <p:spPr>
          <a:xfrm>
            <a:off x="685800" y="5791320"/>
            <a:ext cx="4114800" cy="323640"/>
          </a:xfrm>
          <a:prstGeom prst="rect">
            <a:avLst/>
          </a:prstGeom>
          <a:noFill/>
          <a:ln w="0">
            <a:noFill/>
          </a:ln>
        </p:spPr>
        <p:style>
          <a:lnRef idx="0"/>
          <a:fillRef idx="0"/>
          <a:effectRef idx="0"/>
          <a:fontRef idx="minor"/>
        </p:style>
        <p:txBody>
          <a:bodyPr lIns="90000" rIns="90000" tIns="46800" bIns="46800" anchor="t">
            <a:noAutofit/>
          </a:bodyPr>
          <a:p>
            <a:pPr>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October 2007</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1" name=""/>
          <p:cNvGrpSpPr/>
          <p:nvPr/>
        </p:nvGrpSpPr>
        <p:grpSpPr>
          <a:xfrm>
            <a:off x="152280" y="822240"/>
            <a:ext cx="8915400" cy="5844240"/>
            <a:chOff x="152280" y="822240"/>
            <a:chExt cx="8915400" cy="5844240"/>
          </a:xfrm>
        </p:grpSpPr>
        <p:grpSp>
          <p:nvGrpSpPr>
            <p:cNvPr id="42" name=""/>
            <p:cNvGrpSpPr/>
            <p:nvPr/>
          </p:nvGrpSpPr>
          <p:grpSpPr>
            <a:xfrm>
              <a:off x="152280" y="1076400"/>
              <a:ext cx="8915400" cy="5590080"/>
              <a:chOff x="152280" y="1076400"/>
              <a:chExt cx="8915400" cy="5590080"/>
            </a:xfrm>
          </p:grpSpPr>
          <p:grpSp>
            <p:nvGrpSpPr>
              <p:cNvPr id="43" name=""/>
              <p:cNvGrpSpPr/>
              <p:nvPr/>
            </p:nvGrpSpPr>
            <p:grpSpPr>
              <a:xfrm>
                <a:off x="152280" y="1076400"/>
                <a:ext cx="1447920" cy="5590080"/>
                <a:chOff x="152280" y="1076400"/>
                <a:chExt cx="1447920" cy="5590080"/>
              </a:xfrm>
            </p:grpSpPr>
            <p:sp>
              <p:nvSpPr>
                <p:cNvPr id="44" name=""/>
                <p:cNvSpPr/>
                <p:nvPr/>
              </p:nvSpPr>
              <p:spPr>
                <a:xfrm>
                  <a:off x="152280" y="1076400"/>
                  <a:ext cx="1447920" cy="1018080"/>
                </a:xfrm>
                <a:prstGeom prst="rect">
                  <a:avLst/>
                </a:prstGeom>
                <a:solidFill>
                  <a:srgbClr val="003300"/>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400" strike="noStrike" u="none">
                      <a:solidFill>
                        <a:srgbClr val="ffffff"/>
                      </a:solidFill>
                      <a:effectLst/>
                      <a:uFillTx/>
                      <a:latin typeface="Arial Black"/>
                    </a:rPr>
                    <a:t>Plan &amp; Align Workforce</a:t>
                  </a: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p:txBody>
            </p:sp>
            <p:sp>
              <p:nvSpPr>
                <p:cNvPr id="45" name=""/>
                <p:cNvSpPr/>
                <p:nvPr/>
              </p:nvSpPr>
              <p:spPr>
                <a:xfrm>
                  <a:off x="152280" y="3362400"/>
                  <a:ext cx="1447920" cy="1018080"/>
                </a:xfrm>
                <a:prstGeom prst="rect">
                  <a:avLst/>
                </a:prstGeom>
                <a:solidFill>
                  <a:srgbClr val="000099"/>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400" strike="noStrike" u="none">
                      <a:solidFill>
                        <a:srgbClr val="ffffff"/>
                      </a:solidFill>
                      <a:effectLst/>
                      <a:uFillTx/>
                      <a:latin typeface="Arial Black"/>
                    </a:rPr>
                    <a:t>Deploy</a:t>
                  </a:r>
                  <a:br>
                    <a:rPr sz="1400"/>
                  </a:br>
                  <a:r>
                    <a:rPr b="0" lang="en-IN" sz="1400" strike="noStrike" u="none">
                      <a:solidFill>
                        <a:srgbClr val="ffffff"/>
                      </a:solidFill>
                      <a:effectLst/>
                      <a:uFillTx/>
                      <a:latin typeface="Arial Black"/>
                    </a:rPr>
                    <a:t>Workforce</a:t>
                  </a: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p:txBody>
            </p:sp>
            <p:sp>
              <p:nvSpPr>
                <p:cNvPr id="46" name=""/>
                <p:cNvSpPr/>
                <p:nvPr/>
              </p:nvSpPr>
              <p:spPr>
                <a:xfrm>
                  <a:off x="152280" y="4505400"/>
                  <a:ext cx="1447920" cy="1018080"/>
                </a:xfrm>
                <a:prstGeom prst="rect">
                  <a:avLst/>
                </a:prstGeom>
                <a:solidFill>
                  <a:srgbClr val="663300"/>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400" strike="noStrike" u="none">
                      <a:solidFill>
                        <a:srgbClr val="ffffff"/>
                      </a:solidFill>
                      <a:effectLst/>
                      <a:uFillTx/>
                      <a:latin typeface="Arial Black"/>
                    </a:rPr>
                    <a:t>Develop Workforce</a:t>
                  </a: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p:txBody>
            </p:sp>
            <p:sp>
              <p:nvSpPr>
                <p:cNvPr id="47" name=""/>
                <p:cNvSpPr/>
                <p:nvPr/>
              </p:nvSpPr>
              <p:spPr>
                <a:xfrm>
                  <a:off x="152280" y="2219400"/>
                  <a:ext cx="1447920" cy="1018080"/>
                </a:xfrm>
                <a:prstGeom prst="rect">
                  <a:avLst/>
                </a:prstGeom>
                <a:solidFill>
                  <a:srgbClr val="800000"/>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400" strike="noStrike" u="none">
                      <a:solidFill>
                        <a:srgbClr val="ffffff"/>
                      </a:solidFill>
                      <a:effectLst/>
                      <a:uFillTx/>
                      <a:latin typeface="Arial Black"/>
                    </a:rPr>
                    <a:t>Hire</a:t>
                  </a:r>
                  <a:br>
                    <a:rPr sz="1400"/>
                  </a:br>
                  <a:r>
                    <a:rPr b="0" lang="en-IN" sz="1400" strike="noStrike" u="none">
                      <a:solidFill>
                        <a:srgbClr val="ffffff"/>
                      </a:solidFill>
                      <a:effectLst/>
                      <a:uFillTx/>
                      <a:latin typeface="Arial Black"/>
                    </a:rPr>
                    <a:t>Workforce</a:t>
                  </a: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p:txBody>
            </p:sp>
            <p:sp>
              <p:nvSpPr>
                <p:cNvPr id="48" name=""/>
                <p:cNvSpPr/>
                <p:nvPr/>
              </p:nvSpPr>
              <p:spPr>
                <a:xfrm>
                  <a:off x="152280" y="5648400"/>
                  <a:ext cx="1447920" cy="1018080"/>
                </a:xfrm>
                <a:prstGeom prst="rect">
                  <a:avLst/>
                </a:prstGeom>
                <a:solidFill>
                  <a:srgbClr val="4d006c"/>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400" strike="noStrike" u="none">
                      <a:solidFill>
                        <a:srgbClr val="ffffff"/>
                      </a:solidFill>
                      <a:effectLst/>
                      <a:uFillTx/>
                      <a:latin typeface="Arial Black"/>
                    </a:rPr>
                    <a:t>Reinforce Performance</a:t>
                  </a: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p:txBody>
            </p:sp>
          </p:grpSp>
          <p:grpSp>
            <p:nvGrpSpPr>
              <p:cNvPr id="49" name=""/>
              <p:cNvGrpSpPr/>
              <p:nvPr/>
            </p:nvGrpSpPr>
            <p:grpSpPr>
              <a:xfrm>
                <a:off x="1600200" y="1076400"/>
                <a:ext cx="7467480" cy="5467320"/>
                <a:chOff x="1600200" y="1076400"/>
                <a:chExt cx="7467480" cy="5467320"/>
              </a:xfrm>
            </p:grpSpPr>
            <p:sp>
              <p:nvSpPr>
                <p:cNvPr id="50" name=""/>
                <p:cNvSpPr/>
                <p:nvPr/>
              </p:nvSpPr>
              <p:spPr>
                <a:xfrm>
                  <a:off x="1828800" y="1076400"/>
                  <a:ext cx="1600200" cy="909000"/>
                </a:xfrm>
                <a:prstGeom prst="rect">
                  <a:avLst/>
                </a:prstGeom>
                <a:solidFill>
                  <a:srgbClr val="c4e0be"/>
                </a:solidFill>
                <a:ln w="28440">
                  <a:solidFill>
                    <a:srgbClr val="003300"/>
                  </a:solidFill>
                  <a:miter/>
                </a:ln>
              </p:spPr>
              <p:style>
                <a:lnRef idx="0"/>
                <a:fillRef idx="0"/>
                <a:effectRef idx="0"/>
                <a:fontRef idx="minor"/>
              </p:style>
              <p:txBody>
                <a:bodyPr lIns="69480" rIns="69480" tIns="34920" bIns="34920" anchor="t">
                  <a:spAutoFit/>
                </a:bodyPr>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Articulation of managers HRM accountabilities. HR policies. Workforce planning. Job classes &amp; salaries assigned. </a:t>
                  </a:r>
                  <a:endParaRPr b="0" lang="en-IN" sz="1000" strike="noStrike" u="none">
                    <a:solidFill>
                      <a:srgbClr val="000000"/>
                    </a:solidFill>
                    <a:effectLst/>
                    <a:uFillTx/>
                    <a:latin typeface="Arial"/>
                  </a:endParaRPr>
                </a:p>
              </p:txBody>
            </p:sp>
            <p:sp>
              <p:nvSpPr>
                <p:cNvPr id="51" name=""/>
                <p:cNvSpPr/>
                <p:nvPr/>
              </p:nvSpPr>
              <p:spPr>
                <a:xfrm>
                  <a:off x="1828800" y="2219400"/>
                  <a:ext cx="1600200" cy="909000"/>
                </a:xfrm>
                <a:prstGeom prst="rect">
                  <a:avLst/>
                </a:prstGeom>
                <a:solidFill>
                  <a:srgbClr val="ffd1d1"/>
                </a:solidFill>
                <a:ln w="28440">
                  <a:solidFill>
                    <a:srgbClr val="800000"/>
                  </a:solidFill>
                  <a:miter/>
                </a:ln>
              </p:spPr>
              <p:style>
                <a:lnRef idx="0"/>
                <a:fillRef idx="0"/>
                <a:effectRef idx="0"/>
                <a:fontRef idx="minor"/>
              </p:style>
              <p:txBody>
                <a:bodyPr lIns="69480" rIns="69480" tIns="34920" bIns="34920" anchor="t">
                  <a:spAutoFit/>
                </a:bodyPr>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US" sz="1000" strike="noStrike" u="none">
                      <a:solidFill>
                        <a:srgbClr val="000000"/>
                      </a:solidFill>
                      <a:effectLst/>
                      <a:uFillTx/>
                      <a:latin typeface="Arial"/>
                    </a:rPr>
                    <a:t>Qualified candidate pools, interviews &amp; reference checks. Job offers. Appts &amp; per-</a:t>
                  </a:r>
                  <a:br>
                    <a:rPr sz="1000"/>
                  </a:br>
                  <a:r>
                    <a:rPr b="0" lang="en-US" sz="1000" strike="noStrike" u="none">
                      <a:solidFill>
                        <a:srgbClr val="000000"/>
                      </a:solidFill>
                      <a:effectLst/>
                      <a:uFillTx/>
                      <a:latin typeface="Arial"/>
                    </a:rPr>
                    <a:t>formance monitoring. </a:t>
                  </a:r>
                  <a:endParaRPr b="0" lang="en-IN" sz="1000" strike="noStrike" u="none">
                    <a:solidFill>
                      <a:srgbClr val="000000"/>
                    </a:solidFill>
                    <a:effectLst/>
                    <a:uFillTx/>
                    <a:latin typeface="Arial"/>
                  </a:endParaRPr>
                </a:p>
              </p:txBody>
            </p:sp>
            <p:sp>
              <p:nvSpPr>
                <p:cNvPr id="52" name=""/>
                <p:cNvSpPr/>
                <p:nvPr/>
              </p:nvSpPr>
              <p:spPr>
                <a:xfrm>
                  <a:off x="1828800" y="3362400"/>
                  <a:ext cx="1600200" cy="895320"/>
                </a:xfrm>
                <a:prstGeom prst="rect">
                  <a:avLst/>
                </a:prstGeom>
                <a:solidFill>
                  <a:srgbClr val="ddddff"/>
                </a:solidFill>
                <a:ln w="28440">
                  <a:solidFill>
                    <a:srgbClr val="000099"/>
                  </a:solidFill>
                  <a:miter/>
                </a:ln>
              </p:spPr>
              <p:style>
                <a:lnRef idx="0"/>
                <a:fillRef idx="0"/>
                <a:effectRef idx="0"/>
                <a:fontRef idx="minor"/>
              </p:style>
              <p:txBody>
                <a:bodyPr lIns="69480" rIns="69480" tIns="34920" bIns="34920" anchor="t">
                  <a:spAutoFit/>
                </a:bodyPr>
                <a:p>
                  <a:pPr>
                    <a:lnSpc>
                      <a:spcPct val="9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Work assignments&amp; requirements defined. Positive workplace environment created. Coaching, feedback, corrections. </a:t>
                  </a:r>
                  <a:endParaRPr b="0" lang="en-IN" sz="1000" strike="noStrike" u="none">
                    <a:solidFill>
                      <a:srgbClr val="000000"/>
                    </a:solidFill>
                    <a:effectLst/>
                    <a:uFillTx/>
                    <a:latin typeface="Arial"/>
                  </a:endParaRPr>
                </a:p>
              </p:txBody>
            </p:sp>
            <p:sp>
              <p:nvSpPr>
                <p:cNvPr id="53" name=""/>
                <p:cNvSpPr/>
                <p:nvPr/>
              </p:nvSpPr>
              <p:spPr>
                <a:xfrm>
                  <a:off x="1828800" y="4505400"/>
                  <a:ext cx="1600200" cy="909000"/>
                </a:xfrm>
                <a:prstGeom prst="rect">
                  <a:avLst/>
                </a:prstGeom>
                <a:solidFill>
                  <a:srgbClr val="e8cebe"/>
                </a:solidFill>
                <a:ln w="28440">
                  <a:solidFill>
                    <a:srgbClr val="663300"/>
                  </a:solidFill>
                  <a:miter/>
                </a:ln>
              </p:spPr>
              <p:style>
                <a:lnRef idx="0"/>
                <a:fillRef idx="0"/>
                <a:effectRef idx="0"/>
                <a:fontRef idx="minor"/>
              </p:style>
              <p:txBody>
                <a:bodyPr lIns="69480" rIns="69480" tIns="34920" bIns="34920" anchor="t">
                  <a:spAutoFit/>
                </a:bodyPr>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Individual development plans. Time/ resources for training. Continuous learning environment created. </a:t>
                  </a:r>
                  <a:endParaRPr b="0" lang="en-IN" sz="1000" strike="noStrike" u="none">
                    <a:solidFill>
                      <a:srgbClr val="000000"/>
                    </a:solidFill>
                    <a:effectLst/>
                    <a:uFillTx/>
                    <a:latin typeface="Arial"/>
                  </a:endParaRPr>
                </a:p>
              </p:txBody>
            </p:sp>
            <p:sp>
              <p:nvSpPr>
                <p:cNvPr id="54" name=""/>
                <p:cNvSpPr/>
                <p:nvPr/>
              </p:nvSpPr>
              <p:spPr>
                <a:xfrm>
                  <a:off x="1828800" y="5648400"/>
                  <a:ext cx="1600200" cy="895320"/>
                </a:xfrm>
                <a:prstGeom prst="rect">
                  <a:avLst/>
                </a:prstGeom>
                <a:solidFill>
                  <a:srgbClr val="f0ddff"/>
                </a:solidFill>
                <a:ln w="28440">
                  <a:solidFill>
                    <a:srgbClr val="4d006c"/>
                  </a:solidFill>
                  <a:miter/>
                </a:ln>
              </p:spPr>
              <p:style>
                <a:lnRef idx="0"/>
                <a:fillRef idx="0"/>
                <a:effectRef idx="0"/>
                <a:fontRef idx="minor"/>
              </p:style>
              <p:txBody>
                <a:bodyPr lIns="69480" rIns="69480" tIns="34920" bIns="34920" anchor="t">
                  <a:spAutoFit/>
                </a:bodyPr>
                <a:p>
                  <a:pPr>
                    <a:lnSpc>
                      <a:spcPct val="9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Clear performance expectations linked to orgn’al goals &amp; measures. Regular performance appraisals. Recognition. Discipline.</a:t>
                  </a:r>
                  <a:endParaRPr b="0" lang="en-IN" sz="1000" strike="noStrike" u="none">
                    <a:solidFill>
                      <a:srgbClr val="000000"/>
                    </a:solidFill>
                    <a:effectLst/>
                    <a:uFillTx/>
                    <a:latin typeface="Arial"/>
                  </a:endParaRPr>
                </a:p>
              </p:txBody>
            </p:sp>
            <p:sp>
              <p:nvSpPr>
                <p:cNvPr id="55" name=""/>
                <p:cNvSpPr/>
                <p:nvPr/>
              </p:nvSpPr>
              <p:spPr>
                <a:xfrm>
                  <a:off x="3657600" y="1076400"/>
                  <a:ext cx="1600200" cy="909000"/>
                </a:xfrm>
                <a:prstGeom prst="rect">
                  <a:avLst/>
                </a:prstGeom>
                <a:solidFill>
                  <a:srgbClr val="c4e0be"/>
                </a:solidFill>
                <a:ln w="28440">
                  <a:solidFill>
                    <a:srgbClr val="003300"/>
                  </a:solidFill>
                  <a:miter/>
                </a:ln>
              </p:spPr>
              <p:style>
                <a:lnRef idx="0"/>
                <a:fillRef idx="0"/>
                <a:effectRef idx="0"/>
                <a:fontRef idx="minor"/>
              </p:style>
              <p:txBody>
                <a:bodyPr lIns="69480" rIns="69480" tIns="34920" bIns="34920" anchor="t">
                  <a:spAutoFit/>
                </a:bodyPr>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Managers understand HRM accountabilities. Jobs, staffing levels, &amp; competencies aligned with agency priorities.  </a:t>
                  </a:r>
                  <a:endParaRPr b="0" lang="en-IN" sz="1000" strike="noStrike" u="none">
                    <a:solidFill>
                      <a:srgbClr val="000000"/>
                    </a:solidFill>
                    <a:effectLst/>
                    <a:uFillTx/>
                    <a:latin typeface="Arial"/>
                  </a:endParaRPr>
                </a:p>
              </p:txBody>
            </p:sp>
            <p:sp>
              <p:nvSpPr>
                <p:cNvPr id="56" name=""/>
                <p:cNvSpPr/>
                <p:nvPr/>
              </p:nvSpPr>
              <p:spPr>
                <a:xfrm>
                  <a:off x="3657600" y="2219400"/>
                  <a:ext cx="1600200" cy="909000"/>
                </a:xfrm>
                <a:prstGeom prst="rect">
                  <a:avLst/>
                </a:prstGeom>
                <a:solidFill>
                  <a:srgbClr val="ffd1d1"/>
                </a:solidFill>
                <a:ln w="28440">
                  <a:solidFill>
                    <a:srgbClr val="800000"/>
                  </a:solidFill>
                  <a:miter/>
                </a:ln>
              </p:spPr>
              <p:style>
                <a:lnRef idx="0"/>
                <a:fillRef idx="0"/>
                <a:effectRef idx="0"/>
                <a:fontRef idx="minor"/>
              </p:style>
              <p:txBody>
                <a:bodyPr lIns="69480" rIns="69480" tIns="34920" bIns="34920" anchor="t">
                  <a:spAutoFit/>
                </a:bodyPr>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Best candidate hired &amp; reviewed during appointment period. Successful performers retained.</a:t>
                  </a:r>
                  <a:endParaRPr b="0" lang="en-IN" sz="1000" strike="noStrike" u="none">
                    <a:solidFill>
                      <a:srgbClr val="000000"/>
                    </a:solidFill>
                    <a:effectLst/>
                    <a:uFillTx/>
                    <a:latin typeface="Arial"/>
                  </a:endParaRPr>
                </a:p>
              </p:txBody>
            </p:sp>
            <p:sp>
              <p:nvSpPr>
                <p:cNvPr id="57" name=""/>
                <p:cNvSpPr/>
                <p:nvPr/>
              </p:nvSpPr>
              <p:spPr>
                <a:xfrm>
                  <a:off x="3657600" y="3362400"/>
                  <a:ext cx="1600200" cy="895320"/>
                </a:xfrm>
                <a:prstGeom prst="rect">
                  <a:avLst/>
                </a:prstGeom>
                <a:solidFill>
                  <a:srgbClr val="ddddff"/>
                </a:solidFill>
                <a:ln w="28440">
                  <a:solidFill>
                    <a:srgbClr val="000099"/>
                  </a:solidFill>
                  <a:miter/>
                </a:ln>
              </p:spPr>
              <p:style>
                <a:lnRef idx="0"/>
                <a:fillRef idx="0"/>
                <a:effectRef idx="0"/>
                <a:fontRef idx="minor"/>
              </p:style>
              <p:txBody>
                <a:bodyPr lIns="69480" rIns="69480" tIns="34920" bIns="34920" anchor="t">
                  <a:spAutoFit/>
                </a:bodyPr>
                <a:p>
                  <a:pPr>
                    <a:lnSpc>
                      <a:spcPct val="9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Workplace is safe, gives capacity to perform, &amp; fosters productive relations. Staff know job rqmts, how they’re doing, &amp; are supported.</a:t>
                  </a:r>
                  <a:endParaRPr b="0" lang="en-IN" sz="1000" strike="noStrike" u="none">
                    <a:solidFill>
                      <a:srgbClr val="000000"/>
                    </a:solidFill>
                    <a:effectLst/>
                    <a:uFillTx/>
                    <a:latin typeface="Arial"/>
                  </a:endParaRPr>
                </a:p>
              </p:txBody>
            </p:sp>
            <p:sp>
              <p:nvSpPr>
                <p:cNvPr id="58" name=""/>
                <p:cNvSpPr/>
                <p:nvPr/>
              </p:nvSpPr>
              <p:spPr>
                <a:xfrm>
                  <a:off x="3657600" y="4505400"/>
                  <a:ext cx="1600200" cy="909000"/>
                </a:xfrm>
                <a:prstGeom prst="rect">
                  <a:avLst/>
                </a:prstGeom>
                <a:solidFill>
                  <a:srgbClr val="e8cebe"/>
                </a:solidFill>
                <a:ln w="28440">
                  <a:solidFill>
                    <a:srgbClr val="663300"/>
                  </a:solidFill>
                  <a:miter/>
                </a:ln>
              </p:spPr>
              <p:style>
                <a:lnRef idx="0"/>
                <a:fillRef idx="0"/>
                <a:effectRef idx="0"/>
                <a:fontRef idx="minor"/>
              </p:style>
              <p:txBody>
                <a:bodyPr lIns="69480" rIns="69480" tIns="34920" bIns="34920" anchor="t">
                  <a:spAutoFit/>
                </a:bodyPr>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Learning environment created. Employees are engaged in develop-</a:t>
                  </a:r>
                  <a:br>
                    <a:rPr sz="1000"/>
                  </a:br>
                  <a:r>
                    <a:rPr b="0" lang="en-IN" sz="1000" strike="noStrike" u="none">
                      <a:solidFill>
                        <a:srgbClr val="000000"/>
                      </a:solidFill>
                      <a:effectLst/>
                      <a:uFillTx/>
                      <a:latin typeface="Arial"/>
                    </a:rPr>
                    <a:t>ment opportunities &amp; seek to learn.</a:t>
                  </a:r>
                  <a:endParaRPr b="0" lang="en-IN" sz="1000" strike="noStrike" u="none">
                    <a:solidFill>
                      <a:srgbClr val="000000"/>
                    </a:solidFill>
                    <a:effectLst/>
                    <a:uFillTx/>
                    <a:latin typeface="Arial"/>
                  </a:endParaRPr>
                </a:p>
              </p:txBody>
            </p:sp>
            <p:sp>
              <p:nvSpPr>
                <p:cNvPr id="59" name=""/>
                <p:cNvSpPr/>
                <p:nvPr/>
              </p:nvSpPr>
              <p:spPr>
                <a:xfrm>
                  <a:off x="3657600" y="5648400"/>
                  <a:ext cx="1600200" cy="895320"/>
                </a:xfrm>
                <a:prstGeom prst="rect">
                  <a:avLst/>
                </a:prstGeom>
                <a:solidFill>
                  <a:srgbClr val="f0ddff"/>
                </a:solidFill>
                <a:ln w="28440">
                  <a:solidFill>
                    <a:srgbClr val="4d006c"/>
                  </a:solidFill>
                  <a:miter/>
                </a:ln>
              </p:spPr>
              <p:style>
                <a:lnRef idx="0"/>
                <a:fillRef idx="0"/>
                <a:effectRef idx="0"/>
                <a:fontRef idx="minor"/>
              </p:style>
              <p:txBody>
                <a:bodyPr lIns="69480" rIns="69480" tIns="34920" bIns="34920" anchor="t">
                  <a:spAutoFit/>
                </a:bodyPr>
                <a:p>
                  <a:pPr>
                    <a:lnSpc>
                      <a:spcPct val="9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Employees know how performance contributes to success of orgn. Strong performance rewarded; poor performance eliminated</a:t>
                  </a:r>
                  <a:endParaRPr b="0" lang="en-IN" sz="1000" strike="noStrike" u="none">
                    <a:solidFill>
                      <a:srgbClr val="000000"/>
                    </a:solidFill>
                    <a:effectLst/>
                    <a:uFillTx/>
                    <a:latin typeface="Arial"/>
                  </a:endParaRPr>
                </a:p>
              </p:txBody>
            </p:sp>
            <p:sp>
              <p:nvSpPr>
                <p:cNvPr id="60" name=""/>
                <p:cNvSpPr/>
                <p:nvPr/>
              </p:nvSpPr>
              <p:spPr>
                <a:xfrm>
                  <a:off x="5486400" y="1076400"/>
                  <a:ext cx="1447920" cy="924120"/>
                </a:xfrm>
                <a:prstGeom prst="rect">
                  <a:avLst/>
                </a:prstGeom>
                <a:solidFill>
                  <a:srgbClr val="c4e0be"/>
                </a:solidFill>
                <a:ln w="28440">
                  <a:solidFill>
                    <a:srgbClr val="003300"/>
                  </a:solidFill>
                  <a:miter/>
                </a:ln>
              </p:spPr>
              <p:style>
                <a:lnRef idx="0"/>
                <a:fillRef idx="0"/>
                <a:effectRef idx="0"/>
                <a:fontRef idx="minor"/>
              </p:style>
              <p:txBody>
                <a:bodyPr lIns="69480" rIns="69480" tIns="34920" bIns="34920" anchor="t">
                  <a:spAutoFit/>
                </a:bodyPr>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Foundation is in place to build and sustain a productive, high performing workforce.</a:t>
                  </a:r>
                  <a:endParaRPr b="0" lang="en-IN" sz="1000" strike="noStrike" u="none">
                    <a:solidFill>
                      <a:srgbClr val="000000"/>
                    </a:solidFill>
                    <a:effectLst/>
                    <a:uFillTx/>
                    <a:latin typeface="Arial"/>
                  </a:endParaRPr>
                </a:p>
              </p:txBody>
            </p:sp>
            <p:sp>
              <p:nvSpPr>
                <p:cNvPr id="61" name=""/>
                <p:cNvSpPr/>
                <p:nvPr/>
              </p:nvSpPr>
              <p:spPr>
                <a:xfrm>
                  <a:off x="5486400" y="2219400"/>
                  <a:ext cx="1447920" cy="817920"/>
                </a:xfrm>
                <a:prstGeom prst="rect">
                  <a:avLst/>
                </a:prstGeom>
                <a:solidFill>
                  <a:srgbClr val="ffd1d1"/>
                </a:solidFill>
                <a:ln w="28440">
                  <a:solidFill>
                    <a:srgbClr val="800000"/>
                  </a:solidFill>
                  <a:miter/>
                </a:ln>
              </p:spPr>
              <p:style>
                <a:lnRef idx="0"/>
                <a:fillRef idx="0"/>
                <a:effectRef idx="0"/>
                <a:fontRef idx="minor"/>
              </p:style>
              <p:txBody>
                <a:bodyPr lIns="69480" rIns="69480" tIns="34920" bIns="34920" anchor="t">
                  <a:spAutoFit/>
                </a:bodyPr>
                <a:p>
                  <a:pPr>
                    <a:lnSpc>
                      <a:spcPct val="13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The right people are in the right job at the right time.</a:t>
                  </a:r>
                  <a:br>
                    <a:rPr sz="1000"/>
                  </a:br>
                  <a:endParaRPr b="0" lang="en-IN" sz="1000" strike="noStrike" u="none">
                    <a:solidFill>
                      <a:srgbClr val="000000"/>
                    </a:solidFill>
                    <a:effectLst/>
                    <a:uFillTx/>
                    <a:latin typeface="Arial"/>
                  </a:endParaRPr>
                </a:p>
              </p:txBody>
            </p:sp>
            <p:sp>
              <p:nvSpPr>
                <p:cNvPr id="62" name=""/>
                <p:cNvSpPr/>
                <p:nvPr/>
              </p:nvSpPr>
              <p:spPr>
                <a:xfrm>
                  <a:off x="5486400" y="3362400"/>
                  <a:ext cx="1447920" cy="863640"/>
                </a:xfrm>
                <a:prstGeom prst="rect">
                  <a:avLst/>
                </a:prstGeom>
                <a:solidFill>
                  <a:srgbClr val="ddddff"/>
                </a:solidFill>
                <a:ln w="28440">
                  <a:solidFill>
                    <a:srgbClr val="000099"/>
                  </a:solidFill>
                  <a:miter/>
                </a:ln>
              </p:spPr>
              <p:style>
                <a:lnRef idx="0"/>
                <a:fillRef idx="0"/>
                <a:effectRef idx="0"/>
                <a:fontRef idx="minor"/>
              </p:style>
              <p:txBody>
                <a:bodyPr lIns="69480" rIns="69480" tIns="34920" bIns="34920" anchor="t">
                  <a:spAutoFit/>
                </a:bodyPr>
                <a:p>
                  <a:pPr>
                    <a:lnSpc>
                      <a:spcPct val="13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Time &amp; talent is used effectively. Employees are motivated &amp; productive.</a:t>
                  </a:r>
                  <a:endParaRPr b="0" lang="en-IN" sz="1000" strike="noStrike" u="none">
                    <a:solidFill>
                      <a:srgbClr val="000000"/>
                    </a:solidFill>
                    <a:effectLst/>
                    <a:uFillTx/>
                    <a:latin typeface="Arial"/>
                  </a:endParaRPr>
                </a:p>
              </p:txBody>
            </p:sp>
            <p:sp>
              <p:nvSpPr>
                <p:cNvPr id="63" name=""/>
                <p:cNvSpPr/>
                <p:nvPr/>
              </p:nvSpPr>
              <p:spPr>
                <a:xfrm>
                  <a:off x="5486400" y="4505400"/>
                  <a:ext cx="1447920" cy="863640"/>
                </a:xfrm>
                <a:prstGeom prst="rect">
                  <a:avLst/>
                </a:prstGeom>
                <a:solidFill>
                  <a:srgbClr val="e8cebe"/>
                </a:solidFill>
                <a:ln w="28440">
                  <a:solidFill>
                    <a:srgbClr val="663300"/>
                  </a:solidFill>
                  <a:miter/>
                </a:ln>
              </p:spPr>
              <p:style>
                <a:lnRef idx="0"/>
                <a:fillRef idx="0"/>
                <a:effectRef idx="0"/>
                <a:fontRef idx="minor"/>
              </p:style>
              <p:txBody>
                <a:bodyPr lIns="69480" rIns="69480" tIns="34920" bIns="34920" anchor="t">
                  <a:spAutoFit/>
                </a:bodyPr>
                <a:p>
                  <a:pPr>
                    <a:lnSpc>
                      <a:spcPct val="13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Employees have competencies for present job &amp; career advancement</a:t>
                  </a:r>
                  <a:endParaRPr b="0" lang="en-IN" sz="1000" strike="noStrike" u="none">
                    <a:solidFill>
                      <a:srgbClr val="000000"/>
                    </a:solidFill>
                    <a:effectLst/>
                    <a:uFillTx/>
                    <a:latin typeface="Arial"/>
                  </a:endParaRPr>
                </a:p>
              </p:txBody>
            </p:sp>
            <p:sp>
              <p:nvSpPr>
                <p:cNvPr id="64" name=""/>
                <p:cNvSpPr/>
                <p:nvPr/>
              </p:nvSpPr>
              <p:spPr>
                <a:xfrm>
                  <a:off x="5486400" y="5648400"/>
                  <a:ext cx="1447920" cy="833400"/>
                </a:xfrm>
                <a:prstGeom prst="rect">
                  <a:avLst/>
                </a:prstGeom>
                <a:solidFill>
                  <a:srgbClr val="f0ddff"/>
                </a:solidFill>
                <a:ln w="28440">
                  <a:solidFill>
                    <a:srgbClr val="4d006c"/>
                  </a:solidFill>
                  <a:miter/>
                </a:ln>
              </p:spPr>
              <p:style>
                <a:lnRef idx="0"/>
                <a:fillRef idx="0"/>
                <a:effectRef idx="0"/>
                <a:fontRef idx="minor"/>
              </p:style>
              <p:txBody>
                <a:bodyPr lIns="69480" rIns="69480" tIns="34920" bIns="34920" anchor="t">
                  <a:spAutoFit/>
                </a:bodyPr>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US" sz="1000" strike="noStrike" u="none">
                      <a:solidFill>
                        <a:srgbClr val="000000"/>
                      </a:solidFill>
                      <a:effectLst/>
                      <a:uFillTx/>
                      <a:latin typeface="Arial"/>
                    </a:rPr>
                    <a:t>Successful perf is differentiated &amp; strengthened. Employees are held accountable.</a:t>
                  </a:r>
                  <a:endParaRPr b="0" lang="en-IN" sz="1000" strike="noStrike" u="none">
                    <a:solidFill>
                      <a:srgbClr val="000000"/>
                    </a:solidFill>
                    <a:effectLst/>
                    <a:uFillTx/>
                    <a:latin typeface="Arial"/>
                  </a:endParaRPr>
                </a:p>
              </p:txBody>
            </p:sp>
            <p:sp>
              <p:nvSpPr>
                <p:cNvPr id="65" name=""/>
                <p:cNvSpPr/>
                <p:nvPr/>
              </p:nvSpPr>
              <p:spPr>
                <a:xfrm>
                  <a:off x="7467480" y="2523960"/>
                  <a:ext cx="1600200" cy="1803240"/>
                </a:xfrm>
                <a:prstGeom prst="rect">
                  <a:avLst/>
                </a:prstGeom>
                <a:solidFill>
                  <a:srgbClr val="ff9900"/>
                </a:solidFill>
                <a:ln w="28440">
                  <a:solidFill>
                    <a:srgbClr val="000000"/>
                  </a:solidFill>
                  <a:miter/>
                </a:ln>
              </p:spPr>
              <p:style>
                <a:lnRef idx="0"/>
                <a:fillRef idx="0"/>
                <a:effectRef idx="0"/>
                <a:fontRef idx="minor"/>
              </p:style>
              <p:txBody>
                <a:bodyPr lIns="69480" rIns="69480" tIns="34920" bIns="34920" anchor="t">
                  <a:spAutoFit/>
                </a:bodyPr>
                <a:p>
                  <a:pPr>
                    <a:spcBef>
                      <a:spcPts val="81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000000"/>
                      </a:solidFill>
                      <a:effectLst/>
                      <a:uFillTx/>
                      <a:latin typeface="Arial"/>
                    </a:rPr>
                    <a:t>Employees are committed to the work they do &amp; the goals of the organization</a:t>
                  </a:r>
                  <a:endParaRPr b="0" lang="en-IN" sz="1000" strike="noStrike" u="none">
                    <a:solidFill>
                      <a:srgbClr val="000000"/>
                    </a:solidFill>
                    <a:effectLst/>
                    <a:uFillTx/>
                    <a:latin typeface="Arial"/>
                  </a:endParaRPr>
                </a:p>
                <a:p>
                  <a:pPr>
                    <a:spcBef>
                      <a:spcPts val="81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000000"/>
                      </a:solidFill>
                      <a:effectLst/>
                      <a:uFillTx/>
                      <a:latin typeface="Arial"/>
                    </a:rPr>
                    <a:t>Productive, successful employees are retained</a:t>
                  </a:r>
                  <a:endParaRPr b="0" lang="en-IN" sz="1000" strike="noStrike" u="none">
                    <a:solidFill>
                      <a:srgbClr val="000000"/>
                    </a:solidFill>
                    <a:effectLst/>
                    <a:uFillTx/>
                    <a:latin typeface="Arial"/>
                  </a:endParaRPr>
                </a:p>
                <a:p>
                  <a:pPr>
                    <a:spcBef>
                      <a:spcPts val="81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000000"/>
                      </a:solidFill>
                      <a:effectLst/>
                      <a:uFillTx/>
                      <a:latin typeface="Arial"/>
                    </a:rPr>
                    <a:t>State has workforce depth &amp; breadth needed for present and future success</a:t>
                  </a:r>
                  <a:endParaRPr b="0" lang="en-IN" sz="1000" strike="noStrike" u="none">
                    <a:solidFill>
                      <a:srgbClr val="000000"/>
                    </a:solidFill>
                    <a:effectLst/>
                    <a:uFillTx/>
                    <a:latin typeface="Arial"/>
                  </a:endParaRPr>
                </a:p>
              </p:txBody>
            </p:sp>
            <p:sp>
              <p:nvSpPr>
                <p:cNvPr id="66" name=""/>
                <p:cNvSpPr/>
                <p:nvPr/>
              </p:nvSpPr>
              <p:spPr>
                <a:xfrm>
                  <a:off x="7467480" y="4734000"/>
                  <a:ext cx="1600200" cy="986040"/>
                </a:xfrm>
                <a:prstGeom prst="rect">
                  <a:avLst/>
                </a:prstGeom>
                <a:solidFill>
                  <a:srgbClr val="ffffff"/>
                </a:solidFill>
                <a:ln w="9360">
                  <a:solidFill>
                    <a:srgbClr val="000000"/>
                  </a:solidFill>
                  <a:miter/>
                </a:ln>
              </p:spPr>
              <p:style>
                <a:lnRef idx="0"/>
                <a:fillRef idx="0"/>
                <a:effectRef idx="0"/>
                <a:fontRef idx="minor"/>
              </p:style>
              <p:txBody>
                <a:bodyPr lIns="69480" rIns="69480" tIns="34920" bIns="34920" anchor="t">
                  <a:spAutoFit/>
                </a:bodyPr>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000000"/>
                      </a:solidFill>
                      <a:effectLst/>
                      <a:uFillTx/>
                      <a:latin typeface="Arial"/>
                    </a:rPr>
                    <a:t>Agencies are better enabled to successfully carry out their mission. The citizens receive efficient government services.</a:t>
                  </a:r>
                  <a:endParaRPr b="0" lang="en-IN" sz="1000" strike="noStrike" u="none">
                    <a:solidFill>
                      <a:srgbClr val="000000"/>
                    </a:solidFill>
                    <a:effectLst/>
                    <a:uFillTx/>
                    <a:latin typeface="Arial"/>
                  </a:endParaRPr>
                </a:p>
              </p:txBody>
            </p:sp>
            <p:sp>
              <p:nvSpPr>
                <p:cNvPr id="67" name=""/>
                <p:cNvSpPr/>
                <p:nvPr/>
              </p:nvSpPr>
              <p:spPr>
                <a:xfrm>
                  <a:off x="7238880" y="1609560"/>
                  <a:ext cx="0" cy="44960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68" name=""/>
                <p:cNvSpPr/>
                <p:nvPr/>
              </p:nvSpPr>
              <p:spPr>
                <a:xfrm>
                  <a:off x="6934320" y="3819600"/>
                  <a:ext cx="30456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69" name=""/>
                <p:cNvSpPr/>
                <p:nvPr/>
              </p:nvSpPr>
              <p:spPr>
                <a:xfrm>
                  <a:off x="6934320" y="2676600"/>
                  <a:ext cx="30456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70" name=""/>
                <p:cNvSpPr/>
                <p:nvPr/>
              </p:nvSpPr>
              <p:spPr>
                <a:xfrm>
                  <a:off x="7238880" y="3133800"/>
                  <a:ext cx="228600" cy="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71" name=""/>
                <p:cNvSpPr/>
                <p:nvPr/>
              </p:nvSpPr>
              <p:spPr>
                <a:xfrm>
                  <a:off x="6934320" y="4962600"/>
                  <a:ext cx="30456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72" name=""/>
                <p:cNvSpPr/>
                <p:nvPr/>
              </p:nvSpPr>
              <p:spPr>
                <a:xfrm>
                  <a:off x="5257800" y="381960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73" name=""/>
                <p:cNvSpPr/>
                <p:nvPr/>
              </p:nvSpPr>
              <p:spPr>
                <a:xfrm>
                  <a:off x="6934320" y="1609560"/>
                  <a:ext cx="30456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74" name=""/>
                <p:cNvSpPr/>
                <p:nvPr/>
              </p:nvSpPr>
              <p:spPr>
                <a:xfrm>
                  <a:off x="6934320" y="6105600"/>
                  <a:ext cx="30456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75" name=""/>
                <p:cNvSpPr/>
                <p:nvPr/>
              </p:nvSpPr>
              <p:spPr>
                <a:xfrm>
                  <a:off x="3429000" y="381960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76" name=""/>
                <p:cNvSpPr/>
                <p:nvPr/>
              </p:nvSpPr>
              <p:spPr>
                <a:xfrm>
                  <a:off x="1600200" y="381960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77" name=""/>
                <p:cNvSpPr/>
                <p:nvPr/>
              </p:nvSpPr>
              <p:spPr>
                <a:xfrm>
                  <a:off x="3429000" y="267660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78" name=""/>
                <p:cNvSpPr/>
                <p:nvPr/>
              </p:nvSpPr>
              <p:spPr>
                <a:xfrm>
                  <a:off x="5257800" y="267660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79" name=""/>
                <p:cNvSpPr/>
                <p:nvPr/>
              </p:nvSpPr>
              <p:spPr>
                <a:xfrm>
                  <a:off x="1600200" y="267660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80" name=""/>
                <p:cNvSpPr/>
                <p:nvPr/>
              </p:nvSpPr>
              <p:spPr>
                <a:xfrm>
                  <a:off x="1600200" y="160956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81" name=""/>
                <p:cNvSpPr/>
                <p:nvPr/>
              </p:nvSpPr>
              <p:spPr>
                <a:xfrm>
                  <a:off x="3429000" y="160956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82" name=""/>
                <p:cNvSpPr/>
                <p:nvPr/>
              </p:nvSpPr>
              <p:spPr>
                <a:xfrm>
                  <a:off x="5257800" y="160956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83" name=""/>
                <p:cNvSpPr/>
                <p:nvPr/>
              </p:nvSpPr>
              <p:spPr>
                <a:xfrm>
                  <a:off x="3429000" y="496260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84" name=""/>
                <p:cNvSpPr/>
                <p:nvPr/>
              </p:nvSpPr>
              <p:spPr>
                <a:xfrm>
                  <a:off x="1600200" y="496260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85" name=""/>
                <p:cNvSpPr/>
                <p:nvPr/>
              </p:nvSpPr>
              <p:spPr>
                <a:xfrm>
                  <a:off x="5257800" y="496260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86" name=""/>
                <p:cNvSpPr/>
                <p:nvPr/>
              </p:nvSpPr>
              <p:spPr>
                <a:xfrm>
                  <a:off x="5257800" y="610560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87" name=""/>
                <p:cNvSpPr/>
                <p:nvPr/>
              </p:nvSpPr>
              <p:spPr>
                <a:xfrm>
                  <a:off x="3429000" y="610560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88" name=""/>
                <p:cNvSpPr/>
                <p:nvPr/>
              </p:nvSpPr>
              <p:spPr>
                <a:xfrm>
                  <a:off x="1600200" y="6105600"/>
                  <a:ext cx="228600" cy="0"/>
                </a:xfrm>
                <a:prstGeom prst="line">
                  <a:avLst/>
                </a:prstGeom>
                <a:ln w="9360">
                  <a:solidFill>
                    <a:srgbClr val="000000"/>
                  </a:solidFill>
                  <a:miter/>
                  <a:tailEnd len="sm"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89" name=""/>
                <p:cNvSpPr/>
                <p:nvPr/>
              </p:nvSpPr>
              <p:spPr>
                <a:xfrm>
                  <a:off x="8229600" y="4352760"/>
                  <a:ext cx="0" cy="38124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grpSp>
        </p:grpSp>
        <p:sp>
          <p:nvSpPr>
            <p:cNvPr id="90" name=""/>
            <p:cNvSpPr/>
            <p:nvPr/>
          </p:nvSpPr>
          <p:spPr>
            <a:xfrm>
              <a:off x="1828800" y="822240"/>
              <a:ext cx="1600200" cy="2466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Outputs</a:t>
              </a:r>
              <a:endParaRPr b="0" lang="en-IN" sz="1000" strike="noStrike" u="none">
                <a:solidFill>
                  <a:srgbClr val="000000"/>
                </a:solidFill>
                <a:effectLst/>
                <a:uFillTx/>
                <a:latin typeface="Arial"/>
              </a:endParaRPr>
            </a:p>
          </p:txBody>
        </p:sp>
        <p:sp>
          <p:nvSpPr>
            <p:cNvPr id="91" name=""/>
            <p:cNvSpPr/>
            <p:nvPr/>
          </p:nvSpPr>
          <p:spPr>
            <a:xfrm>
              <a:off x="3733920" y="822240"/>
              <a:ext cx="1600200" cy="2466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Initial Outcomes</a:t>
              </a:r>
              <a:endParaRPr b="0" lang="en-IN" sz="1000" strike="noStrike" u="none">
                <a:solidFill>
                  <a:srgbClr val="000000"/>
                </a:solidFill>
                <a:effectLst/>
                <a:uFillTx/>
                <a:latin typeface="Arial"/>
              </a:endParaRPr>
            </a:p>
          </p:txBody>
        </p:sp>
        <p:sp>
          <p:nvSpPr>
            <p:cNvPr id="92" name=""/>
            <p:cNvSpPr/>
            <p:nvPr/>
          </p:nvSpPr>
          <p:spPr>
            <a:xfrm>
              <a:off x="5410080" y="822240"/>
              <a:ext cx="1600200" cy="2466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Intermediate Outcomes</a:t>
              </a:r>
              <a:endParaRPr b="0" lang="en-IN" sz="1000" strike="noStrike" u="none">
                <a:solidFill>
                  <a:srgbClr val="000000"/>
                </a:solidFill>
                <a:effectLst/>
                <a:uFillTx/>
                <a:latin typeface="Arial"/>
              </a:endParaRPr>
            </a:p>
          </p:txBody>
        </p:sp>
        <p:sp>
          <p:nvSpPr>
            <p:cNvPr id="93" name=""/>
            <p:cNvSpPr/>
            <p:nvPr/>
          </p:nvSpPr>
          <p:spPr>
            <a:xfrm>
              <a:off x="7467480" y="2270160"/>
              <a:ext cx="1600200" cy="2466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Narrow"/>
                </a:rPr>
                <a:t>Ultimate Outcomes</a:t>
              </a:r>
              <a:endParaRPr b="0" lang="en-IN" sz="1000" strike="noStrike" u="none">
                <a:solidFill>
                  <a:srgbClr val="000000"/>
                </a:solidFill>
                <a:effectLst/>
                <a:uFillTx/>
                <a:latin typeface="Arial"/>
              </a:endParaRPr>
            </a:p>
          </p:txBody>
        </p:sp>
      </p:grpSp>
      <p:sp>
        <p:nvSpPr>
          <p:cNvPr id="94" name="PlaceHolder 1"/>
          <p:cNvSpPr>
            <a:spLocks noGrp="1"/>
          </p:cNvSpPr>
          <p:nvPr>
            <p:ph type="title"/>
          </p:nvPr>
        </p:nvSpPr>
        <p:spPr>
          <a:xfrm>
            <a:off x="457200" y="274320"/>
            <a:ext cx="8229600" cy="63972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Black"/>
              </a:rPr>
              <a:t>Managers’ Logic Model for Workforce Management</a:t>
            </a:r>
            <a:endParaRPr b="0" lang="en-IN" sz="1800" strike="noStrike" u="none">
              <a:solidFill>
                <a:srgbClr val="000000"/>
              </a:solidFill>
              <a:effectLst/>
              <a:uFillTx/>
              <a:latin typeface="Arial"/>
            </a:endParaRPr>
          </a:p>
        </p:txBody>
      </p:sp>
      <p:sp>
        <p:nvSpPr>
          <p:cNvPr id="3" name="PlaceHolder 2"/>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0" y="228600"/>
            <a:ext cx="9144000" cy="65736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Black"/>
              </a:rPr>
              <a:t>Standard Performance Measures</a:t>
            </a:r>
            <a:endParaRPr b="0" lang="en-IN" sz="1800" strike="noStrike" u="none">
              <a:solidFill>
                <a:srgbClr val="000000"/>
              </a:solidFill>
              <a:effectLst/>
              <a:uFillTx/>
              <a:latin typeface="Arial"/>
            </a:endParaRPr>
          </a:p>
        </p:txBody>
      </p:sp>
      <p:sp>
        <p:nvSpPr>
          <p:cNvPr id="96" name="PlaceHolder 2"/>
          <p:cNvSpPr>
            <a:spLocks noGrp="1"/>
          </p:cNvSpPr>
          <p:nvPr>
            <p:ph/>
          </p:nvPr>
        </p:nvSpPr>
        <p:spPr>
          <a:xfrm>
            <a:off x="1600200" y="1218960"/>
            <a:ext cx="5105520" cy="5105160"/>
          </a:xfrm>
          <a:prstGeom prst="rect">
            <a:avLst/>
          </a:prstGeom>
          <a:noFill/>
          <a:ln w="0">
            <a:noFill/>
          </a:ln>
        </p:spPr>
        <p:txBody>
          <a:bodyPr lIns="90000" rIns="90000" tIns="46800" bIns="46800" anchor="t">
            <a:normAutofit lnSpcReduction="9999"/>
          </a:bodyPr>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Percent supervisors with current performance expectations for workforce management </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Management profile</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Workforce planning measure (TBD)</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Percent employees with current position/competencies descriptions</a:t>
            </a:r>
            <a:endParaRPr b="0" lang="en-IN" sz="1000" strike="noStrike" u="none">
              <a:solidFill>
                <a:srgbClr val="000000"/>
              </a:solidFill>
              <a:effectLst/>
              <a:uFillTx/>
              <a:latin typeface="Arial"/>
            </a:endParaRPr>
          </a:p>
          <a:p>
            <a:pPr marL="231840" indent="-231840">
              <a:lnSpc>
                <a:spcPct val="8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231840" indent="-231840">
              <a:lnSpc>
                <a:spcPct val="8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Time-to-fill funded vacancies</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Candidate quality</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Hiring Balance (Proportion of appointment types)</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Separation during review period</a:t>
            </a:r>
            <a:endParaRPr b="0" lang="en-IN" sz="1000" strike="noStrike" u="none">
              <a:solidFill>
                <a:srgbClr val="000000"/>
              </a:solidFill>
              <a:effectLst/>
              <a:uFillTx/>
              <a:latin typeface="Arial"/>
            </a:endParaRPr>
          </a:p>
          <a:p>
            <a:pPr marL="231840" indent="-231840">
              <a:lnSpc>
                <a:spcPct val="5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231840" indent="-231840">
              <a:lnSpc>
                <a:spcPct val="5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231840" indent="-231840">
              <a:lnSpc>
                <a:spcPct val="5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231840" indent="-231840">
              <a:lnSpc>
                <a:spcPct val="5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Percent employees with current performance expectations</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Employee survey ratings on “productive workplace” questions</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Overtime usage </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Sick leave usage</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Non-disciplinary grievances/appeals filed and disposition (outcomes)</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Worker safety</a:t>
            </a:r>
            <a:endParaRPr b="0" lang="en-IN" sz="1000" strike="noStrike" u="none">
              <a:solidFill>
                <a:srgbClr val="000000"/>
              </a:solidFill>
              <a:effectLst/>
              <a:uFillTx/>
              <a:latin typeface="Arial"/>
            </a:endParaRPr>
          </a:p>
          <a:p>
            <a:pPr marL="231840" indent="0">
              <a:lnSpc>
                <a:spcPct val="80000"/>
              </a:lnSpc>
              <a:spcBef>
                <a:spcPts val="2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231840" indent="-231840">
              <a:lnSpc>
                <a:spcPct val="8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231840" indent="-231840">
              <a:lnSpc>
                <a:spcPct val="8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231840" indent="-231840">
              <a:lnSpc>
                <a:spcPct val="80000"/>
              </a:lnSpc>
              <a:spcBef>
                <a:spcPts val="187"/>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Percent employees with current individual development plans </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Employee survey ratings on “learning &amp; development” questions</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Competency gap analysis (TBD) </a:t>
            </a:r>
            <a:endParaRPr b="0" lang="en-IN" sz="1000" strike="noStrike" u="none">
              <a:solidFill>
                <a:srgbClr val="000000"/>
              </a:solidFill>
              <a:effectLst/>
              <a:uFillTx/>
              <a:latin typeface="Arial"/>
            </a:endParaRPr>
          </a:p>
          <a:p>
            <a:pPr marL="231840" indent="0">
              <a:lnSpc>
                <a:spcPct val="80000"/>
              </a:lnSpc>
              <a:spcBef>
                <a:spcPts val="2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231840" indent="-231840">
              <a:lnSpc>
                <a:spcPct val="8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231840" indent="-231840">
              <a:lnSpc>
                <a:spcPct val="8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231840" indent="-231840">
              <a:lnSpc>
                <a:spcPct val="8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Percent employees with current performance evaluations </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Employee survey ratings on “performance &amp; accountability” questions </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Disciplinary actions and reasons, disciplinary grievances/appeals filed and disposition (outcomes)</a:t>
            </a:r>
            <a:endParaRPr b="0" lang="en-IN" sz="1000" strike="noStrike" u="none">
              <a:solidFill>
                <a:srgbClr val="000000"/>
              </a:solidFill>
              <a:effectLst/>
              <a:uFillTx/>
              <a:latin typeface="Arial"/>
            </a:endParaRPr>
          </a:p>
          <a:p>
            <a:pPr marL="231840" indent="-231840">
              <a:lnSpc>
                <a:spcPct val="80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Reward and recognition practices (TBD) </a:t>
            </a:r>
            <a:endParaRPr b="0" lang="en-IN" sz="1000" strike="noStrike" u="none">
              <a:solidFill>
                <a:srgbClr val="000000"/>
              </a:solidFill>
              <a:effectLst/>
              <a:uFillTx/>
              <a:latin typeface="Arial"/>
            </a:endParaRPr>
          </a:p>
        </p:txBody>
      </p:sp>
      <p:grpSp>
        <p:nvGrpSpPr>
          <p:cNvPr id="97" name=""/>
          <p:cNvGrpSpPr/>
          <p:nvPr/>
        </p:nvGrpSpPr>
        <p:grpSpPr>
          <a:xfrm>
            <a:off x="152280" y="1076400"/>
            <a:ext cx="1447920" cy="5590080"/>
            <a:chOff x="152280" y="1076400"/>
            <a:chExt cx="1447920" cy="5590080"/>
          </a:xfrm>
        </p:grpSpPr>
        <p:sp>
          <p:nvSpPr>
            <p:cNvPr id="98" name=""/>
            <p:cNvSpPr/>
            <p:nvPr/>
          </p:nvSpPr>
          <p:spPr>
            <a:xfrm>
              <a:off x="152280" y="1076400"/>
              <a:ext cx="1447920" cy="1018080"/>
            </a:xfrm>
            <a:prstGeom prst="rect">
              <a:avLst/>
            </a:prstGeom>
            <a:solidFill>
              <a:srgbClr val="003300"/>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400" strike="noStrike" u="none">
                  <a:solidFill>
                    <a:srgbClr val="ffffff"/>
                  </a:solidFill>
                  <a:effectLst/>
                  <a:uFillTx/>
                  <a:latin typeface="Arial Black"/>
                </a:rPr>
                <a:t>Plan &amp; Align Workforce</a:t>
              </a: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p:txBody>
        </p:sp>
        <p:sp>
          <p:nvSpPr>
            <p:cNvPr id="99" name=""/>
            <p:cNvSpPr/>
            <p:nvPr/>
          </p:nvSpPr>
          <p:spPr>
            <a:xfrm>
              <a:off x="152280" y="3362400"/>
              <a:ext cx="1447920" cy="1018080"/>
            </a:xfrm>
            <a:prstGeom prst="rect">
              <a:avLst/>
            </a:prstGeom>
            <a:solidFill>
              <a:srgbClr val="000099"/>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400" strike="noStrike" u="none">
                  <a:solidFill>
                    <a:srgbClr val="ffffff"/>
                  </a:solidFill>
                  <a:effectLst/>
                  <a:uFillTx/>
                  <a:latin typeface="Arial Black"/>
                </a:rPr>
                <a:t>Deploy</a:t>
              </a:r>
              <a:br>
                <a:rPr sz="1400"/>
              </a:br>
              <a:r>
                <a:rPr b="0" lang="en-IN" sz="1400" strike="noStrike" u="none">
                  <a:solidFill>
                    <a:srgbClr val="ffffff"/>
                  </a:solidFill>
                  <a:effectLst/>
                  <a:uFillTx/>
                  <a:latin typeface="Arial Black"/>
                </a:rPr>
                <a:t>Workforce</a:t>
              </a: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p:txBody>
        </p:sp>
        <p:sp>
          <p:nvSpPr>
            <p:cNvPr id="100" name=""/>
            <p:cNvSpPr/>
            <p:nvPr/>
          </p:nvSpPr>
          <p:spPr>
            <a:xfrm>
              <a:off x="152280" y="4505400"/>
              <a:ext cx="1447920" cy="1018080"/>
            </a:xfrm>
            <a:prstGeom prst="rect">
              <a:avLst/>
            </a:prstGeom>
            <a:solidFill>
              <a:srgbClr val="663300"/>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400" strike="noStrike" u="none">
                  <a:solidFill>
                    <a:srgbClr val="ffffff"/>
                  </a:solidFill>
                  <a:effectLst/>
                  <a:uFillTx/>
                  <a:latin typeface="Arial Black"/>
                </a:rPr>
                <a:t>Develop Workforce</a:t>
              </a: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p:txBody>
        </p:sp>
        <p:sp>
          <p:nvSpPr>
            <p:cNvPr id="101" name=""/>
            <p:cNvSpPr/>
            <p:nvPr/>
          </p:nvSpPr>
          <p:spPr>
            <a:xfrm>
              <a:off x="152280" y="2219400"/>
              <a:ext cx="1447920" cy="1018080"/>
            </a:xfrm>
            <a:prstGeom prst="rect">
              <a:avLst/>
            </a:prstGeom>
            <a:solidFill>
              <a:srgbClr val="800000"/>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400" strike="noStrike" u="none">
                  <a:solidFill>
                    <a:srgbClr val="ffffff"/>
                  </a:solidFill>
                  <a:effectLst/>
                  <a:uFillTx/>
                  <a:latin typeface="Arial Black"/>
                </a:rPr>
                <a:t>Hire</a:t>
              </a:r>
              <a:br>
                <a:rPr sz="1400"/>
              </a:br>
              <a:r>
                <a:rPr b="0" lang="en-IN" sz="1400" strike="noStrike" u="none">
                  <a:solidFill>
                    <a:srgbClr val="ffffff"/>
                  </a:solidFill>
                  <a:effectLst/>
                  <a:uFillTx/>
                  <a:latin typeface="Arial Black"/>
                </a:rPr>
                <a:t>Workforce</a:t>
              </a: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p:txBody>
        </p:sp>
        <p:sp>
          <p:nvSpPr>
            <p:cNvPr id="102" name=""/>
            <p:cNvSpPr/>
            <p:nvPr/>
          </p:nvSpPr>
          <p:spPr>
            <a:xfrm>
              <a:off x="152280" y="5648400"/>
              <a:ext cx="1447920" cy="1018080"/>
            </a:xfrm>
            <a:prstGeom prst="rect">
              <a:avLst/>
            </a:prstGeom>
            <a:solidFill>
              <a:srgbClr val="4d006c"/>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400" strike="noStrike" u="none">
                  <a:solidFill>
                    <a:srgbClr val="ffffff"/>
                  </a:solidFill>
                  <a:effectLst/>
                  <a:uFillTx/>
                  <a:latin typeface="Arial Black"/>
                </a:rPr>
                <a:t>Reinforce Performance</a:t>
              </a: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p:txBody>
        </p:sp>
      </p:grpSp>
      <p:sp>
        <p:nvSpPr>
          <p:cNvPr id="103" name=""/>
          <p:cNvSpPr/>
          <p:nvPr/>
        </p:nvSpPr>
        <p:spPr>
          <a:xfrm>
            <a:off x="7086600" y="1990800"/>
            <a:ext cx="1676520" cy="1018080"/>
          </a:xfrm>
          <a:prstGeom prst="rect">
            <a:avLst/>
          </a:prstGeom>
          <a:solidFill>
            <a:srgbClr val="ff9900"/>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400" strike="noStrike" u="none">
                <a:solidFill>
                  <a:srgbClr val="000000"/>
                </a:solidFill>
                <a:effectLst/>
                <a:uFillTx/>
                <a:latin typeface="Arial Black"/>
              </a:rPr>
              <a:t>Ultimate Outcomes</a:t>
            </a:r>
            <a:endParaRPr b="0" lang="en-IN" sz="1400" strike="noStrike" u="none">
              <a:solidFill>
                <a:srgbClr val="000000"/>
              </a:solidFill>
              <a:effectLst/>
              <a:uFillTx/>
              <a:latin typeface="Arial"/>
            </a:endParaRPr>
          </a:p>
          <a:p>
            <a:pPr algn="ctr">
              <a:lnSpc>
                <a:spcPct val="80000"/>
              </a:lnSpc>
              <a:spcBef>
                <a:spcPts val="876"/>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400" strike="noStrike" u="none">
              <a:solidFill>
                <a:srgbClr val="000000"/>
              </a:solidFill>
              <a:effectLst/>
              <a:uFillTx/>
              <a:latin typeface="Arial"/>
            </a:endParaRPr>
          </a:p>
        </p:txBody>
      </p:sp>
      <p:sp>
        <p:nvSpPr>
          <p:cNvPr id="104" name=""/>
          <p:cNvSpPr/>
          <p:nvPr/>
        </p:nvSpPr>
        <p:spPr>
          <a:xfrm>
            <a:off x="6858000" y="3054240"/>
            <a:ext cx="2057400" cy="1868400"/>
          </a:xfrm>
          <a:prstGeom prst="rect">
            <a:avLst/>
          </a:prstGeom>
          <a:noFill/>
          <a:ln w="0">
            <a:noFill/>
          </a:ln>
        </p:spPr>
        <p:style>
          <a:lnRef idx="0"/>
          <a:fillRef idx="0"/>
          <a:effectRef idx="0"/>
          <a:fontRef idx="minor"/>
        </p:style>
        <p:txBody>
          <a:bodyPr lIns="90000" rIns="90000" tIns="46800" bIns="46800" anchor="t">
            <a:spAutoFit/>
          </a:bodyPr>
          <a:p>
            <a:pPr marL="173160" indent="-173160">
              <a:lnSpc>
                <a:spcPct val="105000"/>
              </a:lnSpc>
              <a:spcBef>
                <a:spcPts val="437"/>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Employee survey ratings on “commitment” questions</a:t>
            </a:r>
            <a:endParaRPr b="0" lang="en-IN" sz="1000" strike="noStrike" u="none">
              <a:solidFill>
                <a:srgbClr val="000000"/>
              </a:solidFill>
              <a:effectLst/>
              <a:uFillTx/>
              <a:latin typeface="Arial"/>
            </a:endParaRPr>
          </a:p>
          <a:p>
            <a:pPr marL="173160" indent="-173160">
              <a:lnSpc>
                <a:spcPct val="105000"/>
              </a:lnSpc>
              <a:spcBef>
                <a:spcPts val="437"/>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Turnover rates and types </a:t>
            </a:r>
            <a:endParaRPr b="0" lang="en-IN" sz="1000" strike="noStrike" u="none">
              <a:solidFill>
                <a:srgbClr val="000000"/>
              </a:solidFill>
              <a:effectLst/>
              <a:uFillTx/>
              <a:latin typeface="Arial"/>
            </a:endParaRPr>
          </a:p>
          <a:p>
            <a:pPr marL="173160" indent="-173160">
              <a:lnSpc>
                <a:spcPct val="105000"/>
              </a:lnSpc>
              <a:spcBef>
                <a:spcPts val="437"/>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Turnover rate: key occupational categories</a:t>
            </a:r>
            <a:endParaRPr b="0" lang="en-IN" sz="1000" strike="noStrike" u="none">
              <a:solidFill>
                <a:srgbClr val="000000"/>
              </a:solidFill>
              <a:effectLst/>
              <a:uFillTx/>
              <a:latin typeface="Arial"/>
            </a:endParaRPr>
          </a:p>
          <a:p>
            <a:pPr marL="173160" indent="-173160">
              <a:lnSpc>
                <a:spcPct val="105000"/>
              </a:lnSpc>
              <a:spcBef>
                <a:spcPts val="437"/>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Workforce diversity profile</a:t>
            </a:r>
            <a:endParaRPr b="0" lang="en-IN" sz="1000" strike="noStrike" u="none">
              <a:solidFill>
                <a:srgbClr val="000000"/>
              </a:solidFill>
              <a:effectLst/>
              <a:uFillTx/>
              <a:latin typeface="Arial"/>
            </a:endParaRPr>
          </a:p>
          <a:p>
            <a:pPr marL="173160" indent="-173160">
              <a:lnSpc>
                <a:spcPct val="105000"/>
              </a:lnSpc>
              <a:spcBef>
                <a:spcPts val="437"/>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Retention measure (TBD)</a:t>
            </a:r>
            <a:endParaRPr b="0" lang="en-IN" sz="1000" strike="noStrike" u="none">
              <a:solidFill>
                <a:srgbClr val="000000"/>
              </a:solidFill>
              <a:effectLst/>
              <a:uFillTx/>
              <a:latin typeface="Arial"/>
            </a:endParaRPr>
          </a:p>
          <a:p>
            <a:pPr marL="173160" indent="-173160">
              <a:lnSpc>
                <a:spcPct val="105000"/>
              </a:lnSpc>
              <a:spcBef>
                <a:spcPts val="437"/>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73160" indent="-173160">
              <a:lnSpc>
                <a:spcPct val="105000"/>
              </a:lnSpc>
              <a:spcBef>
                <a:spcPts val="437"/>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105" name=""/>
          <p:cNvSpPr/>
          <p:nvPr/>
        </p:nvSpPr>
        <p:spPr>
          <a:xfrm>
            <a:off x="6324480" y="1600200"/>
            <a:ext cx="304920" cy="4419720"/>
          </a:xfrm>
          <a:custGeom>
            <a:avLst/>
            <a:gdLst>
              <a:gd name="textAreaLeft" fmla="*/ 0 w 304920"/>
              <a:gd name="textAreaRight" fmla="*/ 110160 w 304920"/>
              <a:gd name="textAreaTop" fmla="*/ 115200 h 4419720"/>
              <a:gd name="textAreaBottom" fmla="*/ 4304520 h 441972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4" name="PlaceHolder 3"/>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6" name=""/>
          <p:cNvSpPr/>
          <p:nvPr/>
        </p:nvSpPr>
        <p:spPr>
          <a:xfrm>
            <a:off x="5638680" y="831960"/>
            <a:ext cx="3251160" cy="271188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Percent of supervisors with current performance expectations is below the 95% goal.</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Slight decrease during last half of year – down from 67%.</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Currently creating an action plan to increase percentage monthly until 95% is reached.</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Will regularly meet with leadership team to discuss agency progress in this area.</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107" name=""/>
          <p:cNvSpPr/>
          <p:nvPr/>
        </p:nvSpPr>
        <p:spPr>
          <a:xfrm>
            <a:off x="0" y="0"/>
            <a:ext cx="1676520" cy="6991560"/>
          </a:xfrm>
          <a:prstGeom prst="rect">
            <a:avLst/>
          </a:prstGeom>
          <a:solidFill>
            <a:srgbClr val="003300"/>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Plan &amp; Align Workforce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Managers understand workforce management accountabilities. Jobs and competencies are defined and aligned with business priorities. Overall foundation is in place to build &amp; sustain a high performing workforce.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Percent supervisors with current performance expectations for workforce management</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Management profile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 Workforce Planning measure (TBD)</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Percent employees with current position/ competency descriptions</a:t>
            </a:r>
            <a:br>
              <a:rPr sz="1000"/>
            </a:br>
            <a:br>
              <a:rPr sz="1000"/>
            </a:br>
            <a:br>
              <a:rPr sz="1000"/>
            </a:b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p:txBody>
      </p:sp>
      <p:sp>
        <p:nvSpPr>
          <p:cNvPr id="108" name=""/>
          <p:cNvSpPr/>
          <p:nvPr/>
        </p:nvSpPr>
        <p:spPr>
          <a:xfrm>
            <a:off x="1676520" y="6523200"/>
            <a:ext cx="441936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July 1,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Agency Tracking</a:t>
            </a:r>
            <a:endParaRPr b="0" lang="en-IN" sz="1000" strike="noStrike" u="none">
              <a:solidFill>
                <a:srgbClr val="000000"/>
              </a:solidFill>
              <a:effectLst/>
              <a:uFillTx/>
              <a:latin typeface="Arial"/>
            </a:endParaRPr>
          </a:p>
        </p:txBody>
      </p:sp>
      <p:sp>
        <p:nvSpPr>
          <p:cNvPr id="109" name=""/>
          <p:cNvSpPr/>
          <p:nvPr/>
        </p:nvSpPr>
        <p:spPr>
          <a:xfrm>
            <a:off x="1854360" y="835200"/>
            <a:ext cx="3619440" cy="399240"/>
          </a:xfrm>
          <a:prstGeom prst="rect">
            <a:avLst/>
          </a:prstGeom>
          <a:noFill/>
          <a:ln w="28440">
            <a:solidFill>
              <a:srgbClr val="003300"/>
            </a:solidFill>
            <a:miter/>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Percent supervisors with current performance expectations for workforce management = 60]%*</a:t>
            </a:r>
            <a:endParaRPr b="0" lang="en-IN" sz="1000" strike="noStrike" u="none">
              <a:solidFill>
                <a:srgbClr val="000000"/>
              </a:solidFill>
              <a:effectLst/>
              <a:uFillTx/>
              <a:latin typeface="Arial"/>
            </a:endParaRPr>
          </a:p>
        </p:txBody>
      </p:sp>
      <p:sp>
        <p:nvSpPr>
          <p:cNvPr id="110" name=""/>
          <p:cNvSpPr/>
          <p:nvPr/>
        </p:nvSpPr>
        <p:spPr>
          <a:xfrm>
            <a:off x="1765440" y="1244520"/>
            <a:ext cx="3619440" cy="24660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*Based on 9 of 15 reported number of supervisors</a:t>
            </a:r>
            <a:endParaRPr b="0" lang="en-IN" sz="1000" strike="noStrike" u="none">
              <a:solidFill>
                <a:srgbClr val="000000"/>
              </a:solidFill>
              <a:effectLst/>
              <a:uFillTx/>
              <a:latin typeface="Arial"/>
            </a:endParaRPr>
          </a:p>
        </p:txBody>
      </p:sp>
      <p:sp>
        <p:nvSpPr>
          <p:cNvPr id="111" name=""/>
          <p:cNvSpPr/>
          <p:nvPr/>
        </p:nvSpPr>
        <p:spPr>
          <a:xfrm>
            <a:off x="1676520" y="380880"/>
            <a:ext cx="7467480" cy="307440"/>
          </a:xfrm>
          <a:prstGeom prst="rect">
            <a:avLst/>
          </a:prstGeom>
          <a:noFill/>
          <a:ln w="0">
            <a:noFill/>
          </a:ln>
        </p:spPr>
        <p:style>
          <a:lnRef idx="0"/>
          <a:fillRef idx="0"/>
          <a:effectRef idx="0"/>
          <a:fontRef idx="minor"/>
        </p:style>
        <p:txBody>
          <a:bodyPr lIns="90000" rIns="90000" tIns="46800" bIns="46800" anchor="t">
            <a:spAutoFit/>
          </a:bodyPr>
          <a:p>
            <a:pPr algn="ct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Workforce Management Expectations</a:t>
            </a:r>
            <a:endParaRPr b="0" lang="en-IN" sz="14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112" name=""/>
          <p:cNvGraphicFramePr/>
          <p:nvPr/>
        </p:nvGraphicFramePr>
        <p:xfrm>
          <a:off x="1879560" y="1600200"/>
          <a:ext cx="3898800" cy="2603520"/>
        </p:xfrm>
        <a:graphic>
          <a:graphicData uri="http://schemas.openxmlformats.org/presentationml/2006/ole">
            <p:oleObj r:id="rId1" spid="">
              <p:embed/>
              <p:pic>
                <p:nvPicPr>
                  <p:cNvPr id="113" name="" descr=""/>
                  <p:cNvPicPr/>
                  <p:nvPr/>
                </p:nvPicPr>
                <p:blipFill>
                  <a:blip r:embed="rId2"/>
                  <a:stretch/>
                </p:blipFill>
                <p:spPr>
                  <a:xfrm>
                    <a:off x="1879560" y="1600200"/>
                    <a:ext cx="3898800" cy="2603520"/>
                  </a:xfrm>
                  <a:prstGeom prst="rect">
                    <a:avLst/>
                  </a:prstGeom>
                  <a:noFill/>
                  <a:ln w="0">
                    <a:noFill/>
                  </a:ln>
                </p:spPr>
              </p:pic>
            </p:oleObj>
          </a:graphicData>
        </a:graphic>
      </p:graphicFrame>
      <p:sp>
        <p:nvSpPr>
          <p:cNvPr id="114" name=""/>
          <p:cNvSpPr/>
          <p:nvPr/>
        </p:nvSpPr>
        <p:spPr>
          <a:xfrm>
            <a:off x="0" y="0"/>
            <a:ext cx="1676520" cy="6985800"/>
          </a:xfrm>
          <a:prstGeom prst="rect">
            <a:avLst/>
          </a:prstGeom>
          <a:solidFill>
            <a:srgbClr val="003300"/>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Plan &amp; Align Workforce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Managers understand workforce management accountabilities. Jobs and competencies are defined and aligned with business priorities. Overall foundation is in place to build &amp; sustain a high performing workforce.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Percent supervisors with current performance expectations for workforce management</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Management profile</a:t>
            </a:r>
            <a:r>
              <a:rPr b="0" lang="en-IN" sz="1000" strike="noStrike" u="none">
                <a:solidFill>
                  <a:srgbClr val="ffffff"/>
                </a:solidFill>
                <a:effectLst/>
                <a:uFillTx/>
                <a:latin typeface="Arial"/>
              </a:rPr>
              <a:t> </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Workforce Planning measure (TBD)</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Percent employees with current position/ competency descriptions</a:t>
            </a:r>
            <a:br>
              <a:rPr sz="1000"/>
            </a:br>
            <a:br>
              <a:rPr sz="1000"/>
            </a:br>
            <a:br>
              <a:rPr sz="1000"/>
            </a:br>
            <a:br>
              <a:rPr sz="1000"/>
            </a:br>
            <a:br>
              <a:rPr sz="1000"/>
            </a:br>
            <a:br>
              <a:rPr sz="1000"/>
            </a:br>
            <a:endParaRPr b="0" lang="en-IN" sz="1000" strike="noStrike" u="none">
              <a:solidFill>
                <a:srgbClr val="000000"/>
              </a:solidFill>
              <a:effectLst/>
              <a:uFillTx/>
              <a:latin typeface="Arial"/>
            </a:endParaRPr>
          </a:p>
        </p:txBody>
      </p:sp>
      <p:graphicFrame>
        <p:nvGraphicFramePr>
          <p:cNvPr id="115" name=""/>
          <p:cNvGraphicFramePr/>
          <p:nvPr/>
        </p:nvGraphicFramePr>
        <p:xfrm>
          <a:off x="1828800" y="4205160"/>
          <a:ext cx="3048120" cy="2525760"/>
        </p:xfrm>
        <a:graphic>
          <a:graphicData uri="http://schemas.openxmlformats.org/presentationml/2006/ole">
            <p:oleObj r:id="rId3" spid="">
              <p:embed/>
              <p:pic>
                <p:nvPicPr>
                  <p:cNvPr id="116" name="" descr=""/>
                  <p:cNvPicPr/>
                  <p:nvPr/>
                </p:nvPicPr>
                <p:blipFill>
                  <a:blip r:embed="rId4"/>
                  <a:stretch/>
                </p:blipFill>
                <p:spPr>
                  <a:xfrm>
                    <a:off x="1828800" y="4205160"/>
                    <a:ext cx="3048120" cy="2525760"/>
                  </a:xfrm>
                  <a:prstGeom prst="rect">
                    <a:avLst/>
                  </a:prstGeom>
                  <a:noFill/>
                  <a:ln w="0">
                    <a:noFill/>
                  </a:ln>
                </p:spPr>
              </p:pic>
            </p:oleObj>
          </a:graphicData>
        </a:graphic>
      </p:graphicFrame>
      <p:sp>
        <p:nvSpPr>
          <p:cNvPr id="117" name=""/>
          <p:cNvSpPr/>
          <p:nvPr/>
        </p:nvSpPr>
        <p:spPr>
          <a:xfrm>
            <a:off x="6705720" y="6523200"/>
            <a:ext cx="236196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July 1,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DOP Business Warehouse</a:t>
            </a:r>
            <a:endParaRPr b="0" lang="en-IN" sz="1000" strike="noStrike" u="none">
              <a:solidFill>
                <a:srgbClr val="000000"/>
              </a:solidFill>
              <a:effectLst/>
              <a:uFillTx/>
              <a:latin typeface="Arial"/>
            </a:endParaRPr>
          </a:p>
        </p:txBody>
      </p:sp>
      <p:sp>
        <p:nvSpPr>
          <p:cNvPr id="118" name=""/>
          <p:cNvSpPr/>
          <p:nvPr/>
        </p:nvSpPr>
        <p:spPr>
          <a:xfrm>
            <a:off x="5867280" y="425520"/>
            <a:ext cx="3124440" cy="132660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Department of Printing does not have any WMS Employees.</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119" name=""/>
          <p:cNvSpPr/>
          <p:nvPr/>
        </p:nvSpPr>
        <p:spPr>
          <a:xfrm>
            <a:off x="1828800" y="425520"/>
            <a:ext cx="3962520" cy="1173960"/>
          </a:xfrm>
          <a:prstGeom prst="rect">
            <a:avLst/>
          </a:prstGeom>
          <a:noFill/>
          <a:ln w="28440">
            <a:solidFill>
              <a:srgbClr val="003300"/>
            </a:solidFill>
            <a:miter/>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WMS Employees Headcount = 0</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Percent of agency workforce that is WMS = 0%</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Managers* Headcount = 12</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Percent of agency workforce that is Managers* = 9.8%</a:t>
            </a:r>
            <a:endParaRPr b="0" lang="en-IN" sz="1000" strike="noStrike" u="none">
              <a:solidFill>
                <a:srgbClr val="000000"/>
              </a:solidFill>
              <a:effectLst/>
              <a:uFillTx/>
              <a:latin typeface="Arial"/>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In positions coded as “Manager” (includes EMS, WMS, and GS)</a:t>
            </a:r>
            <a:endParaRPr b="0" lang="en-IN" sz="1000" strike="noStrike" u="none">
              <a:solidFill>
                <a:srgbClr val="000000"/>
              </a:solidFill>
              <a:effectLst/>
              <a:uFillTx/>
              <a:latin typeface="Arial"/>
            </a:endParaRPr>
          </a:p>
        </p:txBody>
      </p:sp>
      <p:sp>
        <p:nvSpPr>
          <p:cNvPr id="120" name=""/>
          <p:cNvSpPr/>
          <p:nvPr/>
        </p:nvSpPr>
        <p:spPr>
          <a:xfrm>
            <a:off x="1828800" y="1689120"/>
            <a:ext cx="3962520" cy="2438280"/>
          </a:xfrm>
          <a:prstGeom prst="rect">
            <a:avLst/>
          </a:prstGeom>
          <a:no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21" name=""/>
          <p:cNvSpPr/>
          <p:nvPr/>
        </p:nvSpPr>
        <p:spPr>
          <a:xfrm>
            <a:off x="1676520" y="93600"/>
            <a:ext cx="7391160" cy="307440"/>
          </a:xfrm>
          <a:prstGeom prst="rect">
            <a:avLst/>
          </a:prstGeom>
          <a:noFill/>
          <a:ln w="0">
            <a:noFill/>
          </a:ln>
        </p:spPr>
        <p:style>
          <a:lnRef idx="0"/>
          <a:fillRef idx="0"/>
          <a:effectRef idx="0"/>
          <a:fontRef idx="minor"/>
        </p:style>
        <p:txBody>
          <a:bodyPr lIns="90000" rIns="90000" tIns="46800" bIns="46800" anchor="t">
            <a:spAutoFit/>
          </a:bodyPr>
          <a:p>
            <a:pPr algn="ct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Management Profile</a:t>
            </a:r>
            <a:endParaRPr b="0" lang="en-IN" sz="14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2" name=""/>
          <p:cNvSpPr/>
          <p:nvPr/>
        </p:nvSpPr>
        <p:spPr>
          <a:xfrm>
            <a:off x="5638680" y="838080"/>
            <a:ext cx="3276720" cy="209556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This is a slight increase over the first half of the year.</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As we fill new positions, we will continue to review and update position descriptions as needed.  </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Will work with management to complete all changes to those position descriptions that are not current.</a:t>
            </a:r>
            <a:endParaRPr b="0" lang="en-IN" sz="1000" strike="noStrike" u="none">
              <a:solidFill>
                <a:srgbClr val="000000"/>
              </a:solidFill>
              <a:effectLst/>
              <a:uFillTx/>
              <a:latin typeface="Arial"/>
            </a:endParaRPr>
          </a:p>
          <a:p>
            <a:pPr marL="168120" indent="-168120">
              <a:spcBef>
                <a:spcPts val="624"/>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123" name=""/>
          <p:cNvSpPr/>
          <p:nvPr/>
        </p:nvSpPr>
        <p:spPr>
          <a:xfrm>
            <a:off x="0" y="0"/>
            <a:ext cx="1676520" cy="6991560"/>
          </a:xfrm>
          <a:prstGeom prst="rect">
            <a:avLst/>
          </a:prstGeom>
          <a:solidFill>
            <a:srgbClr val="003300"/>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Plan &amp; Align Workforce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Managers understand workforce management accountabilities. Jobs and competencies are defined and aligned with business priorities. Overall foundation is in place to build &amp; sustain a high performing workforce.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Percent supervisors with current performance expectations for workforce management</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Management profile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 Workforce Planning measure (TBD)</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Percent employees with current position/ competency descriptions</a:t>
            </a:r>
            <a:br>
              <a:rPr sz="1000"/>
            </a:br>
            <a:br>
              <a:rPr sz="1000"/>
            </a:br>
            <a:br>
              <a:rPr sz="1000"/>
            </a:b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p:txBody>
      </p:sp>
      <p:sp>
        <p:nvSpPr>
          <p:cNvPr id="124" name=""/>
          <p:cNvSpPr/>
          <p:nvPr/>
        </p:nvSpPr>
        <p:spPr>
          <a:xfrm>
            <a:off x="1676520" y="6523200"/>
            <a:ext cx="441936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July 1,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Agency Tracking</a:t>
            </a:r>
            <a:endParaRPr b="0" lang="en-IN" sz="1000" strike="noStrike" u="none">
              <a:solidFill>
                <a:srgbClr val="000000"/>
              </a:solidFill>
              <a:effectLst/>
              <a:uFillTx/>
              <a:latin typeface="Arial"/>
            </a:endParaRPr>
          </a:p>
        </p:txBody>
      </p:sp>
      <p:sp>
        <p:nvSpPr>
          <p:cNvPr id="125" name=""/>
          <p:cNvSpPr/>
          <p:nvPr/>
        </p:nvSpPr>
        <p:spPr>
          <a:xfrm>
            <a:off x="1828800" y="853920"/>
            <a:ext cx="3733920" cy="459720"/>
          </a:xfrm>
          <a:prstGeom prst="rect">
            <a:avLst/>
          </a:prstGeom>
          <a:noFill/>
          <a:ln w="28440">
            <a:solidFill>
              <a:srgbClr val="0033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Percent employees with current position/competency descriptions = 97%*</a:t>
            </a:r>
            <a:endParaRPr b="0" lang="en-IN" sz="1200" strike="noStrike" u="none">
              <a:solidFill>
                <a:srgbClr val="000000"/>
              </a:solidFill>
              <a:effectLst/>
              <a:uFillTx/>
              <a:latin typeface="Arial"/>
            </a:endParaRPr>
          </a:p>
        </p:txBody>
      </p:sp>
      <p:sp>
        <p:nvSpPr>
          <p:cNvPr id="126" name=""/>
          <p:cNvSpPr/>
          <p:nvPr/>
        </p:nvSpPr>
        <p:spPr>
          <a:xfrm>
            <a:off x="1752480" y="411120"/>
            <a:ext cx="7315200" cy="307440"/>
          </a:xfrm>
          <a:prstGeom prst="rect">
            <a:avLst/>
          </a:prstGeom>
          <a:noFill/>
          <a:ln w="0">
            <a:noFill/>
          </a:ln>
        </p:spPr>
        <p:style>
          <a:lnRef idx="0"/>
          <a:fillRef idx="0"/>
          <a:effectRef idx="0"/>
          <a:fontRef idx="minor"/>
        </p:style>
        <p:txBody>
          <a:bodyPr lIns="90000" rIns="90000" tIns="46800" bIns="46800" anchor="t">
            <a:spAutoFit/>
          </a:bodyPr>
          <a:p>
            <a:pPr algn="ct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Current Position/Competency Descriptions</a:t>
            </a:r>
            <a:endParaRPr b="0" lang="en-IN" sz="1400" strike="noStrike" u="none">
              <a:solidFill>
                <a:srgbClr val="000000"/>
              </a:solidFill>
              <a:effectLst/>
              <a:uFillTx/>
              <a:latin typeface="Arial"/>
            </a:endParaRPr>
          </a:p>
        </p:txBody>
      </p:sp>
      <p:sp>
        <p:nvSpPr>
          <p:cNvPr id="127" name=""/>
          <p:cNvSpPr/>
          <p:nvPr/>
        </p:nvSpPr>
        <p:spPr>
          <a:xfrm>
            <a:off x="1739880" y="1384200"/>
            <a:ext cx="3797280" cy="39924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*Based on 118 of 122 reported employee count</a:t>
            </a:r>
            <a:br>
              <a:rPr sz="1000"/>
            </a:br>
            <a:r>
              <a:rPr b="0" lang="en-IN" sz="1000" strike="noStrike" u="none">
                <a:solidFill>
                  <a:srgbClr val="000000"/>
                </a:solidFill>
                <a:effectLst/>
                <a:uFillTx/>
                <a:latin typeface="Arial"/>
              </a:rPr>
              <a:t> Applies to employees in permanent positions, both WMS &amp; GS</a:t>
            </a:r>
            <a:endParaRPr b="0" lang="en-IN" sz="10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
          <p:cNvSpPr/>
          <p:nvPr/>
        </p:nvSpPr>
        <p:spPr>
          <a:xfrm>
            <a:off x="0" y="0"/>
            <a:ext cx="1676520" cy="6997320"/>
          </a:xfrm>
          <a:prstGeom prst="rect">
            <a:avLst/>
          </a:prstGeom>
          <a:solidFill>
            <a:srgbClr val="800000"/>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Hire Workforce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Best candidates are hired and reviewed during appointment period. The right people are in the right job at the right time.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Time-to-fill vacancies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Candidate quality</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Hiring Balance (proportion of appointment types)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Separation during review period</a:t>
            </a:r>
            <a:br>
              <a:rPr sz="1000"/>
            </a:b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br>
              <a:rPr sz="1000"/>
            </a:br>
            <a:endParaRPr b="0" lang="en-IN" sz="1000" strike="noStrike" u="none">
              <a:solidFill>
                <a:srgbClr val="000000"/>
              </a:solidFill>
              <a:effectLst/>
              <a:uFillTx/>
              <a:latin typeface="Arial"/>
            </a:endParaRPr>
          </a:p>
        </p:txBody>
      </p:sp>
      <p:sp>
        <p:nvSpPr>
          <p:cNvPr id="129" name=""/>
          <p:cNvSpPr/>
          <p:nvPr/>
        </p:nvSpPr>
        <p:spPr>
          <a:xfrm>
            <a:off x="5715000" y="946080"/>
            <a:ext cx="3276720" cy="2785320"/>
          </a:xfrm>
          <a:prstGeom prst="rect">
            <a:avLst/>
          </a:prstGeom>
          <a:noFill/>
          <a:ln w="0">
            <a:noFill/>
          </a:ln>
        </p:spPr>
        <p:style>
          <a:lnRef idx="0"/>
          <a:fillRef idx="0"/>
          <a:effectRef idx="0"/>
          <a:fontRef idx="minor"/>
        </p:style>
        <p:txBody>
          <a:bodyPr lIns="90000" rIns="90000" tIns="46800" bIns="46800" anchor="t">
            <a:spAutoFit/>
          </a:bodyPr>
          <a:p>
            <a:pPr marL="114480" indent="-114480">
              <a:spcBef>
                <a:spcPts val="624"/>
              </a:spcBef>
              <a:tabLst>
                <a:tab algn="l" pos="0"/>
                <a:tab algn="r" pos="308628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14480" indent="-114480">
              <a:spcBef>
                <a:spcPts val="624"/>
              </a:spcBef>
              <a:buClr>
                <a:srgbClr val="000000"/>
              </a:buClr>
              <a:buFont typeface="Wingdings" charset="2"/>
              <a:buChar char=""/>
              <a:tabLst>
                <a:tab algn="r" pos="308628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average number of days is affected greatly by 3 hires in particular that went over 100 days as the necessity of the necessity of the positions was reviewed.</a:t>
            </a:r>
            <a:endParaRPr b="0" lang="en-IN" sz="1000" strike="noStrike" u="none">
              <a:solidFill>
                <a:srgbClr val="000000"/>
              </a:solidFill>
              <a:effectLst/>
              <a:uFillTx/>
              <a:latin typeface="Arial"/>
            </a:endParaRPr>
          </a:p>
          <a:p>
            <a:pPr marL="114480" indent="-114480">
              <a:spcBef>
                <a:spcPts val="624"/>
              </a:spcBef>
              <a:buClr>
                <a:srgbClr val="000000"/>
              </a:buClr>
              <a:buFont typeface="Wingdings" charset="2"/>
              <a:buChar char=""/>
              <a:tabLst>
                <a:tab algn="r" pos="308628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average number of days to fill has decreased in the last half of the year.  </a:t>
            </a:r>
            <a:endParaRPr b="0" lang="en-IN" sz="1000" strike="noStrike" u="none">
              <a:solidFill>
                <a:srgbClr val="000000"/>
              </a:solidFill>
              <a:effectLst/>
              <a:uFillTx/>
              <a:latin typeface="Arial"/>
            </a:endParaRPr>
          </a:p>
          <a:p>
            <a:pPr marL="114480" indent="-114480">
              <a:spcBef>
                <a:spcPts val="624"/>
              </a:spcBef>
              <a:tabLst>
                <a:tab algn="l" pos="0"/>
                <a:tab algn="r" pos="308628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14480" indent="-114480">
              <a:spcBef>
                <a:spcPts val="624"/>
              </a:spcBef>
              <a:tabLst>
                <a:tab algn="l" pos="0"/>
                <a:tab algn="r" pos="308628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14480" indent="-114480">
              <a:spcBef>
                <a:spcPts val="624"/>
              </a:spcBef>
              <a:buClr>
                <a:srgbClr val="000000"/>
              </a:buClr>
              <a:buFont typeface="Wingdings" charset="2"/>
              <a:buChar char=""/>
              <a:tabLst>
                <a:tab algn="r" pos="308628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will continue to look at ways of streamlining the process while maintaining the integrity of the process.</a:t>
            </a:r>
            <a:endParaRPr b="0" lang="en-IN" sz="1000" strike="noStrike" u="none">
              <a:solidFill>
                <a:srgbClr val="000000"/>
              </a:solidFill>
              <a:effectLst/>
              <a:uFillTx/>
              <a:latin typeface="Arial"/>
            </a:endParaRPr>
          </a:p>
          <a:p>
            <a:pPr marL="114480" indent="-114480">
              <a:spcBef>
                <a:spcPts val="624"/>
              </a:spcBef>
              <a:tabLst>
                <a:tab algn="l" pos="0"/>
                <a:tab algn="r" pos="308628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14480" indent="-114480">
              <a:spcBef>
                <a:spcPts val="624"/>
              </a:spcBef>
              <a:tabLst>
                <a:tab algn="l" pos="0"/>
                <a:tab algn="r" pos="308628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130" name=""/>
          <p:cNvSpPr/>
          <p:nvPr/>
        </p:nvSpPr>
        <p:spPr>
          <a:xfrm>
            <a:off x="1676520" y="6523200"/>
            <a:ext cx="441936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October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Agency Tracking</a:t>
            </a:r>
            <a:endParaRPr b="0" lang="en-IN" sz="1000" strike="noStrike" u="none">
              <a:solidFill>
                <a:srgbClr val="000000"/>
              </a:solidFill>
              <a:effectLst/>
              <a:uFillTx/>
              <a:latin typeface="Arial"/>
            </a:endParaRPr>
          </a:p>
        </p:txBody>
      </p:sp>
      <p:sp>
        <p:nvSpPr>
          <p:cNvPr id="131" name=""/>
          <p:cNvSpPr/>
          <p:nvPr/>
        </p:nvSpPr>
        <p:spPr>
          <a:xfrm>
            <a:off x="1828800" y="685800"/>
            <a:ext cx="3733920" cy="1297080"/>
          </a:xfrm>
          <a:prstGeom prst="rect">
            <a:avLst/>
          </a:prstGeom>
          <a:noFill/>
          <a:ln w="28440">
            <a:solidFill>
              <a:srgbClr val="800000"/>
            </a:solidFill>
            <a:miter/>
          </a:ln>
        </p:spPr>
        <p:style>
          <a:lnRef idx="0"/>
          <a:fillRef idx="0"/>
          <a:effectRef idx="0"/>
          <a:fontRef idx="minor"/>
        </p:style>
        <p:txBody>
          <a:bodyPr lIns="90000" rIns="90000" tIns="46800" bIns="46800" anchor="t">
            <a:spAutoFit/>
          </a:bodyPr>
          <a:p>
            <a:pPr algn="ctr">
              <a:spcBef>
                <a:spcPts val="751"/>
              </a:spcBef>
              <a:tabLst>
                <a:tab algn="l" pos="0"/>
                <a:tab algn="r" pos="2286000"/>
                <a:tab algn="r" pos="308628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Time-to-fill Funded Vacancies</a:t>
            </a:r>
            <a:endParaRPr b="0" lang="en-IN" sz="1200" strike="noStrike" u="none">
              <a:solidFill>
                <a:srgbClr val="000000"/>
              </a:solidFill>
              <a:effectLst/>
              <a:uFillTx/>
              <a:latin typeface="Arial"/>
            </a:endParaRPr>
          </a:p>
          <a:p>
            <a:pPr>
              <a:lnSpc>
                <a:spcPct val="100000"/>
              </a:lnSpc>
              <a:spcBef>
                <a:spcPts val="751"/>
              </a:spcBef>
              <a:tabLst>
                <a:tab algn="l" pos="0"/>
                <a:tab algn="r" pos="2286000"/>
                <a:tab algn="r" pos="308628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Average number of days to fill*:</a:t>
            </a:r>
            <a:r>
              <a:rPr b="1" lang="en-IN" sz="1200" strike="noStrike" u="none">
                <a:solidFill>
                  <a:srgbClr val="000000"/>
                </a:solidFill>
                <a:effectLst/>
                <a:uFillTx/>
                <a:latin typeface="Arial Narrow"/>
              </a:rPr>
              <a:t>  </a:t>
            </a:r>
            <a:r>
              <a:rPr b="1" lang="en-IN" sz="1200" strike="noStrike" u="none">
                <a:solidFill>
                  <a:srgbClr val="000000"/>
                </a:solidFill>
                <a:effectLst/>
                <a:uFillTx/>
                <a:latin typeface="Arial Narrow"/>
              </a:rPr>
              <a:t>	</a:t>
            </a:r>
            <a:r>
              <a:rPr b="1"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44</a:t>
            </a:r>
            <a:endParaRPr b="0" lang="en-IN" sz="1200" strike="noStrike" u="none">
              <a:solidFill>
                <a:srgbClr val="000000"/>
              </a:solidFill>
              <a:effectLst/>
              <a:uFillTx/>
              <a:latin typeface="Arial"/>
            </a:endParaRPr>
          </a:p>
          <a:p>
            <a:pPr>
              <a:lnSpc>
                <a:spcPct val="100000"/>
              </a:lnSpc>
              <a:spcBef>
                <a:spcPts val="751"/>
              </a:spcBef>
              <a:tabLst>
                <a:tab algn="l" pos="0"/>
                <a:tab algn="r" pos="2286000"/>
                <a:tab algn="r" pos="308628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Number of vacancies filled:          </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20</a:t>
            </a:r>
            <a:endParaRPr b="0" lang="en-IN" sz="1200" strike="noStrike" u="none">
              <a:solidFill>
                <a:srgbClr val="000000"/>
              </a:solidFill>
              <a:effectLst/>
              <a:uFillTx/>
              <a:latin typeface="Arial"/>
            </a:endParaRPr>
          </a:p>
          <a:p>
            <a:pPr>
              <a:lnSpc>
                <a:spcPct val="100000"/>
              </a:lnSpc>
              <a:spcBef>
                <a:spcPts val="624"/>
              </a:spcBef>
              <a:tabLst>
                <a:tab algn="l" pos="0"/>
                <a:tab algn="r" pos="2286000"/>
                <a:tab algn="r" pos="308628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*Equals # of days from creation of the requisition to job offer acceptance</a:t>
            </a:r>
            <a:endParaRPr b="0" lang="en-IN" sz="1000" strike="noStrike" u="none">
              <a:solidFill>
                <a:srgbClr val="000000"/>
              </a:solidFill>
              <a:effectLst/>
              <a:uFillTx/>
              <a:latin typeface="Arial"/>
            </a:endParaRPr>
          </a:p>
          <a:p>
            <a:pPr>
              <a:lnSpc>
                <a:spcPct val="100000"/>
              </a:lnSpc>
              <a:spcBef>
                <a:spcPts val="624"/>
              </a:spcBef>
              <a:tabLst>
                <a:tab algn="l" pos="0"/>
                <a:tab algn="r" pos="2286000"/>
                <a:tab algn="r" pos="308628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Time Period:   07/01/06 – 06/30/07</a:t>
            </a:r>
            <a:endParaRPr b="0" lang="en-IN" sz="1000" strike="noStrike" u="none">
              <a:solidFill>
                <a:srgbClr val="000000"/>
              </a:solidFill>
              <a:effectLst/>
              <a:uFillTx/>
              <a:latin typeface="Arial"/>
            </a:endParaRPr>
          </a:p>
        </p:txBody>
      </p:sp>
      <p:sp>
        <p:nvSpPr>
          <p:cNvPr id="132" name=""/>
          <p:cNvSpPr/>
          <p:nvPr/>
        </p:nvSpPr>
        <p:spPr>
          <a:xfrm>
            <a:off x="1828800" y="2209680"/>
            <a:ext cx="3733920" cy="3284640"/>
          </a:xfrm>
          <a:prstGeom prst="rect">
            <a:avLst/>
          </a:prstGeom>
          <a:noFill/>
          <a:ln w="28440">
            <a:solidFill>
              <a:srgbClr val="800000"/>
            </a:solidFill>
            <a:miter/>
          </a:ln>
        </p:spPr>
        <p:style>
          <a:lnRef idx="0"/>
          <a:fillRef idx="0"/>
          <a:effectRef idx="0"/>
          <a:fontRef idx="minor"/>
        </p:style>
        <p:txBody>
          <a:bodyPr lIns="90000" rIns="90000" tIns="46800" bIns="46800" anchor="t">
            <a:spAutoFit/>
          </a:bodyPr>
          <a:p>
            <a:pPr algn="ctr">
              <a:spcBef>
                <a:spcPts val="751"/>
              </a:spcBef>
              <a:tabLst>
                <a:tab algn="l" pos="0"/>
                <a:tab algn="r" pos="4064040"/>
                <a:tab algn="r"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Candidate Quality</a:t>
            </a:r>
            <a:endParaRPr b="0" lang="en-IN" sz="1200" strike="noStrike" u="none">
              <a:solidFill>
                <a:srgbClr val="000000"/>
              </a:solidFill>
              <a:effectLst/>
              <a:uFillTx/>
              <a:latin typeface="Arial"/>
            </a:endParaRPr>
          </a:p>
          <a:p>
            <a:pPr>
              <a:lnSpc>
                <a:spcPct val="100000"/>
              </a:lnSpc>
              <a:spcBef>
                <a:spcPts val="751"/>
              </a:spcBef>
              <a:tabLst>
                <a:tab algn="l" pos="0"/>
                <a:tab algn="r" pos="4064040"/>
                <a:tab algn="r"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Of the candidates interviewed for vacancies, how many had the competencies (knowledge, skills &amp; abilities) needed to perform the job?</a:t>
            </a:r>
            <a:endParaRPr b="0" lang="en-IN" sz="1200" strike="noStrike" u="none">
              <a:solidFill>
                <a:srgbClr val="000000"/>
              </a:solidFill>
              <a:effectLst/>
              <a:uFillTx/>
              <a:latin typeface="Arial"/>
            </a:endParaRPr>
          </a:p>
          <a:p>
            <a:pPr lvl="1" marL="171360">
              <a:lnSpc>
                <a:spcPct val="100000"/>
              </a:lnSpc>
              <a:spcBef>
                <a:spcPts val="751"/>
              </a:spcBef>
              <a:tabLst>
                <a:tab algn="l" pos="0"/>
                <a:tab algn="r" pos="4064040"/>
                <a:tab algn="r"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Number = [XXX]   Percentage = [XXX]</a:t>
            </a:r>
            <a:endParaRPr b="0" lang="en-IN" sz="1200" strike="noStrike" u="none">
              <a:solidFill>
                <a:srgbClr val="000000"/>
              </a:solidFill>
              <a:effectLst/>
              <a:uFillTx/>
              <a:latin typeface="Arial"/>
            </a:endParaRPr>
          </a:p>
          <a:p>
            <a:pPr>
              <a:lnSpc>
                <a:spcPct val="100000"/>
              </a:lnSpc>
              <a:spcBef>
                <a:spcPts val="1125"/>
              </a:spcBef>
              <a:tabLst>
                <a:tab algn="l" pos="0"/>
                <a:tab algn="r" pos="4064040"/>
                <a:tab algn="r"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Of the candidates interviewed, were hiring managers able to hire the best candidate for the job?</a:t>
            </a:r>
            <a:endParaRPr b="0" lang="en-IN" sz="1200" strike="noStrike" u="none">
              <a:solidFill>
                <a:srgbClr val="000000"/>
              </a:solidFill>
              <a:effectLst/>
              <a:uFillTx/>
              <a:latin typeface="Arial"/>
            </a:endParaRPr>
          </a:p>
          <a:p>
            <a:pPr lvl="1" marL="171360">
              <a:lnSpc>
                <a:spcPct val="100000"/>
              </a:lnSpc>
              <a:spcBef>
                <a:spcPts val="751"/>
              </a:spcBef>
              <a:tabLst>
                <a:tab algn="l" pos="0"/>
                <a:tab algn="r" pos="4064040"/>
                <a:tab algn="r"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Hiring managers indicating “yes”:</a:t>
            </a:r>
            <a:endParaRPr b="0" lang="en-IN" sz="1200" strike="noStrike" u="none">
              <a:solidFill>
                <a:srgbClr val="000000"/>
              </a:solidFill>
              <a:effectLst/>
              <a:uFillTx/>
              <a:latin typeface="Arial"/>
            </a:endParaRPr>
          </a:p>
          <a:p>
            <a:pPr lvl="1" marL="171360">
              <a:lnSpc>
                <a:spcPct val="100000"/>
              </a:lnSpc>
              <a:spcBef>
                <a:spcPts val="751"/>
              </a:spcBef>
              <a:tabLst>
                <a:tab algn="l" pos="0"/>
                <a:tab algn="r" pos="4064040"/>
                <a:tab algn="r"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       Number = [XXX]     Percentage = [XXX]</a:t>
            </a:r>
            <a:endParaRPr b="0" lang="en-IN" sz="1200" strike="noStrike" u="none">
              <a:solidFill>
                <a:srgbClr val="000000"/>
              </a:solidFill>
              <a:effectLst/>
              <a:uFillTx/>
              <a:latin typeface="Arial"/>
            </a:endParaRPr>
          </a:p>
          <a:p>
            <a:pPr lvl="1" marL="171360">
              <a:lnSpc>
                <a:spcPct val="100000"/>
              </a:lnSpc>
              <a:spcBef>
                <a:spcPts val="751"/>
              </a:spcBef>
              <a:tabLst>
                <a:tab algn="l" pos="0"/>
                <a:tab algn="r" pos="4064040"/>
                <a:tab algn="r"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Hiring managers indicating “no”:</a:t>
            </a:r>
            <a:endParaRPr b="0" lang="en-IN" sz="1200" strike="noStrike" u="none">
              <a:solidFill>
                <a:srgbClr val="000000"/>
              </a:solidFill>
              <a:effectLst/>
              <a:uFillTx/>
              <a:latin typeface="Arial"/>
            </a:endParaRPr>
          </a:p>
          <a:p>
            <a:pPr lvl="1" marL="171360">
              <a:lnSpc>
                <a:spcPct val="100000"/>
              </a:lnSpc>
              <a:spcBef>
                <a:spcPts val="751"/>
              </a:spcBef>
              <a:tabLst>
                <a:tab algn="l" pos="0"/>
                <a:tab algn="r" pos="4064040"/>
                <a:tab algn="r"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      Number = [XXX]     Percentage = [XXX]</a:t>
            </a:r>
            <a:endParaRPr b="0" lang="en-IN" sz="1200" strike="noStrike" u="none">
              <a:solidFill>
                <a:srgbClr val="000000"/>
              </a:solidFill>
              <a:effectLst/>
              <a:uFillTx/>
              <a:latin typeface="Arial"/>
            </a:endParaRPr>
          </a:p>
          <a:p>
            <a:pPr>
              <a:lnSpc>
                <a:spcPct val="100000"/>
              </a:lnSpc>
              <a:spcBef>
                <a:spcPts val="624"/>
              </a:spcBef>
              <a:tabLst>
                <a:tab algn="l" pos="0"/>
                <a:tab algn="r" pos="4064040"/>
                <a:tab algn="r"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a:lnSpc>
                <a:spcPct val="100000"/>
              </a:lnSpc>
              <a:spcBef>
                <a:spcPts val="624"/>
              </a:spcBef>
              <a:tabLst>
                <a:tab algn="l" pos="0"/>
                <a:tab algn="r" pos="4064040"/>
                <a:tab algn="r"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Narrow"/>
              </a:rPr>
              <a:t>Time Period:   [mm/dd/yyyy – mm/dd/yyyy]</a:t>
            </a:r>
            <a:endParaRPr b="0" lang="en-IN" sz="1000" strike="noStrike" u="none">
              <a:solidFill>
                <a:srgbClr val="000000"/>
              </a:solidFill>
              <a:effectLst/>
              <a:uFillTx/>
              <a:latin typeface="Arial"/>
            </a:endParaRPr>
          </a:p>
        </p:txBody>
      </p:sp>
      <p:sp>
        <p:nvSpPr>
          <p:cNvPr id="133" name=""/>
          <p:cNvSpPr/>
          <p:nvPr/>
        </p:nvSpPr>
        <p:spPr>
          <a:xfrm>
            <a:off x="1676520" y="291960"/>
            <a:ext cx="7467480" cy="307440"/>
          </a:xfrm>
          <a:prstGeom prst="rect">
            <a:avLst/>
          </a:prstGeom>
          <a:noFill/>
          <a:ln w="0">
            <a:noFill/>
          </a:ln>
        </p:spPr>
        <p:style>
          <a:lnRef idx="0"/>
          <a:fillRef idx="0"/>
          <a:effectRef idx="0"/>
          <a:fontRef idx="minor"/>
        </p:style>
        <p:txBody>
          <a:bodyPr lIns="90000" rIns="90000" tIns="46800" bIns="46800" anchor="t">
            <a:spAutoFit/>
          </a:bodyPr>
          <a:p>
            <a:pPr algn="ct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Time-to-fill / Candidate Quality</a:t>
            </a:r>
            <a:endParaRPr b="0" lang="en-IN" sz="1400" strike="noStrike" u="none">
              <a:solidFill>
                <a:srgbClr val="000000"/>
              </a:solidFill>
              <a:effectLst/>
              <a:uFillTx/>
              <a:latin typeface="Arial"/>
            </a:endParaRPr>
          </a:p>
        </p:txBody>
      </p:sp>
      <p:sp>
        <p:nvSpPr>
          <p:cNvPr id="134" name=""/>
          <p:cNvSpPr/>
          <p:nvPr/>
        </p:nvSpPr>
        <p:spPr>
          <a:xfrm>
            <a:off x="5867280" y="4572000"/>
            <a:ext cx="2895840" cy="110376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The Department of Printing has not measured Candidate Quality to date.  Implementation of a survey to be done by the end of the year.</a:t>
            </a:r>
            <a:endParaRPr b="0" lang="en-IN" sz="1200" strike="noStrike" u="none">
              <a:solidFill>
                <a:srgbClr val="000000"/>
              </a:solidFill>
              <a:effectLst/>
              <a:uFillTx/>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5" name=""/>
          <p:cNvSpPr/>
          <p:nvPr/>
        </p:nvSpPr>
        <p:spPr>
          <a:xfrm>
            <a:off x="5562720" y="533520"/>
            <a:ext cx="3457440" cy="309636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Through December 2006, 23% of appointments were promotions.  By year end, promotions constituted 35% of the appointments.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Through December 2006, 62% of appointments were new hires.  By year end, new hires constituted 55% of the appointments.</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will continue to look at developing our employees to compete for promotional opportunities.</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136" name=""/>
          <p:cNvSpPr/>
          <p:nvPr/>
        </p:nvSpPr>
        <p:spPr>
          <a:xfrm>
            <a:off x="1828800" y="533520"/>
            <a:ext cx="3657600" cy="3962160"/>
          </a:xfrm>
          <a:prstGeom prst="rect">
            <a:avLst/>
          </a:prstGeom>
          <a:noFill/>
          <a:ln w="28440">
            <a:solidFill>
              <a:srgbClr val="8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37" name=""/>
          <p:cNvSpPr/>
          <p:nvPr/>
        </p:nvSpPr>
        <p:spPr>
          <a:xfrm>
            <a:off x="1814400" y="3879720"/>
            <a:ext cx="3878280" cy="6426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Total number of appointments = 20*</a:t>
            </a:r>
            <a:endParaRPr b="0" lang="en-IN" sz="1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Time period = July 2007 through June 2007</a:t>
            </a:r>
            <a:endParaRPr b="0" lang="en-IN" sz="1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Narrow"/>
              </a:rPr>
              <a:t>Includes appointments to permanent vacant positions only; excludes reassignments</a:t>
            </a:r>
            <a:endParaRPr b="0" lang="en-IN" sz="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Narrow"/>
              </a:rPr>
              <a:t>“Other” = Demotions, re-employment, reversion &amp; RIF appointments</a:t>
            </a:r>
            <a:endParaRPr b="0" lang="en-IN" sz="800" strike="noStrike" u="none">
              <a:solidFill>
                <a:srgbClr val="000000"/>
              </a:solidFill>
              <a:effectLst/>
              <a:uFillTx/>
              <a:latin typeface="Arial"/>
            </a:endParaRPr>
          </a:p>
        </p:txBody>
      </p:sp>
      <p:sp>
        <p:nvSpPr>
          <p:cNvPr id="138" name=""/>
          <p:cNvSpPr/>
          <p:nvPr/>
        </p:nvSpPr>
        <p:spPr>
          <a:xfrm>
            <a:off x="5829480" y="6248520"/>
            <a:ext cx="236196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October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Agency Tracking</a:t>
            </a:r>
            <a:endParaRPr b="0" lang="en-IN" sz="1000" strike="noStrike" u="none">
              <a:solidFill>
                <a:srgbClr val="000000"/>
              </a:solidFill>
              <a:effectLst/>
              <a:uFillTx/>
              <a:latin typeface="Arial"/>
            </a:endParaRPr>
          </a:p>
        </p:txBody>
      </p:sp>
      <p:sp>
        <p:nvSpPr>
          <p:cNvPr id="139" name=""/>
          <p:cNvSpPr/>
          <p:nvPr/>
        </p:nvSpPr>
        <p:spPr>
          <a:xfrm>
            <a:off x="1828800" y="4649760"/>
            <a:ext cx="3657600" cy="2131560"/>
          </a:xfrm>
          <a:prstGeom prst="rect">
            <a:avLst/>
          </a:prstGeom>
          <a:noFill/>
          <a:ln w="28440">
            <a:solidFill>
              <a:srgbClr val="800000"/>
            </a:solidFill>
            <a:miter/>
          </a:ln>
        </p:spPr>
        <p:style>
          <a:lnRef idx="0"/>
          <a:fillRef idx="0"/>
          <a:effectRef idx="0"/>
          <a:fontRef idx="minor"/>
        </p:style>
        <p:txBody>
          <a:bodyPr lIns="90000" rIns="90000" tIns="46800" bIns="46800" anchor="t">
            <a:spAutoFit/>
          </a:bodyPr>
          <a:p>
            <a:pPr algn="ct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Separation During Review Period</a:t>
            </a:r>
            <a:endParaRPr b="0" lang="en-IN" sz="12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Probationary separations - Voluntary</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0</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Probationary separations - Involuntary</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0</a:t>
            </a:r>
            <a:endParaRPr b="0" lang="en-IN" sz="1000" strike="noStrike" u="none">
              <a:solidFill>
                <a:srgbClr val="000000"/>
              </a:solidFill>
              <a:effectLst/>
              <a:uFillTx/>
              <a:latin typeface="Arial"/>
            </a:endParaRPr>
          </a:p>
          <a:p>
            <a:pPr lvl="1" marL="457200">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000" strike="noStrike" u="none">
                <a:solidFill>
                  <a:srgbClr val="000000"/>
                </a:solidFill>
                <a:effectLst/>
                <a:uFillTx/>
                <a:latin typeface="Arial"/>
              </a:rPr>
              <a:t>Total Probationary Separations</a:t>
            </a:r>
            <a:r>
              <a:rPr b="0" i="1" lang="en-IN" sz="1000" strike="noStrike" u="none">
                <a:solidFill>
                  <a:srgbClr val="000000"/>
                </a:solidFill>
                <a:effectLst/>
                <a:uFillTx/>
                <a:latin typeface="Arial"/>
              </a:rPr>
              <a:t>	</a:t>
            </a:r>
            <a:r>
              <a:rPr b="0" i="1" lang="en-IN" sz="1000" strike="noStrike" u="none">
                <a:solidFill>
                  <a:srgbClr val="000000"/>
                </a:solidFill>
                <a:effectLst/>
                <a:uFillTx/>
                <a:latin typeface="Arial"/>
              </a:rPr>
              <a:t>0</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Trial Service separations - Voluntary</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0</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Trial Service separations - Involuntary</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0</a:t>
            </a:r>
            <a:endParaRPr b="0" lang="en-IN" sz="1000" strike="noStrike" u="none">
              <a:solidFill>
                <a:srgbClr val="000000"/>
              </a:solidFill>
              <a:effectLst/>
              <a:uFillTx/>
              <a:latin typeface="Arial"/>
            </a:endParaRPr>
          </a:p>
          <a:p>
            <a:pPr lvl="1" marL="457200">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000" strike="noStrike" u="none">
                <a:solidFill>
                  <a:srgbClr val="000000"/>
                </a:solidFill>
                <a:effectLst/>
                <a:uFillTx/>
                <a:latin typeface="Arial"/>
              </a:rPr>
              <a:t>Total Trial Service Separations</a:t>
            </a:r>
            <a:r>
              <a:rPr b="0" i="1" lang="en-IN" sz="1000" strike="noStrike" u="none">
                <a:solidFill>
                  <a:srgbClr val="000000"/>
                </a:solidFill>
                <a:effectLst/>
                <a:uFillTx/>
                <a:latin typeface="Arial"/>
              </a:rPr>
              <a:t>	</a:t>
            </a:r>
            <a:r>
              <a:rPr b="0" i="1" lang="en-IN" sz="1000" strike="noStrike" u="none">
                <a:solidFill>
                  <a:srgbClr val="000000"/>
                </a:solidFill>
                <a:effectLst/>
                <a:uFillTx/>
                <a:latin typeface="Arial"/>
              </a:rPr>
              <a:t>0</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Total Separations During Review Period</a:t>
            </a:r>
            <a:r>
              <a:rPr b="1" lang="en-IN" sz="1000" strike="noStrike" u="none">
                <a:solidFill>
                  <a:srgbClr val="000000"/>
                </a:solidFill>
                <a:effectLst/>
                <a:uFillTx/>
                <a:latin typeface="Arial"/>
              </a:rPr>
              <a:t>	</a:t>
            </a:r>
            <a:r>
              <a:rPr b="1" lang="en-IN" sz="1000" strike="noStrike" u="none">
                <a:solidFill>
                  <a:srgbClr val="000000"/>
                </a:solidFill>
                <a:effectLst/>
                <a:uFillTx/>
                <a:latin typeface="Arial"/>
              </a:rPr>
              <a:t>0</a:t>
            </a:r>
            <a:endParaRPr b="0" lang="en-IN" sz="1000" strike="noStrike" u="none">
              <a:solidFill>
                <a:srgbClr val="000000"/>
              </a:solidFill>
              <a:effectLst/>
              <a:uFillTx/>
              <a:latin typeface="Arial"/>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Time period = July 2006 through June 2007</a:t>
            </a:r>
            <a:endParaRPr b="0" lang="en-IN" sz="1000" strike="noStrike" u="none">
              <a:solidFill>
                <a:srgbClr val="000000"/>
              </a:solidFill>
              <a:effectLst/>
              <a:uFillTx/>
              <a:latin typeface="Arial"/>
            </a:endParaRPr>
          </a:p>
        </p:txBody>
      </p:sp>
      <p:sp>
        <p:nvSpPr>
          <p:cNvPr id="140" name=""/>
          <p:cNvSpPr/>
          <p:nvPr/>
        </p:nvSpPr>
        <p:spPr>
          <a:xfrm>
            <a:off x="0" y="0"/>
            <a:ext cx="1676520" cy="6991560"/>
          </a:xfrm>
          <a:prstGeom prst="rect">
            <a:avLst/>
          </a:prstGeom>
          <a:solidFill>
            <a:srgbClr val="800000"/>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Hire Workforce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Best candidates are hired and reviewed during appointment period. The right people are in the right job at the right time.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Time-to-fill vacancies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Candidate quality</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Hiring Balance (proportion of appointment types)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Separation during review period</a:t>
            </a:r>
            <a:br>
              <a:rPr sz="1000"/>
            </a:br>
            <a:br>
              <a:rPr sz="1000"/>
            </a:br>
            <a:br>
              <a:rPr sz="1000"/>
            </a:b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br>
              <a:rPr sz="1000"/>
            </a:br>
            <a:endParaRPr b="0" lang="en-IN" sz="1000" strike="noStrike" u="none">
              <a:solidFill>
                <a:srgbClr val="000000"/>
              </a:solidFill>
              <a:effectLst/>
              <a:uFillTx/>
              <a:latin typeface="Arial"/>
            </a:endParaRPr>
          </a:p>
        </p:txBody>
      </p:sp>
      <p:graphicFrame>
        <p:nvGraphicFramePr>
          <p:cNvPr id="141" name=""/>
          <p:cNvGraphicFramePr/>
          <p:nvPr/>
        </p:nvGraphicFramePr>
        <p:xfrm>
          <a:off x="1879560" y="609480"/>
          <a:ext cx="3505320" cy="3164040"/>
        </p:xfrm>
        <a:graphic>
          <a:graphicData uri="http://schemas.openxmlformats.org/presentationml/2006/ole">
            <p:oleObj r:id="rId1" spid="">
              <p:embed/>
              <p:pic>
                <p:nvPicPr>
                  <p:cNvPr id="142" name="" descr=""/>
                  <p:cNvPicPr/>
                  <p:nvPr/>
                </p:nvPicPr>
                <p:blipFill>
                  <a:blip r:embed="rId2"/>
                  <a:stretch/>
                </p:blipFill>
                <p:spPr>
                  <a:xfrm>
                    <a:off x="1879560" y="609480"/>
                    <a:ext cx="3505320" cy="3164040"/>
                  </a:xfrm>
                  <a:prstGeom prst="rect">
                    <a:avLst/>
                  </a:prstGeom>
                  <a:noFill/>
                  <a:ln w="0">
                    <a:noFill/>
                  </a:ln>
                </p:spPr>
              </p:pic>
            </p:oleObj>
          </a:graphicData>
        </a:graphic>
      </p:graphicFrame>
      <p:sp>
        <p:nvSpPr>
          <p:cNvPr id="143" name=""/>
          <p:cNvSpPr/>
          <p:nvPr/>
        </p:nvSpPr>
        <p:spPr>
          <a:xfrm>
            <a:off x="1676520" y="216000"/>
            <a:ext cx="7467480" cy="307440"/>
          </a:xfrm>
          <a:prstGeom prst="rect">
            <a:avLst/>
          </a:prstGeom>
          <a:noFill/>
          <a:ln w="0">
            <a:noFill/>
          </a:ln>
        </p:spPr>
        <p:style>
          <a:lnRef idx="0"/>
          <a:fillRef idx="0"/>
          <a:effectRef idx="0"/>
          <a:fontRef idx="minor"/>
        </p:style>
        <p:txBody>
          <a:bodyPr lIns="90000" rIns="90000" tIns="46800" bIns="46800" anchor="t">
            <a:spAutoFit/>
          </a:bodyPr>
          <a:p>
            <a:pPr algn="ct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Hiring Balance / Separations During Review Period</a:t>
            </a:r>
            <a:endParaRPr b="0" lang="en-IN" sz="14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4" name=""/>
          <p:cNvSpPr/>
          <p:nvPr/>
        </p:nvSpPr>
        <p:spPr>
          <a:xfrm>
            <a:off x="0" y="0"/>
            <a:ext cx="1676520" cy="6935040"/>
          </a:xfrm>
          <a:prstGeom prst="rect">
            <a:avLst/>
          </a:prstGeom>
          <a:solidFill>
            <a:srgbClr val="000066"/>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Deploy Workforce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Staff know job expectations, how they’re doing, &amp; are supported. Workplace is safe, gives capacity to perform, &amp; fosters productive relations. Employee time and talent is used effectively. Employees are motivated.</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 </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Percent employees with current performance expectations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Employee survey ratings on “productive workplace” questions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Overtime usage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Sick leave usage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Non-disciplinary grievances/appeals filed and disposition (outcomes)</a:t>
            </a:r>
            <a:endParaRPr b="0" lang="en-IN" sz="1000" strike="noStrike" u="none">
              <a:solidFill>
                <a:srgbClr val="000000"/>
              </a:solidFill>
              <a:effectLst/>
              <a:uFillTx/>
              <a:latin typeface="Arial"/>
            </a:endParaRPr>
          </a:p>
          <a:p>
            <a:pPr>
              <a:spcBef>
                <a:spcPts val="56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Worker safety </a:t>
            </a:r>
            <a:br>
              <a:rPr sz="1000"/>
            </a:br>
            <a:br>
              <a:rPr sz="1000"/>
            </a:br>
            <a:br>
              <a:rPr sz="900"/>
            </a:br>
            <a:endParaRPr b="0" lang="en-IN" sz="1000" strike="noStrike" u="none">
              <a:solidFill>
                <a:srgbClr val="000000"/>
              </a:solidFill>
              <a:effectLst/>
              <a:uFillTx/>
              <a:latin typeface="Arial"/>
            </a:endParaRPr>
          </a:p>
        </p:txBody>
      </p:sp>
      <p:sp>
        <p:nvSpPr>
          <p:cNvPr id="145" name=""/>
          <p:cNvSpPr/>
          <p:nvPr/>
        </p:nvSpPr>
        <p:spPr>
          <a:xfrm>
            <a:off x="1752480" y="6523200"/>
            <a:ext cx="441972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July 1,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Agency Tracking</a:t>
            </a:r>
            <a:endParaRPr b="0" lang="en-IN" sz="1000" strike="noStrike" u="none">
              <a:solidFill>
                <a:srgbClr val="000000"/>
              </a:solidFill>
              <a:effectLst/>
              <a:uFillTx/>
              <a:latin typeface="Arial"/>
            </a:endParaRPr>
          </a:p>
        </p:txBody>
      </p:sp>
      <p:sp>
        <p:nvSpPr>
          <p:cNvPr id="146" name=""/>
          <p:cNvSpPr/>
          <p:nvPr/>
        </p:nvSpPr>
        <p:spPr>
          <a:xfrm>
            <a:off x="5943600" y="838080"/>
            <a:ext cx="3048120" cy="370692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goal for current performance expectations is 95%.</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has drafted a new performance development plan form that will include a new performance expectations section that will meet the needs of a production environment and will support the development of our staff.  It is currently being used and appears to be helpful in moving towards our goal.</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Currently creating an action plan to increase percentage monthly until 95% is reached.</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Will regularly meet with leadership team to discuss agency progress in this area.</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147" name=""/>
          <p:cNvSpPr/>
          <p:nvPr/>
        </p:nvSpPr>
        <p:spPr>
          <a:xfrm>
            <a:off x="1828800" y="930240"/>
            <a:ext cx="4038480" cy="459720"/>
          </a:xfrm>
          <a:prstGeom prst="rect">
            <a:avLst/>
          </a:prstGeom>
          <a:noFill/>
          <a:ln w="28440">
            <a:solidFill>
              <a:srgbClr val="000099"/>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Percent employees with current performance expectations = 60.1%*</a:t>
            </a:r>
            <a:endParaRPr b="0" lang="en-IN" sz="1200" strike="noStrike" u="none">
              <a:solidFill>
                <a:srgbClr val="000000"/>
              </a:solidFill>
              <a:effectLst/>
              <a:uFillTx/>
              <a:latin typeface="Arial"/>
            </a:endParaRPr>
          </a:p>
        </p:txBody>
      </p:sp>
      <p:sp>
        <p:nvSpPr>
          <p:cNvPr id="148" name=""/>
          <p:cNvSpPr/>
          <p:nvPr/>
        </p:nvSpPr>
        <p:spPr>
          <a:xfrm>
            <a:off x="1676520" y="411120"/>
            <a:ext cx="7391160" cy="307440"/>
          </a:xfrm>
          <a:prstGeom prst="rect">
            <a:avLst/>
          </a:prstGeom>
          <a:noFill/>
          <a:ln w="0">
            <a:noFill/>
          </a:ln>
        </p:spPr>
        <p:style>
          <a:lnRef idx="0"/>
          <a:fillRef idx="0"/>
          <a:effectRef idx="0"/>
          <a:fontRef idx="minor"/>
        </p:style>
        <p:txBody>
          <a:bodyPr lIns="90000" rIns="90000" tIns="46800" bIns="46800" anchor="t">
            <a:spAutoFit/>
          </a:bodyPr>
          <a:p>
            <a:pPr algn="ct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Current Performance Expectations</a:t>
            </a:r>
            <a:endParaRPr b="0" lang="en-IN" sz="1400" strike="noStrike" u="none">
              <a:solidFill>
                <a:srgbClr val="000000"/>
              </a:solidFill>
              <a:effectLst/>
              <a:uFillTx/>
              <a:latin typeface="Arial"/>
            </a:endParaRPr>
          </a:p>
        </p:txBody>
      </p:sp>
      <p:sp>
        <p:nvSpPr>
          <p:cNvPr id="149" name=""/>
          <p:cNvSpPr/>
          <p:nvPr/>
        </p:nvSpPr>
        <p:spPr>
          <a:xfrm>
            <a:off x="1765440" y="1486080"/>
            <a:ext cx="3797280" cy="39924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*Based on 74 of 123 reported employee count</a:t>
            </a:r>
            <a:br>
              <a:rPr sz="1000"/>
            </a:br>
            <a:r>
              <a:rPr b="0" lang="en-IN" sz="1000" strike="noStrike" u="none">
                <a:solidFill>
                  <a:srgbClr val="000000"/>
                </a:solidFill>
                <a:effectLst/>
                <a:uFillTx/>
                <a:latin typeface="Arial"/>
              </a:rPr>
              <a:t> Applies to employees in permanent positions, both WMS &amp; GS</a:t>
            </a:r>
            <a:endParaRPr b="0" lang="en-IN" sz="10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0" name=""/>
          <p:cNvSpPr/>
          <p:nvPr/>
        </p:nvSpPr>
        <p:spPr>
          <a:xfrm>
            <a:off x="1676520" y="411120"/>
            <a:ext cx="7391160" cy="3074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Employee Survey “Productive Workplace” Ratings</a:t>
            </a:r>
            <a:endParaRPr b="0" lang="en-IN" sz="1400" strike="noStrike" u="none">
              <a:solidFill>
                <a:srgbClr val="000000"/>
              </a:solidFill>
              <a:effectLst/>
              <a:uFillTx/>
              <a:latin typeface="Arial"/>
            </a:endParaRPr>
          </a:p>
        </p:txBody>
      </p:sp>
      <p:grpSp>
        <p:nvGrpSpPr>
          <p:cNvPr id="151" name=""/>
          <p:cNvGrpSpPr/>
          <p:nvPr/>
        </p:nvGrpSpPr>
        <p:grpSpPr>
          <a:xfrm>
            <a:off x="1752480" y="762120"/>
            <a:ext cx="4132440" cy="3202560"/>
            <a:chOff x="1752480" y="762120"/>
            <a:chExt cx="4132440" cy="3202560"/>
          </a:xfrm>
        </p:grpSpPr>
        <p:grpSp>
          <p:nvGrpSpPr>
            <p:cNvPr id="152" name=""/>
            <p:cNvGrpSpPr/>
            <p:nvPr/>
          </p:nvGrpSpPr>
          <p:grpSpPr>
            <a:xfrm>
              <a:off x="1752480" y="838440"/>
              <a:ext cx="4132440" cy="3126240"/>
              <a:chOff x="1752480" y="838440"/>
              <a:chExt cx="4132440" cy="3126240"/>
            </a:xfrm>
          </p:grpSpPr>
          <p:sp>
            <p:nvSpPr>
              <p:cNvPr id="153" name=""/>
              <p:cNvSpPr/>
              <p:nvPr/>
            </p:nvSpPr>
            <p:spPr>
              <a:xfrm>
                <a:off x="1770120" y="838440"/>
                <a:ext cx="4114800" cy="2742840"/>
              </a:xfrm>
              <a:prstGeom prst="rect">
                <a:avLst/>
              </a:prstGeom>
              <a:noFill/>
              <a:ln w="0">
                <a:noFill/>
              </a:ln>
            </p:spPr>
            <p:style>
              <a:lnRef idx="0"/>
              <a:fillRef idx="0"/>
              <a:effectRef idx="0"/>
              <a:fontRef idx="minor"/>
            </p:style>
            <p:txBody>
              <a:bodyPr lIns="90000" rIns="90000" tIns="46800" bIns="46800" anchor="t">
                <a:spAutoFit/>
              </a:bodyPr>
              <a:p>
                <a:pPr>
                  <a:spcAft>
                    <a:spcPts val="1874"/>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Q4. I know what is expected of me at work.</a:t>
                </a:r>
                <a:endParaRPr b="0" lang="en-IN" sz="1000" strike="noStrike" u="none">
                  <a:solidFill>
                    <a:srgbClr val="000000"/>
                  </a:solidFill>
                  <a:effectLst/>
                  <a:uFillTx/>
                  <a:latin typeface="Arial"/>
                </a:endParaRPr>
              </a:p>
              <a:p>
                <a:pPr>
                  <a:spcAft>
                    <a:spcPts val="1874"/>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Q1. I have opportunity to give input on decisions affecting my work.</a:t>
                </a:r>
                <a:endParaRPr b="0" lang="en-IN" sz="1000" strike="noStrike" u="none">
                  <a:solidFill>
                    <a:srgbClr val="000000"/>
                  </a:solidFill>
                  <a:effectLst/>
                  <a:uFillTx/>
                  <a:latin typeface="Arial"/>
                </a:endParaRPr>
              </a:p>
              <a:p>
                <a:pPr>
                  <a:spcAft>
                    <a:spcPts val="1874"/>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Q2. I receive the information I need to do my job effectively. </a:t>
                </a:r>
                <a:endParaRPr b="0" lang="en-IN" sz="1000" strike="noStrike" u="none">
                  <a:solidFill>
                    <a:srgbClr val="000000"/>
                  </a:solidFill>
                  <a:effectLst/>
                  <a:uFillTx/>
                  <a:latin typeface="Arial"/>
                </a:endParaRPr>
              </a:p>
              <a:p>
                <a:pPr>
                  <a:spcAft>
                    <a:spcPts val="1874"/>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Q6. I have the tools and resources I need to do my job effectively. </a:t>
                </a:r>
                <a:endParaRPr b="0" lang="en-IN" sz="1000" strike="noStrike" u="none">
                  <a:solidFill>
                    <a:srgbClr val="000000"/>
                  </a:solidFill>
                  <a:effectLst/>
                  <a:uFillTx/>
                  <a:latin typeface="Arial"/>
                </a:endParaRPr>
              </a:p>
              <a:p>
                <a:pPr>
                  <a:spcAft>
                    <a:spcPts val="1874"/>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Q7. My supervisor treats me with dignity and respect.</a:t>
                </a:r>
                <a:endParaRPr b="0" lang="en-IN" sz="1000" strike="noStrike" u="none">
                  <a:solidFill>
                    <a:srgbClr val="000000"/>
                  </a:solidFill>
                  <a:effectLst/>
                  <a:uFillTx/>
                  <a:latin typeface="Arial"/>
                </a:endParaRPr>
              </a:p>
              <a:p>
                <a:pPr>
                  <a:spcAft>
                    <a:spcPts val="1874"/>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Q8. My supervisor gives me ongoing feedback that helps me </a:t>
                </a:r>
                <a:br>
                  <a:rPr sz="1000"/>
                </a:br>
                <a:r>
                  <a:rPr b="0" lang="en-IN" sz="1000" strike="noStrike" u="none">
                    <a:solidFill>
                      <a:srgbClr val="000000"/>
                    </a:solidFill>
                    <a:effectLst/>
                    <a:uFillTx/>
                    <a:latin typeface="Arial"/>
                  </a:rPr>
                  <a:t>       improve my performance.</a:t>
                </a:r>
                <a:endParaRPr b="0" lang="en-IN" sz="1000" strike="noStrike" u="none">
                  <a:solidFill>
                    <a:srgbClr val="000000"/>
                  </a:solidFill>
                  <a:effectLst/>
                  <a:uFillTx/>
                  <a:latin typeface="Arial"/>
                </a:endParaRPr>
              </a:p>
              <a:p>
                <a:pPr>
                  <a:spcAft>
                    <a:spcPts val="1874"/>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Q9. I receive recognition for a job well done.</a:t>
                </a:r>
                <a:endParaRPr b="0" lang="en-IN" sz="1000" strike="noStrike" u="none">
                  <a:solidFill>
                    <a:srgbClr val="000000"/>
                  </a:solidFill>
                  <a:effectLst/>
                  <a:uFillTx/>
                  <a:latin typeface="Arial"/>
                </a:endParaRPr>
              </a:p>
            </p:txBody>
          </p:sp>
          <p:graphicFrame>
            <p:nvGraphicFramePr>
              <p:cNvPr id="154" name=""/>
              <p:cNvGraphicFramePr/>
              <p:nvPr/>
            </p:nvGraphicFramePr>
            <p:xfrm>
              <a:off x="1998720" y="838440"/>
              <a:ext cx="3504960" cy="606600"/>
            </p:xfrm>
            <a:graphic>
              <a:graphicData uri="http://schemas.openxmlformats.org/presentationml/2006/ole">
                <p:oleObj r:id="rId1" spid="">
                  <p:embed/>
                  <p:pic>
                    <p:nvPicPr>
                      <p:cNvPr id="155" name="" descr=""/>
                      <p:cNvPicPr/>
                      <p:nvPr/>
                    </p:nvPicPr>
                    <p:blipFill>
                      <a:blip r:embed="rId2"/>
                      <a:stretch/>
                    </p:blipFill>
                    <p:spPr>
                      <a:xfrm>
                        <a:off x="1998720" y="838440"/>
                        <a:ext cx="3504960" cy="606600"/>
                      </a:xfrm>
                      <a:prstGeom prst="rect">
                        <a:avLst/>
                      </a:prstGeom>
                      <a:noFill/>
                      <a:ln w="0">
                        <a:noFill/>
                      </a:ln>
                    </p:spPr>
                  </p:pic>
                </p:oleObj>
              </a:graphicData>
            </a:graphic>
          </p:graphicFrame>
          <p:graphicFrame>
            <p:nvGraphicFramePr>
              <p:cNvPr id="156" name=""/>
              <p:cNvGraphicFramePr/>
              <p:nvPr/>
            </p:nvGraphicFramePr>
            <p:xfrm>
              <a:off x="1998720" y="1219320"/>
              <a:ext cx="3504960" cy="609840"/>
            </p:xfrm>
            <a:graphic>
              <a:graphicData uri="http://schemas.openxmlformats.org/presentationml/2006/ole">
                <p:oleObj r:id="rId3" spid="">
                  <p:embed/>
                  <p:pic>
                    <p:nvPicPr>
                      <p:cNvPr id="157" name="" descr=""/>
                      <p:cNvPicPr/>
                      <p:nvPr/>
                    </p:nvPicPr>
                    <p:blipFill>
                      <a:blip r:embed="rId4"/>
                      <a:stretch/>
                    </p:blipFill>
                    <p:spPr>
                      <a:xfrm>
                        <a:off x="1998720" y="1219320"/>
                        <a:ext cx="3504960" cy="609840"/>
                      </a:xfrm>
                      <a:prstGeom prst="rect">
                        <a:avLst/>
                      </a:prstGeom>
                      <a:noFill/>
                      <a:ln w="0">
                        <a:noFill/>
                      </a:ln>
                    </p:spPr>
                  </p:pic>
                </p:oleObj>
              </a:graphicData>
            </a:graphic>
          </p:graphicFrame>
          <p:graphicFrame>
            <p:nvGraphicFramePr>
              <p:cNvPr id="158" name=""/>
              <p:cNvGraphicFramePr/>
              <p:nvPr/>
            </p:nvGraphicFramePr>
            <p:xfrm>
              <a:off x="1998720" y="1600560"/>
              <a:ext cx="3492360" cy="647640"/>
            </p:xfrm>
            <a:graphic>
              <a:graphicData uri="http://schemas.openxmlformats.org/presentationml/2006/ole">
                <p:oleObj r:id="rId5" spid="">
                  <p:embed/>
                  <p:pic>
                    <p:nvPicPr>
                      <p:cNvPr id="159" name="" descr=""/>
                      <p:cNvPicPr/>
                      <p:nvPr/>
                    </p:nvPicPr>
                    <p:blipFill>
                      <a:blip r:embed="rId6"/>
                      <a:stretch/>
                    </p:blipFill>
                    <p:spPr>
                      <a:xfrm>
                        <a:off x="1998720" y="1600560"/>
                        <a:ext cx="3492360" cy="647640"/>
                      </a:xfrm>
                      <a:prstGeom prst="rect">
                        <a:avLst/>
                      </a:prstGeom>
                      <a:noFill/>
                      <a:ln w="0">
                        <a:noFill/>
                      </a:ln>
                    </p:spPr>
                  </p:pic>
                </p:oleObj>
              </a:graphicData>
            </a:graphic>
          </p:graphicFrame>
          <p:graphicFrame>
            <p:nvGraphicFramePr>
              <p:cNvPr id="160" name=""/>
              <p:cNvGraphicFramePr/>
              <p:nvPr/>
            </p:nvGraphicFramePr>
            <p:xfrm>
              <a:off x="1998720" y="1981440"/>
              <a:ext cx="3504960" cy="609480"/>
            </p:xfrm>
            <a:graphic>
              <a:graphicData uri="http://schemas.openxmlformats.org/presentationml/2006/ole">
                <p:oleObj r:id="rId7" spid="">
                  <p:embed/>
                  <p:pic>
                    <p:nvPicPr>
                      <p:cNvPr id="161" name="" descr=""/>
                      <p:cNvPicPr/>
                      <p:nvPr/>
                    </p:nvPicPr>
                    <p:blipFill>
                      <a:blip r:embed="rId8"/>
                      <a:stretch/>
                    </p:blipFill>
                    <p:spPr>
                      <a:xfrm>
                        <a:off x="1998720" y="1981440"/>
                        <a:ext cx="3504960" cy="609480"/>
                      </a:xfrm>
                      <a:prstGeom prst="rect">
                        <a:avLst/>
                      </a:prstGeom>
                      <a:noFill/>
                      <a:ln w="0">
                        <a:noFill/>
                      </a:ln>
                    </p:spPr>
                  </p:pic>
                </p:oleObj>
              </a:graphicData>
            </a:graphic>
          </p:graphicFrame>
          <p:graphicFrame>
            <p:nvGraphicFramePr>
              <p:cNvPr id="162" name=""/>
              <p:cNvGraphicFramePr/>
              <p:nvPr/>
            </p:nvGraphicFramePr>
            <p:xfrm>
              <a:off x="1998720" y="2362320"/>
              <a:ext cx="3504960" cy="606600"/>
            </p:xfrm>
            <a:graphic>
              <a:graphicData uri="http://schemas.openxmlformats.org/presentationml/2006/ole">
                <p:oleObj r:id="rId9" spid="">
                  <p:embed/>
                  <p:pic>
                    <p:nvPicPr>
                      <p:cNvPr id="163" name="" descr=""/>
                      <p:cNvPicPr/>
                      <p:nvPr/>
                    </p:nvPicPr>
                    <p:blipFill>
                      <a:blip r:embed="rId10"/>
                      <a:stretch/>
                    </p:blipFill>
                    <p:spPr>
                      <a:xfrm>
                        <a:off x="1998720" y="2362320"/>
                        <a:ext cx="3504960" cy="606600"/>
                      </a:xfrm>
                      <a:prstGeom prst="rect">
                        <a:avLst/>
                      </a:prstGeom>
                      <a:noFill/>
                      <a:ln w="0">
                        <a:noFill/>
                      </a:ln>
                    </p:spPr>
                  </p:pic>
                </p:oleObj>
              </a:graphicData>
            </a:graphic>
          </p:graphicFrame>
          <p:graphicFrame>
            <p:nvGraphicFramePr>
              <p:cNvPr id="164" name=""/>
              <p:cNvGraphicFramePr/>
              <p:nvPr/>
            </p:nvGraphicFramePr>
            <p:xfrm>
              <a:off x="1998720" y="2895840"/>
              <a:ext cx="3504960" cy="609480"/>
            </p:xfrm>
            <a:graphic>
              <a:graphicData uri="http://schemas.openxmlformats.org/presentationml/2006/ole">
                <p:oleObj r:id="rId11" spid="">
                  <p:embed/>
                  <p:pic>
                    <p:nvPicPr>
                      <p:cNvPr id="165" name="" descr=""/>
                      <p:cNvPicPr/>
                      <p:nvPr/>
                    </p:nvPicPr>
                    <p:blipFill>
                      <a:blip r:embed="rId12"/>
                      <a:stretch/>
                    </p:blipFill>
                    <p:spPr>
                      <a:xfrm>
                        <a:off x="1998720" y="2895840"/>
                        <a:ext cx="3504960" cy="609480"/>
                      </a:xfrm>
                      <a:prstGeom prst="rect">
                        <a:avLst/>
                      </a:prstGeom>
                      <a:noFill/>
                      <a:ln w="0">
                        <a:noFill/>
                      </a:ln>
                    </p:spPr>
                  </p:pic>
                </p:oleObj>
              </a:graphicData>
            </a:graphic>
          </p:graphicFrame>
          <p:graphicFrame>
            <p:nvGraphicFramePr>
              <p:cNvPr id="166" name=""/>
              <p:cNvGraphicFramePr/>
              <p:nvPr/>
            </p:nvGraphicFramePr>
            <p:xfrm>
              <a:off x="1998720" y="3279960"/>
              <a:ext cx="3504960" cy="606600"/>
            </p:xfrm>
            <a:graphic>
              <a:graphicData uri="http://schemas.openxmlformats.org/presentationml/2006/ole">
                <p:oleObj r:id="rId13" spid="">
                  <p:embed/>
                  <p:pic>
                    <p:nvPicPr>
                      <p:cNvPr id="167" name="" descr=""/>
                      <p:cNvPicPr/>
                      <p:nvPr/>
                    </p:nvPicPr>
                    <p:blipFill>
                      <a:blip r:embed="rId14"/>
                      <a:stretch/>
                    </p:blipFill>
                    <p:spPr>
                      <a:xfrm>
                        <a:off x="1998720" y="3279960"/>
                        <a:ext cx="3504960" cy="606600"/>
                      </a:xfrm>
                      <a:prstGeom prst="rect">
                        <a:avLst/>
                      </a:prstGeom>
                      <a:noFill/>
                      <a:ln w="0">
                        <a:noFill/>
                      </a:ln>
                    </p:spPr>
                  </p:pic>
                </p:oleObj>
              </a:graphicData>
            </a:graphic>
          </p:graphicFrame>
          <p:grpSp>
            <p:nvGrpSpPr>
              <p:cNvPr id="168" name=""/>
              <p:cNvGrpSpPr/>
              <p:nvPr/>
            </p:nvGrpSpPr>
            <p:grpSpPr>
              <a:xfrm>
                <a:off x="1752480" y="3718080"/>
                <a:ext cx="3522240" cy="246600"/>
                <a:chOff x="1752480" y="3718080"/>
                <a:chExt cx="3522240" cy="246600"/>
              </a:xfrm>
            </p:grpSpPr>
            <p:sp>
              <p:nvSpPr>
                <p:cNvPr id="169" name=""/>
                <p:cNvSpPr/>
                <p:nvPr/>
              </p:nvSpPr>
              <p:spPr>
                <a:xfrm>
                  <a:off x="1752480" y="3718080"/>
                  <a:ext cx="6840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8000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Never</a:t>
                  </a:r>
                  <a:endParaRPr b="0" lang="en-IN" sz="1000" strike="noStrike" u="none">
                    <a:solidFill>
                      <a:srgbClr val="000000"/>
                    </a:solidFill>
                    <a:effectLst/>
                    <a:uFillTx/>
                    <a:latin typeface="Arial"/>
                  </a:endParaRPr>
                </a:p>
              </p:txBody>
            </p:sp>
            <p:sp>
              <p:nvSpPr>
                <p:cNvPr id="170" name=""/>
                <p:cNvSpPr/>
                <p:nvPr/>
              </p:nvSpPr>
              <p:spPr>
                <a:xfrm>
                  <a:off x="2315880" y="3718080"/>
                  <a:ext cx="80748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cc00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Seldom</a:t>
                  </a:r>
                  <a:endParaRPr b="0" lang="en-IN" sz="1000" strike="noStrike" u="none">
                    <a:solidFill>
                      <a:srgbClr val="000000"/>
                    </a:solidFill>
                    <a:effectLst/>
                    <a:uFillTx/>
                    <a:latin typeface="Arial"/>
                  </a:endParaRPr>
                </a:p>
              </p:txBody>
            </p:sp>
            <p:sp>
              <p:nvSpPr>
                <p:cNvPr id="171" name=""/>
                <p:cNvSpPr/>
                <p:nvPr/>
              </p:nvSpPr>
              <p:spPr>
                <a:xfrm>
                  <a:off x="2971440" y="3718080"/>
                  <a:ext cx="108396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ffff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Occasionally</a:t>
                  </a:r>
                  <a:endParaRPr b="0" lang="en-IN" sz="1000" strike="noStrike" u="none">
                    <a:solidFill>
                      <a:srgbClr val="000000"/>
                    </a:solidFill>
                    <a:effectLst/>
                    <a:uFillTx/>
                    <a:latin typeface="Arial"/>
                  </a:endParaRPr>
                </a:p>
              </p:txBody>
            </p:sp>
            <p:sp>
              <p:nvSpPr>
                <p:cNvPr id="172" name=""/>
                <p:cNvSpPr/>
                <p:nvPr/>
              </p:nvSpPr>
              <p:spPr>
                <a:xfrm>
                  <a:off x="3885840" y="3718080"/>
                  <a:ext cx="88056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99ccff"/>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Usually</a:t>
                  </a:r>
                  <a:endParaRPr b="0" lang="en-IN" sz="1000" strike="noStrike" u="none">
                    <a:solidFill>
                      <a:srgbClr val="000000"/>
                    </a:solidFill>
                    <a:effectLst/>
                    <a:uFillTx/>
                    <a:latin typeface="Arial"/>
                  </a:endParaRPr>
                </a:p>
              </p:txBody>
            </p:sp>
            <p:sp>
              <p:nvSpPr>
                <p:cNvPr id="173" name=""/>
                <p:cNvSpPr/>
                <p:nvPr/>
              </p:nvSpPr>
              <p:spPr>
                <a:xfrm>
                  <a:off x="4495320" y="3718080"/>
                  <a:ext cx="7794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0000ff"/>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Always</a:t>
                  </a:r>
                  <a:endParaRPr b="0" lang="en-IN" sz="1000" strike="noStrike" u="none">
                    <a:solidFill>
                      <a:srgbClr val="000000"/>
                    </a:solidFill>
                    <a:effectLst/>
                    <a:uFillTx/>
                    <a:latin typeface="Arial"/>
                  </a:endParaRPr>
                </a:p>
              </p:txBody>
            </p:sp>
          </p:grpSp>
        </p:grpSp>
        <p:sp>
          <p:nvSpPr>
            <p:cNvPr id="174" name=""/>
            <p:cNvSpPr/>
            <p:nvPr/>
          </p:nvSpPr>
          <p:spPr>
            <a:xfrm>
              <a:off x="5122800" y="105120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4.4</a:t>
              </a:r>
              <a:endParaRPr b="0" lang="en-IN" sz="1000" strike="noStrike" u="none">
                <a:solidFill>
                  <a:srgbClr val="000000"/>
                </a:solidFill>
                <a:effectLst/>
                <a:uFillTx/>
                <a:latin typeface="Arial"/>
              </a:endParaRPr>
            </a:p>
          </p:txBody>
        </p:sp>
        <p:sp>
          <p:nvSpPr>
            <p:cNvPr id="175" name=""/>
            <p:cNvSpPr/>
            <p:nvPr/>
          </p:nvSpPr>
          <p:spPr>
            <a:xfrm>
              <a:off x="5122800" y="137196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3.4</a:t>
              </a:r>
              <a:endParaRPr b="0" lang="en-IN" sz="1000" strike="noStrike" u="none">
                <a:solidFill>
                  <a:srgbClr val="000000"/>
                </a:solidFill>
                <a:effectLst/>
                <a:uFillTx/>
                <a:latin typeface="Arial"/>
              </a:endParaRPr>
            </a:p>
          </p:txBody>
        </p:sp>
        <p:sp>
          <p:nvSpPr>
            <p:cNvPr id="176" name=""/>
            <p:cNvSpPr/>
            <p:nvPr/>
          </p:nvSpPr>
          <p:spPr>
            <a:xfrm>
              <a:off x="5122800" y="175284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3.8</a:t>
              </a:r>
              <a:endParaRPr b="0" lang="en-IN" sz="1000" strike="noStrike" u="none">
                <a:solidFill>
                  <a:srgbClr val="000000"/>
                </a:solidFill>
                <a:effectLst/>
                <a:uFillTx/>
                <a:latin typeface="Arial"/>
              </a:endParaRPr>
            </a:p>
          </p:txBody>
        </p:sp>
        <p:sp>
          <p:nvSpPr>
            <p:cNvPr id="177" name=""/>
            <p:cNvSpPr/>
            <p:nvPr/>
          </p:nvSpPr>
          <p:spPr>
            <a:xfrm>
              <a:off x="5122800" y="251496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4.3</a:t>
              </a:r>
              <a:endParaRPr b="0" lang="en-IN" sz="1000" strike="noStrike" u="none">
                <a:solidFill>
                  <a:srgbClr val="000000"/>
                </a:solidFill>
                <a:effectLst/>
                <a:uFillTx/>
                <a:latin typeface="Arial"/>
              </a:endParaRPr>
            </a:p>
          </p:txBody>
        </p:sp>
        <p:sp>
          <p:nvSpPr>
            <p:cNvPr id="178" name=""/>
            <p:cNvSpPr/>
            <p:nvPr/>
          </p:nvSpPr>
          <p:spPr>
            <a:xfrm>
              <a:off x="5122800" y="304812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3.7</a:t>
              </a:r>
              <a:endParaRPr b="0" lang="en-IN" sz="1000" strike="noStrike" u="none">
                <a:solidFill>
                  <a:srgbClr val="000000"/>
                </a:solidFill>
                <a:effectLst/>
                <a:uFillTx/>
                <a:latin typeface="Arial"/>
              </a:endParaRPr>
            </a:p>
          </p:txBody>
        </p:sp>
        <p:sp>
          <p:nvSpPr>
            <p:cNvPr id="179" name=""/>
            <p:cNvSpPr/>
            <p:nvPr/>
          </p:nvSpPr>
          <p:spPr>
            <a:xfrm>
              <a:off x="5122800" y="342936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3.1</a:t>
              </a:r>
              <a:endParaRPr b="0" lang="en-IN" sz="1000" strike="noStrike" u="none">
                <a:solidFill>
                  <a:srgbClr val="000000"/>
                </a:solidFill>
                <a:effectLst/>
                <a:uFillTx/>
                <a:latin typeface="Arial"/>
              </a:endParaRPr>
            </a:p>
          </p:txBody>
        </p:sp>
        <p:sp>
          <p:nvSpPr>
            <p:cNvPr id="180" name=""/>
            <p:cNvSpPr/>
            <p:nvPr/>
          </p:nvSpPr>
          <p:spPr>
            <a:xfrm>
              <a:off x="5122800" y="213372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3.9</a:t>
              </a:r>
              <a:endParaRPr b="0" lang="en-IN" sz="1000" strike="noStrike" u="none">
                <a:solidFill>
                  <a:srgbClr val="000000"/>
                </a:solidFill>
                <a:effectLst/>
                <a:uFillTx/>
                <a:latin typeface="Arial"/>
              </a:endParaRPr>
            </a:p>
          </p:txBody>
        </p:sp>
        <p:sp>
          <p:nvSpPr>
            <p:cNvPr id="181" name=""/>
            <p:cNvSpPr/>
            <p:nvPr/>
          </p:nvSpPr>
          <p:spPr>
            <a:xfrm>
              <a:off x="5122800" y="76212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sng">
                  <a:solidFill>
                    <a:srgbClr val="000000"/>
                  </a:solidFill>
                  <a:effectLst/>
                  <a:uFillTx/>
                  <a:latin typeface="Arial"/>
                </a:rPr>
                <a:t>Avg</a:t>
              </a:r>
              <a:endParaRPr b="0" lang="en-IN" sz="1000" strike="noStrike" u="none">
                <a:solidFill>
                  <a:srgbClr val="000000"/>
                </a:solidFill>
                <a:effectLst/>
                <a:uFillTx/>
                <a:latin typeface="Arial"/>
              </a:endParaRPr>
            </a:p>
          </p:txBody>
        </p:sp>
      </p:grpSp>
      <p:sp>
        <p:nvSpPr>
          <p:cNvPr id="182" name=""/>
          <p:cNvSpPr/>
          <p:nvPr/>
        </p:nvSpPr>
        <p:spPr>
          <a:xfrm>
            <a:off x="1752480" y="4368960"/>
            <a:ext cx="4038840" cy="246600"/>
          </a:xfrm>
          <a:prstGeom prst="rect">
            <a:avLst/>
          </a:prstGeom>
          <a:solidFill>
            <a:srgbClr val="ffffff"/>
          </a:solidFill>
          <a:ln w="28440">
            <a:solidFill>
              <a:srgbClr val="000066"/>
            </a:solidFill>
            <a:miter/>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Overall average score for Productive Workplace Ratings:  3.8</a:t>
            </a:r>
            <a:endParaRPr b="0" lang="en-IN" sz="1000" strike="noStrike" u="none">
              <a:solidFill>
                <a:srgbClr val="000000"/>
              </a:solidFill>
              <a:effectLst/>
              <a:uFillTx/>
              <a:latin typeface="Arial"/>
            </a:endParaRPr>
          </a:p>
        </p:txBody>
      </p:sp>
      <p:sp>
        <p:nvSpPr>
          <p:cNvPr id="183" name=""/>
          <p:cNvSpPr/>
          <p:nvPr/>
        </p:nvSpPr>
        <p:spPr>
          <a:xfrm>
            <a:off x="5867280" y="946080"/>
            <a:ext cx="3181320" cy="247428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More than a quarter of our employees feel that they seldom or never receive recognition for a job well done.  Agency average is below state average.</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Our agency regularly posts letters of thanks from  co-workers and external customers.  We are developing a recognition program that will incorporate individual thanks.  The program is to be in place by the end of November. </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184" name=""/>
          <p:cNvSpPr/>
          <p:nvPr/>
        </p:nvSpPr>
        <p:spPr>
          <a:xfrm>
            <a:off x="1752480" y="6523200"/>
            <a:ext cx="281952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October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2006 DOP Employee Survey</a:t>
            </a:r>
            <a:endParaRPr b="0" lang="en-IN" sz="1000" strike="noStrike" u="none">
              <a:solidFill>
                <a:srgbClr val="000000"/>
              </a:solidFill>
              <a:effectLst/>
              <a:uFillTx/>
              <a:latin typeface="Arial"/>
            </a:endParaRPr>
          </a:p>
        </p:txBody>
      </p:sp>
      <p:sp>
        <p:nvSpPr>
          <p:cNvPr id="185" name=""/>
          <p:cNvSpPr/>
          <p:nvPr/>
        </p:nvSpPr>
        <p:spPr>
          <a:xfrm>
            <a:off x="0" y="0"/>
            <a:ext cx="1676520" cy="6935040"/>
          </a:xfrm>
          <a:prstGeom prst="rect">
            <a:avLst/>
          </a:prstGeom>
          <a:solidFill>
            <a:srgbClr val="000066"/>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Deploy Workforce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Staff know job expectations, how they’re doing, &amp; are supported. Workplace is safe, gives capacity to perform, &amp; fosters productive relations. Employee time and talent is used effectively. Employees are motivated.</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 </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Percent employees with current performance expectations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Employee survey ratings on “productive workplace” questions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Overtime usage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Sick leave usage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Non-disciplinary grievances/appeals filed and disposition (outcomes)</a:t>
            </a:r>
            <a:endParaRPr b="0" lang="en-IN" sz="1000" strike="noStrike" u="none">
              <a:solidFill>
                <a:srgbClr val="000000"/>
              </a:solidFill>
              <a:effectLst/>
              <a:uFillTx/>
              <a:latin typeface="Arial"/>
            </a:endParaRPr>
          </a:p>
          <a:p>
            <a:pPr>
              <a:spcBef>
                <a:spcPts val="56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Worker safety</a:t>
            </a:r>
            <a:br>
              <a:rPr sz="1000"/>
            </a:br>
            <a:br>
              <a:rPr sz="1000"/>
            </a:br>
            <a:br>
              <a:rPr sz="900"/>
            </a:br>
            <a:endParaRPr b="0" lang="en-IN" sz="10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186" name=""/>
          <p:cNvGraphicFramePr/>
          <p:nvPr/>
        </p:nvGraphicFramePr>
        <p:xfrm>
          <a:off x="5676840" y="609480"/>
          <a:ext cx="3353040" cy="2590920"/>
        </p:xfrm>
        <a:graphic>
          <a:graphicData uri="http://schemas.openxmlformats.org/presentationml/2006/ole">
            <p:oleObj r:id="rId1" spid="">
              <p:embed/>
              <p:pic>
                <p:nvPicPr>
                  <p:cNvPr id="187" name="" descr=""/>
                  <p:cNvPicPr/>
                  <p:nvPr/>
                </p:nvPicPr>
                <p:blipFill>
                  <a:blip r:embed="rId2"/>
                  <a:stretch/>
                </p:blipFill>
                <p:spPr>
                  <a:xfrm>
                    <a:off x="5676840" y="609480"/>
                    <a:ext cx="3353040" cy="2590920"/>
                  </a:xfrm>
                  <a:prstGeom prst="rect">
                    <a:avLst/>
                  </a:prstGeom>
                  <a:noFill/>
                  <a:ln w="0">
                    <a:noFill/>
                  </a:ln>
                </p:spPr>
              </p:pic>
            </p:oleObj>
          </a:graphicData>
        </a:graphic>
      </p:graphicFrame>
      <p:sp>
        <p:nvSpPr>
          <p:cNvPr id="188" name=""/>
          <p:cNvSpPr/>
          <p:nvPr/>
        </p:nvSpPr>
        <p:spPr>
          <a:xfrm>
            <a:off x="5486400" y="3683160"/>
            <a:ext cx="3530520" cy="270036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Average Overtime per capita is generally less than the state.  There will be peaks that do not match the state based on being a production facility.  The majority of overtime is earned by our production employees.  Our production employees represent over 50% of our staff.  This also accounts for the % of employees receiving overtime.</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Overtime Cost for the agency will fluctuate based on business needs.  One such pattern of high overtime is during the end of the fiscal year as a high volume of jobs are ordered by our customers. </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We regularly monitor overtime and the ability to meet the needs of our customers.</a:t>
            </a:r>
            <a:endParaRPr b="0" lang="en-IN" sz="1000" strike="noStrike" u="none">
              <a:solidFill>
                <a:srgbClr val="000000"/>
              </a:solidFill>
              <a:effectLst/>
              <a:uFillTx/>
              <a:latin typeface="Arial"/>
            </a:endParaRPr>
          </a:p>
        </p:txBody>
      </p:sp>
      <p:sp>
        <p:nvSpPr>
          <p:cNvPr id="189" name=""/>
          <p:cNvSpPr/>
          <p:nvPr/>
        </p:nvSpPr>
        <p:spPr>
          <a:xfrm>
            <a:off x="5867280" y="6523200"/>
            <a:ext cx="251460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October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DOP Business Warehouse</a:t>
            </a:r>
            <a:endParaRPr b="0" lang="en-IN" sz="1000" strike="noStrike" u="none">
              <a:solidFill>
                <a:srgbClr val="000000"/>
              </a:solidFill>
              <a:effectLst/>
              <a:uFillTx/>
              <a:latin typeface="Arial"/>
            </a:endParaRPr>
          </a:p>
        </p:txBody>
      </p:sp>
      <p:graphicFrame>
        <p:nvGraphicFramePr>
          <p:cNvPr id="190" name=""/>
          <p:cNvGraphicFramePr/>
          <p:nvPr/>
        </p:nvGraphicFramePr>
        <p:xfrm>
          <a:off x="1879560" y="615960"/>
          <a:ext cx="3352680" cy="2279520"/>
        </p:xfrm>
        <a:graphic>
          <a:graphicData uri="http://schemas.openxmlformats.org/presentationml/2006/ole">
            <p:oleObj r:id="rId3" spid="">
              <p:embed/>
              <p:pic>
                <p:nvPicPr>
                  <p:cNvPr id="191" name="" descr=""/>
                  <p:cNvPicPr/>
                  <p:nvPr/>
                </p:nvPicPr>
                <p:blipFill>
                  <a:blip r:embed="rId4"/>
                  <a:stretch/>
                </p:blipFill>
                <p:spPr>
                  <a:xfrm>
                    <a:off x="1879560" y="615960"/>
                    <a:ext cx="3352680" cy="2279520"/>
                  </a:xfrm>
                  <a:prstGeom prst="rect">
                    <a:avLst/>
                  </a:prstGeom>
                  <a:noFill/>
                  <a:ln w="0">
                    <a:noFill/>
                  </a:ln>
                </p:spPr>
              </p:pic>
            </p:oleObj>
          </a:graphicData>
        </a:graphic>
      </p:graphicFrame>
      <p:graphicFrame>
        <p:nvGraphicFramePr>
          <p:cNvPr id="192" name=""/>
          <p:cNvGraphicFramePr/>
          <p:nvPr/>
        </p:nvGraphicFramePr>
        <p:xfrm>
          <a:off x="1828800" y="3657600"/>
          <a:ext cx="3349800" cy="2098800"/>
        </p:xfrm>
        <a:graphic>
          <a:graphicData uri="http://schemas.openxmlformats.org/presentationml/2006/ole">
            <p:oleObj r:id="rId5" spid="">
              <p:embed/>
              <p:pic>
                <p:nvPicPr>
                  <p:cNvPr id="193" name="" descr=""/>
                  <p:cNvPicPr/>
                  <p:nvPr/>
                </p:nvPicPr>
                <p:blipFill>
                  <a:blip r:embed="rId6"/>
                  <a:stretch/>
                </p:blipFill>
                <p:spPr>
                  <a:xfrm>
                    <a:off x="1828800" y="3657600"/>
                    <a:ext cx="3349800" cy="2098800"/>
                  </a:xfrm>
                  <a:prstGeom prst="rect">
                    <a:avLst/>
                  </a:prstGeom>
                  <a:noFill/>
                  <a:ln w="0">
                    <a:noFill/>
                  </a:ln>
                </p:spPr>
              </p:pic>
            </p:oleObj>
          </a:graphicData>
        </a:graphic>
      </p:graphicFrame>
      <p:sp>
        <p:nvSpPr>
          <p:cNvPr id="194" name=""/>
          <p:cNvSpPr/>
          <p:nvPr/>
        </p:nvSpPr>
        <p:spPr>
          <a:xfrm>
            <a:off x="5638680" y="609480"/>
            <a:ext cx="3353040" cy="2667240"/>
          </a:xfrm>
          <a:prstGeom prst="rect">
            <a:avLst/>
          </a:prstGeom>
          <a:noFill/>
          <a:ln w="28440">
            <a:solidFill>
              <a:srgbClr val="000066"/>
            </a:solidFill>
            <a:miter/>
          </a:ln>
        </p:spPr>
        <p:style>
          <a:lnRef idx="0"/>
          <a:fillRef idx="0"/>
          <a:effectRef idx="0"/>
          <a:fontRef idx="minor"/>
        </p:style>
        <p:txBody>
          <a:bodyPr lIns="90000" rIns="90000" tIns="46800" bIns="46800" anchor="t">
            <a:spAutoFit/>
          </a:bodyPr>
          <a:p>
            <a:endParaRPr b="0" lang="en-IN" sz="1800" strike="noStrike" u="none">
              <a:solidFill>
                <a:srgbClr val="000000"/>
              </a:solidFill>
              <a:effectLst/>
              <a:uFillTx/>
              <a:latin typeface="Arial"/>
            </a:endParaRPr>
          </a:p>
        </p:txBody>
      </p:sp>
      <p:sp>
        <p:nvSpPr>
          <p:cNvPr id="195" name=""/>
          <p:cNvSpPr/>
          <p:nvPr/>
        </p:nvSpPr>
        <p:spPr>
          <a:xfrm>
            <a:off x="1828800" y="3657600"/>
            <a:ext cx="3505320" cy="2438280"/>
          </a:xfrm>
          <a:prstGeom prst="rect">
            <a:avLst/>
          </a:prstGeom>
          <a:noFill/>
          <a:ln w="28440">
            <a:solidFill>
              <a:srgbClr val="000066"/>
            </a:solidFill>
            <a:miter/>
          </a:ln>
        </p:spPr>
        <p:style>
          <a:lnRef idx="0"/>
          <a:fillRef idx="0"/>
          <a:effectRef idx="0"/>
          <a:fontRef idx="minor"/>
        </p:style>
        <p:txBody>
          <a:bodyPr lIns="90000" rIns="90000" tIns="46800" bIns="46800" anchor="t">
            <a:spAutoFit/>
          </a:bodyPr>
          <a:p>
            <a:endParaRPr b="0" lang="en-IN" sz="1800" strike="noStrike" u="none">
              <a:solidFill>
                <a:srgbClr val="000000"/>
              </a:solidFill>
              <a:effectLst/>
              <a:uFillTx/>
              <a:latin typeface="Arial"/>
            </a:endParaRPr>
          </a:p>
        </p:txBody>
      </p:sp>
      <p:sp>
        <p:nvSpPr>
          <p:cNvPr id="196" name=""/>
          <p:cNvSpPr/>
          <p:nvPr/>
        </p:nvSpPr>
        <p:spPr>
          <a:xfrm>
            <a:off x="1828800" y="609480"/>
            <a:ext cx="3505320" cy="2514600"/>
          </a:xfrm>
          <a:prstGeom prst="rect">
            <a:avLst/>
          </a:prstGeom>
          <a:noFill/>
          <a:ln w="28440">
            <a:solidFill>
              <a:srgbClr val="000066"/>
            </a:solidFill>
            <a:miter/>
          </a:ln>
        </p:spPr>
        <p:style>
          <a:lnRef idx="0"/>
          <a:fillRef idx="0"/>
          <a:effectRef idx="0"/>
          <a:fontRef idx="minor"/>
        </p:style>
        <p:txBody>
          <a:bodyPr lIns="90000" rIns="90000" tIns="46800" bIns="46800" anchor="t">
            <a:spAutoFit/>
          </a:bodyPr>
          <a:p>
            <a:endParaRPr b="0" lang="en-IN" sz="1800" strike="noStrike" u="none">
              <a:solidFill>
                <a:srgbClr val="000000"/>
              </a:solidFill>
              <a:effectLst/>
              <a:uFillTx/>
              <a:latin typeface="Arial"/>
            </a:endParaRPr>
          </a:p>
        </p:txBody>
      </p:sp>
      <p:sp>
        <p:nvSpPr>
          <p:cNvPr id="197" name=""/>
          <p:cNvSpPr/>
          <p:nvPr/>
        </p:nvSpPr>
        <p:spPr>
          <a:xfrm>
            <a:off x="1676520" y="228600"/>
            <a:ext cx="7391160" cy="3074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Overtime Usage</a:t>
            </a:r>
            <a:endParaRPr b="0" lang="en-IN" sz="1400" strike="noStrike" u="none">
              <a:solidFill>
                <a:srgbClr val="000000"/>
              </a:solidFill>
              <a:effectLst/>
              <a:uFillTx/>
              <a:latin typeface="Arial"/>
            </a:endParaRPr>
          </a:p>
        </p:txBody>
      </p:sp>
      <p:sp>
        <p:nvSpPr>
          <p:cNvPr id="198" name=""/>
          <p:cNvSpPr/>
          <p:nvPr/>
        </p:nvSpPr>
        <p:spPr>
          <a:xfrm>
            <a:off x="0" y="0"/>
            <a:ext cx="1676520" cy="6935040"/>
          </a:xfrm>
          <a:prstGeom prst="rect">
            <a:avLst/>
          </a:prstGeom>
          <a:solidFill>
            <a:srgbClr val="000066"/>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Deploy Workforce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Staff know job expectations, how they’re doing, &amp; are supported. Workplace is safe, gives capacity to perform, &amp; fosters productive relations. Employee time and talent is used effectively. Employees are motivated.</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 </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Percent employees with current performance expectations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Employee survey ratings on “productive workplace” questions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Overtime usage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Sick leave usage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Non-disciplinary grievances/appeals filed and disposition (outcomes)</a:t>
            </a:r>
            <a:endParaRPr b="0" lang="en-IN" sz="1000" strike="noStrike" u="none">
              <a:solidFill>
                <a:srgbClr val="000000"/>
              </a:solidFill>
              <a:effectLst/>
              <a:uFillTx/>
              <a:latin typeface="Arial"/>
            </a:endParaRPr>
          </a:p>
          <a:p>
            <a:pPr>
              <a:spcBef>
                <a:spcPts val="56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Worker safety</a:t>
            </a:r>
            <a:br>
              <a:rPr sz="1000"/>
            </a:br>
            <a:br>
              <a:rPr sz="1000"/>
            </a:br>
            <a:br>
              <a:rPr sz="900"/>
            </a:br>
            <a:endParaRPr b="0" lang="en-IN" sz="1000" strike="noStrike" u="none">
              <a:solidFill>
                <a:srgbClr val="000000"/>
              </a:solidFill>
              <a:effectLst/>
              <a:uFillTx/>
              <a:latin typeface="Arial"/>
            </a:endParaRPr>
          </a:p>
        </p:txBody>
      </p:sp>
      <p:sp>
        <p:nvSpPr>
          <p:cNvPr id="199" name=""/>
          <p:cNvSpPr/>
          <p:nvPr/>
        </p:nvSpPr>
        <p:spPr>
          <a:xfrm>
            <a:off x="1828800" y="2857680"/>
            <a:ext cx="34290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Narrow"/>
              </a:rPr>
              <a:t>Overall agency avg overtime usage – per capita, per month: 2.47**</a:t>
            </a:r>
            <a:endParaRPr b="0" lang="en-IN" sz="1000" strike="noStrike" u="none">
              <a:solidFill>
                <a:srgbClr val="000000"/>
              </a:solidFill>
              <a:effectLst/>
              <a:uFillTx/>
              <a:latin typeface="Arial"/>
            </a:endParaRPr>
          </a:p>
        </p:txBody>
      </p:sp>
      <p:sp>
        <p:nvSpPr>
          <p:cNvPr id="200" name=""/>
          <p:cNvSpPr/>
          <p:nvPr/>
        </p:nvSpPr>
        <p:spPr>
          <a:xfrm>
            <a:off x="1816200" y="5816520"/>
            <a:ext cx="360684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Narrow"/>
              </a:rPr>
              <a:t>Overall agency avg employees receiving overtime per month:  35.95%**</a:t>
            </a:r>
            <a:endParaRPr b="0" lang="en-IN" sz="1000" strike="noStrike" u="none">
              <a:solidFill>
                <a:srgbClr val="000000"/>
              </a:solidFill>
              <a:effectLst/>
              <a:uFillTx/>
              <a:latin typeface="Arial"/>
            </a:endParaRPr>
          </a:p>
        </p:txBody>
      </p:sp>
      <p:sp>
        <p:nvSpPr>
          <p:cNvPr id="201" name=""/>
          <p:cNvSpPr/>
          <p:nvPr/>
        </p:nvSpPr>
        <p:spPr>
          <a:xfrm>
            <a:off x="1739880" y="3162240"/>
            <a:ext cx="3429000" cy="44640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Narrow"/>
              </a:rPr>
              <a:t>*Statewide overtime values do not include DNR</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Narrow"/>
              </a:rPr>
              <a:t>**Overall agency avg overtime usage – per capita, per month =  sum of monthly OT averages divided by number of months</a:t>
            </a:r>
            <a:endParaRPr b="0" lang="en-IN" sz="1000" strike="noStrike" u="none">
              <a:solidFill>
                <a:srgbClr val="000000"/>
              </a:solidFill>
              <a:effectLst/>
              <a:uFillTx/>
              <a:latin typeface="Arial"/>
            </a:endParaRPr>
          </a:p>
        </p:txBody>
      </p:sp>
      <p:sp>
        <p:nvSpPr>
          <p:cNvPr id="202" name=""/>
          <p:cNvSpPr/>
          <p:nvPr/>
        </p:nvSpPr>
        <p:spPr>
          <a:xfrm>
            <a:off x="1739880" y="6146640"/>
            <a:ext cx="3352680" cy="44640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Narrow"/>
              </a:rPr>
              <a:t>*Statewide overtime values do not include DNR</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Narrow"/>
              </a:rPr>
              <a:t>**Overall agency avg employees receiving overtime per month = sum of monthly OT percentages divided by number of months</a:t>
            </a:r>
            <a:endParaRPr b="0" lang="en-IN" sz="10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3" name=""/>
          <p:cNvSpPr/>
          <p:nvPr/>
        </p:nvSpPr>
        <p:spPr>
          <a:xfrm>
            <a:off x="1981080" y="6443640"/>
            <a:ext cx="1625760" cy="338040"/>
          </a:xfrm>
          <a:prstGeom prst="rect">
            <a:avLst/>
          </a:prstGeom>
          <a:noFill/>
          <a:ln w="0">
            <a:noFill/>
          </a:ln>
        </p:spPr>
        <p:style>
          <a:lnRef idx="0"/>
          <a:fillRef idx="0"/>
          <a:effectRef idx="0"/>
          <a:fontRef idx="minor"/>
        </p:style>
        <p:txBody>
          <a:bodyPr lIns="90000" rIns="90000" tIns="46800" bIns="46800" anchor="t">
            <a:normAutofit fontScale="85000" lnSpcReduction="9999"/>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04" name=""/>
          <p:cNvSpPr/>
          <p:nvPr/>
        </p:nvSpPr>
        <p:spPr>
          <a:xfrm>
            <a:off x="1965240" y="4734000"/>
            <a:ext cx="1625760" cy="25380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 </a:t>
            </a:r>
            <a:endParaRPr b="0" lang="en-IN" sz="1200" strike="noStrike" u="none">
              <a:solidFill>
                <a:srgbClr val="000000"/>
              </a:solidFill>
              <a:effectLst/>
              <a:uFillTx/>
              <a:latin typeface="Arial"/>
            </a:endParaRPr>
          </a:p>
        </p:txBody>
      </p:sp>
      <p:sp>
        <p:nvSpPr>
          <p:cNvPr id="205" name=""/>
          <p:cNvSpPr/>
          <p:nvPr/>
        </p:nvSpPr>
        <p:spPr>
          <a:xfrm>
            <a:off x="6019920" y="641520"/>
            <a:ext cx="2971800" cy="316404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Sick Leave Hours Used/Earned and Sick Leave Hours Used/Earned (those that took sick leave) are both below state figures.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Average Sick Leave Use Per Capita mirrors the state average except the spike in November and February.</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As an agency, we will continue to work with our management team to monitor leave patterns and, if necessary, start the corrective action process.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When we monitor average sick leave, we are careful to take into consideration the size of our agency as any extended absence can dramatically affect the average short term. </a:t>
            </a:r>
            <a:endParaRPr b="0" lang="en-IN" sz="1000" strike="noStrike" u="none">
              <a:solidFill>
                <a:srgbClr val="000000"/>
              </a:solidFill>
              <a:effectLst/>
              <a:uFillTx/>
              <a:latin typeface="Arial"/>
            </a:endParaRPr>
          </a:p>
        </p:txBody>
      </p:sp>
      <p:graphicFrame>
        <p:nvGraphicFramePr>
          <p:cNvPr id="206" name=""/>
          <p:cNvGraphicFramePr/>
          <p:nvPr/>
        </p:nvGraphicFramePr>
        <p:xfrm>
          <a:off x="1905120" y="609480"/>
          <a:ext cx="3987720" cy="3936960"/>
        </p:xfrm>
        <a:graphic>
          <a:graphicData uri="http://schemas.openxmlformats.org/presentationml/2006/ole">
            <p:oleObj r:id="rId1" spid="">
              <p:embed/>
              <p:pic>
                <p:nvPicPr>
                  <p:cNvPr id="207" name="" descr=""/>
                  <p:cNvPicPr/>
                  <p:nvPr/>
                </p:nvPicPr>
                <p:blipFill>
                  <a:blip r:embed="rId2"/>
                  <a:stretch/>
                </p:blipFill>
                <p:spPr>
                  <a:xfrm>
                    <a:off x="1905120" y="609480"/>
                    <a:ext cx="3987720" cy="3936960"/>
                  </a:xfrm>
                  <a:prstGeom prst="rect">
                    <a:avLst/>
                  </a:prstGeom>
                  <a:noFill/>
                  <a:ln w="0">
                    <a:noFill/>
                  </a:ln>
                </p:spPr>
              </p:pic>
            </p:oleObj>
          </a:graphicData>
        </a:graphic>
      </p:graphicFrame>
      <p:sp>
        <p:nvSpPr>
          <p:cNvPr id="208" name=""/>
          <p:cNvSpPr/>
          <p:nvPr/>
        </p:nvSpPr>
        <p:spPr>
          <a:xfrm>
            <a:off x="1905120" y="609480"/>
            <a:ext cx="3962160" cy="3810240"/>
          </a:xfrm>
          <a:prstGeom prst="rect">
            <a:avLst/>
          </a:prstGeom>
          <a:noFill/>
          <a:ln w="28440">
            <a:solidFill>
              <a:srgbClr val="000066"/>
            </a:solidFill>
            <a:miter/>
          </a:ln>
        </p:spPr>
        <p:style>
          <a:lnRef idx="0"/>
          <a:fillRef idx="0"/>
          <a:effectRef idx="0"/>
          <a:fontRef idx="minor"/>
        </p:style>
        <p:txBody>
          <a:bodyPr lIns="90000" rIns="90000" tIns="46800" bIns="46800" anchor="t">
            <a:spAutoFit/>
          </a:bodyPr>
          <a:p>
            <a:endParaRPr b="0" lang="en-IN" sz="1800" strike="noStrike" u="none">
              <a:solidFill>
                <a:srgbClr val="000000"/>
              </a:solidFill>
              <a:effectLst/>
              <a:uFillTx/>
              <a:latin typeface="Arial"/>
            </a:endParaRPr>
          </a:p>
        </p:txBody>
      </p:sp>
      <p:sp>
        <p:nvSpPr>
          <p:cNvPr id="209" name=""/>
          <p:cNvSpPr/>
          <p:nvPr/>
        </p:nvSpPr>
        <p:spPr>
          <a:xfrm>
            <a:off x="1790640" y="4495680"/>
            <a:ext cx="2895840" cy="24660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Sick Leave Hrs Used / Earned (per capita)</a:t>
            </a:r>
            <a:endParaRPr b="0" lang="en-IN" sz="1000" strike="noStrike" u="none">
              <a:solidFill>
                <a:srgbClr val="000000"/>
              </a:solidFill>
              <a:effectLst/>
              <a:uFillTx/>
              <a:latin typeface="Arial"/>
            </a:endParaRPr>
          </a:p>
        </p:txBody>
      </p:sp>
      <p:sp>
        <p:nvSpPr>
          <p:cNvPr id="210" name=""/>
          <p:cNvSpPr/>
          <p:nvPr/>
        </p:nvSpPr>
        <p:spPr>
          <a:xfrm>
            <a:off x="1803240" y="5372280"/>
            <a:ext cx="3949920" cy="24660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Sick Leave Hrs Used / Earned (those who took SL)</a:t>
            </a:r>
            <a:endParaRPr b="0" lang="en-IN" sz="1000" strike="noStrike" u="none">
              <a:solidFill>
                <a:srgbClr val="000000"/>
              </a:solidFill>
              <a:effectLst/>
              <a:uFillTx/>
              <a:latin typeface="Arial"/>
            </a:endParaRPr>
          </a:p>
        </p:txBody>
      </p:sp>
      <p:sp>
        <p:nvSpPr>
          <p:cNvPr id="211" name=""/>
          <p:cNvSpPr/>
          <p:nvPr/>
        </p:nvSpPr>
        <p:spPr>
          <a:xfrm>
            <a:off x="1803240" y="6197760"/>
            <a:ext cx="4267440" cy="2008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Sick Leave time period = July 2006 through June 2007</a:t>
            </a:r>
            <a:endParaRPr b="0" lang="en-IN" sz="1000" strike="noStrike" u="none">
              <a:solidFill>
                <a:srgbClr val="000000"/>
              </a:solidFill>
              <a:effectLst/>
              <a:uFillTx/>
              <a:latin typeface="Arial"/>
            </a:endParaRPr>
          </a:p>
        </p:txBody>
      </p:sp>
      <p:sp>
        <p:nvSpPr>
          <p:cNvPr id="212" name=""/>
          <p:cNvSpPr/>
          <p:nvPr/>
        </p:nvSpPr>
        <p:spPr>
          <a:xfrm>
            <a:off x="1816200" y="6485040"/>
            <a:ext cx="304776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Statewide data does not include DOL, DOR, L&amp;I, and LCB</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DOP MI HRM Performance And Accountability </a:t>
            </a:r>
            <a:endParaRPr b="0" lang="en-IN" sz="1000" strike="noStrike" u="none">
              <a:solidFill>
                <a:srgbClr val="000000"/>
              </a:solidFill>
              <a:effectLst/>
              <a:uFillTx/>
              <a:latin typeface="Arial"/>
            </a:endParaRPr>
          </a:p>
        </p:txBody>
      </p:sp>
      <p:sp>
        <p:nvSpPr>
          <p:cNvPr id="213" name=""/>
          <p:cNvSpPr/>
          <p:nvPr/>
        </p:nvSpPr>
        <p:spPr>
          <a:xfrm>
            <a:off x="1676520" y="228600"/>
            <a:ext cx="7391160" cy="3074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Sick Leave Usage</a:t>
            </a:r>
            <a:endParaRPr b="0" lang="en-IN" sz="1400" strike="noStrike" u="none">
              <a:solidFill>
                <a:srgbClr val="000000"/>
              </a:solidFill>
              <a:effectLst/>
              <a:uFillTx/>
              <a:latin typeface="Arial"/>
            </a:endParaRPr>
          </a:p>
        </p:txBody>
      </p:sp>
      <p:sp>
        <p:nvSpPr>
          <p:cNvPr id="214" name=""/>
          <p:cNvSpPr/>
          <p:nvPr/>
        </p:nvSpPr>
        <p:spPr>
          <a:xfrm>
            <a:off x="0" y="0"/>
            <a:ext cx="1676520" cy="6973200"/>
          </a:xfrm>
          <a:prstGeom prst="rect">
            <a:avLst/>
          </a:prstGeom>
          <a:solidFill>
            <a:srgbClr val="000066"/>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Deploy Workforce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Staff know job expectations, how they’re doing, &amp; are supported. Workplace is safe, gives capacity to perform, &amp; fosters productive relations. Employee time and talent is used effectively. Employees are motivated.</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 </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Percent employees with current performance expectations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Employee survey ratings on “productive workplace” questions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Overtime usage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Sick leave usage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Non-disciplinary grievances/appeals filed and disposition (outcomes)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Worker safety </a:t>
            </a:r>
            <a:br>
              <a:rPr sz="1000"/>
            </a:br>
            <a:br>
              <a:rPr sz="1000"/>
            </a:br>
            <a:br>
              <a:rPr sz="1000"/>
            </a:br>
            <a:endParaRPr b="0" lang="en-IN" sz="1000" strike="noStrike" u="none">
              <a:solidFill>
                <a:srgbClr val="000000"/>
              </a:solidFill>
              <a:effectLst/>
              <a:uFillTx/>
              <a:latin typeface="Arial"/>
            </a:endParaRPr>
          </a:p>
        </p:txBody>
      </p:sp>
      <p:graphicFrame>
        <p:nvGraphicFramePr>
          <p:cNvPr id="215" name=""/>
          <p:cNvGraphicFramePr/>
          <p:nvPr/>
        </p:nvGraphicFramePr>
        <p:xfrm>
          <a:off x="1905120" y="4724280"/>
          <a:ext cx="2895480" cy="547920"/>
        </p:xfrm>
        <a:graphic>
          <a:graphicData uri="http://schemas.openxmlformats.org/drawingml/2006/table">
            <a:tbl>
              <a:tblPr/>
              <a:tblGrid>
                <a:gridCol w="1447560"/>
                <a:gridCol w="1447920"/>
              </a:tblGrid>
              <a:tr h="337320">
                <a:tc>
                  <a:txBody>
                    <a:bodyPr lIns="90000" rIns="90000" tIns="46800" bIns="46800" anchor="t">
                      <a:noAutofit/>
                    </a:bodyPr>
                    <a:p>
                      <a:pP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Avg Hrs SL Used (per capita) - Agency</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000066"/>
                      </a:solidFill>
                      <a:prstDash val="solid"/>
                    </a:lnR>
                    <a:lnT w="5760">
                      <a:solidFill>
                        <a:srgbClr val="000066"/>
                      </a:solidFill>
                      <a:prstDash val="solid"/>
                    </a:lnT>
                    <a:lnB w="5760">
                      <a:solidFill>
                        <a:srgbClr val="000066"/>
                      </a:solidFill>
                      <a:prstDash val="solid"/>
                    </a:lnB>
                    <a:solidFill>
                      <a:srgbClr val="ffffff"/>
                    </a:solidFill>
                  </a:tcPr>
                </a:tc>
                <a:tc>
                  <a:txBody>
                    <a:bodyPr lIns="90000" rIns="90000" tIns="46800" bIns="46800" anchor="t">
                      <a:noAutofit/>
                    </a:bodyPr>
                    <a:p>
                      <a:pP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 of SL Hrs Earned (per capita) - Agency</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000066"/>
                      </a:solidFill>
                      <a:prstDash val="solid"/>
                    </a:lnR>
                    <a:lnT w="5760">
                      <a:solidFill>
                        <a:srgbClr val="000066"/>
                      </a:solidFill>
                      <a:prstDash val="solid"/>
                    </a:lnT>
                    <a:lnB w="5760">
                      <a:solidFill>
                        <a:srgbClr val="000066"/>
                      </a:solidFill>
                      <a:prstDash val="solid"/>
                    </a:lnB>
                    <a:solidFill>
                      <a:srgbClr val="ffffff"/>
                    </a:solidFill>
                  </a:tcPr>
                </a:tc>
              </a:tr>
              <a:tr h="215640">
                <a:tc>
                  <a:txBody>
                    <a:bodyPr lIns="90000" rIns="90000" tIns="46800" bIns="46800" anchor="t">
                      <a:noAutofit/>
                    </a:bodyPr>
                    <a:p>
                      <a:pPr algn="ct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800" strike="noStrike" u="none">
                          <a:solidFill>
                            <a:srgbClr val="000000"/>
                          </a:solidFill>
                          <a:effectLst/>
                          <a:uFillTx/>
                          <a:latin typeface="Arial"/>
                        </a:rPr>
                        <a:t>5.5 </a:t>
                      </a:r>
                      <a:r>
                        <a:rPr b="0" lang="en-IN" sz="800" strike="noStrike" u="none">
                          <a:solidFill>
                            <a:srgbClr val="000000"/>
                          </a:solidFill>
                          <a:effectLst/>
                          <a:uFillTx/>
                          <a:latin typeface="Arial"/>
                        </a:rPr>
                        <a:t>Hrs</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000066"/>
                      </a:solidFill>
                      <a:prstDash val="solid"/>
                    </a:lnR>
                    <a:lnT w="5760">
                      <a:solidFill>
                        <a:srgbClr val="000066"/>
                      </a:solidFill>
                      <a:prstDash val="solid"/>
                    </a:lnT>
                    <a:lnB w="5760">
                      <a:solidFill>
                        <a:srgbClr val="000066"/>
                      </a:solidFill>
                      <a:prstDash val="solid"/>
                    </a:lnB>
                    <a:solidFill>
                      <a:srgbClr val="ffffff"/>
                    </a:solidFill>
                  </a:tcPr>
                </a:tc>
                <a:tc>
                  <a:txBody>
                    <a:bodyPr lIns="90000" rIns="90000" tIns="46800" bIns="46800" anchor="t">
                      <a:noAutofit/>
                    </a:bodyPr>
                    <a:p>
                      <a:pPr algn="ct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800" strike="noStrike" u="none">
                          <a:solidFill>
                            <a:srgbClr val="000000"/>
                          </a:solidFill>
                          <a:effectLst/>
                          <a:uFillTx/>
                          <a:latin typeface="Arial"/>
                        </a:rPr>
                        <a:t>70.1%</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000066"/>
                      </a:solidFill>
                      <a:prstDash val="solid"/>
                    </a:lnR>
                    <a:lnT w="5760">
                      <a:solidFill>
                        <a:srgbClr val="000066"/>
                      </a:solidFill>
                      <a:prstDash val="solid"/>
                    </a:lnT>
                    <a:lnB w="5760">
                      <a:solidFill>
                        <a:srgbClr val="000066"/>
                      </a:solidFill>
                      <a:prstDash val="solid"/>
                    </a:lnB>
                    <a:solidFill>
                      <a:srgbClr val="ffffff"/>
                    </a:solidFill>
                  </a:tcPr>
                </a:tc>
              </a:tr>
            </a:tbl>
          </a:graphicData>
        </a:graphic>
      </p:graphicFrame>
      <p:graphicFrame>
        <p:nvGraphicFramePr>
          <p:cNvPr id="216" name=""/>
          <p:cNvGraphicFramePr/>
          <p:nvPr/>
        </p:nvGraphicFramePr>
        <p:xfrm>
          <a:off x="4788000" y="4724280"/>
          <a:ext cx="2908080" cy="547920"/>
        </p:xfrm>
        <a:graphic>
          <a:graphicData uri="http://schemas.openxmlformats.org/drawingml/2006/table">
            <a:tbl>
              <a:tblPr/>
              <a:tblGrid>
                <a:gridCol w="1500120"/>
                <a:gridCol w="1407960"/>
              </a:tblGrid>
              <a:tr h="337320">
                <a:tc>
                  <a:txBody>
                    <a:bodyPr lIns="90000" rIns="90000" tIns="46800" bIns="46800" anchor="t">
                      <a:noAutofit/>
                    </a:bodyPr>
                    <a:p>
                      <a:pP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Avg Hrs SL Used (per capita) – Statewide*</a:t>
                      </a:r>
                      <a:endParaRPr b="0" lang="en-IN" sz="800" strike="noStrike" u="none">
                        <a:solidFill>
                          <a:srgbClr val="000000"/>
                        </a:solidFill>
                        <a:effectLst/>
                        <a:uFillTx/>
                        <a:latin typeface="Arial"/>
                      </a:endParaRPr>
                    </a:p>
                  </a:txBody>
                  <a:tcPr anchor="t" marL="90000" marR="90000">
                    <a:lnL w="5760">
                      <a:solidFill>
                        <a:srgbClr val="333399"/>
                      </a:solidFill>
                      <a:prstDash val="solid"/>
                    </a:lnL>
                    <a:lnR w="5760">
                      <a:solidFill>
                        <a:srgbClr val="000066"/>
                      </a:solidFill>
                      <a:prstDash val="solid"/>
                    </a:lnR>
                    <a:lnT w="5760">
                      <a:solidFill>
                        <a:srgbClr val="333399"/>
                      </a:solidFill>
                      <a:prstDash val="solid"/>
                    </a:lnT>
                    <a:lnB w="5760">
                      <a:solidFill>
                        <a:srgbClr val="000066"/>
                      </a:solidFill>
                      <a:prstDash val="solid"/>
                    </a:lnB>
                    <a:solidFill>
                      <a:srgbClr val="dddddd"/>
                    </a:solidFill>
                  </a:tcPr>
                </a:tc>
                <a:tc>
                  <a:txBody>
                    <a:bodyPr lIns="90000" rIns="90000" tIns="46800" bIns="46800" anchor="t">
                      <a:noAutofit/>
                    </a:bodyPr>
                    <a:p>
                      <a:pP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 of SL Hrs Earned (per capita) – Statewide*</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333399"/>
                      </a:solidFill>
                      <a:prstDash val="solid"/>
                    </a:lnR>
                    <a:lnT w="5760">
                      <a:solidFill>
                        <a:srgbClr val="333399"/>
                      </a:solidFill>
                      <a:prstDash val="solid"/>
                    </a:lnT>
                    <a:lnB w="5760">
                      <a:solidFill>
                        <a:srgbClr val="000066"/>
                      </a:solidFill>
                      <a:prstDash val="solid"/>
                    </a:lnB>
                    <a:solidFill>
                      <a:srgbClr val="dddddd"/>
                    </a:solidFill>
                  </a:tcPr>
                </a:tc>
              </a:tr>
              <a:tr h="215640">
                <a:tc>
                  <a:txBody>
                    <a:bodyPr lIns="90000" rIns="90000" tIns="46800" bIns="46800" anchor="t">
                      <a:noAutofit/>
                    </a:bodyPr>
                    <a:p>
                      <a:pPr algn="ct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6.4 Hrs</a:t>
                      </a:r>
                      <a:endParaRPr b="0" lang="en-IN" sz="800" strike="noStrike" u="none">
                        <a:solidFill>
                          <a:srgbClr val="000000"/>
                        </a:solidFill>
                        <a:effectLst/>
                        <a:uFillTx/>
                        <a:latin typeface="Arial"/>
                      </a:endParaRPr>
                    </a:p>
                  </a:txBody>
                  <a:tcPr anchor="t" marL="90000" marR="90000">
                    <a:lnL w="5760">
                      <a:solidFill>
                        <a:srgbClr val="333399"/>
                      </a:solidFill>
                      <a:prstDash val="solid"/>
                    </a:lnL>
                    <a:lnR w="5760">
                      <a:solidFill>
                        <a:srgbClr val="000066"/>
                      </a:solidFill>
                      <a:prstDash val="solid"/>
                    </a:lnR>
                    <a:lnT w="5760">
                      <a:solidFill>
                        <a:srgbClr val="000066"/>
                      </a:solidFill>
                      <a:prstDash val="solid"/>
                    </a:lnT>
                    <a:lnB w="5760">
                      <a:solidFill>
                        <a:srgbClr val="333399"/>
                      </a:solidFill>
                      <a:prstDash val="solid"/>
                    </a:lnB>
                    <a:solidFill>
                      <a:srgbClr val="dddddd"/>
                    </a:solidFill>
                  </a:tcPr>
                </a:tc>
                <a:tc>
                  <a:txBody>
                    <a:bodyPr lIns="90000" rIns="90000" tIns="46800" bIns="46800" anchor="t">
                      <a:noAutofit/>
                    </a:bodyPr>
                    <a:p>
                      <a:pPr algn="ct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82.5%</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333399"/>
                      </a:solidFill>
                      <a:prstDash val="solid"/>
                    </a:lnR>
                    <a:lnT w="5760">
                      <a:solidFill>
                        <a:srgbClr val="000066"/>
                      </a:solidFill>
                      <a:prstDash val="solid"/>
                    </a:lnT>
                    <a:lnB w="5760">
                      <a:solidFill>
                        <a:srgbClr val="333399"/>
                      </a:solidFill>
                      <a:prstDash val="solid"/>
                    </a:lnB>
                    <a:solidFill>
                      <a:srgbClr val="dddddd"/>
                    </a:solidFill>
                  </a:tcPr>
                </a:tc>
              </a:tr>
            </a:tbl>
          </a:graphicData>
        </a:graphic>
      </p:graphicFrame>
      <p:graphicFrame>
        <p:nvGraphicFramePr>
          <p:cNvPr id="217" name=""/>
          <p:cNvGraphicFramePr/>
          <p:nvPr/>
        </p:nvGraphicFramePr>
        <p:xfrm>
          <a:off x="1905120" y="5587920"/>
          <a:ext cx="2895480" cy="547920"/>
        </p:xfrm>
        <a:graphic>
          <a:graphicData uri="http://schemas.openxmlformats.org/drawingml/2006/table">
            <a:tbl>
              <a:tblPr/>
              <a:tblGrid>
                <a:gridCol w="1447560"/>
                <a:gridCol w="1447920"/>
              </a:tblGrid>
              <a:tr h="337320">
                <a:tc>
                  <a:txBody>
                    <a:bodyPr lIns="90000" rIns="90000" tIns="46800" bIns="46800" anchor="t">
                      <a:noAutofit/>
                    </a:bodyPr>
                    <a:p>
                      <a:pP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Avg Hrs SL Used (those who took SL) - Agency</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000066"/>
                      </a:solidFill>
                      <a:prstDash val="solid"/>
                    </a:lnR>
                    <a:lnT w="5760">
                      <a:solidFill>
                        <a:srgbClr val="000066"/>
                      </a:solidFill>
                      <a:prstDash val="solid"/>
                    </a:lnT>
                    <a:lnB w="5760">
                      <a:solidFill>
                        <a:srgbClr val="000066"/>
                      </a:solidFill>
                      <a:prstDash val="solid"/>
                    </a:lnB>
                    <a:solidFill>
                      <a:srgbClr val="ffffff"/>
                    </a:solidFill>
                  </a:tcPr>
                </a:tc>
                <a:tc>
                  <a:txBody>
                    <a:bodyPr lIns="90000" rIns="90000" tIns="46800" bIns="46800" anchor="t">
                      <a:noAutofit/>
                    </a:bodyPr>
                    <a:p>
                      <a:pP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 SL Hrs Earned (those who took SL) - Agency</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000066"/>
                      </a:solidFill>
                      <a:prstDash val="solid"/>
                    </a:lnR>
                    <a:lnT w="5760">
                      <a:solidFill>
                        <a:srgbClr val="000066"/>
                      </a:solidFill>
                      <a:prstDash val="solid"/>
                    </a:lnT>
                    <a:lnB w="5760">
                      <a:solidFill>
                        <a:srgbClr val="000066"/>
                      </a:solidFill>
                      <a:prstDash val="solid"/>
                    </a:lnB>
                    <a:solidFill>
                      <a:srgbClr val="ffffff"/>
                    </a:solidFill>
                  </a:tcPr>
                </a:tc>
              </a:tr>
              <a:tr h="215640">
                <a:tc>
                  <a:txBody>
                    <a:bodyPr lIns="90000" rIns="90000" tIns="46800" bIns="46800" anchor="t">
                      <a:noAutofit/>
                    </a:bodyPr>
                    <a:p>
                      <a:pPr algn="ct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800" strike="noStrike" u="none">
                          <a:solidFill>
                            <a:srgbClr val="000000"/>
                          </a:solidFill>
                          <a:effectLst/>
                          <a:uFillTx/>
                          <a:latin typeface="Arial"/>
                        </a:rPr>
                        <a:t>9.8 </a:t>
                      </a:r>
                      <a:r>
                        <a:rPr b="0" lang="en-IN" sz="800" strike="noStrike" u="none">
                          <a:solidFill>
                            <a:srgbClr val="000000"/>
                          </a:solidFill>
                          <a:effectLst/>
                          <a:uFillTx/>
                          <a:latin typeface="Arial"/>
                        </a:rPr>
                        <a:t>Hrs</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000066"/>
                      </a:solidFill>
                      <a:prstDash val="solid"/>
                    </a:lnR>
                    <a:lnT w="5760">
                      <a:solidFill>
                        <a:srgbClr val="000066"/>
                      </a:solidFill>
                      <a:prstDash val="solid"/>
                    </a:lnT>
                    <a:lnB w="5760">
                      <a:solidFill>
                        <a:srgbClr val="000066"/>
                      </a:solidFill>
                      <a:prstDash val="solid"/>
                    </a:lnB>
                    <a:solidFill>
                      <a:srgbClr val="ffffff"/>
                    </a:solidFill>
                  </a:tcPr>
                </a:tc>
                <a:tc>
                  <a:txBody>
                    <a:bodyPr lIns="90000" rIns="90000" tIns="46800" bIns="46800" anchor="t">
                      <a:noAutofit/>
                    </a:bodyPr>
                    <a:p>
                      <a:pPr algn="ct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800" strike="noStrike" u="none">
                          <a:solidFill>
                            <a:srgbClr val="000000"/>
                          </a:solidFill>
                          <a:effectLst/>
                          <a:uFillTx/>
                          <a:latin typeface="Arial"/>
                        </a:rPr>
                        <a:t>122.4%</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000066"/>
                      </a:solidFill>
                      <a:prstDash val="solid"/>
                    </a:lnR>
                    <a:lnT w="5760">
                      <a:solidFill>
                        <a:srgbClr val="000066"/>
                      </a:solidFill>
                      <a:prstDash val="solid"/>
                    </a:lnT>
                    <a:lnB w="5760">
                      <a:solidFill>
                        <a:srgbClr val="000066"/>
                      </a:solidFill>
                      <a:prstDash val="solid"/>
                    </a:lnB>
                    <a:solidFill>
                      <a:srgbClr val="ffffff"/>
                    </a:solidFill>
                  </a:tcPr>
                </a:tc>
              </a:tr>
            </a:tbl>
          </a:graphicData>
        </a:graphic>
      </p:graphicFrame>
      <p:graphicFrame>
        <p:nvGraphicFramePr>
          <p:cNvPr id="218" name=""/>
          <p:cNvGraphicFramePr/>
          <p:nvPr/>
        </p:nvGraphicFramePr>
        <p:xfrm>
          <a:off x="4788000" y="5587920"/>
          <a:ext cx="2908080" cy="547920"/>
        </p:xfrm>
        <a:graphic>
          <a:graphicData uri="http://schemas.openxmlformats.org/drawingml/2006/table">
            <a:tbl>
              <a:tblPr/>
              <a:tblGrid>
                <a:gridCol w="1495080"/>
                <a:gridCol w="1413000"/>
              </a:tblGrid>
              <a:tr h="337320">
                <a:tc>
                  <a:txBody>
                    <a:bodyPr lIns="90000" rIns="90000" tIns="46800" bIns="46800" anchor="t">
                      <a:noAutofit/>
                    </a:bodyPr>
                    <a:p>
                      <a:pP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Avg Hrs SL Used (those who took SL) – Statewide*</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000066"/>
                      </a:solidFill>
                      <a:prstDash val="solid"/>
                    </a:lnR>
                    <a:lnT w="5760">
                      <a:solidFill>
                        <a:srgbClr val="000066"/>
                      </a:solidFill>
                      <a:prstDash val="solid"/>
                    </a:lnT>
                    <a:lnB w="5760">
                      <a:solidFill>
                        <a:srgbClr val="000066"/>
                      </a:solidFill>
                      <a:prstDash val="solid"/>
                    </a:lnB>
                    <a:solidFill>
                      <a:srgbClr val="dddddd"/>
                    </a:solidFill>
                  </a:tcPr>
                </a:tc>
                <a:tc>
                  <a:txBody>
                    <a:bodyPr lIns="90000" rIns="90000" tIns="46800" bIns="46800" anchor="t">
                      <a:noAutofit/>
                    </a:bodyPr>
                    <a:p>
                      <a:pP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 SL Hrs Earned (those who took SL) – Statewide*</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000066"/>
                      </a:solidFill>
                      <a:prstDash val="solid"/>
                    </a:lnR>
                    <a:lnT w="5760">
                      <a:solidFill>
                        <a:srgbClr val="000066"/>
                      </a:solidFill>
                      <a:prstDash val="solid"/>
                    </a:lnT>
                    <a:lnB w="5760">
                      <a:solidFill>
                        <a:srgbClr val="000066"/>
                      </a:solidFill>
                      <a:prstDash val="solid"/>
                    </a:lnB>
                    <a:solidFill>
                      <a:srgbClr val="dddddd"/>
                    </a:solidFill>
                  </a:tcPr>
                </a:tc>
              </a:tr>
              <a:tr h="215640">
                <a:tc>
                  <a:txBody>
                    <a:bodyPr lIns="90000" rIns="90000" tIns="46800" bIns="46800" anchor="t">
                      <a:noAutofit/>
                    </a:bodyPr>
                    <a:p>
                      <a:pPr algn="ct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11.9 Hrs</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000066"/>
                      </a:solidFill>
                      <a:prstDash val="solid"/>
                    </a:lnR>
                    <a:lnT w="5760">
                      <a:solidFill>
                        <a:srgbClr val="000066"/>
                      </a:solidFill>
                      <a:prstDash val="solid"/>
                    </a:lnT>
                    <a:lnB w="5760">
                      <a:solidFill>
                        <a:srgbClr val="000066"/>
                      </a:solidFill>
                      <a:prstDash val="solid"/>
                    </a:lnB>
                    <a:solidFill>
                      <a:srgbClr val="dddddd"/>
                    </a:solidFill>
                  </a:tcPr>
                </a:tc>
                <a:tc>
                  <a:txBody>
                    <a:bodyPr lIns="90000" rIns="90000" tIns="46800" bIns="46800" anchor="t">
                      <a:noAutofit/>
                    </a:bodyPr>
                    <a:p>
                      <a:pPr algn="ctr">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148.4%</a:t>
                      </a:r>
                      <a:endParaRPr b="0" lang="en-IN" sz="800" strike="noStrike" u="none">
                        <a:solidFill>
                          <a:srgbClr val="000000"/>
                        </a:solidFill>
                        <a:effectLst/>
                        <a:uFillTx/>
                        <a:latin typeface="Arial"/>
                      </a:endParaRPr>
                    </a:p>
                  </a:txBody>
                  <a:tcPr anchor="t" marL="90000" marR="90000">
                    <a:lnL w="5760">
                      <a:solidFill>
                        <a:srgbClr val="000066"/>
                      </a:solidFill>
                      <a:prstDash val="solid"/>
                    </a:lnL>
                    <a:lnR w="5760">
                      <a:solidFill>
                        <a:srgbClr val="000066"/>
                      </a:solidFill>
                      <a:prstDash val="solid"/>
                    </a:lnR>
                    <a:lnT w="5760">
                      <a:solidFill>
                        <a:srgbClr val="000066"/>
                      </a:solidFill>
                      <a:prstDash val="solid"/>
                    </a:lnT>
                    <a:lnB w="5760">
                      <a:solidFill>
                        <a:srgbClr val="000066"/>
                      </a:solidFill>
                      <a:prstDash val="solid"/>
                    </a:lnB>
                    <a:solidFill>
                      <a:srgbClr val="dddddd"/>
                    </a:solidFill>
                  </a:tcPr>
                </a:tc>
              </a:tr>
            </a:tbl>
          </a:graphicData>
        </a:graphic>
      </p:graphicFrame>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19" name=""/>
          <p:cNvGraphicFramePr/>
          <p:nvPr/>
        </p:nvGraphicFramePr>
        <p:xfrm>
          <a:off x="1765440" y="660240"/>
          <a:ext cx="4089240" cy="2463840"/>
        </p:xfrm>
        <a:graphic>
          <a:graphicData uri="http://schemas.openxmlformats.org/presentationml/2006/ole">
            <p:oleObj r:id="rId1" spid="">
              <p:embed/>
              <p:pic>
                <p:nvPicPr>
                  <p:cNvPr id="220" name="" descr=""/>
                  <p:cNvPicPr/>
                  <p:nvPr/>
                </p:nvPicPr>
                <p:blipFill>
                  <a:blip r:embed="rId2"/>
                  <a:stretch/>
                </p:blipFill>
                <p:spPr>
                  <a:xfrm>
                    <a:off x="1765440" y="660240"/>
                    <a:ext cx="4089240" cy="2463840"/>
                  </a:xfrm>
                  <a:prstGeom prst="rect">
                    <a:avLst/>
                  </a:prstGeom>
                  <a:noFill/>
                  <a:ln w="28440">
                    <a:solidFill>
                      <a:srgbClr val="000066"/>
                    </a:solidFill>
                    <a:miter/>
                  </a:ln>
                </p:spPr>
              </p:pic>
            </p:oleObj>
          </a:graphicData>
        </a:graphic>
      </p:graphicFrame>
      <p:graphicFrame>
        <p:nvGraphicFramePr>
          <p:cNvPr id="221" name=""/>
          <p:cNvGraphicFramePr/>
          <p:nvPr/>
        </p:nvGraphicFramePr>
        <p:xfrm>
          <a:off x="6019920" y="520560"/>
          <a:ext cx="3352680" cy="2667240"/>
        </p:xfrm>
        <a:graphic>
          <a:graphicData uri="http://schemas.openxmlformats.org/presentationml/2006/ole">
            <p:oleObj r:id="rId3" spid="">
              <p:embed/>
              <p:pic>
                <p:nvPicPr>
                  <p:cNvPr id="222" name="" descr=""/>
                  <p:cNvPicPr/>
                  <p:nvPr/>
                </p:nvPicPr>
                <p:blipFill>
                  <a:blip r:embed="rId4"/>
                  <a:stretch/>
                </p:blipFill>
                <p:spPr>
                  <a:xfrm>
                    <a:off x="6019920" y="520560"/>
                    <a:ext cx="3352680" cy="2667240"/>
                  </a:xfrm>
                  <a:prstGeom prst="rect">
                    <a:avLst/>
                  </a:prstGeom>
                  <a:noFill/>
                  <a:ln w="0">
                    <a:noFill/>
                  </a:ln>
                </p:spPr>
              </p:pic>
            </p:oleObj>
          </a:graphicData>
        </a:graphic>
      </p:graphicFrame>
      <p:sp>
        <p:nvSpPr>
          <p:cNvPr id="223" name=""/>
          <p:cNvSpPr/>
          <p:nvPr/>
        </p:nvSpPr>
        <p:spPr>
          <a:xfrm>
            <a:off x="1752480" y="291960"/>
            <a:ext cx="7315200" cy="307440"/>
          </a:xfrm>
          <a:prstGeom prst="rect">
            <a:avLst/>
          </a:prstGeom>
          <a:noFill/>
          <a:ln w="0">
            <a:noFill/>
          </a:ln>
        </p:spPr>
        <p:style>
          <a:lnRef idx="0"/>
          <a:fillRef idx="0"/>
          <a:effectRef idx="0"/>
          <a:fontRef idx="minor"/>
        </p:style>
        <p:txBody>
          <a:bodyPr lIns="90000" rIns="90000" tIns="46800" bIns="46800" anchor="t">
            <a:spAutoFit/>
          </a:bodyPr>
          <a:p>
            <a:pPr algn="ct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Non-Disciplinary Grievances </a:t>
            </a:r>
            <a:r>
              <a:rPr b="1" lang="en-IN" sz="1200" strike="noStrike" u="none">
                <a:solidFill>
                  <a:srgbClr val="000000"/>
                </a:solidFill>
                <a:effectLst/>
                <a:uFillTx/>
                <a:latin typeface="Arial"/>
              </a:rPr>
              <a:t>(represented employees)</a:t>
            </a:r>
            <a:endParaRPr b="0" lang="en-IN" sz="1200" strike="noStrike" u="none">
              <a:solidFill>
                <a:srgbClr val="000000"/>
              </a:solidFill>
              <a:effectLst/>
              <a:uFillTx/>
              <a:latin typeface="Arial"/>
            </a:endParaRPr>
          </a:p>
        </p:txBody>
      </p:sp>
      <p:sp>
        <p:nvSpPr>
          <p:cNvPr id="224" name=""/>
          <p:cNvSpPr/>
          <p:nvPr/>
        </p:nvSpPr>
        <p:spPr>
          <a:xfrm>
            <a:off x="1676520" y="3117960"/>
            <a:ext cx="2743200" cy="24660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Total Non-Disciplinary Grievances = 2</a:t>
            </a:r>
            <a:endParaRPr b="0" lang="en-IN" sz="1000" strike="noStrike" u="none">
              <a:solidFill>
                <a:srgbClr val="000000"/>
              </a:solidFill>
              <a:effectLst/>
              <a:uFillTx/>
              <a:latin typeface="Arial"/>
            </a:endParaRPr>
          </a:p>
        </p:txBody>
      </p:sp>
      <p:sp>
        <p:nvSpPr>
          <p:cNvPr id="225" name=""/>
          <p:cNvSpPr/>
          <p:nvPr/>
        </p:nvSpPr>
        <p:spPr>
          <a:xfrm>
            <a:off x="5562720" y="3733920"/>
            <a:ext cx="3429000" cy="201636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Open communication between Management and the Unions representing the production employees of the Department of Printing reduces the need for grievances.</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Department of Printing Management will continue to foster a positive relationship with the Unions.</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226" name=""/>
          <p:cNvSpPr/>
          <p:nvPr/>
        </p:nvSpPr>
        <p:spPr>
          <a:xfrm>
            <a:off x="5410080" y="6523200"/>
            <a:ext cx="190512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October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Agency Tracking</a:t>
            </a:r>
            <a:endParaRPr b="0" lang="en-IN" sz="1000" strike="noStrike" u="none">
              <a:solidFill>
                <a:srgbClr val="000000"/>
              </a:solidFill>
              <a:effectLst/>
              <a:uFillTx/>
              <a:latin typeface="Arial"/>
            </a:endParaRPr>
          </a:p>
        </p:txBody>
      </p:sp>
      <p:sp>
        <p:nvSpPr>
          <p:cNvPr id="227" name=""/>
          <p:cNvSpPr/>
          <p:nvPr/>
        </p:nvSpPr>
        <p:spPr>
          <a:xfrm>
            <a:off x="1752480" y="3733920"/>
            <a:ext cx="3657600" cy="2089800"/>
          </a:xfrm>
          <a:prstGeom prst="rect">
            <a:avLst/>
          </a:prstGeom>
          <a:noFill/>
          <a:ln w="28440">
            <a:solidFill>
              <a:srgbClr val="000066"/>
            </a:solidFill>
            <a:miter/>
          </a:ln>
        </p:spPr>
        <p:style>
          <a:lnRef idx="0"/>
          <a:fillRef idx="0"/>
          <a:effectRef idx="0"/>
          <a:fontRef idx="minor"/>
        </p:style>
        <p:txBody>
          <a:bodyPr lIns="90000" rIns="90000" tIns="46800" bIns="46800" anchor="t">
            <a:spAutoFit/>
          </a:bodyPr>
          <a:p>
            <a:pPr marL="168120" indent="-168120"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Non-Disciplinary Grievance Disposition*</a:t>
            </a:r>
            <a:br>
              <a:rPr sz="1000"/>
            </a:br>
            <a:r>
              <a:rPr b="0" lang="en-IN" sz="1000" strike="noStrike" u="none">
                <a:solidFill>
                  <a:srgbClr val="000000"/>
                </a:solidFill>
                <a:effectLst/>
                <a:uFillTx/>
                <a:latin typeface="Arial"/>
              </a:rPr>
              <a:t>(Outcomes determined during 07/06 through 06/07)</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Agreement made with union concerning the compensation of an employee filling in for a lead.  Clarification in the CBA wording.</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Arbitration scheduled but avoided by a settlement with the employee and agreement with union concerning represented employees moving into non-represented positions.</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228" name=""/>
          <p:cNvSpPr/>
          <p:nvPr/>
        </p:nvSpPr>
        <p:spPr>
          <a:xfrm>
            <a:off x="1828800" y="6080040"/>
            <a:ext cx="3581280" cy="704520"/>
          </a:xfrm>
          <a:prstGeom prst="rect">
            <a:avLst/>
          </a:prstGeom>
          <a:solidFill>
            <a:srgbClr val="ccecff"/>
          </a:solid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There may not be a one-to-one correlation between the number of grievances filed (shown top of page) and the outcomes determined during this time period. The time lag between filing date and when a decision is rendered can cross the time periods indicated.</a:t>
            </a:r>
            <a:endParaRPr b="0" lang="en-IN" sz="1000" strike="noStrike" u="none">
              <a:solidFill>
                <a:srgbClr val="000000"/>
              </a:solidFill>
              <a:effectLst/>
              <a:uFillTx/>
              <a:latin typeface="Arial"/>
            </a:endParaRPr>
          </a:p>
        </p:txBody>
      </p:sp>
      <p:sp>
        <p:nvSpPr>
          <p:cNvPr id="229" name=""/>
          <p:cNvSpPr/>
          <p:nvPr/>
        </p:nvSpPr>
        <p:spPr>
          <a:xfrm>
            <a:off x="0" y="0"/>
            <a:ext cx="1676520" cy="6973200"/>
          </a:xfrm>
          <a:prstGeom prst="rect">
            <a:avLst/>
          </a:prstGeom>
          <a:solidFill>
            <a:srgbClr val="000066"/>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Deploy Workforce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Staff know job expectations, how they’re doing, &amp; are supported. Workplace is safe, gives capacity to perform, &amp; fosters productive relations. Employee time and talent is used effectively. Employees are motivated.</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 </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Percent employees with current performance expectations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Employee survey ratings on “productive workplace” questions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Overtime usage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Sick leave usage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Non-disciplinary grievances/appeals filed and disposition (outcomes)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Worker safety</a:t>
            </a:r>
            <a:br>
              <a:rPr sz="1000"/>
            </a:br>
            <a:br>
              <a:rPr sz="1000"/>
            </a:br>
            <a:endParaRPr b="0" lang="en-IN" sz="10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
          <p:cNvSpPr/>
          <p:nvPr/>
        </p:nvSpPr>
        <p:spPr>
          <a:xfrm>
            <a:off x="1676520" y="279360"/>
            <a:ext cx="7467480" cy="307440"/>
          </a:xfrm>
          <a:prstGeom prst="rect">
            <a:avLst/>
          </a:prstGeom>
          <a:noFill/>
          <a:ln w="0">
            <a:noFill/>
          </a:ln>
        </p:spPr>
        <p:style>
          <a:lnRef idx="0"/>
          <a:fillRef idx="0"/>
          <a:effectRef idx="0"/>
          <a:fontRef idx="minor"/>
        </p:style>
        <p:txBody>
          <a:bodyPr lIns="90000" rIns="90000" tIns="46800" bIns="46800" anchor="t">
            <a:spAutoFit/>
          </a:bodyPr>
          <a:p>
            <a:pPr algn="ct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Non-Disciplinary Appeals </a:t>
            </a:r>
            <a:r>
              <a:rPr b="1" lang="en-IN" sz="1200" strike="noStrike" u="none">
                <a:solidFill>
                  <a:srgbClr val="000000"/>
                </a:solidFill>
                <a:effectLst/>
                <a:uFillTx/>
                <a:latin typeface="Arial"/>
              </a:rPr>
              <a:t>(mostly non-represented employees)</a:t>
            </a:r>
            <a:endParaRPr b="0" lang="en-IN" sz="1200" strike="noStrike" u="none">
              <a:solidFill>
                <a:srgbClr val="000000"/>
              </a:solidFill>
              <a:effectLst/>
              <a:uFillTx/>
              <a:latin typeface="Arial"/>
            </a:endParaRPr>
          </a:p>
        </p:txBody>
      </p:sp>
      <p:graphicFrame>
        <p:nvGraphicFramePr>
          <p:cNvPr id="231" name=""/>
          <p:cNvGraphicFramePr/>
          <p:nvPr/>
        </p:nvGraphicFramePr>
        <p:xfrm>
          <a:off x="1981080" y="3568680"/>
          <a:ext cx="3048120" cy="2863800"/>
        </p:xfrm>
        <a:graphic>
          <a:graphicData uri="http://schemas.openxmlformats.org/presentationml/2006/ole">
            <p:oleObj r:id="rId1" spid="">
              <p:embed/>
              <p:pic>
                <p:nvPicPr>
                  <p:cNvPr id="232" name="" descr=""/>
                  <p:cNvPicPr/>
                  <p:nvPr/>
                </p:nvPicPr>
                <p:blipFill>
                  <a:blip r:embed="rId2"/>
                  <a:stretch/>
                </p:blipFill>
                <p:spPr>
                  <a:xfrm>
                    <a:off x="1981080" y="3568680"/>
                    <a:ext cx="3048120" cy="2863800"/>
                  </a:xfrm>
                  <a:prstGeom prst="rect">
                    <a:avLst/>
                  </a:prstGeom>
                  <a:noFill/>
                  <a:ln w="0">
                    <a:noFill/>
                  </a:ln>
                </p:spPr>
              </p:pic>
            </p:oleObj>
          </a:graphicData>
        </a:graphic>
      </p:graphicFrame>
      <p:graphicFrame>
        <p:nvGraphicFramePr>
          <p:cNvPr id="233" name=""/>
          <p:cNvGraphicFramePr/>
          <p:nvPr/>
        </p:nvGraphicFramePr>
        <p:xfrm>
          <a:off x="5486400" y="3581280"/>
          <a:ext cx="3416400" cy="2857680"/>
        </p:xfrm>
        <a:graphic>
          <a:graphicData uri="http://schemas.openxmlformats.org/presentationml/2006/ole">
            <p:oleObj r:id="rId3" spid="">
              <p:embed/>
              <p:pic>
                <p:nvPicPr>
                  <p:cNvPr id="234" name="" descr=""/>
                  <p:cNvPicPr/>
                  <p:nvPr/>
                </p:nvPicPr>
                <p:blipFill>
                  <a:blip r:embed="rId4"/>
                  <a:stretch/>
                </p:blipFill>
                <p:spPr>
                  <a:xfrm>
                    <a:off x="5486400" y="3581280"/>
                    <a:ext cx="3416400" cy="2857680"/>
                  </a:xfrm>
                  <a:prstGeom prst="rect">
                    <a:avLst/>
                  </a:prstGeom>
                  <a:noFill/>
                  <a:ln w="0">
                    <a:noFill/>
                  </a:ln>
                </p:spPr>
              </p:pic>
            </p:oleObj>
          </a:graphicData>
        </a:graphic>
      </p:graphicFrame>
      <p:sp>
        <p:nvSpPr>
          <p:cNvPr id="235" name=""/>
          <p:cNvSpPr/>
          <p:nvPr/>
        </p:nvSpPr>
        <p:spPr>
          <a:xfrm>
            <a:off x="1676520" y="6523200"/>
            <a:ext cx="1904760" cy="38520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Dept of Personnel</a:t>
            </a:r>
            <a:endParaRPr b="0" lang="en-IN" sz="1000" strike="noStrike" u="none">
              <a:solidFill>
                <a:srgbClr val="000000"/>
              </a:solidFill>
              <a:effectLst/>
              <a:uFillTx/>
              <a:latin typeface="Arial"/>
            </a:endParaRPr>
          </a:p>
        </p:txBody>
      </p:sp>
      <p:sp>
        <p:nvSpPr>
          <p:cNvPr id="236" name=""/>
          <p:cNvSpPr/>
          <p:nvPr/>
        </p:nvSpPr>
        <p:spPr>
          <a:xfrm>
            <a:off x="1828800" y="625320"/>
            <a:ext cx="3276720" cy="2580120"/>
          </a:xfrm>
          <a:prstGeom prst="rect">
            <a:avLst/>
          </a:prstGeom>
          <a:noFill/>
          <a:ln w="28440">
            <a:solidFill>
              <a:srgbClr val="000066"/>
            </a:solidFill>
            <a:miter/>
          </a:ln>
        </p:spPr>
        <p:style>
          <a:lnRef idx="0"/>
          <a:fillRef idx="0"/>
          <a:effectRef idx="0"/>
          <a:fontRef idx="minor"/>
        </p:style>
        <p:txBody>
          <a:bodyPr lIns="90000" rIns="90000" tIns="46800" bIns="46800" anchor="t">
            <a:spAutoFit/>
          </a:bodyPr>
          <a:p>
            <a:pPr algn="ctr">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100" strike="noStrike" u="none">
                <a:solidFill>
                  <a:srgbClr val="000000"/>
                </a:solidFill>
                <a:effectLst/>
                <a:uFillTx/>
                <a:latin typeface="Arial"/>
              </a:rPr>
              <a:t>Filings for DOP Director’s Review</a:t>
            </a:r>
            <a:endParaRPr b="0" lang="en-IN" sz="1100" strike="noStrike" u="none">
              <a:solidFill>
                <a:srgbClr val="000000"/>
              </a:solidFill>
              <a:effectLst/>
              <a:uFillTx/>
              <a:latin typeface="Arial"/>
            </a:endParaRPr>
          </a:p>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Time Period = 07/06 through 06/07</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Job classification</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Rule violation</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Name removal from register</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Rejection of job application</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Remedial action</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0  Total filings</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237" name=""/>
          <p:cNvSpPr/>
          <p:nvPr/>
        </p:nvSpPr>
        <p:spPr>
          <a:xfrm>
            <a:off x="5562720" y="609480"/>
            <a:ext cx="3276360" cy="2580120"/>
          </a:xfrm>
          <a:prstGeom prst="rect">
            <a:avLst/>
          </a:prstGeom>
          <a:noFill/>
          <a:ln w="28440">
            <a:solidFill>
              <a:srgbClr val="000066"/>
            </a:solidFill>
            <a:miter/>
          </a:ln>
        </p:spPr>
        <p:style>
          <a:lnRef idx="0"/>
          <a:fillRef idx="0"/>
          <a:effectRef idx="0"/>
          <a:fontRef idx="minor"/>
        </p:style>
        <p:txBody>
          <a:bodyPr lIns="90000" rIns="90000" tIns="46800" bIns="46800" anchor="t">
            <a:spAutoFit/>
          </a:bodyPr>
          <a:p>
            <a:pPr algn="ctr">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100" strike="noStrike" u="none">
                <a:solidFill>
                  <a:srgbClr val="000000"/>
                </a:solidFill>
                <a:effectLst/>
                <a:uFillTx/>
                <a:latin typeface="Arial"/>
              </a:rPr>
              <a:t>Filings with Personnel Resources Board</a:t>
            </a:r>
            <a:endParaRPr b="0" lang="en-IN" sz="1100" strike="noStrike" u="none">
              <a:solidFill>
                <a:srgbClr val="000000"/>
              </a:solidFill>
              <a:effectLst/>
              <a:uFillTx/>
              <a:latin typeface="Arial"/>
            </a:endParaRPr>
          </a:p>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Time Period = 07/06 through 06/07</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Job classification</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Other exceptions to Director Review</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Layoff</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Disability separation</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Non-disciplinary separation</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0  Total filings</a:t>
            </a:r>
            <a:endParaRPr b="0" lang="en-IN" sz="1000" strike="noStrike" u="none">
              <a:solidFill>
                <a:srgbClr val="000000"/>
              </a:solidFill>
              <a:effectLst/>
              <a:uFillTx/>
              <a:latin typeface="Arial"/>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Non-Disciplinary appeals only are shown above.</a:t>
            </a:r>
            <a:endParaRPr b="0" lang="en-IN" sz="1000" strike="noStrike" u="none">
              <a:solidFill>
                <a:srgbClr val="000000"/>
              </a:solidFill>
              <a:effectLst/>
              <a:uFillTx/>
              <a:latin typeface="Arial"/>
            </a:endParaRPr>
          </a:p>
        </p:txBody>
      </p:sp>
      <p:sp>
        <p:nvSpPr>
          <p:cNvPr id="238" name=""/>
          <p:cNvSpPr/>
          <p:nvPr/>
        </p:nvSpPr>
        <p:spPr>
          <a:xfrm>
            <a:off x="5334120" y="609480"/>
            <a:ext cx="0" cy="6019920"/>
          </a:xfrm>
          <a:prstGeom prst="line">
            <a:avLst/>
          </a:prstGeom>
          <a:ln w="38160">
            <a:solidFill>
              <a:srgbClr val="000066"/>
            </a:solidFill>
            <a:miter/>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239" name=""/>
          <p:cNvSpPr/>
          <p:nvPr/>
        </p:nvSpPr>
        <p:spPr>
          <a:xfrm>
            <a:off x="0" y="0"/>
            <a:ext cx="1676520" cy="6973200"/>
          </a:xfrm>
          <a:prstGeom prst="rect">
            <a:avLst/>
          </a:prstGeom>
          <a:solidFill>
            <a:srgbClr val="000066"/>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Deploy Workforce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Staff know job expectations, how they’re doing, &amp; are supported. Workplace is safe, gives capacity to perform, &amp; fosters productive relations. Employee time and talent is used effectively. Employees are motivated.</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 </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Percent employees with current performance expectations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Employee survey ratings on “productive workplace” questions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Overtime usage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Sick leave usage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Non-disciplinary grievances/appeals filed and disposition (outcomes)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Worker safety</a:t>
            </a:r>
            <a:br>
              <a:rPr sz="1000"/>
            </a:br>
            <a:br>
              <a:rPr sz="1000"/>
            </a:br>
            <a:endParaRPr b="0" lang="en-IN" sz="10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0" name=""/>
          <p:cNvSpPr/>
          <p:nvPr/>
        </p:nvSpPr>
        <p:spPr>
          <a:xfrm>
            <a:off x="0" y="0"/>
            <a:ext cx="1714680" cy="6858000"/>
          </a:xfrm>
          <a:prstGeom prst="rect">
            <a:avLst/>
          </a:prstGeom>
          <a:solidFill>
            <a:srgbClr val="000066"/>
          </a:solidFill>
          <a:ln w="9360">
            <a:solidFill>
              <a:srgbClr val="000000"/>
            </a:solidFill>
            <a:miter/>
          </a:ln>
        </p:spPr>
        <p:style>
          <a:lnRef idx="0"/>
          <a:fillRef idx="0"/>
          <a:effectRef idx="0"/>
          <a:fontRef idx="minor"/>
        </p:style>
        <p:txBody>
          <a:bodyPr lIns="73080" rIns="73080" tIns="36720" bIns="36720" anchor="t">
            <a:no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afa"/>
                </a:solidFill>
                <a:effectLst/>
                <a:uFillTx/>
                <a:latin typeface="Arial Black"/>
              </a:rPr>
              <a:t>Deploy Workforce</a:t>
            </a:r>
            <a:endParaRPr b="0" lang="en-IN" sz="1800" strike="noStrike" u="none">
              <a:solidFill>
                <a:srgbClr val="000000"/>
              </a:solidFill>
              <a:effectLst/>
              <a:uFillTx/>
              <a:latin typeface="Arial"/>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fffafa"/>
                </a:solidFill>
                <a:effectLst/>
                <a:uFillTx/>
                <a:latin typeface="Arial Black"/>
              </a:rPr>
              <a:t>Outcomes</a:t>
            </a:r>
            <a:endParaRPr b="0" lang="en-IN" sz="1000" strike="noStrike" u="none">
              <a:solidFill>
                <a:srgbClr val="000000"/>
              </a:solidFill>
              <a:effectLst/>
              <a:uFillTx/>
              <a:latin typeface="Arial"/>
            </a:endParaRPr>
          </a:p>
          <a:p>
            <a:pPr>
              <a:lnSpc>
                <a:spcPct val="15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fffafa"/>
                </a:solidFill>
                <a:effectLst/>
                <a:uFillTx/>
                <a:latin typeface="Arial"/>
              </a:rPr>
              <a:t>Staff know job expectations, how they’re doing, &amp; are supported. Workplace is safe, gives capacity to perform, &amp; fosters productive relations. Employee time and talent is used effectively. Employees are motivated.</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fffafa"/>
                </a:solidFill>
                <a:effectLst/>
                <a:uFillTx/>
                <a:latin typeface="Arial Black"/>
              </a:rPr>
              <a:t>Performance Measures</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fffafa"/>
                </a:solidFill>
                <a:effectLst/>
                <a:uFillTx/>
                <a:latin typeface="Arial"/>
              </a:rPr>
              <a:t>Percent employees with current performance expectations</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fffafa"/>
                </a:solidFill>
                <a:effectLst/>
                <a:uFillTx/>
                <a:latin typeface="Arial"/>
              </a:rPr>
              <a:t>Employee survey ratings on 'productive workplace' questions</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fffafa"/>
                </a:solidFill>
                <a:effectLst/>
                <a:uFillTx/>
                <a:latin typeface="Arial"/>
              </a:rPr>
              <a:t>Overtime usage </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fffafa"/>
                </a:solidFill>
                <a:effectLst/>
                <a:uFillTx/>
                <a:latin typeface="Arial"/>
              </a:rPr>
              <a:t>Sick leave usage</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fffafa"/>
                </a:solidFill>
                <a:effectLst/>
                <a:uFillTx/>
                <a:latin typeface="Arial"/>
              </a:rPr>
              <a:t>Non-disciplinary grievances/appeals filed and disposition outcomes</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00"/>
                </a:solidFill>
                <a:effectLst/>
                <a:uFillTx/>
                <a:latin typeface="Arial"/>
              </a:rPr>
              <a:t>Worker Safety</a:t>
            </a:r>
            <a:endParaRPr b="0" lang="en-IN" sz="1000" strike="noStrike" u="none">
              <a:solidFill>
                <a:srgbClr val="000000"/>
              </a:solidFill>
              <a:effectLst/>
              <a:uFillTx/>
              <a:latin typeface="Arial"/>
            </a:endParaRPr>
          </a:p>
        </p:txBody>
      </p:sp>
      <p:sp>
        <p:nvSpPr>
          <p:cNvPr id="241" name=""/>
          <p:cNvSpPr/>
          <p:nvPr/>
        </p:nvSpPr>
        <p:spPr>
          <a:xfrm>
            <a:off x="5524560" y="380880"/>
            <a:ext cx="2539800" cy="1650960"/>
          </a:xfrm>
          <a:prstGeom prst="rect">
            <a:avLst/>
          </a:prstGeom>
          <a:noFill/>
          <a:ln w="0">
            <a:noFill/>
          </a:ln>
        </p:spPr>
        <p:style>
          <a:lnRef idx="0"/>
          <a:fillRef idx="0"/>
          <a:effectRef idx="0"/>
          <a:fontRef idx="minor"/>
        </p:style>
        <p:txBody>
          <a:bodyPr lIns="90000" rIns="90000" tIns="46800" bIns="46800" anchor="t">
            <a:no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Plan:</a:t>
            </a:r>
            <a:endParaRPr b="0" lang="en-IN" sz="1000" strike="noStrike" u="none">
              <a:solidFill>
                <a:srgbClr val="000000"/>
              </a:solidFill>
              <a:effectLst/>
              <a:uFillTx/>
              <a:latin typeface="Arial"/>
            </a:endParaRPr>
          </a:p>
          <a:p>
            <a:pPr>
              <a:spcBef>
                <a:spcPts val="624"/>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 The agency will continue to focus on reducing the overall number of injuries through safety awareness, initial safety training for new hires, and continued training for existing employees.</a:t>
            </a:r>
            <a:endParaRPr b="0" lang="en-IN" sz="1000" strike="noStrike" u="none">
              <a:solidFill>
                <a:srgbClr val="000000"/>
              </a:solidFill>
              <a:effectLst/>
              <a:uFillTx/>
              <a:latin typeface="Arial"/>
            </a:endParaRPr>
          </a:p>
          <a:p>
            <a:pPr>
              <a:spcBef>
                <a:spcPts val="624"/>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 Utilize safety committee communication to increase overall awareness.</a:t>
            </a:r>
            <a:endParaRPr b="0" lang="en-IN" sz="1000" strike="noStrike" u="none">
              <a:solidFill>
                <a:srgbClr val="000000"/>
              </a:solidFill>
              <a:effectLst/>
              <a:uFillTx/>
              <a:latin typeface="Arial"/>
            </a:endParaRPr>
          </a:p>
          <a:p>
            <a:pPr>
              <a:spcBef>
                <a:spcPts val="624"/>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242" name=""/>
          <p:cNvSpPr/>
          <p:nvPr/>
        </p:nvSpPr>
        <p:spPr>
          <a:xfrm>
            <a:off x="1714680" y="380880"/>
            <a:ext cx="2539800" cy="1650960"/>
          </a:xfrm>
          <a:prstGeom prst="rect">
            <a:avLst/>
          </a:prstGeom>
          <a:noFill/>
          <a:ln w="0">
            <a:noFill/>
          </a:ln>
        </p:spPr>
        <p:style>
          <a:lnRef idx="0"/>
          <a:fillRef idx="0"/>
          <a:effectRef idx="0"/>
          <a:fontRef idx="minor"/>
        </p:style>
        <p:txBody>
          <a:bodyPr lIns="90000" rIns="90000" tIns="46800" bIns="46800" anchor="t">
            <a:no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a:spcBef>
                <a:spcPts val="624"/>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 During the last four quarters, no time loss incidents.</a:t>
            </a:r>
            <a:endParaRPr b="0" lang="en-IN" sz="1000" strike="noStrike" u="none">
              <a:solidFill>
                <a:srgbClr val="000000"/>
              </a:solidFill>
              <a:effectLst/>
              <a:uFillTx/>
              <a:latin typeface="Arial"/>
            </a:endParaRPr>
          </a:p>
          <a:p>
            <a:pPr>
              <a:spcBef>
                <a:spcPts val="624"/>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 The highest level of incidents is in the classification of overexertion. </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243" name=""/>
          <p:cNvSpPr/>
          <p:nvPr/>
        </p:nvSpPr>
        <p:spPr>
          <a:xfrm>
            <a:off x="1778040" y="380880"/>
            <a:ext cx="71118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244" name=""/>
          <p:cNvSpPr/>
          <p:nvPr/>
        </p:nvSpPr>
        <p:spPr>
          <a:xfrm>
            <a:off x="1905120" y="2158920"/>
            <a:ext cx="6730920" cy="0"/>
          </a:xfrm>
          <a:prstGeom prst="line">
            <a:avLst/>
          </a:prstGeom>
          <a:ln w="9360">
            <a:solidFill>
              <a:srgbClr val="c0c0c0"/>
            </a:solidFill>
            <a:miter/>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245" name=""/>
          <p:cNvSpPr/>
          <p:nvPr/>
        </p:nvSpPr>
        <p:spPr>
          <a:xfrm>
            <a:off x="1905120" y="4444920"/>
            <a:ext cx="6730920" cy="0"/>
          </a:xfrm>
          <a:prstGeom prst="line">
            <a:avLst/>
          </a:prstGeom>
          <a:ln w="9360">
            <a:solidFill>
              <a:srgbClr val="c0c0c0"/>
            </a:solidFill>
            <a:miter/>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246" name=""/>
          <p:cNvSpPr/>
          <p:nvPr/>
        </p:nvSpPr>
        <p:spPr>
          <a:xfrm>
            <a:off x="1714680" y="2158920"/>
            <a:ext cx="1015920" cy="635040"/>
          </a:xfrm>
          <a:prstGeom prst="rect">
            <a:avLst/>
          </a:prstGeom>
          <a:noFill/>
          <a:ln w="0">
            <a:noFill/>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Allowed</a:t>
            </a:r>
            <a:r>
              <a:rPr b="1" i="1" lang="en-IN" sz="1000" strike="noStrike" u="none">
                <a:solidFill>
                  <a:srgbClr val="000000"/>
                </a:solidFill>
                <a:effectLst/>
                <a:uFillTx/>
                <a:latin typeface="Arial"/>
              </a:rPr>
              <a:t> Annual</a:t>
            </a:r>
            <a:endParaRPr b="0" lang="en-IN" sz="10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000" strike="noStrike" u="none">
                <a:solidFill>
                  <a:srgbClr val="000000"/>
                </a:solidFill>
                <a:effectLst/>
                <a:uFillTx/>
                <a:latin typeface="Arial"/>
              </a:rPr>
              <a:t>Claims Rate*</a:t>
            </a:r>
            <a:r>
              <a:rPr b="1" lang="en-IN" sz="1000" strike="noStrike" u="none">
                <a:solidFill>
                  <a:srgbClr val="000000"/>
                </a:solidFill>
                <a:effectLst/>
                <a:uFillTx/>
                <a:latin typeface="Arial"/>
              </a:rPr>
              <a:t>^:</a:t>
            </a:r>
            <a:endParaRPr b="0" lang="en-IN" sz="10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Agency vs. All HR</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Management Report</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(HRMR) agencies</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*Annual claims rate</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 is # claims / 100 FTE</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 1 FTE = 2000 hours</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^Due to natural lag</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in claim filing, rates</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are expected to</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increase significantly</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over time</a:t>
            </a:r>
            <a:endParaRPr b="0" lang="en-IN" sz="800" strike="noStrike" u="none">
              <a:solidFill>
                <a:srgbClr val="000000"/>
              </a:solidFill>
              <a:effectLst/>
              <a:uFillTx/>
              <a:latin typeface="Arial"/>
            </a:endParaRPr>
          </a:p>
        </p:txBody>
      </p:sp>
      <p:sp>
        <p:nvSpPr>
          <p:cNvPr id="247" name=""/>
          <p:cNvSpPr/>
          <p:nvPr/>
        </p:nvSpPr>
        <p:spPr>
          <a:xfrm>
            <a:off x="1714680" y="4444920"/>
            <a:ext cx="1269720" cy="635040"/>
          </a:xfrm>
          <a:prstGeom prst="rect">
            <a:avLst/>
          </a:prstGeom>
          <a:noFill/>
          <a:ln w="0">
            <a:noFill/>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Injuries by</a:t>
            </a:r>
            <a:r>
              <a:rPr b="1" i="1" lang="en-IN" sz="1000" strike="noStrike" u="none">
                <a:solidFill>
                  <a:srgbClr val="000000"/>
                </a:solidFill>
                <a:effectLst/>
                <a:uFillTx/>
                <a:latin typeface="Arial"/>
              </a:rPr>
              <a:t> Occupational</a:t>
            </a:r>
            <a:endParaRPr b="0" lang="en-IN" sz="10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000" strike="noStrike" u="none">
                <a:solidFill>
                  <a:srgbClr val="000000"/>
                </a:solidFill>
                <a:effectLst/>
                <a:uFillTx/>
                <a:latin typeface="Arial"/>
              </a:rPr>
              <a:t>Injury and Illness</a:t>
            </a:r>
            <a:endParaRPr b="0" lang="en-IN" sz="10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000" strike="noStrike" u="none">
                <a:solidFill>
                  <a:srgbClr val="000000"/>
                </a:solidFill>
                <a:effectLst/>
                <a:uFillTx/>
                <a:latin typeface="Arial"/>
              </a:rPr>
              <a:t>Classificatio</a:t>
            </a:r>
            <a:r>
              <a:rPr b="1" lang="en-IN" sz="1000" strike="noStrike" u="none">
                <a:solidFill>
                  <a:srgbClr val="000000"/>
                </a:solidFill>
                <a:effectLst/>
                <a:uFillTx/>
                <a:latin typeface="Arial"/>
              </a:rPr>
              <a:t>n (OIICS)</a:t>
            </a:r>
            <a:endParaRPr b="0" lang="en-IN" sz="10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event:</a:t>
            </a:r>
            <a:r>
              <a:rPr b="0" lang="en-IN" sz="800" strike="noStrike" u="none">
                <a:solidFill>
                  <a:srgbClr val="000000"/>
                </a:solidFill>
                <a:effectLst/>
                <a:uFillTx/>
                <a:latin typeface="Arial"/>
              </a:rPr>
              <a:t> </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For fiscal period 2002Q3</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 through 2007Q2</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(categories under 3% or not </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 adequately coded are grouped </a:t>
            </a:r>
            <a:endParaRPr b="0" lang="en-IN" sz="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into 'misc.')</a:t>
            </a:r>
            <a:endParaRPr b="0" lang="en-IN" sz="800" strike="noStrike" u="none">
              <a:solidFill>
                <a:srgbClr val="000000"/>
              </a:solidFill>
              <a:effectLst/>
              <a:uFillTx/>
              <a:latin typeface="Arial"/>
            </a:endParaRPr>
          </a:p>
        </p:txBody>
      </p:sp>
      <p:sp>
        <p:nvSpPr>
          <p:cNvPr id="248" name=""/>
          <p:cNvSpPr/>
          <p:nvPr/>
        </p:nvSpPr>
        <p:spPr>
          <a:xfrm>
            <a:off x="1714680" y="6603840"/>
            <a:ext cx="3809880" cy="254160"/>
          </a:xfrm>
          <a:prstGeom prst="rect">
            <a:avLst/>
          </a:prstGeom>
          <a:noFill/>
          <a:ln w="0">
            <a:noFill/>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Source: Labor &amp; Industries, Research and Data Services (data as of 09/03/2007 )</a:t>
            </a:r>
            <a:endParaRPr b="0" lang="en-IN" sz="800" strike="noStrike" u="none">
              <a:solidFill>
                <a:srgbClr val="000000"/>
              </a:solidFill>
              <a:effectLst/>
              <a:uFillTx/>
              <a:latin typeface="Arial"/>
            </a:endParaRPr>
          </a:p>
        </p:txBody>
      </p:sp>
      <p:sp>
        <p:nvSpPr>
          <p:cNvPr id="249" name=""/>
          <p:cNvSpPr/>
          <p:nvPr/>
        </p:nvSpPr>
        <p:spPr>
          <a:xfrm>
            <a:off x="1714680" y="190440"/>
            <a:ext cx="3809880" cy="190440"/>
          </a:xfrm>
          <a:prstGeom prst="rect">
            <a:avLst/>
          </a:prstGeom>
          <a:no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Worker Safety: Printing, Department of</a:t>
            </a:r>
            <a:endParaRPr b="0" lang="en-IN" sz="1400" strike="noStrike" u="none">
              <a:solidFill>
                <a:srgbClr val="000000"/>
              </a:solidFill>
              <a:effectLst/>
              <a:uFillTx/>
              <a:latin typeface="Arial"/>
            </a:endParaRPr>
          </a:p>
        </p:txBody>
      </p:sp>
      <p:graphicFrame>
        <p:nvGraphicFramePr>
          <p:cNvPr id="250" name=""/>
          <p:cNvGraphicFramePr/>
          <p:nvPr/>
        </p:nvGraphicFramePr>
        <p:xfrm>
          <a:off x="2857680" y="2158920"/>
          <a:ext cx="6032160" cy="2222640"/>
        </p:xfrm>
        <a:graphic>
          <a:graphicData uri="http://schemas.openxmlformats.org/presentationml/2006/ole">
            <p:oleObj r:id="rId1" spid="">
              <p:embed/>
              <p:pic>
                <p:nvPicPr>
                  <p:cNvPr id="251" name="" descr=""/>
                  <p:cNvPicPr/>
                  <p:nvPr/>
                </p:nvPicPr>
                <p:blipFill>
                  <a:blip r:embed="rId2"/>
                  <a:stretch/>
                </p:blipFill>
                <p:spPr>
                  <a:xfrm>
                    <a:off x="2857680" y="2158920"/>
                    <a:ext cx="6032160" cy="2222640"/>
                  </a:xfrm>
                  <a:prstGeom prst="rect">
                    <a:avLst/>
                  </a:prstGeom>
                  <a:noFill/>
                  <a:ln w="0">
                    <a:noFill/>
                  </a:ln>
                </p:spPr>
              </p:pic>
            </p:oleObj>
          </a:graphicData>
        </a:graphic>
      </p:graphicFrame>
      <p:graphicFrame>
        <p:nvGraphicFramePr>
          <p:cNvPr id="252" name=""/>
          <p:cNvGraphicFramePr/>
          <p:nvPr/>
        </p:nvGraphicFramePr>
        <p:xfrm>
          <a:off x="2921040" y="4317840"/>
          <a:ext cx="3809880" cy="2540160"/>
        </p:xfrm>
        <a:graphic>
          <a:graphicData uri="http://schemas.openxmlformats.org/presentationml/2006/ole">
            <p:oleObj r:id="rId3" spid="">
              <p:embed/>
              <p:pic>
                <p:nvPicPr>
                  <p:cNvPr id="253" name="" descr=""/>
                  <p:cNvPicPr/>
                  <p:nvPr/>
                </p:nvPicPr>
                <p:blipFill>
                  <a:blip r:embed="rId4"/>
                  <a:stretch/>
                </p:blipFill>
                <p:spPr>
                  <a:xfrm>
                    <a:off x="2921040" y="4317840"/>
                    <a:ext cx="3809880" cy="2540160"/>
                  </a:xfrm>
                  <a:prstGeom prst="rect">
                    <a:avLst/>
                  </a:prstGeom>
                  <a:noFill/>
                  <a:ln w="0">
                    <a:noFill/>
                  </a:ln>
                </p:spPr>
              </p:pic>
            </p:oleObj>
          </a:graphicData>
        </a:graphic>
      </p:graphicFrame>
      <p:graphicFrame>
        <p:nvGraphicFramePr>
          <p:cNvPr id="254" name=""/>
          <p:cNvGraphicFramePr/>
          <p:nvPr/>
        </p:nvGraphicFramePr>
        <p:xfrm>
          <a:off x="6477120" y="4762440"/>
          <a:ext cx="2412720" cy="1270080"/>
        </p:xfrm>
        <a:graphic>
          <a:graphicData uri="http://schemas.openxmlformats.org/drawingml/2006/table">
            <a:tbl>
              <a:tblPr/>
              <a:tblGrid>
                <a:gridCol w="507960"/>
                <a:gridCol w="1270080"/>
                <a:gridCol w="317520"/>
                <a:gridCol w="317160"/>
              </a:tblGrid>
              <a:tr h="158760">
                <a:tc>
                  <a:txBody>
                    <a:bodyPr lIns="50760" rIns="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600" strike="noStrike" u="none">
                          <a:solidFill>
                            <a:srgbClr val="000000"/>
                          </a:solidFill>
                          <a:effectLst/>
                          <a:uFillTx/>
                          <a:latin typeface="Arial"/>
                        </a:rPr>
                        <a:t>Oiics Code</a:t>
                      </a:r>
                      <a:endParaRPr b="0" lang="en-IN" sz="600" strike="noStrike" u="none">
                        <a:solidFill>
                          <a:srgbClr val="000000"/>
                        </a:solidFill>
                        <a:effectLst/>
                        <a:uFillTx/>
                        <a:latin typeface="Arial"/>
                      </a:endParaRPr>
                    </a:p>
                  </a:txBody>
                  <a:tcPr anchor="ctr" marL="50760">
                    <a:lnL w="13680">
                      <a:solidFill>
                        <a:srgbClr val="c0c0c0"/>
                      </a:solidFill>
                      <a:prstDash val="solid"/>
                    </a:lnL>
                    <a:lnR>
                      <a:noFill/>
                    </a:lnR>
                    <a:lnT w="13680">
                      <a:solidFill>
                        <a:srgbClr val="c0c0c0"/>
                      </a:solidFill>
                      <a:prstDash val="solid"/>
                    </a:lnT>
                    <a:lnB w="5760">
                      <a:solidFill>
                        <a:srgbClr val="c0c0c0"/>
                      </a:solidFill>
                      <a:prstDash val="solid"/>
                    </a:lnB>
                    <a:solidFill>
                      <a:srgbClr val="c0c0c0"/>
                    </a:solidFill>
                  </a:tcPr>
                </a:tc>
                <a:tc>
                  <a:txBody>
                    <a:bodyPr lIns="50760" rIns="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600" strike="noStrike" u="none">
                          <a:solidFill>
                            <a:srgbClr val="000000"/>
                          </a:solidFill>
                          <a:effectLst/>
                          <a:uFillTx/>
                          <a:latin typeface="Arial"/>
                        </a:rPr>
                        <a:t>Oiics Description</a:t>
                      </a:r>
                      <a:endParaRPr b="0" lang="en-IN" sz="600" strike="noStrike" u="none">
                        <a:solidFill>
                          <a:srgbClr val="000000"/>
                        </a:solidFill>
                        <a:effectLst/>
                        <a:uFillTx/>
                        <a:latin typeface="Arial"/>
                      </a:endParaRPr>
                    </a:p>
                  </a:txBody>
                  <a:tcPr anchor="ctr" marL="50760">
                    <a:lnL>
                      <a:noFill/>
                    </a:lnL>
                    <a:lnR>
                      <a:noFill/>
                    </a:lnR>
                    <a:lnT w="13680">
                      <a:solidFill>
                        <a:srgbClr val="c0c0c0"/>
                      </a:solidFill>
                      <a:prstDash val="solid"/>
                    </a:lnT>
                    <a:lnB w="5760">
                      <a:solidFill>
                        <a:srgbClr val="c0c0c0"/>
                      </a:solidFill>
                      <a:prstDash val="solid"/>
                    </a:lnB>
                    <a:solidFill>
                      <a:srgbClr val="c0c0c0"/>
                    </a:solidFill>
                  </a:tcPr>
                </a:tc>
                <a:tc>
                  <a:txBody>
                    <a:bodyPr lIns="360" rIns="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600" strike="noStrike" u="none">
                          <a:solidFill>
                            <a:srgbClr val="000000"/>
                          </a:solidFill>
                          <a:effectLst/>
                          <a:uFillTx/>
                          <a:latin typeface="Arial"/>
                        </a:rPr>
                        <a:t>Percent</a:t>
                      </a:r>
                      <a:endParaRPr b="0" lang="en-IN" sz="600" strike="noStrike" u="none">
                        <a:solidFill>
                          <a:srgbClr val="000000"/>
                        </a:solidFill>
                        <a:effectLst/>
                        <a:uFillTx/>
                        <a:latin typeface="Arial"/>
                      </a:endParaRPr>
                    </a:p>
                  </a:txBody>
                  <a:tcPr anchor="t" marL="360">
                    <a:lnL>
                      <a:noFill/>
                    </a:lnL>
                    <a:lnR>
                      <a:noFill/>
                    </a:lnR>
                    <a:lnT w="13680">
                      <a:solidFill>
                        <a:srgbClr val="c0c0c0"/>
                      </a:solidFill>
                      <a:prstDash val="solid"/>
                    </a:lnT>
                    <a:lnB w="5760">
                      <a:solidFill>
                        <a:srgbClr val="c0c0c0"/>
                      </a:solidFill>
                      <a:prstDash val="solid"/>
                    </a:lnB>
                    <a:solidFill>
                      <a:srgbClr val="c0c0c0"/>
                    </a:solidFill>
                  </a:tcPr>
                </a:tc>
                <a:tc>
                  <a:txBody>
                    <a:bodyPr lIns="360" rIns="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600" strike="noStrike" u="none">
                          <a:solidFill>
                            <a:srgbClr val="000000"/>
                          </a:solidFill>
                          <a:effectLst/>
                          <a:uFillTx/>
                          <a:latin typeface="Arial"/>
                        </a:rPr>
                        <a:t>Number</a:t>
                      </a:r>
                      <a:endParaRPr b="0" lang="en-IN" sz="600" strike="noStrike" u="none">
                        <a:solidFill>
                          <a:srgbClr val="000000"/>
                        </a:solidFill>
                        <a:effectLst/>
                        <a:uFillTx/>
                        <a:latin typeface="Arial"/>
                      </a:endParaRPr>
                    </a:p>
                  </a:txBody>
                  <a:tcPr anchor="t" marL="360">
                    <a:lnL>
                      <a:noFill/>
                    </a:lnL>
                    <a:lnR w="13680">
                      <a:solidFill>
                        <a:srgbClr val="c0c0c0"/>
                      </a:solidFill>
                      <a:prstDash val="solid"/>
                    </a:lnR>
                    <a:lnT w="13680">
                      <a:solidFill>
                        <a:srgbClr val="c0c0c0"/>
                      </a:solidFill>
                      <a:prstDash val="solid"/>
                    </a:lnT>
                    <a:lnB w="5760">
                      <a:solidFill>
                        <a:srgbClr val="c0c0c0"/>
                      </a:solidFill>
                      <a:prstDash val="solid"/>
                    </a:lnB>
                    <a:solidFill>
                      <a:srgbClr val="c0c0c0"/>
                    </a:solidFill>
                  </a:tcPr>
                </a:tc>
              </a:tr>
              <a:tr h="158760">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21</a:t>
                      </a:r>
                      <a:endParaRPr b="0" lang="en-IN" sz="600" strike="noStrike" u="none">
                        <a:solidFill>
                          <a:srgbClr val="000000"/>
                        </a:solidFill>
                        <a:effectLst/>
                        <a:uFillTx/>
                        <a:latin typeface="Arial"/>
                      </a:endParaRPr>
                    </a:p>
                  </a:txBody>
                  <a:tcPr anchor="ctr" marL="50760" marR="90000">
                    <a:lnL w="13680">
                      <a:solidFill>
                        <a:srgbClr val="c0c0c0"/>
                      </a:solidFill>
                      <a:prstDash val="solid"/>
                    </a:lnL>
                    <a:lnR>
                      <a:noFill/>
                    </a:lnR>
                    <a:lnT w="5760">
                      <a:solidFill>
                        <a:srgbClr val="c0c0c0"/>
                      </a:solidFill>
                      <a:prstDash val="solid"/>
                    </a:lnT>
                    <a:lnB w="5760">
                      <a:solidFill>
                        <a:srgbClr val="c0c0c0"/>
                      </a:solidFill>
                      <a:prstDash val="solid"/>
                    </a:lnB>
                    <a:noFill/>
                  </a:tcPr>
                </a:tc>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Bodily Reaction      </a:t>
                      </a:r>
                      <a:endParaRPr b="0" lang="en-IN" sz="600" strike="noStrike" u="none">
                        <a:solidFill>
                          <a:srgbClr val="000000"/>
                        </a:solidFill>
                        <a:effectLst/>
                        <a:uFillTx/>
                        <a:latin typeface="Arial"/>
                      </a:endParaRPr>
                    </a:p>
                  </a:txBody>
                  <a:tcPr anchor="ctr" marL="50760" marR="90000">
                    <a:lnL>
                      <a:noFill/>
                    </a:lnL>
                    <a:lnR>
                      <a:noFill/>
                    </a:lnR>
                    <a:lnT w="5760">
                      <a:solidFill>
                        <a:srgbClr val="c0c0c0"/>
                      </a:solidFill>
                      <a:prstDash val="solid"/>
                    </a:lnT>
                    <a:lnB w="576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9%</a:t>
                      </a:r>
                      <a:endParaRPr b="0" lang="en-IN" sz="600" strike="noStrike" u="none">
                        <a:solidFill>
                          <a:srgbClr val="000000"/>
                        </a:solidFill>
                        <a:effectLst/>
                        <a:uFillTx/>
                        <a:latin typeface="Arial"/>
                      </a:endParaRPr>
                    </a:p>
                  </a:txBody>
                  <a:tcPr anchor="t" marL="360" marR="90000">
                    <a:lnL>
                      <a:noFill/>
                    </a:lnL>
                    <a:lnR>
                      <a:noFill/>
                    </a:lnR>
                    <a:lnT w="5760">
                      <a:solidFill>
                        <a:srgbClr val="c0c0c0"/>
                      </a:solidFill>
                      <a:prstDash val="solid"/>
                    </a:lnT>
                    <a:lnB w="576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5</a:t>
                      </a:r>
                      <a:endParaRPr b="0" lang="en-IN" sz="600" strike="noStrike" u="none">
                        <a:solidFill>
                          <a:srgbClr val="000000"/>
                        </a:solidFill>
                        <a:effectLst/>
                        <a:uFillTx/>
                        <a:latin typeface="Arial"/>
                      </a:endParaRPr>
                    </a:p>
                  </a:txBody>
                  <a:tcPr anchor="t" marL="360" marR="90000">
                    <a:lnL>
                      <a:noFill/>
                    </a:lnL>
                    <a:lnR w="13680">
                      <a:solidFill>
                        <a:srgbClr val="c0c0c0"/>
                      </a:solidFill>
                      <a:prstDash val="solid"/>
                    </a:lnR>
                    <a:lnT w="5760">
                      <a:solidFill>
                        <a:srgbClr val="c0c0c0"/>
                      </a:solidFill>
                      <a:prstDash val="solid"/>
                    </a:lnT>
                    <a:lnB w="5760">
                      <a:solidFill>
                        <a:srgbClr val="c0c0c0"/>
                      </a:solidFill>
                      <a:prstDash val="solid"/>
                    </a:lnB>
                    <a:noFill/>
                  </a:tcPr>
                </a:tc>
              </a:tr>
              <a:tr h="158760">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03</a:t>
                      </a:r>
                      <a:endParaRPr b="0" lang="en-IN" sz="600" strike="noStrike" u="none">
                        <a:solidFill>
                          <a:srgbClr val="000000"/>
                        </a:solidFill>
                        <a:effectLst/>
                        <a:uFillTx/>
                        <a:latin typeface="Arial"/>
                      </a:endParaRPr>
                    </a:p>
                  </a:txBody>
                  <a:tcPr anchor="ctr" marL="50760" marR="90000">
                    <a:lnL w="13680">
                      <a:solidFill>
                        <a:srgbClr val="c0c0c0"/>
                      </a:solidFill>
                      <a:prstDash val="solid"/>
                    </a:lnL>
                    <a:lnR>
                      <a:noFill/>
                    </a:lnR>
                    <a:lnT w="5760">
                      <a:solidFill>
                        <a:srgbClr val="c0c0c0"/>
                      </a:solidFill>
                      <a:prstDash val="solid"/>
                    </a:lnT>
                    <a:lnB w="5760">
                      <a:solidFill>
                        <a:srgbClr val="c0c0c0"/>
                      </a:solidFill>
                      <a:prstDash val="solid"/>
                    </a:lnB>
                    <a:noFill/>
                  </a:tcPr>
                </a:tc>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Caught In Or Compress</a:t>
                      </a:r>
                      <a:endParaRPr b="0" lang="en-IN" sz="600" strike="noStrike" u="none">
                        <a:solidFill>
                          <a:srgbClr val="000000"/>
                        </a:solidFill>
                        <a:effectLst/>
                        <a:uFillTx/>
                        <a:latin typeface="Arial"/>
                      </a:endParaRPr>
                    </a:p>
                  </a:txBody>
                  <a:tcPr anchor="ctr" marL="50760" marR="90000">
                    <a:lnL>
                      <a:noFill/>
                    </a:lnL>
                    <a:lnR>
                      <a:noFill/>
                    </a:lnR>
                    <a:lnT w="5760">
                      <a:solidFill>
                        <a:srgbClr val="c0c0c0"/>
                      </a:solidFill>
                      <a:prstDash val="solid"/>
                    </a:lnT>
                    <a:lnB w="576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7%</a:t>
                      </a:r>
                      <a:endParaRPr b="0" lang="en-IN" sz="600" strike="noStrike" u="none">
                        <a:solidFill>
                          <a:srgbClr val="000000"/>
                        </a:solidFill>
                        <a:effectLst/>
                        <a:uFillTx/>
                        <a:latin typeface="Arial"/>
                      </a:endParaRPr>
                    </a:p>
                  </a:txBody>
                  <a:tcPr anchor="t" marL="360" marR="90000">
                    <a:lnL>
                      <a:noFill/>
                    </a:lnL>
                    <a:lnR>
                      <a:noFill/>
                    </a:lnR>
                    <a:lnT w="5760">
                      <a:solidFill>
                        <a:srgbClr val="c0c0c0"/>
                      </a:solidFill>
                      <a:prstDash val="solid"/>
                    </a:lnT>
                    <a:lnB w="576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4</a:t>
                      </a:r>
                      <a:endParaRPr b="0" lang="en-IN" sz="600" strike="noStrike" u="none">
                        <a:solidFill>
                          <a:srgbClr val="000000"/>
                        </a:solidFill>
                        <a:effectLst/>
                        <a:uFillTx/>
                        <a:latin typeface="Arial"/>
                      </a:endParaRPr>
                    </a:p>
                  </a:txBody>
                  <a:tcPr anchor="t" marL="360" marR="90000">
                    <a:lnL>
                      <a:noFill/>
                    </a:lnL>
                    <a:lnR w="13680">
                      <a:solidFill>
                        <a:srgbClr val="c0c0c0"/>
                      </a:solidFill>
                      <a:prstDash val="solid"/>
                    </a:lnR>
                    <a:lnT w="5760">
                      <a:solidFill>
                        <a:srgbClr val="c0c0c0"/>
                      </a:solidFill>
                      <a:prstDash val="solid"/>
                    </a:lnT>
                    <a:lnB w="5760">
                      <a:solidFill>
                        <a:srgbClr val="c0c0c0"/>
                      </a:solidFill>
                      <a:prstDash val="solid"/>
                    </a:lnB>
                    <a:noFill/>
                  </a:tcPr>
                </a:tc>
              </a:tr>
              <a:tr h="158760">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35</a:t>
                      </a:r>
                      <a:endParaRPr b="0" lang="en-IN" sz="600" strike="noStrike" u="none">
                        <a:solidFill>
                          <a:srgbClr val="000000"/>
                        </a:solidFill>
                        <a:effectLst/>
                        <a:uFillTx/>
                        <a:latin typeface="Arial"/>
                      </a:endParaRPr>
                    </a:p>
                  </a:txBody>
                  <a:tcPr anchor="ctr" marL="50760" marR="90000">
                    <a:lnL w="13680">
                      <a:solidFill>
                        <a:srgbClr val="c0c0c0"/>
                      </a:solidFill>
                      <a:prstDash val="solid"/>
                    </a:lnL>
                    <a:lnR>
                      <a:noFill/>
                    </a:lnR>
                    <a:lnT w="5760">
                      <a:solidFill>
                        <a:srgbClr val="c0c0c0"/>
                      </a:solidFill>
                      <a:prstDash val="solid"/>
                    </a:lnT>
                    <a:lnB w="5760">
                      <a:solidFill>
                        <a:srgbClr val="c0c0c0"/>
                      </a:solidFill>
                      <a:prstDash val="solid"/>
                    </a:lnB>
                    <a:noFill/>
                  </a:tcPr>
                </a:tc>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Exposure To Noise    </a:t>
                      </a:r>
                      <a:endParaRPr b="0" lang="en-IN" sz="600" strike="noStrike" u="none">
                        <a:solidFill>
                          <a:srgbClr val="000000"/>
                        </a:solidFill>
                        <a:effectLst/>
                        <a:uFillTx/>
                        <a:latin typeface="Arial"/>
                      </a:endParaRPr>
                    </a:p>
                  </a:txBody>
                  <a:tcPr anchor="ctr" marL="50760" marR="90000">
                    <a:lnL>
                      <a:noFill/>
                    </a:lnL>
                    <a:lnR>
                      <a:noFill/>
                    </a:lnR>
                    <a:lnT w="5760">
                      <a:solidFill>
                        <a:srgbClr val="c0c0c0"/>
                      </a:solidFill>
                      <a:prstDash val="solid"/>
                    </a:lnT>
                    <a:lnB w="576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6%</a:t>
                      </a:r>
                      <a:endParaRPr b="0" lang="en-IN" sz="600" strike="noStrike" u="none">
                        <a:solidFill>
                          <a:srgbClr val="000000"/>
                        </a:solidFill>
                        <a:effectLst/>
                        <a:uFillTx/>
                        <a:latin typeface="Arial"/>
                      </a:endParaRPr>
                    </a:p>
                  </a:txBody>
                  <a:tcPr anchor="t" marL="360" marR="90000">
                    <a:lnL>
                      <a:noFill/>
                    </a:lnL>
                    <a:lnR>
                      <a:noFill/>
                    </a:lnR>
                    <a:lnT w="5760">
                      <a:solidFill>
                        <a:srgbClr val="c0c0c0"/>
                      </a:solidFill>
                      <a:prstDash val="solid"/>
                    </a:lnT>
                    <a:lnB w="576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3</a:t>
                      </a:r>
                      <a:endParaRPr b="0" lang="en-IN" sz="600" strike="noStrike" u="none">
                        <a:solidFill>
                          <a:srgbClr val="000000"/>
                        </a:solidFill>
                        <a:effectLst/>
                        <a:uFillTx/>
                        <a:latin typeface="Arial"/>
                      </a:endParaRPr>
                    </a:p>
                  </a:txBody>
                  <a:tcPr anchor="t" marL="360" marR="90000">
                    <a:lnL>
                      <a:noFill/>
                    </a:lnL>
                    <a:lnR w="13680">
                      <a:solidFill>
                        <a:srgbClr val="c0c0c0"/>
                      </a:solidFill>
                      <a:prstDash val="solid"/>
                    </a:lnR>
                    <a:lnT w="5760">
                      <a:solidFill>
                        <a:srgbClr val="c0c0c0"/>
                      </a:solidFill>
                      <a:prstDash val="solid"/>
                    </a:lnT>
                    <a:lnB w="5760">
                      <a:solidFill>
                        <a:srgbClr val="c0c0c0"/>
                      </a:solidFill>
                      <a:prstDash val="solid"/>
                    </a:lnB>
                    <a:noFill/>
                  </a:tcPr>
                </a:tc>
              </a:tr>
              <a:tr h="158760">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a:t>
                      </a:r>
                      <a:endParaRPr b="0" lang="en-IN" sz="600" strike="noStrike" u="none">
                        <a:solidFill>
                          <a:srgbClr val="000000"/>
                        </a:solidFill>
                        <a:effectLst/>
                        <a:uFillTx/>
                        <a:latin typeface="Arial"/>
                      </a:endParaRPr>
                    </a:p>
                  </a:txBody>
                  <a:tcPr anchor="ctr" marL="50760" marR="90000">
                    <a:lnL w="13680">
                      <a:solidFill>
                        <a:srgbClr val="c0c0c0"/>
                      </a:solidFill>
                      <a:prstDash val="solid"/>
                    </a:lnL>
                    <a:lnR>
                      <a:noFill/>
                    </a:lnR>
                    <a:lnT w="5760">
                      <a:solidFill>
                        <a:srgbClr val="c0c0c0"/>
                      </a:solidFill>
                      <a:prstDash val="solid"/>
                    </a:lnT>
                    <a:lnB w="5760">
                      <a:solidFill>
                        <a:srgbClr val="c0c0c0"/>
                      </a:solidFill>
                      <a:prstDash val="solid"/>
                    </a:lnB>
                    <a:noFill/>
                  </a:tcPr>
                </a:tc>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600" strike="noStrike" u="none">
                          <a:solidFill>
                            <a:srgbClr val="000000"/>
                          </a:solidFill>
                          <a:effectLst/>
                          <a:uFillTx/>
                          <a:latin typeface="Arial"/>
                        </a:rPr>
                        <a:t>Misc</a:t>
                      </a:r>
                      <a:endParaRPr b="0" lang="en-IN" sz="600" strike="noStrike" u="none">
                        <a:solidFill>
                          <a:srgbClr val="000000"/>
                        </a:solidFill>
                        <a:effectLst/>
                        <a:uFillTx/>
                        <a:latin typeface="Arial"/>
                      </a:endParaRPr>
                    </a:p>
                  </a:txBody>
                  <a:tcPr anchor="ctr" marL="50760" marR="90000">
                    <a:lnL>
                      <a:noFill/>
                    </a:lnL>
                    <a:lnR>
                      <a:noFill/>
                    </a:lnR>
                    <a:lnT w="5760">
                      <a:solidFill>
                        <a:srgbClr val="c0c0c0"/>
                      </a:solidFill>
                      <a:prstDash val="solid"/>
                    </a:lnT>
                    <a:lnB w="576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11%</a:t>
                      </a:r>
                      <a:endParaRPr b="0" lang="en-IN" sz="600" strike="noStrike" u="none">
                        <a:solidFill>
                          <a:srgbClr val="000000"/>
                        </a:solidFill>
                        <a:effectLst/>
                        <a:uFillTx/>
                        <a:latin typeface="Arial"/>
                      </a:endParaRPr>
                    </a:p>
                  </a:txBody>
                  <a:tcPr anchor="t" marL="360" marR="90000">
                    <a:lnL>
                      <a:noFill/>
                    </a:lnL>
                    <a:lnR>
                      <a:noFill/>
                    </a:lnR>
                    <a:lnT w="5760">
                      <a:solidFill>
                        <a:srgbClr val="c0c0c0"/>
                      </a:solidFill>
                      <a:prstDash val="solid"/>
                    </a:lnT>
                    <a:lnB w="576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6</a:t>
                      </a:r>
                      <a:endParaRPr b="0" lang="en-IN" sz="600" strike="noStrike" u="none">
                        <a:solidFill>
                          <a:srgbClr val="000000"/>
                        </a:solidFill>
                        <a:effectLst/>
                        <a:uFillTx/>
                        <a:latin typeface="Arial"/>
                      </a:endParaRPr>
                    </a:p>
                  </a:txBody>
                  <a:tcPr anchor="t" marL="360" marR="90000">
                    <a:lnL>
                      <a:noFill/>
                    </a:lnL>
                    <a:lnR w="13680">
                      <a:solidFill>
                        <a:srgbClr val="c0c0c0"/>
                      </a:solidFill>
                      <a:prstDash val="solid"/>
                    </a:lnR>
                    <a:lnT w="5760">
                      <a:solidFill>
                        <a:srgbClr val="c0c0c0"/>
                      </a:solidFill>
                      <a:prstDash val="solid"/>
                    </a:lnT>
                    <a:lnB w="5760">
                      <a:solidFill>
                        <a:srgbClr val="c0c0c0"/>
                      </a:solidFill>
                      <a:prstDash val="solid"/>
                    </a:lnB>
                    <a:noFill/>
                  </a:tcPr>
                </a:tc>
              </a:tr>
              <a:tr h="158760">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22</a:t>
                      </a:r>
                      <a:endParaRPr b="0" lang="en-IN" sz="600" strike="noStrike" u="none">
                        <a:solidFill>
                          <a:srgbClr val="000000"/>
                        </a:solidFill>
                        <a:effectLst/>
                        <a:uFillTx/>
                        <a:latin typeface="Arial"/>
                      </a:endParaRPr>
                    </a:p>
                  </a:txBody>
                  <a:tcPr anchor="ctr" marL="50760" marR="90000">
                    <a:lnL w="13680">
                      <a:solidFill>
                        <a:srgbClr val="c0c0c0"/>
                      </a:solidFill>
                      <a:prstDash val="solid"/>
                    </a:lnL>
                    <a:lnR>
                      <a:noFill/>
                    </a:lnR>
                    <a:lnT w="5760">
                      <a:solidFill>
                        <a:srgbClr val="c0c0c0"/>
                      </a:solidFill>
                      <a:prstDash val="solid"/>
                    </a:lnT>
                    <a:lnB w="5760">
                      <a:solidFill>
                        <a:srgbClr val="c0c0c0"/>
                      </a:solidFill>
                      <a:prstDash val="solid"/>
                    </a:lnB>
                    <a:noFill/>
                  </a:tcPr>
                </a:tc>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Overexertion         </a:t>
                      </a:r>
                      <a:endParaRPr b="0" lang="en-IN" sz="600" strike="noStrike" u="none">
                        <a:solidFill>
                          <a:srgbClr val="000000"/>
                        </a:solidFill>
                        <a:effectLst/>
                        <a:uFillTx/>
                        <a:latin typeface="Arial"/>
                      </a:endParaRPr>
                    </a:p>
                  </a:txBody>
                  <a:tcPr anchor="ctr" marL="50760" marR="90000">
                    <a:lnL>
                      <a:noFill/>
                    </a:lnL>
                    <a:lnR>
                      <a:noFill/>
                    </a:lnR>
                    <a:lnT w="5760">
                      <a:solidFill>
                        <a:srgbClr val="c0c0c0"/>
                      </a:solidFill>
                      <a:prstDash val="solid"/>
                    </a:lnT>
                    <a:lnB w="576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44%</a:t>
                      </a:r>
                      <a:endParaRPr b="0" lang="en-IN" sz="600" strike="noStrike" u="none">
                        <a:solidFill>
                          <a:srgbClr val="000000"/>
                        </a:solidFill>
                        <a:effectLst/>
                        <a:uFillTx/>
                        <a:latin typeface="Arial"/>
                      </a:endParaRPr>
                    </a:p>
                  </a:txBody>
                  <a:tcPr anchor="t" marL="360" marR="90000">
                    <a:lnL>
                      <a:noFill/>
                    </a:lnL>
                    <a:lnR>
                      <a:noFill/>
                    </a:lnR>
                    <a:lnT w="5760">
                      <a:solidFill>
                        <a:srgbClr val="c0c0c0"/>
                      </a:solidFill>
                      <a:prstDash val="solid"/>
                    </a:lnT>
                    <a:lnB w="576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24</a:t>
                      </a:r>
                      <a:endParaRPr b="0" lang="en-IN" sz="600" strike="noStrike" u="none">
                        <a:solidFill>
                          <a:srgbClr val="000000"/>
                        </a:solidFill>
                        <a:effectLst/>
                        <a:uFillTx/>
                        <a:latin typeface="Arial"/>
                      </a:endParaRPr>
                    </a:p>
                  </a:txBody>
                  <a:tcPr anchor="t" marL="360" marR="90000">
                    <a:lnL>
                      <a:noFill/>
                    </a:lnL>
                    <a:lnR w="13680">
                      <a:solidFill>
                        <a:srgbClr val="c0c0c0"/>
                      </a:solidFill>
                      <a:prstDash val="solid"/>
                    </a:lnR>
                    <a:lnT w="5760">
                      <a:solidFill>
                        <a:srgbClr val="c0c0c0"/>
                      </a:solidFill>
                      <a:prstDash val="solid"/>
                    </a:lnT>
                    <a:lnB w="5760">
                      <a:solidFill>
                        <a:srgbClr val="c0c0c0"/>
                      </a:solidFill>
                      <a:prstDash val="solid"/>
                    </a:lnB>
                    <a:noFill/>
                  </a:tcPr>
                </a:tc>
              </a:tr>
              <a:tr h="158760">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01</a:t>
                      </a:r>
                      <a:endParaRPr b="0" lang="en-IN" sz="600" strike="noStrike" u="none">
                        <a:solidFill>
                          <a:srgbClr val="000000"/>
                        </a:solidFill>
                        <a:effectLst/>
                        <a:uFillTx/>
                        <a:latin typeface="Arial"/>
                      </a:endParaRPr>
                    </a:p>
                  </a:txBody>
                  <a:tcPr anchor="ctr" marL="50760" marR="90000">
                    <a:lnL w="13680">
                      <a:solidFill>
                        <a:srgbClr val="c0c0c0"/>
                      </a:solidFill>
                      <a:prstDash val="solid"/>
                    </a:lnL>
                    <a:lnR>
                      <a:noFill/>
                    </a:lnR>
                    <a:lnT w="5760">
                      <a:solidFill>
                        <a:srgbClr val="c0c0c0"/>
                      </a:solidFill>
                      <a:prstDash val="solid"/>
                    </a:lnT>
                    <a:lnB w="5760">
                      <a:solidFill>
                        <a:srgbClr val="c0c0c0"/>
                      </a:solidFill>
                      <a:prstDash val="solid"/>
                    </a:lnB>
                    <a:noFill/>
                  </a:tcPr>
                </a:tc>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Struck Against Object</a:t>
                      </a:r>
                      <a:endParaRPr b="0" lang="en-IN" sz="600" strike="noStrike" u="none">
                        <a:solidFill>
                          <a:srgbClr val="000000"/>
                        </a:solidFill>
                        <a:effectLst/>
                        <a:uFillTx/>
                        <a:latin typeface="Arial"/>
                      </a:endParaRPr>
                    </a:p>
                  </a:txBody>
                  <a:tcPr anchor="ctr" marL="50760" marR="90000">
                    <a:lnL>
                      <a:noFill/>
                    </a:lnL>
                    <a:lnR>
                      <a:noFill/>
                    </a:lnR>
                    <a:lnT w="5760">
                      <a:solidFill>
                        <a:srgbClr val="c0c0c0"/>
                      </a:solidFill>
                      <a:prstDash val="solid"/>
                    </a:lnT>
                    <a:lnB w="576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11%</a:t>
                      </a:r>
                      <a:endParaRPr b="0" lang="en-IN" sz="600" strike="noStrike" u="none">
                        <a:solidFill>
                          <a:srgbClr val="000000"/>
                        </a:solidFill>
                        <a:effectLst/>
                        <a:uFillTx/>
                        <a:latin typeface="Arial"/>
                      </a:endParaRPr>
                    </a:p>
                  </a:txBody>
                  <a:tcPr anchor="t" marL="360" marR="90000">
                    <a:lnL>
                      <a:noFill/>
                    </a:lnL>
                    <a:lnR>
                      <a:noFill/>
                    </a:lnR>
                    <a:lnT w="5760">
                      <a:solidFill>
                        <a:srgbClr val="c0c0c0"/>
                      </a:solidFill>
                      <a:prstDash val="solid"/>
                    </a:lnT>
                    <a:lnB w="576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6</a:t>
                      </a:r>
                      <a:endParaRPr b="0" lang="en-IN" sz="600" strike="noStrike" u="none">
                        <a:solidFill>
                          <a:srgbClr val="000000"/>
                        </a:solidFill>
                        <a:effectLst/>
                        <a:uFillTx/>
                        <a:latin typeface="Arial"/>
                      </a:endParaRPr>
                    </a:p>
                  </a:txBody>
                  <a:tcPr anchor="t" marL="360" marR="90000">
                    <a:lnL>
                      <a:noFill/>
                    </a:lnL>
                    <a:lnR w="13680">
                      <a:solidFill>
                        <a:srgbClr val="c0c0c0"/>
                      </a:solidFill>
                      <a:prstDash val="solid"/>
                    </a:lnR>
                    <a:lnT w="5760">
                      <a:solidFill>
                        <a:srgbClr val="c0c0c0"/>
                      </a:solidFill>
                      <a:prstDash val="solid"/>
                    </a:lnT>
                    <a:lnB w="5760">
                      <a:solidFill>
                        <a:srgbClr val="c0c0c0"/>
                      </a:solidFill>
                      <a:prstDash val="solid"/>
                    </a:lnB>
                    <a:noFill/>
                  </a:tcPr>
                </a:tc>
              </a:tr>
              <a:tr h="158760">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02</a:t>
                      </a:r>
                      <a:endParaRPr b="0" lang="en-IN" sz="600" strike="noStrike" u="none">
                        <a:solidFill>
                          <a:srgbClr val="000000"/>
                        </a:solidFill>
                        <a:effectLst/>
                        <a:uFillTx/>
                        <a:latin typeface="Arial"/>
                      </a:endParaRPr>
                    </a:p>
                  </a:txBody>
                  <a:tcPr anchor="ctr" marL="50760" marR="90000">
                    <a:lnL w="13680">
                      <a:solidFill>
                        <a:srgbClr val="c0c0c0"/>
                      </a:solidFill>
                      <a:prstDash val="solid"/>
                    </a:lnL>
                    <a:lnR>
                      <a:noFill/>
                    </a:lnR>
                    <a:lnT w="5760">
                      <a:solidFill>
                        <a:srgbClr val="c0c0c0"/>
                      </a:solidFill>
                      <a:prstDash val="solid"/>
                    </a:lnT>
                    <a:lnB w="13680">
                      <a:solidFill>
                        <a:srgbClr val="c0c0c0"/>
                      </a:solidFill>
                      <a:prstDash val="solid"/>
                    </a:lnB>
                    <a:noFill/>
                  </a:tcPr>
                </a:tc>
                <a:tc>
                  <a:txBody>
                    <a:bodyPr lIns="50760" rIns="90000" tIns="46800" bIns="2520" anchor="ctr">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Struck By Object     </a:t>
                      </a:r>
                      <a:endParaRPr b="0" lang="en-IN" sz="600" strike="noStrike" u="none">
                        <a:solidFill>
                          <a:srgbClr val="000000"/>
                        </a:solidFill>
                        <a:effectLst/>
                        <a:uFillTx/>
                        <a:latin typeface="Arial"/>
                      </a:endParaRPr>
                    </a:p>
                  </a:txBody>
                  <a:tcPr anchor="ctr" marL="50760" marR="90000">
                    <a:lnL>
                      <a:noFill/>
                    </a:lnL>
                    <a:lnR>
                      <a:noFill/>
                    </a:lnR>
                    <a:lnT w="5760">
                      <a:solidFill>
                        <a:srgbClr val="c0c0c0"/>
                      </a:solidFill>
                      <a:prstDash val="solid"/>
                    </a:lnT>
                    <a:lnB w="1368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11%</a:t>
                      </a:r>
                      <a:endParaRPr b="0" lang="en-IN" sz="600" strike="noStrike" u="none">
                        <a:solidFill>
                          <a:srgbClr val="000000"/>
                        </a:solidFill>
                        <a:effectLst/>
                        <a:uFillTx/>
                        <a:latin typeface="Arial"/>
                      </a:endParaRPr>
                    </a:p>
                  </a:txBody>
                  <a:tcPr anchor="t" marL="360" marR="90000">
                    <a:lnL>
                      <a:noFill/>
                    </a:lnL>
                    <a:lnR>
                      <a:noFill/>
                    </a:lnR>
                    <a:lnT w="5760">
                      <a:solidFill>
                        <a:srgbClr val="c0c0c0"/>
                      </a:solidFill>
                      <a:prstDash val="solid"/>
                    </a:lnT>
                    <a:lnB w="13680">
                      <a:solidFill>
                        <a:srgbClr val="c0c0c0"/>
                      </a:solidFill>
                      <a:prstDash val="solid"/>
                    </a:lnB>
                    <a:noFill/>
                  </a:tcPr>
                </a:tc>
                <a:tc>
                  <a:txBody>
                    <a:bodyPr lIns="360" rIns="90000" tIns="46800" bIns="2520" anchor="t" anchorCtr="1">
                      <a:noAutofit/>
                    </a:bodyPr>
                    <a:p>
                      <a:pPr>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 strike="noStrike" u="none">
                          <a:solidFill>
                            <a:srgbClr val="000000"/>
                          </a:solidFill>
                          <a:effectLst/>
                          <a:uFillTx/>
                          <a:latin typeface="Arial"/>
                        </a:rPr>
                        <a:t>6</a:t>
                      </a:r>
                      <a:endParaRPr b="0" lang="en-IN" sz="600" strike="noStrike" u="none">
                        <a:solidFill>
                          <a:srgbClr val="000000"/>
                        </a:solidFill>
                        <a:effectLst/>
                        <a:uFillTx/>
                        <a:latin typeface="Arial"/>
                      </a:endParaRPr>
                    </a:p>
                  </a:txBody>
                  <a:tcPr anchor="t" marL="360" marR="90000">
                    <a:lnL>
                      <a:noFill/>
                    </a:lnL>
                    <a:lnR w="13680">
                      <a:solidFill>
                        <a:srgbClr val="c0c0c0"/>
                      </a:solidFill>
                      <a:prstDash val="solid"/>
                    </a:lnR>
                    <a:lnT w="5760">
                      <a:solidFill>
                        <a:srgbClr val="c0c0c0"/>
                      </a:solidFill>
                      <a:prstDash val="solid"/>
                    </a:lnT>
                    <a:lnB w="13680">
                      <a:solidFill>
                        <a:srgbClr val="c0c0c0"/>
                      </a:solidFill>
                      <a:prstDash val="solid"/>
                    </a:lnB>
                    <a:noFill/>
                  </a:tcPr>
                </a:tc>
              </a:tr>
            </a:tbl>
          </a:graphicData>
        </a:graphic>
      </p:graphicFrame>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5" name=""/>
          <p:cNvSpPr/>
          <p:nvPr/>
        </p:nvSpPr>
        <p:spPr>
          <a:xfrm>
            <a:off x="0" y="0"/>
            <a:ext cx="1676520" cy="7010640"/>
          </a:xfrm>
          <a:prstGeom prst="rect">
            <a:avLst/>
          </a:prstGeom>
          <a:solidFill>
            <a:srgbClr val="663300"/>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Develop Workforce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A learning environment is created. Employees are engaged in professional development and seek to learn. Employees have competencies needed for present job and future advancement.</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 </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Percent employees with current individual development plans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Employee survey ratings on “learning &amp; development” questions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Competency gap analysis (TBD)</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br>
              <a:rPr sz="1000"/>
            </a:br>
            <a:endParaRPr b="0" lang="en-IN" sz="1000" strike="noStrike" u="none">
              <a:solidFill>
                <a:srgbClr val="000000"/>
              </a:solidFill>
              <a:effectLst/>
              <a:uFillTx/>
              <a:latin typeface="Arial"/>
            </a:endParaRPr>
          </a:p>
        </p:txBody>
      </p:sp>
      <p:grpSp>
        <p:nvGrpSpPr>
          <p:cNvPr id="256" name=""/>
          <p:cNvGrpSpPr/>
          <p:nvPr/>
        </p:nvGrpSpPr>
        <p:grpSpPr>
          <a:xfrm>
            <a:off x="1739880" y="2666880"/>
            <a:ext cx="4114800" cy="1600200"/>
            <a:chOff x="1739880" y="2666880"/>
            <a:chExt cx="4114800" cy="1600200"/>
          </a:xfrm>
        </p:grpSpPr>
        <p:grpSp>
          <p:nvGrpSpPr>
            <p:cNvPr id="257" name=""/>
            <p:cNvGrpSpPr/>
            <p:nvPr/>
          </p:nvGrpSpPr>
          <p:grpSpPr>
            <a:xfrm>
              <a:off x="1739880" y="2666880"/>
              <a:ext cx="4114800" cy="1600200"/>
              <a:chOff x="1739880" y="2666880"/>
              <a:chExt cx="4114800" cy="1600200"/>
            </a:xfrm>
          </p:grpSpPr>
          <p:sp>
            <p:nvSpPr>
              <p:cNvPr id="258" name=""/>
              <p:cNvSpPr/>
              <p:nvPr/>
            </p:nvSpPr>
            <p:spPr>
              <a:xfrm>
                <a:off x="1739880" y="2666880"/>
                <a:ext cx="4114800" cy="1243800"/>
              </a:xfrm>
              <a:prstGeom prst="rect">
                <a:avLst/>
              </a:prstGeom>
              <a:noFill/>
              <a:ln w="0">
                <a:noFill/>
              </a:ln>
            </p:spPr>
            <p:style>
              <a:lnRef idx="0"/>
              <a:fillRef idx="0"/>
              <a:effectRef idx="0"/>
              <a:fontRef idx="minor"/>
            </p:style>
            <p:txBody>
              <a:bodyPr lIns="90000" rIns="90000" tIns="46800" bIns="46800" anchor="t">
                <a:spAutoFit/>
              </a:bodyPr>
              <a:p>
                <a:pPr>
                  <a:spcAft>
                    <a:spcPts val="1874"/>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a:spcAft>
                    <a:spcPts val="1874"/>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Q5. I have opportunities at work to learn and grow.</a:t>
                </a:r>
                <a:endParaRPr b="0" lang="en-IN" sz="1000" strike="noStrike" u="none">
                  <a:solidFill>
                    <a:srgbClr val="000000"/>
                  </a:solidFill>
                  <a:effectLst/>
                  <a:uFillTx/>
                  <a:latin typeface="Arial"/>
                </a:endParaRPr>
              </a:p>
              <a:p>
                <a:pPr>
                  <a:spcBef>
                    <a:spcPts val="499"/>
                  </a:spcBef>
                  <a:spcAft>
                    <a:spcPts val="1874"/>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Q8. My supervisor gives me ongoing feedback that helps me </a:t>
                </a:r>
                <a:br>
                  <a:rPr sz="1000"/>
                </a:br>
                <a:r>
                  <a:rPr b="0" lang="en-IN" sz="1000" strike="noStrike" u="none">
                    <a:solidFill>
                      <a:srgbClr val="000000"/>
                    </a:solidFill>
                    <a:effectLst/>
                    <a:uFillTx/>
                    <a:latin typeface="Arial"/>
                  </a:rPr>
                  <a:t>       improve my performance.</a:t>
                </a:r>
                <a:endParaRPr b="0" lang="en-IN" sz="1000" strike="noStrike" u="none">
                  <a:solidFill>
                    <a:srgbClr val="000000"/>
                  </a:solidFill>
                  <a:effectLst/>
                  <a:uFillTx/>
                  <a:latin typeface="Arial"/>
                </a:endParaRPr>
              </a:p>
            </p:txBody>
          </p:sp>
          <p:graphicFrame>
            <p:nvGraphicFramePr>
              <p:cNvPr id="259" name=""/>
              <p:cNvGraphicFramePr/>
              <p:nvPr/>
            </p:nvGraphicFramePr>
            <p:xfrm>
              <a:off x="1911240" y="3048120"/>
              <a:ext cx="3506760" cy="649080"/>
            </p:xfrm>
            <a:graphic>
              <a:graphicData uri="http://schemas.openxmlformats.org/presentationml/2006/ole">
                <p:oleObj r:id="rId1" spid="">
                  <p:embed/>
                  <p:pic>
                    <p:nvPicPr>
                      <p:cNvPr id="260" name="" descr=""/>
                      <p:cNvPicPr/>
                      <p:nvPr/>
                    </p:nvPicPr>
                    <p:blipFill>
                      <a:blip r:embed="rId2"/>
                      <a:stretch/>
                    </p:blipFill>
                    <p:spPr>
                      <a:xfrm>
                        <a:off x="1911240" y="3048120"/>
                        <a:ext cx="3506760" cy="649080"/>
                      </a:xfrm>
                      <a:prstGeom prst="rect">
                        <a:avLst/>
                      </a:prstGeom>
                      <a:noFill/>
                      <a:ln w="0">
                        <a:noFill/>
                      </a:ln>
                    </p:spPr>
                  </p:pic>
                </p:oleObj>
              </a:graphicData>
            </a:graphic>
          </p:graphicFrame>
          <p:graphicFrame>
            <p:nvGraphicFramePr>
              <p:cNvPr id="261" name=""/>
              <p:cNvGraphicFramePr/>
              <p:nvPr/>
            </p:nvGraphicFramePr>
            <p:xfrm>
              <a:off x="1905120" y="3657600"/>
              <a:ext cx="3504960" cy="609480"/>
            </p:xfrm>
            <a:graphic>
              <a:graphicData uri="http://schemas.openxmlformats.org/presentationml/2006/ole">
                <p:oleObj r:id="rId3" spid="">
                  <p:embed/>
                  <p:pic>
                    <p:nvPicPr>
                      <p:cNvPr id="262" name="" descr=""/>
                      <p:cNvPicPr/>
                      <p:nvPr/>
                    </p:nvPicPr>
                    <p:blipFill>
                      <a:blip r:embed="rId4"/>
                      <a:stretch/>
                    </p:blipFill>
                    <p:spPr>
                      <a:xfrm>
                        <a:off x="1905120" y="3657600"/>
                        <a:ext cx="3504960" cy="609480"/>
                      </a:xfrm>
                      <a:prstGeom prst="rect">
                        <a:avLst/>
                      </a:prstGeom>
                      <a:noFill/>
                      <a:ln w="0">
                        <a:noFill/>
                      </a:ln>
                    </p:spPr>
                  </p:pic>
                </p:oleObj>
              </a:graphicData>
            </a:graphic>
          </p:graphicFrame>
        </p:grpSp>
        <p:sp>
          <p:nvSpPr>
            <p:cNvPr id="263" name=""/>
            <p:cNvSpPr/>
            <p:nvPr/>
          </p:nvSpPr>
          <p:spPr>
            <a:xfrm>
              <a:off x="5181480" y="320040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3.4</a:t>
              </a:r>
              <a:endParaRPr b="0" lang="en-IN" sz="1000" strike="noStrike" u="none">
                <a:solidFill>
                  <a:srgbClr val="000000"/>
                </a:solidFill>
                <a:effectLst/>
                <a:uFillTx/>
                <a:latin typeface="Arial"/>
              </a:endParaRPr>
            </a:p>
          </p:txBody>
        </p:sp>
        <p:sp>
          <p:nvSpPr>
            <p:cNvPr id="264" name=""/>
            <p:cNvSpPr/>
            <p:nvPr/>
          </p:nvSpPr>
          <p:spPr>
            <a:xfrm>
              <a:off x="5181480" y="384012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3.7</a:t>
              </a:r>
              <a:endParaRPr b="0" lang="en-IN" sz="1000" strike="noStrike" u="none">
                <a:solidFill>
                  <a:srgbClr val="000000"/>
                </a:solidFill>
                <a:effectLst/>
                <a:uFillTx/>
                <a:latin typeface="Arial"/>
              </a:endParaRPr>
            </a:p>
          </p:txBody>
        </p:sp>
        <p:sp>
          <p:nvSpPr>
            <p:cNvPr id="265" name=""/>
            <p:cNvSpPr/>
            <p:nvPr/>
          </p:nvSpPr>
          <p:spPr>
            <a:xfrm>
              <a:off x="5181480" y="295596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sng">
                  <a:solidFill>
                    <a:srgbClr val="000000"/>
                  </a:solidFill>
                  <a:effectLst/>
                  <a:uFillTx/>
                  <a:latin typeface="Arial"/>
                </a:rPr>
                <a:t>Avg</a:t>
              </a:r>
              <a:endParaRPr b="0" lang="en-IN" sz="1000" strike="noStrike" u="none">
                <a:solidFill>
                  <a:srgbClr val="000000"/>
                </a:solidFill>
                <a:effectLst/>
                <a:uFillTx/>
                <a:latin typeface="Arial"/>
              </a:endParaRPr>
            </a:p>
          </p:txBody>
        </p:sp>
      </p:grpSp>
      <p:sp>
        <p:nvSpPr>
          <p:cNvPr id="266" name=""/>
          <p:cNvSpPr/>
          <p:nvPr/>
        </p:nvSpPr>
        <p:spPr>
          <a:xfrm>
            <a:off x="1739880" y="2620800"/>
            <a:ext cx="4280040" cy="276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Employee Survey “Learning &amp; Development” Ratings</a:t>
            </a:r>
            <a:endParaRPr b="0" lang="en-IN" sz="1200" strike="noStrike" u="none">
              <a:solidFill>
                <a:srgbClr val="000000"/>
              </a:solidFill>
              <a:effectLst/>
              <a:uFillTx/>
              <a:latin typeface="Arial"/>
            </a:endParaRPr>
          </a:p>
        </p:txBody>
      </p:sp>
      <p:sp>
        <p:nvSpPr>
          <p:cNvPr id="267" name=""/>
          <p:cNvSpPr/>
          <p:nvPr/>
        </p:nvSpPr>
        <p:spPr>
          <a:xfrm>
            <a:off x="1828800" y="4451400"/>
            <a:ext cx="3886200" cy="246600"/>
          </a:xfrm>
          <a:prstGeom prst="rect">
            <a:avLst/>
          </a:prstGeom>
          <a:solidFill>
            <a:srgbClr val="ffffff"/>
          </a:solidFill>
          <a:ln w="28440">
            <a:solidFill>
              <a:srgbClr val="663300"/>
            </a:solidFill>
            <a:miter/>
          </a:ln>
        </p:spPr>
        <p:style>
          <a:lnRef idx="0"/>
          <a:fillRef idx="0"/>
          <a:effectRef idx="0"/>
          <a:fontRef idx="minor"/>
        </p:style>
        <p:txBody>
          <a:bodyPr lIns="90000" rIns="90000" tIns="46800" bIns="46800" anchor="t">
            <a:spAutoFit/>
          </a:bodyPr>
          <a:p>
            <a:pPr>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000000"/>
                </a:solidFill>
                <a:effectLst/>
                <a:uFillTx/>
                <a:latin typeface="Arial"/>
              </a:rPr>
              <a:t>Overall avg score for Learning &amp; Development Ratings:  3.5</a:t>
            </a:r>
            <a:endParaRPr b="0" lang="en-IN" sz="1000" strike="noStrike" u="none">
              <a:solidFill>
                <a:srgbClr val="000000"/>
              </a:solidFill>
              <a:effectLst/>
              <a:uFillTx/>
              <a:latin typeface="Arial"/>
            </a:endParaRPr>
          </a:p>
        </p:txBody>
      </p:sp>
      <p:sp>
        <p:nvSpPr>
          <p:cNvPr id="268" name=""/>
          <p:cNvSpPr/>
          <p:nvPr/>
        </p:nvSpPr>
        <p:spPr>
          <a:xfrm>
            <a:off x="1752480" y="6523200"/>
            <a:ext cx="441972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July 1,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Agency Tracking</a:t>
            </a:r>
            <a:endParaRPr b="0" lang="en-IN" sz="1000" strike="noStrike" u="none">
              <a:solidFill>
                <a:srgbClr val="000000"/>
              </a:solidFill>
              <a:effectLst/>
              <a:uFillTx/>
              <a:latin typeface="Arial"/>
            </a:endParaRPr>
          </a:p>
        </p:txBody>
      </p:sp>
      <p:sp>
        <p:nvSpPr>
          <p:cNvPr id="269" name=""/>
          <p:cNvSpPr/>
          <p:nvPr/>
        </p:nvSpPr>
        <p:spPr>
          <a:xfrm>
            <a:off x="5791320" y="838080"/>
            <a:ext cx="3200400" cy="385956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goal for current individual development plans is 95%.</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Currently creating an action plan to increase percentage monthly until 95% is reached.</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Will regularly meet with leadership team to discuss agency progress in this area.</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uses the performance development plan sections 2 and 3 as an individual development plan.</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has drafted a new performance development plan form that includes an entire section for individual development.   The form meets the needs of a production environment and has just gone into use.  It should help in reaching our goal.</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270" name=""/>
          <p:cNvSpPr/>
          <p:nvPr/>
        </p:nvSpPr>
        <p:spPr>
          <a:xfrm>
            <a:off x="1828800" y="914400"/>
            <a:ext cx="3809880" cy="459720"/>
          </a:xfrm>
          <a:prstGeom prst="rect">
            <a:avLst/>
          </a:prstGeom>
          <a:noFill/>
          <a:ln w="28440">
            <a:solidFill>
              <a:srgbClr val="6633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Percent employees with current individual development plans = 60.1%*</a:t>
            </a:r>
            <a:endParaRPr b="0" lang="en-IN" sz="1200" strike="noStrike" u="none">
              <a:solidFill>
                <a:srgbClr val="000000"/>
              </a:solidFill>
              <a:effectLst/>
              <a:uFillTx/>
              <a:latin typeface="Arial"/>
            </a:endParaRPr>
          </a:p>
        </p:txBody>
      </p:sp>
      <p:sp>
        <p:nvSpPr>
          <p:cNvPr id="271" name=""/>
          <p:cNvSpPr/>
          <p:nvPr/>
        </p:nvSpPr>
        <p:spPr>
          <a:xfrm>
            <a:off x="1752480" y="411120"/>
            <a:ext cx="7315200" cy="3074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Individual Development Plans</a:t>
            </a:r>
            <a:endParaRPr b="0" lang="en-IN" sz="1400" strike="noStrike" u="none">
              <a:solidFill>
                <a:srgbClr val="000000"/>
              </a:solidFill>
              <a:effectLst/>
              <a:uFillTx/>
              <a:latin typeface="Arial"/>
            </a:endParaRPr>
          </a:p>
        </p:txBody>
      </p:sp>
      <p:sp>
        <p:nvSpPr>
          <p:cNvPr id="272" name=""/>
          <p:cNvSpPr/>
          <p:nvPr/>
        </p:nvSpPr>
        <p:spPr>
          <a:xfrm>
            <a:off x="1752480" y="1498680"/>
            <a:ext cx="3797280" cy="39924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*Based on 74 of 123 reported employee count</a:t>
            </a:r>
            <a:br>
              <a:rPr sz="1000"/>
            </a:br>
            <a:r>
              <a:rPr b="0" lang="en-IN" sz="1000" strike="noStrike" u="none">
                <a:solidFill>
                  <a:srgbClr val="000000"/>
                </a:solidFill>
                <a:effectLst/>
                <a:uFillTx/>
                <a:latin typeface="Arial"/>
              </a:rPr>
              <a:t> Applies to employees in permanent positions, both WMS &amp; GS</a:t>
            </a:r>
            <a:endParaRPr b="0" lang="en-IN" sz="10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3" name=""/>
          <p:cNvSpPr/>
          <p:nvPr/>
        </p:nvSpPr>
        <p:spPr>
          <a:xfrm>
            <a:off x="0" y="0"/>
            <a:ext cx="1752480" cy="6934680"/>
          </a:xfrm>
          <a:prstGeom prst="rect">
            <a:avLst/>
          </a:prstGeom>
          <a:solidFill>
            <a:srgbClr val="4d006c"/>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Reinforce Performance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Employees know how their performance contributes to the goals of the organization.  Strong performance is rewarded; poor performance is eliminated. Successful performance is differentiated and strengthened. Employees are held accountable.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 </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Percent employees with current performance evaluations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Employee survey ratings on “performance and accountability” questions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Disciplinary actions and reasons, disciplinary grievances/appeals filed and disposition (outcomes)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Reward and recognition practices (TBD)</a:t>
            </a:r>
            <a:br>
              <a:rPr sz="1000"/>
            </a:br>
            <a:br>
              <a:rPr sz="1000"/>
            </a:br>
            <a:endParaRPr b="0" lang="en-IN" sz="1000" strike="noStrike" u="none">
              <a:solidFill>
                <a:srgbClr val="000000"/>
              </a:solidFill>
              <a:effectLst/>
              <a:uFillTx/>
              <a:latin typeface="Arial"/>
            </a:endParaRPr>
          </a:p>
        </p:txBody>
      </p:sp>
      <p:sp>
        <p:nvSpPr>
          <p:cNvPr id="274" name=""/>
          <p:cNvSpPr/>
          <p:nvPr/>
        </p:nvSpPr>
        <p:spPr>
          <a:xfrm>
            <a:off x="1752480" y="6523200"/>
            <a:ext cx="441972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July 1,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Agency Tracking</a:t>
            </a:r>
            <a:endParaRPr b="0" lang="en-IN" sz="1000" strike="noStrike" u="none">
              <a:solidFill>
                <a:srgbClr val="000000"/>
              </a:solidFill>
              <a:effectLst/>
              <a:uFillTx/>
              <a:latin typeface="Arial"/>
            </a:endParaRPr>
          </a:p>
        </p:txBody>
      </p:sp>
      <p:sp>
        <p:nvSpPr>
          <p:cNvPr id="275" name=""/>
          <p:cNvSpPr/>
          <p:nvPr/>
        </p:nvSpPr>
        <p:spPr>
          <a:xfrm>
            <a:off x="5943600" y="946080"/>
            <a:ext cx="3048120" cy="324900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goal for current performance evaluations is 95%.</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Currently creating an action plan to increase percentage monthly until 95% is reached.</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Will regularly meet with leadership team to discuss agency progress in this area.</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has drafted a new performance evaluation form.  The form meets the needs of a production environment and has just gone into use.  It should help in reaching our goal.</a:t>
            </a:r>
            <a:endParaRPr b="0" lang="en-IN" sz="1000" strike="noStrike" u="none">
              <a:solidFill>
                <a:srgbClr val="000000"/>
              </a:solidFill>
              <a:effectLst/>
              <a:uFillTx/>
              <a:latin typeface="Arial"/>
            </a:endParaRPr>
          </a:p>
          <a:p>
            <a:pPr marL="168120" indent="-168120">
              <a:spcBef>
                <a:spcPts val="624"/>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276" name=""/>
          <p:cNvSpPr/>
          <p:nvPr/>
        </p:nvSpPr>
        <p:spPr>
          <a:xfrm>
            <a:off x="1905120" y="961920"/>
            <a:ext cx="3962160" cy="459720"/>
          </a:xfrm>
          <a:prstGeom prst="rect">
            <a:avLst/>
          </a:prstGeom>
          <a:noFill/>
          <a:ln w="28440">
            <a:solidFill>
              <a:srgbClr val="4d006c"/>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Percent employees with current performance evaluations = 60.1%*</a:t>
            </a:r>
            <a:endParaRPr b="0" lang="en-IN" sz="1200" strike="noStrike" u="none">
              <a:solidFill>
                <a:srgbClr val="000000"/>
              </a:solidFill>
              <a:effectLst/>
              <a:uFillTx/>
              <a:latin typeface="Arial"/>
            </a:endParaRPr>
          </a:p>
        </p:txBody>
      </p:sp>
      <p:sp>
        <p:nvSpPr>
          <p:cNvPr id="277" name=""/>
          <p:cNvSpPr/>
          <p:nvPr/>
        </p:nvSpPr>
        <p:spPr>
          <a:xfrm>
            <a:off x="1828800" y="411120"/>
            <a:ext cx="7238880" cy="3074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Current Performance Evaluations</a:t>
            </a:r>
            <a:endParaRPr b="0" lang="en-IN" sz="1400" strike="noStrike" u="none">
              <a:solidFill>
                <a:srgbClr val="000000"/>
              </a:solidFill>
              <a:effectLst/>
              <a:uFillTx/>
              <a:latin typeface="Arial"/>
            </a:endParaRPr>
          </a:p>
        </p:txBody>
      </p:sp>
      <p:sp>
        <p:nvSpPr>
          <p:cNvPr id="278" name=""/>
          <p:cNvSpPr/>
          <p:nvPr/>
        </p:nvSpPr>
        <p:spPr>
          <a:xfrm>
            <a:off x="1879560" y="1549440"/>
            <a:ext cx="3797280" cy="39924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*Based on 74 of 123 reported employee count</a:t>
            </a:r>
            <a:br>
              <a:rPr sz="1000"/>
            </a:br>
            <a:r>
              <a:rPr b="0" lang="en-IN" sz="1000" strike="noStrike" u="none">
                <a:solidFill>
                  <a:srgbClr val="000000"/>
                </a:solidFill>
                <a:effectLst/>
                <a:uFillTx/>
                <a:latin typeface="Arial"/>
              </a:rPr>
              <a:t> Applies to employees in permanent positions, both WMS &amp; GS</a:t>
            </a:r>
            <a:endParaRPr b="0" lang="en-IN" sz="10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9" name=""/>
          <p:cNvSpPr/>
          <p:nvPr/>
        </p:nvSpPr>
        <p:spPr>
          <a:xfrm>
            <a:off x="6095880" y="1174680"/>
            <a:ext cx="2924280" cy="301140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Agency averages for questions 3, 10, and 11 are above the state average. </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Agency average for question 9 is slightly below the state average of 3.4. More than a quarter of our employees feel that they seldom or never receive recognition for a job well done.</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Our agency is developing a recognition program that will incorporate individual thanks as well as traditional forms of recognition.  The program is to be in place by the end of November. </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280" name=""/>
          <p:cNvSpPr/>
          <p:nvPr/>
        </p:nvSpPr>
        <p:spPr>
          <a:xfrm>
            <a:off x="1828800" y="3724200"/>
            <a:ext cx="419112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Narrow"/>
              </a:rPr>
              <a:t>[DOUBLE CLICK ON THE BAR CHARTS TO ENTER YOUR AGENCY’S DATA]</a:t>
            </a:r>
            <a:endParaRPr b="0" lang="en-IN" sz="1000" strike="noStrike" u="none">
              <a:solidFill>
                <a:srgbClr val="000000"/>
              </a:solidFill>
              <a:effectLst/>
              <a:uFillTx/>
              <a:latin typeface="Arial"/>
            </a:endParaRPr>
          </a:p>
        </p:txBody>
      </p:sp>
      <p:sp>
        <p:nvSpPr>
          <p:cNvPr id="281" name=""/>
          <p:cNvSpPr/>
          <p:nvPr/>
        </p:nvSpPr>
        <p:spPr>
          <a:xfrm>
            <a:off x="1747800" y="563400"/>
            <a:ext cx="7319880" cy="3074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Employee Survey “Performance &amp; Accountability” Ratings</a:t>
            </a:r>
            <a:endParaRPr b="0" lang="en-IN" sz="1400" strike="noStrike" u="none">
              <a:solidFill>
                <a:srgbClr val="000000"/>
              </a:solidFill>
              <a:effectLst/>
              <a:uFillTx/>
              <a:latin typeface="Arial"/>
            </a:endParaRPr>
          </a:p>
        </p:txBody>
      </p:sp>
      <p:sp>
        <p:nvSpPr>
          <p:cNvPr id="282" name=""/>
          <p:cNvSpPr/>
          <p:nvPr/>
        </p:nvSpPr>
        <p:spPr>
          <a:xfrm>
            <a:off x="1905120" y="4130640"/>
            <a:ext cx="4114800" cy="399240"/>
          </a:xfrm>
          <a:prstGeom prst="rect">
            <a:avLst/>
          </a:prstGeom>
          <a:solidFill>
            <a:srgbClr val="ffffff"/>
          </a:solidFill>
          <a:ln w="28440">
            <a:solidFill>
              <a:srgbClr val="4d006c"/>
            </a:solidFill>
            <a:miter/>
          </a:ln>
        </p:spPr>
        <p:style>
          <a:lnRef idx="0"/>
          <a:fillRef idx="0"/>
          <a:effectRef idx="0"/>
          <a:fontRef idx="minor"/>
        </p:style>
        <p:txBody>
          <a:bodyPr lIns="90000" rIns="90000" tIns="46800" bIns="46800" anchor="t">
            <a:spAutoFit/>
          </a:bodyPr>
          <a:p>
            <a:pPr>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Overall average score for “Performance &amp; Accountability” ratings:  3.7</a:t>
            </a:r>
            <a:endParaRPr b="0" lang="en-IN" sz="1000" strike="noStrike" u="none">
              <a:solidFill>
                <a:srgbClr val="000000"/>
              </a:solidFill>
              <a:effectLst/>
              <a:uFillTx/>
              <a:latin typeface="Arial"/>
            </a:endParaRPr>
          </a:p>
        </p:txBody>
      </p:sp>
      <p:sp>
        <p:nvSpPr>
          <p:cNvPr id="283" name=""/>
          <p:cNvSpPr/>
          <p:nvPr/>
        </p:nvSpPr>
        <p:spPr>
          <a:xfrm>
            <a:off x="1752480" y="6523200"/>
            <a:ext cx="441972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October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2006 DOP Employee Survey</a:t>
            </a:r>
            <a:endParaRPr b="0" lang="en-IN" sz="1000" strike="noStrike" u="none">
              <a:solidFill>
                <a:srgbClr val="000000"/>
              </a:solidFill>
              <a:effectLst/>
              <a:uFillTx/>
              <a:latin typeface="Arial"/>
            </a:endParaRPr>
          </a:p>
        </p:txBody>
      </p:sp>
      <p:grpSp>
        <p:nvGrpSpPr>
          <p:cNvPr id="284" name=""/>
          <p:cNvGrpSpPr/>
          <p:nvPr/>
        </p:nvGrpSpPr>
        <p:grpSpPr>
          <a:xfrm>
            <a:off x="1828800" y="990720"/>
            <a:ext cx="4114800" cy="2608200"/>
            <a:chOff x="1828800" y="990720"/>
            <a:chExt cx="4114800" cy="2608200"/>
          </a:xfrm>
        </p:grpSpPr>
        <p:grpSp>
          <p:nvGrpSpPr>
            <p:cNvPr id="285" name=""/>
            <p:cNvGrpSpPr/>
            <p:nvPr/>
          </p:nvGrpSpPr>
          <p:grpSpPr>
            <a:xfrm>
              <a:off x="1828800" y="1158840"/>
              <a:ext cx="4114800" cy="2440080"/>
              <a:chOff x="1828800" y="1158840"/>
              <a:chExt cx="4114800" cy="2440080"/>
            </a:xfrm>
          </p:grpSpPr>
          <p:graphicFrame>
            <p:nvGraphicFramePr>
              <p:cNvPr id="286" name=""/>
              <p:cNvGraphicFramePr/>
              <p:nvPr/>
            </p:nvGraphicFramePr>
            <p:xfrm>
              <a:off x="1976400" y="2834640"/>
              <a:ext cx="3504960" cy="609480"/>
            </p:xfrm>
            <a:graphic>
              <a:graphicData uri="http://schemas.openxmlformats.org/presentationml/2006/ole">
                <p:oleObj r:id="rId1" spid="">
                  <p:embed/>
                  <p:pic>
                    <p:nvPicPr>
                      <p:cNvPr id="287" name="" descr=""/>
                      <p:cNvPicPr/>
                      <p:nvPr/>
                    </p:nvPicPr>
                    <p:blipFill>
                      <a:blip r:embed="rId2"/>
                      <a:stretch/>
                    </p:blipFill>
                    <p:spPr>
                      <a:xfrm>
                        <a:off x="1976400" y="2834640"/>
                        <a:ext cx="3504960" cy="609480"/>
                      </a:xfrm>
                      <a:prstGeom prst="rect">
                        <a:avLst/>
                      </a:prstGeom>
                      <a:noFill/>
                      <a:ln w="0">
                        <a:noFill/>
                      </a:ln>
                    </p:spPr>
                  </p:pic>
                </p:oleObj>
              </a:graphicData>
            </a:graphic>
          </p:graphicFrame>
          <p:sp>
            <p:nvSpPr>
              <p:cNvPr id="288" name=""/>
              <p:cNvSpPr/>
              <p:nvPr/>
            </p:nvSpPr>
            <p:spPr>
              <a:xfrm>
                <a:off x="1828800" y="1158840"/>
                <a:ext cx="4114800" cy="1899000"/>
              </a:xfrm>
              <a:prstGeom prst="rect">
                <a:avLst/>
              </a:prstGeom>
              <a:noFill/>
              <a:ln w="0">
                <a:noFill/>
              </a:ln>
            </p:spPr>
            <p:style>
              <a:lnRef idx="0"/>
              <a:fillRef idx="0"/>
              <a:effectRef idx="0"/>
              <a:fontRef idx="minor"/>
            </p:style>
            <p:txBody>
              <a:bodyPr lIns="90000" rIns="90000" tIns="46800" bIns="46800" anchor="t">
                <a:spAutoFit/>
              </a:bodyPr>
              <a:p>
                <a:pPr>
                  <a:spcAft>
                    <a:spcPts val="2126"/>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Q3. I know how my work contributes to the goals of my agency.</a:t>
                </a:r>
                <a:endParaRPr b="0" lang="en-IN" sz="1000" strike="noStrike" u="none">
                  <a:solidFill>
                    <a:srgbClr val="000000"/>
                  </a:solidFill>
                  <a:effectLst/>
                  <a:uFillTx/>
                  <a:latin typeface="Arial"/>
                </a:endParaRPr>
              </a:p>
              <a:p>
                <a:pPr>
                  <a:spcAft>
                    <a:spcPts val="2126"/>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Q10. My performance evaluation provides me with meaningful information about my performance.</a:t>
                </a:r>
                <a:endParaRPr b="0" lang="en-IN" sz="1000" strike="noStrike" u="none">
                  <a:solidFill>
                    <a:srgbClr val="000000"/>
                  </a:solidFill>
                  <a:effectLst/>
                  <a:uFillTx/>
                  <a:latin typeface="Arial"/>
                </a:endParaRPr>
              </a:p>
              <a:p>
                <a:pPr>
                  <a:spcBef>
                    <a:spcPts val="312"/>
                  </a:spcBef>
                  <a:spcAft>
                    <a:spcPts val="2126"/>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Q11. My supervisor holds me and my co-workers accountable for performance. </a:t>
                </a:r>
                <a:endParaRPr b="0" lang="en-IN" sz="1000" strike="noStrike" u="none">
                  <a:solidFill>
                    <a:srgbClr val="000000"/>
                  </a:solidFill>
                  <a:effectLst/>
                  <a:uFillTx/>
                  <a:latin typeface="Arial"/>
                </a:endParaRPr>
              </a:p>
              <a:p>
                <a:pPr>
                  <a:spcBef>
                    <a:spcPts val="312"/>
                  </a:spcBef>
                  <a:spcAft>
                    <a:spcPts val="2126"/>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Q9. I receive recognition for a job well done.</a:t>
                </a:r>
                <a:endParaRPr b="0" lang="en-IN" sz="1000" strike="noStrike" u="none">
                  <a:solidFill>
                    <a:srgbClr val="000000"/>
                  </a:solidFill>
                  <a:effectLst/>
                  <a:uFillTx/>
                  <a:latin typeface="Arial"/>
                </a:endParaRPr>
              </a:p>
            </p:txBody>
          </p:sp>
          <p:graphicFrame>
            <p:nvGraphicFramePr>
              <p:cNvPr id="289" name=""/>
              <p:cNvGraphicFramePr/>
              <p:nvPr/>
            </p:nvGraphicFramePr>
            <p:xfrm>
              <a:off x="1976400" y="1158840"/>
              <a:ext cx="3504960" cy="605880"/>
            </p:xfrm>
            <a:graphic>
              <a:graphicData uri="http://schemas.openxmlformats.org/presentationml/2006/ole">
                <p:oleObj r:id="rId3" spid="">
                  <p:embed/>
                  <p:pic>
                    <p:nvPicPr>
                      <p:cNvPr id="290" name="" descr=""/>
                      <p:cNvPicPr/>
                      <p:nvPr/>
                    </p:nvPicPr>
                    <p:blipFill>
                      <a:blip r:embed="rId4"/>
                      <a:stretch/>
                    </p:blipFill>
                    <p:spPr>
                      <a:xfrm>
                        <a:off x="1976400" y="1158840"/>
                        <a:ext cx="3504960" cy="605880"/>
                      </a:xfrm>
                      <a:prstGeom prst="rect">
                        <a:avLst/>
                      </a:prstGeom>
                      <a:noFill/>
                      <a:ln w="0">
                        <a:noFill/>
                      </a:ln>
                    </p:spPr>
                  </p:pic>
                </p:oleObj>
              </a:graphicData>
            </a:graphic>
          </p:graphicFrame>
          <p:graphicFrame>
            <p:nvGraphicFramePr>
              <p:cNvPr id="291" name=""/>
              <p:cNvGraphicFramePr/>
              <p:nvPr/>
            </p:nvGraphicFramePr>
            <p:xfrm>
              <a:off x="1976400" y="1767960"/>
              <a:ext cx="3504960" cy="609120"/>
            </p:xfrm>
            <a:graphic>
              <a:graphicData uri="http://schemas.openxmlformats.org/presentationml/2006/ole">
                <p:oleObj r:id="rId5" spid="">
                  <p:embed/>
                  <p:pic>
                    <p:nvPicPr>
                      <p:cNvPr id="292" name="" descr=""/>
                      <p:cNvPicPr/>
                      <p:nvPr/>
                    </p:nvPicPr>
                    <p:blipFill>
                      <a:blip r:embed="rId6"/>
                      <a:stretch/>
                    </p:blipFill>
                    <p:spPr>
                      <a:xfrm>
                        <a:off x="1976400" y="1767960"/>
                        <a:ext cx="3504960" cy="609120"/>
                      </a:xfrm>
                      <a:prstGeom prst="rect">
                        <a:avLst/>
                      </a:prstGeom>
                      <a:noFill/>
                      <a:ln w="0">
                        <a:noFill/>
                      </a:ln>
                    </p:spPr>
                  </p:pic>
                </p:oleObj>
              </a:graphicData>
            </a:graphic>
          </p:graphicFrame>
          <p:graphicFrame>
            <p:nvGraphicFramePr>
              <p:cNvPr id="293" name=""/>
              <p:cNvGraphicFramePr/>
              <p:nvPr/>
            </p:nvGraphicFramePr>
            <p:xfrm>
              <a:off x="1976400" y="2339640"/>
              <a:ext cx="3492360" cy="647280"/>
            </p:xfrm>
            <a:graphic>
              <a:graphicData uri="http://schemas.openxmlformats.org/presentationml/2006/ole">
                <p:oleObj r:id="rId7" spid="">
                  <p:embed/>
                  <p:pic>
                    <p:nvPicPr>
                      <p:cNvPr id="294" name="" descr=""/>
                      <p:cNvPicPr/>
                      <p:nvPr/>
                    </p:nvPicPr>
                    <p:blipFill>
                      <a:blip r:embed="rId8"/>
                      <a:stretch/>
                    </p:blipFill>
                    <p:spPr>
                      <a:xfrm>
                        <a:off x="1976400" y="2339640"/>
                        <a:ext cx="3492360" cy="647280"/>
                      </a:xfrm>
                      <a:prstGeom prst="rect">
                        <a:avLst/>
                      </a:prstGeom>
                      <a:noFill/>
                      <a:ln w="0">
                        <a:noFill/>
                      </a:ln>
                    </p:spPr>
                  </p:pic>
                </p:oleObj>
              </a:graphicData>
            </a:graphic>
          </p:graphicFrame>
          <p:grpSp>
            <p:nvGrpSpPr>
              <p:cNvPr id="295" name=""/>
              <p:cNvGrpSpPr/>
              <p:nvPr/>
            </p:nvGrpSpPr>
            <p:grpSpPr>
              <a:xfrm>
                <a:off x="1904760" y="3352320"/>
                <a:ext cx="3522960" cy="246600"/>
                <a:chOff x="1904760" y="3352320"/>
                <a:chExt cx="3522960" cy="246600"/>
              </a:xfrm>
            </p:grpSpPr>
            <p:sp>
              <p:nvSpPr>
                <p:cNvPr id="296" name=""/>
                <p:cNvSpPr/>
                <p:nvPr/>
              </p:nvSpPr>
              <p:spPr>
                <a:xfrm>
                  <a:off x="1904760" y="3352320"/>
                  <a:ext cx="68436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8000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Never</a:t>
                  </a:r>
                  <a:endParaRPr b="0" lang="en-IN" sz="1000" strike="noStrike" u="none">
                    <a:solidFill>
                      <a:srgbClr val="000000"/>
                    </a:solidFill>
                    <a:effectLst/>
                    <a:uFillTx/>
                    <a:latin typeface="Arial"/>
                  </a:endParaRPr>
                </a:p>
              </p:txBody>
            </p:sp>
            <p:sp>
              <p:nvSpPr>
                <p:cNvPr id="297" name=""/>
                <p:cNvSpPr/>
                <p:nvPr/>
              </p:nvSpPr>
              <p:spPr>
                <a:xfrm>
                  <a:off x="2468520" y="3352320"/>
                  <a:ext cx="80784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cc00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Seldom</a:t>
                  </a:r>
                  <a:endParaRPr b="0" lang="en-IN" sz="1000" strike="noStrike" u="none">
                    <a:solidFill>
                      <a:srgbClr val="000000"/>
                    </a:solidFill>
                    <a:effectLst/>
                    <a:uFillTx/>
                    <a:latin typeface="Arial"/>
                  </a:endParaRPr>
                </a:p>
              </p:txBody>
            </p:sp>
            <p:sp>
              <p:nvSpPr>
                <p:cNvPr id="298" name=""/>
                <p:cNvSpPr/>
                <p:nvPr/>
              </p:nvSpPr>
              <p:spPr>
                <a:xfrm>
                  <a:off x="3124080" y="3352320"/>
                  <a:ext cx="108432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ffff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Occasionally</a:t>
                  </a:r>
                  <a:endParaRPr b="0" lang="en-IN" sz="1000" strike="noStrike" u="none">
                    <a:solidFill>
                      <a:srgbClr val="000000"/>
                    </a:solidFill>
                    <a:effectLst/>
                    <a:uFillTx/>
                    <a:latin typeface="Arial"/>
                  </a:endParaRPr>
                </a:p>
              </p:txBody>
            </p:sp>
            <p:sp>
              <p:nvSpPr>
                <p:cNvPr id="299" name=""/>
                <p:cNvSpPr/>
                <p:nvPr/>
              </p:nvSpPr>
              <p:spPr>
                <a:xfrm>
                  <a:off x="4038480" y="3352320"/>
                  <a:ext cx="88092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99ccff"/>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Usually</a:t>
                  </a:r>
                  <a:endParaRPr b="0" lang="en-IN" sz="1000" strike="noStrike" u="none">
                    <a:solidFill>
                      <a:srgbClr val="000000"/>
                    </a:solidFill>
                    <a:effectLst/>
                    <a:uFillTx/>
                    <a:latin typeface="Arial"/>
                  </a:endParaRPr>
                </a:p>
              </p:txBody>
            </p:sp>
            <p:sp>
              <p:nvSpPr>
                <p:cNvPr id="300" name=""/>
                <p:cNvSpPr/>
                <p:nvPr/>
              </p:nvSpPr>
              <p:spPr>
                <a:xfrm>
                  <a:off x="4647960" y="3352320"/>
                  <a:ext cx="77976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0000ff"/>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Always</a:t>
                  </a:r>
                  <a:endParaRPr b="0" lang="en-IN" sz="1000" strike="noStrike" u="none">
                    <a:solidFill>
                      <a:srgbClr val="000000"/>
                    </a:solidFill>
                    <a:effectLst/>
                    <a:uFillTx/>
                    <a:latin typeface="Arial"/>
                  </a:endParaRPr>
                </a:p>
              </p:txBody>
            </p:sp>
          </p:grpSp>
        </p:grpSp>
        <p:sp>
          <p:nvSpPr>
            <p:cNvPr id="301" name=""/>
            <p:cNvSpPr/>
            <p:nvPr/>
          </p:nvSpPr>
          <p:spPr>
            <a:xfrm>
              <a:off x="5395680" y="131112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4.1</a:t>
              </a:r>
              <a:endParaRPr b="0" lang="en-IN" sz="1000" strike="noStrike" u="none">
                <a:solidFill>
                  <a:srgbClr val="000000"/>
                </a:solidFill>
                <a:effectLst/>
                <a:uFillTx/>
                <a:latin typeface="Arial"/>
              </a:endParaRPr>
            </a:p>
          </p:txBody>
        </p:sp>
        <p:sp>
          <p:nvSpPr>
            <p:cNvPr id="302" name=""/>
            <p:cNvSpPr/>
            <p:nvPr/>
          </p:nvSpPr>
          <p:spPr>
            <a:xfrm>
              <a:off x="5395680" y="195084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3.4</a:t>
              </a:r>
              <a:endParaRPr b="0" lang="en-IN" sz="1000" strike="noStrike" u="none">
                <a:solidFill>
                  <a:srgbClr val="000000"/>
                </a:solidFill>
                <a:effectLst/>
                <a:uFillTx/>
                <a:latin typeface="Arial"/>
              </a:endParaRPr>
            </a:p>
          </p:txBody>
        </p:sp>
        <p:sp>
          <p:nvSpPr>
            <p:cNvPr id="303" name=""/>
            <p:cNvSpPr/>
            <p:nvPr/>
          </p:nvSpPr>
          <p:spPr>
            <a:xfrm>
              <a:off x="5395680" y="256032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4.2</a:t>
              </a:r>
              <a:endParaRPr b="0" lang="en-IN" sz="1000" strike="noStrike" u="none">
                <a:solidFill>
                  <a:srgbClr val="000000"/>
                </a:solidFill>
                <a:effectLst/>
                <a:uFillTx/>
                <a:latin typeface="Arial"/>
              </a:endParaRPr>
            </a:p>
          </p:txBody>
        </p:sp>
        <p:sp>
          <p:nvSpPr>
            <p:cNvPr id="304" name=""/>
            <p:cNvSpPr/>
            <p:nvPr/>
          </p:nvSpPr>
          <p:spPr>
            <a:xfrm>
              <a:off x="5410080" y="301752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3.1</a:t>
              </a:r>
              <a:endParaRPr b="0" lang="en-IN" sz="1000" strike="noStrike" u="none">
                <a:solidFill>
                  <a:srgbClr val="000000"/>
                </a:solidFill>
                <a:effectLst/>
                <a:uFillTx/>
                <a:latin typeface="Arial"/>
              </a:endParaRPr>
            </a:p>
          </p:txBody>
        </p:sp>
        <p:sp>
          <p:nvSpPr>
            <p:cNvPr id="305" name=""/>
            <p:cNvSpPr/>
            <p:nvPr/>
          </p:nvSpPr>
          <p:spPr>
            <a:xfrm>
              <a:off x="5410080" y="990720"/>
              <a:ext cx="457200" cy="24660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sng">
                  <a:solidFill>
                    <a:srgbClr val="000000"/>
                  </a:solidFill>
                  <a:effectLst/>
                  <a:uFillTx/>
                  <a:latin typeface="Arial"/>
                </a:rPr>
                <a:t>Avg</a:t>
              </a:r>
              <a:endParaRPr b="0" lang="en-IN" sz="1000" strike="noStrike" u="none">
                <a:solidFill>
                  <a:srgbClr val="000000"/>
                </a:solidFill>
                <a:effectLst/>
                <a:uFillTx/>
                <a:latin typeface="Arial"/>
              </a:endParaRPr>
            </a:p>
          </p:txBody>
        </p:sp>
      </p:grpSp>
      <p:sp>
        <p:nvSpPr>
          <p:cNvPr id="306" name=""/>
          <p:cNvSpPr/>
          <p:nvPr/>
        </p:nvSpPr>
        <p:spPr>
          <a:xfrm>
            <a:off x="0" y="0"/>
            <a:ext cx="1752480" cy="6934680"/>
          </a:xfrm>
          <a:prstGeom prst="rect">
            <a:avLst/>
          </a:prstGeom>
          <a:solidFill>
            <a:srgbClr val="4d006c"/>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Reinforce Performance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Employees know how their performance contributes to the goals of the organization.  Strong performance is rewarded; poor performance is eliminated. Successful performance is differentiated and strengthened. Employees are held accountable.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 </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Percent employees with current performance evaluations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Employee survey ratings on “performance and accountability” questions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Disciplinary actions and reasons, disciplinary grievances/appeals filed and disposition (outcomes)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Reward and recognition practices (TBD)</a:t>
            </a:r>
            <a:br>
              <a:rPr sz="1000"/>
            </a:br>
            <a:br>
              <a:rPr sz="1000"/>
            </a:br>
            <a:endParaRPr b="0" lang="en-IN" sz="10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7" name=""/>
          <p:cNvSpPr/>
          <p:nvPr/>
        </p:nvSpPr>
        <p:spPr>
          <a:xfrm>
            <a:off x="1828800" y="533520"/>
            <a:ext cx="7315200" cy="307440"/>
          </a:xfrm>
          <a:prstGeom prst="rect">
            <a:avLst/>
          </a:prstGeom>
          <a:noFill/>
          <a:ln w="0">
            <a:noFill/>
          </a:ln>
        </p:spPr>
        <p:style>
          <a:lnRef idx="0"/>
          <a:fillRef idx="0"/>
          <a:effectRef idx="0"/>
          <a:fontRef idx="minor"/>
        </p:style>
        <p:txBody>
          <a:bodyPr lIns="90000" rIns="90000" tIns="46800" bIns="46800" anchor="t">
            <a:spAutoFit/>
          </a:bodyPr>
          <a:p>
            <a:pPr algn="ct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Formal Disciplinary Actions</a:t>
            </a:r>
            <a:endParaRPr b="0" lang="en-IN" sz="1400" strike="noStrike" u="none">
              <a:solidFill>
                <a:srgbClr val="000000"/>
              </a:solidFill>
              <a:effectLst/>
              <a:uFillTx/>
              <a:latin typeface="Arial"/>
            </a:endParaRPr>
          </a:p>
        </p:txBody>
      </p:sp>
      <p:sp>
        <p:nvSpPr>
          <p:cNvPr id="308" name=""/>
          <p:cNvSpPr/>
          <p:nvPr/>
        </p:nvSpPr>
        <p:spPr>
          <a:xfrm>
            <a:off x="1828800" y="3517920"/>
            <a:ext cx="3886200" cy="710280"/>
          </a:xfrm>
          <a:prstGeom prst="rect">
            <a:avLst/>
          </a:prstGeom>
          <a:noFill/>
          <a:ln w="28440">
            <a:solidFill>
              <a:srgbClr val="4d006c"/>
            </a:solidFill>
            <a:miter/>
          </a:ln>
        </p:spPr>
        <p:style>
          <a:lnRef idx="0"/>
          <a:fillRef idx="0"/>
          <a:effectRef idx="0"/>
          <a:fontRef idx="minor"/>
        </p:style>
        <p:txBody>
          <a:bodyPr lIns="90000" rIns="90000" tIns="46800" bIns="46800" anchor="t">
            <a:spAutoFit/>
          </a:bodyPr>
          <a:p>
            <a:pPr marL="168120" indent="-168120"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Issues Leading to Disciplinary Action</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Job abandonment.</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Poor work performance.</a:t>
            </a:r>
            <a:endParaRPr b="0" lang="en-IN" sz="1000" strike="noStrike" u="none">
              <a:solidFill>
                <a:srgbClr val="000000"/>
              </a:solidFill>
              <a:effectLst/>
              <a:uFillTx/>
              <a:latin typeface="Arial"/>
            </a:endParaRPr>
          </a:p>
        </p:txBody>
      </p:sp>
      <p:sp>
        <p:nvSpPr>
          <p:cNvPr id="309" name=""/>
          <p:cNvSpPr/>
          <p:nvPr/>
        </p:nvSpPr>
        <p:spPr>
          <a:xfrm>
            <a:off x="5867280" y="1066680"/>
            <a:ext cx="3148200" cy="271188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Historically, the agency has a low number of disciplinary actions.</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will continue to work with managers to address performance issues and educate employees prior to the need for disciplinary actions.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310" name=""/>
          <p:cNvSpPr/>
          <p:nvPr/>
        </p:nvSpPr>
        <p:spPr>
          <a:xfrm>
            <a:off x="1752480" y="6561000"/>
            <a:ext cx="441972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October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Agency Tracking</a:t>
            </a:r>
            <a:endParaRPr b="0" lang="en-IN" sz="1000" strike="noStrike" u="none">
              <a:solidFill>
                <a:srgbClr val="000000"/>
              </a:solidFill>
              <a:effectLst/>
              <a:uFillTx/>
              <a:latin typeface="Arial"/>
            </a:endParaRPr>
          </a:p>
        </p:txBody>
      </p:sp>
      <p:grpSp>
        <p:nvGrpSpPr>
          <p:cNvPr id="311" name=""/>
          <p:cNvGrpSpPr/>
          <p:nvPr/>
        </p:nvGrpSpPr>
        <p:grpSpPr>
          <a:xfrm>
            <a:off x="1828800" y="1066680"/>
            <a:ext cx="3885840" cy="2361960"/>
            <a:chOff x="1828800" y="1066680"/>
            <a:chExt cx="3885840" cy="2361960"/>
          </a:xfrm>
        </p:grpSpPr>
        <p:sp>
          <p:nvSpPr>
            <p:cNvPr id="312" name=""/>
            <p:cNvSpPr/>
            <p:nvPr/>
          </p:nvSpPr>
          <p:spPr>
            <a:xfrm>
              <a:off x="1851840" y="1066680"/>
              <a:ext cx="3862800" cy="2361960"/>
            </a:xfrm>
            <a:prstGeom prst="rect">
              <a:avLst/>
            </a:prstGeom>
            <a:noFill/>
            <a:ln w="28440">
              <a:solidFill>
                <a:srgbClr val="4d006c"/>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313" name=""/>
            <p:cNvSpPr/>
            <p:nvPr/>
          </p:nvSpPr>
          <p:spPr>
            <a:xfrm>
              <a:off x="1828800" y="1066680"/>
              <a:ext cx="3862800" cy="3992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Disciplinary Action Taken</a:t>
              </a:r>
              <a:endParaRPr b="0" lang="en-IN" sz="10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Time period = 07/06 through 06/07</a:t>
              </a:r>
              <a:endParaRPr b="0" lang="en-IN" sz="1000" strike="noStrike" u="none">
                <a:solidFill>
                  <a:srgbClr val="000000"/>
                </a:solidFill>
                <a:effectLst/>
                <a:uFillTx/>
                <a:latin typeface="Arial"/>
              </a:endParaRPr>
            </a:p>
          </p:txBody>
        </p:sp>
      </p:grpSp>
      <p:sp>
        <p:nvSpPr>
          <p:cNvPr id="314" name=""/>
          <p:cNvSpPr/>
          <p:nvPr/>
        </p:nvSpPr>
        <p:spPr>
          <a:xfrm>
            <a:off x="1955880" y="3184560"/>
            <a:ext cx="3962160" cy="24660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 Reduction in Pay is not currently available in HRMS/BW.</a:t>
            </a:r>
            <a:endParaRPr b="0" lang="en-IN" sz="1000" strike="noStrike" u="none">
              <a:solidFill>
                <a:srgbClr val="000000"/>
              </a:solidFill>
              <a:effectLst/>
              <a:uFillTx/>
              <a:latin typeface="Arial"/>
            </a:endParaRPr>
          </a:p>
        </p:txBody>
      </p:sp>
      <p:graphicFrame>
        <p:nvGraphicFramePr>
          <p:cNvPr id="315" name=""/>
          <p:cNvGraphicFramePr/>
          <p:nvPr/>
        </p:nvGraphicFramePr>
        <p:xfrm>
          <a:off x="1981080" y="1523880"/>
          <a:ext cx="3581280" cy="1457280"/>
        </p:xfrm>
        <a:graphic>
          <a:graphicData uri="http://schemas.openxmlformats.org/drawingml/2006/table">
            <a:tbl>
              <a:tblPr/>
              <a:tblGrid>
                <a:gridCol w="2708280"/>
                <a:gridCol w="873000"/>
              </a:tblGrid>
              <a:tr h="246600">
                <a:tc>
                  <a: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txBody>
                  <a:tcPr anchor="ctr" marL="90000" marR="90000">
                    <a:lnL w="5760">
                      <a:solidFill>
                        <a:srgbClr val="000000"/>
                      </a:solidFill>
                      <a:prstDash val="solid"/>
                    </a:lnL>
                    <a:lnR w="5760">
                      <a:solidFill>
                        <a:srgbClr val="4d6776"/>
                      </a:solidFill>
                      <a:prstDash val="solid"/>
                    </a:lnR>
                    <a:lnT w="5760">
                      <a:solidFill>
                        <a:srgbClr val="000000"/>
                      </a:solidFill>
                      <a:prstDash val="solid"/>
                    </a:lnT>
                    <a:lnB w="5760">
                      <a:solidFill>
                        <a:srgbClr val="000000"/>
                      </a:solidFill>
                      <a:prstDash val="solid"/>
                    </a:lnB>
                    <a:solidFill>
                      <a:srgbClr val="ddddff"/>
                    </a:solidFill>
                  </a:tcPr>
                </a:tc>
                <a:tc>
                  <a: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txBody>
                  <a:tcPr anchor="ctr" marL="90000" marR="90000">
                    <a:lnL w="5760">
                      <a:solidFill>
                        <a:srgbClr val="4d6776"/>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ddddff"/>
                    </a:solidFill>
                  </a:tcPr>
                </a:tc>
              </a:tr>
              <a:tr h="246600">
                <a:tc>
                  <a: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ea typeface="Arial"/>
                        </a:rPr>
                        <a:t>Dismissals</a:t>
                      </a:r>
                      <a:endParaRPr b="0" lang="en-IN" sz="1000" strike="noStrike" u="none">
                        <a:solidFill>
                          <a:srgbClr val="000000"/>
                        </a:solidFill>
                        <a:effectLst/>
                        <a:uFillTx/>
                        <a:latin typeface="Arial"/>
                      </a:endParaRPr>
                    </a:p>
                  </a:txBody>
                  <a:tcPr anchor="ctr" marL="90000" marR="90000">
                    <a:lnL w="5760">
                      <a:solidFill>
                        <a:srgbClr val="000000"/>
                      </a:solidFill>
                      <a:prstDash val="solid"/>
                    </a:lnL>
                    <a:lnR w="5760">
                      <a:solidFill>
                        <a:srgbClr val="4d6776"/>
                      </a:solidFill>
                      <a:prstDash val="solid"/>
                    </a:lnR>
                    <a:lnT w="5760">
                      <a:solidFill>
                        <a:srgbClr val="000000"/>
                      </a:solidFill>
                      <a:prstDash val="solid"/>
                    </a:lnT>
                    <a:lnB w="5760">
                      <a:solidFill>
                        <a:srgbClr val="000000"/>
                      </a:solidFill>
                      <a:prstDash val="solid"/>
                    </a:lnB>
                    <a:solidFill>
                      <a:srgbClr val="ffffff"/>
                    </a:solidFill>
                  </a:tcPr>
                </a:tc>
                <a:tc>
                  <a:txBody>
                    <a:bodyPr lIns="90000" rIns="90000" tIns="46800" bIns="46800" anchor="ctr">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ea typeface="Arial"/>
                        </a:rPr>
                        <a:t>2</a:t>
                      </a:r>
                      <a:endParaRPr b="0" lang="en-IN" sz="1000" strike="noStrike" u="none">
                        <a:solidFill>
                          <a:srgbClr val="000000"/>
                        </a:solidFill>
                        <a:effectLst/>
                        <a:uFillTx/>
                        <a:latin typeface="Arial"/>
                      </a:endParaRPr>
                    </a:p>
                  </a:txBody>
                  <a:tcPr anchor="ctr" marL="90000" marR="90000">
                    <a:lnL w="5760">
                      <a:solidFill>
                        <a:srgbClr val="4d6776"/>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ffffff"/>
                    </a:solidFill>
                  </a:tcPr>
                </a:tc>
              </a:tr>
              <a:tr h="246600">
                <a:tc>
                  <a: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ea typeface="Arial"/>
                        </a:rPr>
                        <a:t>Demotions</a:t>
                      </a:r>
                      <a:endParaRPr b="0" lang="en-IN" sz="1000" strike="noStrike" u="none">
                        <a:solidFill>
                          <a:srgbClr val="000000"/>
                        </a:solidFill>
                        <a:effectLst/>
                        <a:uFillTx/>
                        <a:latin typeface="Arial"/>
                      </a:endParaRPr>
                    </a:p>
                  </a:txBody>
                  <a:tcPr anchor="ctr" marL="90000" marR="90000">
                    <a:lnL w="5760">
                      <a:solidFill>
                        <a:srgbClr val="000000"/>
                      </a:solidFill>
                      <a:prstDash val="solid"/>
                    </a:lnL>
                    <a:lnR w="5760">
                      <a:solidFill>
                        <a:srgbClr val="4d6776"/>
                      </a:solidFill>
                      <a:prstDash val="solid"/>
                    </a:lnR>
                    <a:lnT w="5760">
                      <a:solidFill>
                        <a:srgbClr val="000000"/>
                      </a:solidFill>
                      <a:prstDash val="solid"/>
                    </a:lnT>
                    <a:lnB w="5760">
                      <a:solidFill>
                        <a:srgbClr val="000000"/>
                      </a:solidFill>
                      <a:prstDash val="solid"/>
                    </a:lnB>
                    <a:solidFill>
                      <a:srgbClr val="ffffff"/>
                    </a:solidFill>
                  </a:tcPr>
                </a:tc>
                <a:tc>
                  <a:txBody>
                    <a:bodyPr lIns="90000" rIns="90000" tIns="46800" bIns="46800" anchor="ctr">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ea typeface="Arial"/>
                        </a:rPr>
                        <a:t>0</a:t>
                      </a:r>
                      <a:endParaRPr b="0" lang="en-IN" sz="1000" strike="noStrike" u="none">
                        <a:solidFill>
                          <a:srgbClr val="000000"/>
                        </a:solidFill>
                        <a:effectLst/>
                        <a:uFillTx/>
                        <a:latin typeface="Arial"/>
                      </a:endParaRPr>
                    </a:p>
                  </a:txBody>
                  <a:tcPr anchor="ctr" marL="90000" marR="90000">
                    <a:lnL w="5760">
                      <a:solidFill>
                        <a:srgbClr val="4d6776"/>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ffffff"/>
                    </a:solidFill>
                  </a:tcPr>
                </a:tc>
              </a:tr>
              <a:tr h="246600">
                <a:tc>
                  <a: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ea typeface="Arial"/>
                        </a:rPr>
                        <a:t>Suspensions</a:t>
                      </a:r>
                      <a:endParaRPr b="0" lang="en-IN" sz="1000" strike="noStrike" u="none">
                        <a:solidFill>
                          <a:srgbClr val="000000"/>
                        </a:solidFill>
                        <a:effectLst/>
                        <a:uFillTx/>
                        <a:latin typeface="Arial"/>
                      </a:endParaRPr>
                    </a:p>
                  </a:txBody>
                  <a:tcPr anchor="ctr" marL="90000" marR="90000">
                    <a:lnL w="5760">
                      <a:solidFill>
                        <a:srgbClr val="000000"/>
                      </a:solidFill>
                      <a:prstDash val="solid"/>
                    </a:lnL>
                    <a:lnR w="5760">
                      <a:solidFill>
                        <a:srgbClr val="4d6776"/>
                      </a:solidFill>
                      <a:prstDash val="solid"/>
                    </a:lnR>
                    <a:lnT w="5760">
                      <a:solidFill>
                        <a:srgbClr val="000000"/>
                      </a:solidFill>
                      <a:prstDash val="solid"/>
                    </a:lnT>
                    <a:lnB w="5760">
                      <a:solidFill>
                        <a:srgbClr val="000000"/>
                      </a:solidFill>
                      <a:prstDash val="solid"/>
                    </a:lnB>
                    <a:solidFill>
                      <a:srgbClr val="ffffff"/>
                    </a:solidFill>
                  </a:tcPr>
                </a:tc>
                <a:tc>
                  <a:txBody>
                    <a:bodyPr lIns="90000" rIns="90000" tIns="46800" bIns="46800" anchor="ctr">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1</a:t>
                      </a:r>
                      <a:endParaRPr b="0" lang="en-IN" sz="1000" strike="noStrike" u="none">
                        <a:solidFill>
                          <a:srgbClr val="000000"/>
                        </a:solidFill>
                        <a:effectLst/>
                        <a:uFillTx/>
                        <a:latin typeface="Arial"/>
                      </a:endParaRPr>
                    </a:p>
                  </a:txBody>
                  <a:tcPr anchor="ctr" marL="90000" marR="90000">
                    <a:lnL w="5760">
                      <a:solidFill>
                        <a:srgbClr val="4d6776"/>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ffffff"/>
                    </a:solidFill>
                  </a:tcPr>
                </a:tc>
              </a:tr>
              <a:tr h="246600">
                <a:tc>
                  <a: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Reduction in Pay*</a:t>
                      </a:r>
                      <a:endParaRPr b="0" lang="en-IN" sz="1000" strike="noStrike" u="none">
                        <a:solidFill>
                          <a:srgbClr val="000000"/>
                        </a:solidFill>
                        <a:effectLst/>
                        <a:uFillTx/>
                        <a:latin typeface="Arial"/>
                      </a:endParaRPr>
                    </a:p>
                  </a:txBody>
                  <a:tcPr anchor="ctr" marL="90000" marR="90000">
                    <a:lnL w="5760">
                      <a:solidFill>
                        <a:srgbClr val="000000"/>
                      </a:solidFill>
                      <a:prstDash val="solid"/>
                    </a:lnL>
                    <a:lnR w="5760">
                      <a:solidFill>
                        <a:srgbClr val="4d6776"/>
                      </a:solidFill>
                      <a:prstDash val="solid"/>
                    </a:lnR>
                    <a:lnT w="5760">
                      <a:solidFill>
                        <a:srgbClr val="000000"/>
                      </a:solidFill>
                      <a:prstDash val="solid"/>
                    </a:lnT>
                    <a:lnB w="5760">
                      <a:solidFill>
                        <a:srgbClr val="000000"/>
                      </a:solidFill>
                      <a:prstDash val="solid"/>
                    </a:lnB>
                    <a:solidFill>
                      <a:srgbClr val="ffffff"/>
                    </a:solidFill>
                  </a:tcPr>
                </a:tc>
                <a:tc>
                  <a:txBody>
                    <a:bodyPr lIns="90000" rIns="90000" tIns="46800" bIns="46800" anchor="ctr">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ea typeface="Arial"/>
                        </a:rPr>
                        <a:t>0</a:t>
                      </a:r>
                      <a:endParaRPr b="0" lang="en-IN" sz="1000" strike="noStrike" u="none">
                        <a:solidFill>
                          <a:srgbClr val="000000"/>
                        </a:solidFill>
                        <a:effectLst/>
                        <a:uFillTx/>
                        <a:latin typeface="Arial"/>
                      </a:endParaRPr>
                    </a:p>
                  </a:txBody>
                  <a:tcPr anchor="ctr" marL="90000" marR="90000">
                    <a:lnL w="5760">
                      <a:solidFill>
                        <a:srgbClr val="4d6776"/>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ffffff"/>
                    </a:solidFill>
                  </a:tcPr>
                </a:tc>
              </a:tr>
              <a:tr h="246600">
                <a:tc>
                  <a: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ea typeface="Arial"/>
                        </a:rPr>
                        <a:t>Total Disciplinary Actions*</a:t>
                      </a:r>
                      <a:endParaRPr b="0" lang="en-IN" sz="1000" strike="noStrike" u="none">
                        <a:solidFill>
                          <a:srgbClr val="000000"/>
                        </a:solidFill>
                        <a:effectLst/>
                        <a:uFillTx/>
                        <a:latin typeface="Arial"/>
                      </a:endParaRPr>
                    </a:p>
                  </a:txBody>
                  <a:tcPr anchor="ctr" marL="90000" marR="90000">
                    <a:lnL w="5760">
                      <a:solidFill>
                        <a:srgbClr val="000000"/>
                      </a:solidFill>
                      <a:prstDash val="solid"/>
                    </a:lnL>
                    <a:lnR w="5760">
                      <a:solidFill>
                        <a:srgbClr val="4d6776"/>
                      </a:solidFill>
                      <a:prstDash val="solid"/>
                    </a:lnR>
                    <a:lnT w="5760">
                      <a:solidFill>
                        <a:srgbClr val="000000"/>
                      </a:solidFill>
                      <a:prstDash val="solid"/>
                    </a:lnT>
                    <a:lnB w="5760">
                      <a:solidFill>
                        <a:srgbClr val="000000"/>
                      </a:solidFill>
                      <a:prstDash val="solid"/>
                    </a:lnB>
                    <a:solidFill>
                      <a:srgbClr val="ffffff"/>
                    </a:solidFill>
                  </a:tcPr>
                </a:tc>
                <a:tc>
                  <a:txBody>
                    <a:bodyPr lIns="90000" rIns="90000" tIns="46800" bIns="46800" anchor="ctr">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ea typeface="Arial"/>
                        </a:rPr>
                        <a:t>3</a:t>
                      </a:r>
                      <a:endParaRPr b="0" lang="en-IN" sz="1000" strike="noStrike" u="none">
                        <a:solidFill>
                          <a:srgbClr val="000000"/>
                        </a:solidFill>
                        <a:effectLst/>
                        <a:uFillTx/>
                        <a:latin typeface="Arial"/>
                      </a:endParaRPr>
                    </a:p>
                  </a:txBody>
                  <a:tcPr anchor="ctr" marL="90000" marR="90000">
                    <a:lnL w="5760">
                      <a:solidFill>
                        <a:srgbClr val="4d6776"/>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ffffff"/>
                    </a:solidFill>
                  </a:tcPr>
                </a:tc>
              </a:tr>
            </a:tbl>
          </a:graphicData>
        </a:graphic>
      </p:graphicFrame>
      <p:sp>
        <p:nvSpPr>
          <p:cNvPr id="316" name=""/>
          <p:cNvSpPr/>
          <p:nvPr/>
        </p:nvSpPr>
        <p:spPr>
          <a:xfrm>
            <a:off x="0" y="0"/>
            <a:ext cx="1752480" cy="6934680"/>
          </a:xfrm>
          <a:prstGeom prst="rect">
            <a:avLst/>
          </a:prstGeom>
          <a:solidFill>
            <a:srgbClr val="4d006c"/>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Reinforce Performance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Employees know how their performance contributes to the goals of the organization.  Strong performance is rewarded; poor performance is eliminated. Successful performance is differentiated and strengthened. Employees are held accountable.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 </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Percent employees with current performance evaluations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Employee survey ratings on “performance and accountability” questions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Disciplinary actions and reasons, disciplinary grievances/appeals filed and disposition (outcomes)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Reward and recognition practices (TBD)</a:t>
            </a:r>
            <a:br>
              <a:rPr sz="1000"/>
            </a:br>
            <a:endParaRPr b="0" lang="en-IN" sz="10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7" name=""/>
          <p:cNvSpPr/>
          <p:nvPr/>
        </p:nvSpPr>
        <p:spPr>
          <a:xfrm>
            <a:off x="2209680" y="822240"/>
            <a:ext cx="2819520" cy="39924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Disciplinary Grievances</a:t>
            </a:r>
            <a:br>
              <a:rPr sz="1000"/>
            </a:br>
            <a:r>
              <a:rPr b="1" lang="en-IN" sz="1000" strike="noStrike" u="none">
                <a:solidFill>
                  <a:srgbClr val="000000"/>
                </a:solidFill>
                <a:effectLst/>
                <a:uFillTx/>
                <a:latin typeface="Arial"/>
              </a:rPr>
              <a:t>(Represented Employees)</a:t>
            </a:r>
            <a:endParaRPr b="0" lang="en-IN" sz="1000" strike="noStrike" u="none">
              <a:solidFill>
                <a:srgbClr val="000000"/>
              </a:solidFill>
              <a:effectLst/>
              <a:uFillTx/>
              <a:latin typeface="Arial"/>
            </a:endParaRPr>
          </a:p>
        </p:txBody>
      </p:sp>
      <p:graphicFrame>
        <p:nvGraphicFramePr>
          <p:cNvPr id="318" name=""/>
          <p:cNvGraphicFramePr/>
          <p:nvPr/>
        </p:nvGraphicFramePr>
        <p:xfrm>
          <a:off x="1828800" y="1112760"/>
          <a:ext cx="3579840" cy="2316240"/>
        </p:xfrm>
        <a:graphic>
          <a:graphicData uri="http://schemas.openxmlformats.org/presentationml/2006/ole">
            <p:oleObj r:id="rId1" spid="">
              <p:embed/>
              <p:pic>
                <p:nvPicPr>
                  <p:cNvPr id="319" name="" descr=""/>
                  <p:cNvPicPr/>
                  <p:nvPr/>
                </p:nvPicPr>
                <p:blipFill>
                  <a:blip r:embed="rId2"/>
                  <a:stretch/>
                </p:blipFill>
                <p:spPr>
                  <a:xfrm>
                    <a:off x="1828800" y="1112760"/>
                    <a:ext cx="3579840" cy="2316240"/>
                  </a:xfrm>
                  <a:prstGeom prst="rect">
                    <a:avLst/>
                  </a:prstGeom>
                  <a:noFill/>
                  <a:ln w="0">
                    <a:noFill/>
                  </a:ln>
                </p:spPr>
              </p:pic>
            </p:oleObj>
          </a:graphicData>
        </a:graphic>
      </p:graphicFrame>
      <p:sp>
        <p:nvSpPr>
          <p:cNvPr id="320" name=""/>
          <p:cNvSpPr/>
          <p:nvPr/>
        </p:nvSpPr>
        <p:spPr>
          <a:xfrm>
            <a:off x="1752480" y="6523200"/>
            <a:ext cx="160020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October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Agency Tracking</a:t>
            </a:r>
            <a:endParaRPr b="0" lang="en-IN" sz="1000" strike="noStrike" u="none">
              <a:solidFill>
                <a:srgbClr val="000000"/>
              </a:solidFill>
              <a:effectLst/>
              <a:uFillTx/>
              <a:latin typeface="Arial"/>
            </a:endParaRPr>
          </a:p>
        </p:txBody>
      </p:sp>
      <p:sp>
        <p:nvSpPr>
          <p:cNvPr id="321" name=""/>
          <p:cNvSpPr/>
          <p:nvPr/>
        </p:nvSpPr>
        <p:spPr>
          <a:xfrm>
            <a:off x="1828800" y="3727440"/>
            <a:ext cx="3429000" cy="1678320"/>
          </a:xfrm>
          <a:prstGeom prst="rect">
            <a:avLst/>
          </a:prstGeom>
          <a:noFill/>
          <a:ln w="28440">
            <a:solidFill>
              <a:srgbClr val="4d006c"/>
            </a:solidFill>
            <a:miter/>
          </a:ln>
        </p:spPr>
        <p:style>
          <a:lnRef idx="0"/>
          <a:fillRef idx="0"/>
          <a:effectRef idx="0"/>
          <a:fontRef idx="minor"/>
        </p:style>
        <p:txBody>
          <a:bodyPr lIns="90000" rIns="90000" tIns="46800" bIns="46800" anchor="t">
            <a:spAutoFit/>
          </a:bodyPr>
          <a:p>
            <a:pPr marL="177840" indent="-177840"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Disposition (Outcomes) of Disciplinary Grievances</a:t>
            </a:r>
            <a:endParaRPr b="0" lang="en-IN" sz="1000" strike="noStrike" u="none">
              <a:solidFill>
                <a:srgbClr val="000000"/>
              </a:solidFill>
              <a:effectLst/>
              <a:uFillTx/>
              <a:latin typeface="Arial"/>
            </a:endParaRPr>
          </a:p>
          <a:p>
            <a:pPr marL="177840" indent="-177840"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Time period = 07/06 through 06/07</a:t>
            </a:r>
            <a:endParaRPr b="0" lang="en-IN" sz="1000" strike="noStrike" u="none">
              <a:solidFill>
                <a:srgbClr val="000000"/>
              </a:solidFill>
              <a:effectLst/>
              <a:uFillTx/>
              <a:latin typeface="Arial"/>
            </a:endParaRPr>
          </a:p>
          <a:p>
            <a:pPr marL="177840" indent="-177840" algn="ct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77840" indent="-177840">
              <a:spcBef>
                <a:spcPts val="624"/>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August 2006 grievance dismissed August 2006</a:t>
            </a:r>
            <a:endParaRPr b="0" lang="en-IN" sz="1000" strike="noStrike" u="none">
              <a:solidFill>
                <a:srgbClr val="000000"/>
              </a:solidFill>
              <a:effectLst/>
              <a:uFillTx/>
              <a:latin typeface="Arial"/>
            </a:endParaRPr>
          </a:p>
          <a:p>
            <a:pPr marL="177840" indent="-17784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1000"/>
            </a:br>
            <a:br>
              <a:rPr sz="1000"/>
            </a:br>
            <a:br>
              <a:rPr sz="1000"/>
            </a:br>
            <a:endParaRPr b="0" lang="en-IN" sz="1000" strike="noStrike" u="none">
              <a:solidFill>
                <a:srgbClr val="000000"/>
              </a:solidFill>
              <a:effectLst/>
              <a:uFillTx/>
              <a:latin typeface="Arial"/>
            </a:endParaRPr>
          </a:p>
        </p:txBody>
      </p:sp>
      <p:sp>
        <p:nvSpPr>
          <p:cNvPr id="322" name=""/>
          <p:cNvSpPr/>
          <p:nvPr/>
        </p:nvSpPr>
        <p:spPr>
          <a:xfrm>
            <a:off x="1828800" y="838080"/>
            <a:ext cx="3429000" cy="2362320"/>
          </a:xfrm>
          <a:prstGeom prst="rect">
            <a:avLst/>
          </a:prstGeom>
          <a:noFill/>
          <a:ln w="28440">
            <a:solidFill>
              <a:srgbClr val="4d006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3" name=""/>
          <p:cNvSpPr/>
          <p:nvPr/>
        </p:nvSpPr>
        <p:spPr>
          <a:xfrm>
            <a:off x="1905120" y="2946240"/>
            <a:ext cx="2819160" cy="24660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Total # Disciplinary Grievances Filed:  1</a:t>
            </a:r>
            <a:endParaRPr b="0" lang="en-IN" sz="1000" strike="noStrike" u="none">
              <a:solidFill>
                <a:srgbClr val="000000"/>
              </a:solidFill>
              <a:effectLst/>
              <a:uFillTx/>
              <a:latin typeface="Arial"/>
            </a:endParaRPr>
          </a:p>
        </p:txBody>
      </p:sp>
      <p:sp>
        <p:nvSpPr>
          <p:cNvPr id="324" name=""/>
          <p:cNvSpPr/>
          <p:nvPr/>
        </p:nvSpPr>
        <p:spPr>
          <a:xfrm>
            <a:off x="5600880" y="3720960"/>
            <a:ext cx="3429000" cy="2679840"/>
          </a:xfrm>
          <a:prstGeom prst="rect">
            <a:avLst/>
          </a:prstGeom>
          <a:noFill/>
          <a:ln w="28440">
            <a:solidFill>
              <a:srgbClr val="4d006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5" name=""/>
          <p:cNvSpPr/>
          <p:nvPr/>
        </p:nvSpPr>
        <p:spPr>
          <a:xfrm>
            <a:off x="5486400" y="3720960"/>
            <a:ext cx="3581280" cy="47844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Disposition (Outcomes) of Disciplinary Appeals*</a:t>
            </a:r>
            <a:endParaRPr b="0" lang="en-IN" sz="1000" strike="noStrike" u="none">
              <a:solidFill>
                <a:srgbClr val="000000"/>
              </a:solidFill>
              <a:effectLst/>
              <a:uFillTx/>
              <a:latin typeface="Arial"/>
            </a:endParaRPr>
          </a:p>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Time period = 07/06 through 06/07</a:t>
            </a:r>
            <a:endParaRPr b="0" lang="en-IN" sz="1000" strike="noStrike" u="none">
              <a:solidFill>
                <a:srgbClr val="000000"/>
              </a:solidFill>
              <a:effectLst/>
              <a:uFillTx/>
              <a:latin typeface="Arial"/>
            </a:endParaRPr>
          </a:p>
        </p:txBody>
      </p:sp>
      <p:sp>
        <p:nvSpPr>
          <p:cNvPr id="326" name=""/>
          <p:cNvSpPr/>
          <p:nvPr/>
        </p:nvSpPr>
        <p:spPr>
          <a:xfrm>
            <a:off x="5448240" y="762120"/>
            <a:ext cx="0" cy="5638680"/>
          </a:xfrm>
          <a:prstGeom prst="line">
            <a:avLst/>
          </a:prstGeom>
          <a:ln w="76320">
            <a:solidFill>
              <a:srgbClr val="4d006c"/>
            </a:solidFill>
            <a:miter/>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327" name=""/>
          <p:cNvSpPr/>
          <p:nvPr/>
        </p:nvSpPr>
        <p:spPr>
          <a:xfrm>
            <a:off x="1828800" y="3260880"/>
            <a:ext cx="7162920" cy="399240"/>
          </a:xfrm>
          <a:prstGeom prst="rect">
            <a:avLst/>
          </a:prstGeom>
          <a:solidFill>
            <a:srgbClr val="ccccff"/>
          </a:solid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There is no one-to-one correlation between the filings shown above and the outcomes displayed in the charts below. The time lag between filing date and when a decision is rendered can cross the time periods indicated.</a:t>
            </a:r>
            <a:endParaRPr b="0" lang="en-IN" sz="1000" strike="noStrike" u="none">
              <a:solidFill>
                <a:srgbClr val="000000"/>
              </a:solidFill>
              <a:effectLst/>
              <a:uFillTx/>
              <a:latin typeface="Arial"/>
            </a:endParaRPr>
          </a:p>
        </p:txBody>
      </p:sp>
      <p:sp>
        <p:nvSpPr>
          <p:cNvPr id="328" name=""/>
          <p:cNvSpPr/>
          <p:nvPr/>
        </p:nvSpPr>
        <p:spPr>
          <a:xfrm>
            <a:off x="1828800" y="393840"/>
            <a:ext cx="7315200" cy="307440"/>
          </a:xfrm>
          <a:prstGeom prst="rect">
            <a:avLst/>
          </a:prstGeom>
          <a:noFill/>
          <a:ln w="0">
            <a:noFill/>
          </a:ln>
        </p:spPr>
        <p:style>
          <a:lnRef idx="0"/>
          <a:fillRef idx="0"/>
          <a:effectRef idx="0"/>
          <a:fontRef idx="minor"/>
        </p:style>
        <p:txBody>
          <a:bodyPr lIns="90000" rIns="90000" tIns="46800" bIns="46800" anchor="t">
            <a:spAutoFit/>
          </a:bodyPr>
          <a:p>
            <a:pPr algn="ct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Disciplinary Grievances and Appeals</a:t>
            </a:r>
            <a:endParaRPr b="0" lang="en-IN" sz="1400" strike="noStrike" u="none">
              <a:solidFill>
                <a:srgbClr val="000000"/>
              </a:solidFill>
              <a:effectLst/>
              <a:uFillTx/>
              <a:latin typeface="Arial"/>
            </a:endParaRPr>
          </a:p>
        </p:txBody>
      </p:sp>
      <p:sp>
        <p:nvSpPr>
          <p:cNvPr id="329" name=""/>
          <p:cNvSpPr/>
          <p:nvPr/>
        </p:nvSpPr>
        <p:spPr>
          <a:xfrm>
            <a:off x="5638680" y="839880"/>
            <a:ext cx="3353040" cy="2351160"/>
          </a:xfrm>
          <a:prstGeom prst="rect">
            <a:avLst/>
          </a:prstGeom>
          <a:noFill/>
          <a:ln w="28440">
            <a:solidFill>
              <a:srgbClr val="4d006c"/>
            </a:solidFill>
            <a:miter/>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Disciplinary Appeals</a:t>
            </a:r>
            <a:br>
              <a:rPr sz="1000"/>
            </a:br>
            <a:r>
              <a:rPr b="1" lang="en-IN" sz="1000" strike="noStrike" u="none">
                <a:solidFill>
                  <a:srgbClr val="000000"/>
                </a:solidFill>
                <a:effectLst/>
                <a:uFillTx/>
                <a:latin typeface="Arial"/>
              </a:rPr>
              <a:t>(Non-Represented Employees</a:t>
            </a:r>
            <a:br>
              <a:rPr sz="1000"/>
            </a:br>
            <a:r>
              <a:rPr b="1" lang="en-IN" sz="1000" strike="noStrike" u="none">
                <a:solidFill>
                  <a:srgbClr val="000000"/>
                </a:solidFill>
                <a:effectLst/>
                <a:uFillTx/>
                <a:latin typeface="Arial"/>
              </a:rPr>
              <a:t>filed with Personnel Resources Board)</a:t>
            </a:r>
            <a:endParaRPr b="0" lang="en-IN" sz="1000" strike="noStrike" u="none">
              <a:solidFill>
                <a:srgbClr val="000000"/>
              </a:solidFill>
              <a:effectLst/>
              <a:uFillTx/>
              <a:latin typeface="Arial"/>
            </a:endParaRPr>
          </a:p>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Time Period = 07/06 through 06/07</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a:spcBef>
                <a:spcPts val="187"/>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Dismissal</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Demotion</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Suspension</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0  Reduction in salary</a:t>
            </a: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0  Total Disciplinary Appeals Filed with PRB</a:t>
            </a:r>
            <a:endParaRPr b="0" lang="en-IN" sz="1000" strike="noStrike" u="none">
              <a:solidFill>
                <a:srgbClr val="000000"/>
              </a:solidFill>
              <a:effectLst/>
              <a:uFillTx/>
              <a:latin typeface="Arial"/>
            </a:endParaRPr>
          </a:p>
        </p:txBody>
      </p:sp>
      <p:sp>
        <p:nvSpPr>
          <p:cNvPr id="330" name=""/>
          <p:cNvSpPr/>
          <p:nvPr/>
        </p:nvSpPr>
        <p:spPr>
          <a:xfrm>
            <a:off x="0" y="0"/>
            <a:ext cx="1752480" cy="6934680"/>
          </a:xfrm>
          <a:prstGeom prst="rect">
            <a:avLst/>
          </a:prstGeom>
          <a:solidFill>
            <a:srgbClr val="4d006c"/>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ffffff"/>
                </a:solidFill>
                <a:effectLst/>
                <a:uFillTx/>
                <a:latin typeface="Arial Black"/>
              </a:rPr>
              <a:t>Reinforce Performance</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Outcomes:</a:t>
            </a:r>
            <a:endParaRPr b="0" lang="en-IN" sz="1000" strike="noStrike" u="none">
              <a:solidFill>
                <a:srgbClr val="000000"/>
              </a:solidFill>
              <a:effectLst/>
              <a:uFillTx/>
              <a:latin typeface="Arial"/>
            </a:endParaRPr>
          </a:p>
          <a:p>
            <a:pPr>
              <a:lnSpc>
                <a:spcPct val="14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Employees know how their performance contributes to the goals of the organization.  Strong performance is rewarded; poor performance is eliminated. Successful performance is differentiated and strengthened. Employees are held accountable.</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Black"/>
              </a:rPr>
              <a:t>Performance Measures </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Percent employees with current performance evaluations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Employee survey ratings on “performance and accountability” questions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00"/>
                </a:solidFill>
                <a:effectLst/>
                <a:uFillTx/>
                <a:latin typeface="Arial"/>
              </a:rPr>
              <a:t>Disciplinary actions and reasons, disciplinary grievances/appeals filed and disposition (outcomes)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ffffff"/>
                </a:solidFill>
                <a:effectLst/>
                <a:uFillTx/>
                <a:latin typeface="Arial"/>
              </a:rPr>
              <a:t>Reward and recognition practices (TBD)</a:t>
            </a:r>
            <a:br>
              <a:rPr sz="1000"/>
            </a:br>
            <a:endParaRPr b="0" lang="en-IN" sz="1000" strike="noStrike" u="none">
              <a:solidFill>
                <a:srgbClr val="000000"/>
              </a:solidFill>
              <a:effectLst/>
              <a:uFillTx/>
              <a:latin typeface="Arial"/>
            </a:endParaRPr>
          </a:p>
        </p:txBody>
      </p:sp>
      <p:sp>
        <p:nvSpPr>
          <p:cNvPr id="331" name=""/>
          <p:cNvSpPr/>
          <p:nvPr/>
        </p:nvSpPr>
        <p:spPr>
          <a:xfrm>
            <a:off x="5664240" y="6159600"/>
            <a:ext cx="3124080" cy="24660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*Outcomes issued by Personnel Resources Board</a:t>
            </a:r>
            <a:endParaRPr b="0" lang="en-IN" sz="1000" strike="noStrike" u="none">
              <a:solidFill>
                <a:srgbClr val="000000"/>
              </a:solidFill>
              <a:effectLst/>
              <a:uFillTx/>
              <a:latin typeface="Arial"/>
            </a:endParaRPr>
          </a:p>
        </p:txBody>
      </p:sp>
      <p:sp>
        <p:nvSpPr>
          <p:cNvPr id="332" name=""/>
          <p:cNvSpPr/>
          <p:nvPr/>
        </p:nvSpPr>
        <p:spPr>
          <a:xfrm>
            <a:off x="5867280" y="4495680"/>
            <a:ext cx="2895840" cy="368280"/>
          </a:xfrm>
          <a:prstGeom prst="rect">
            <a:avLst/>
          </a:prstGeom>
          <a:noFill/>
          <a:ln w="0">
            <a:noFill/>
          </a:ln>
        </p:spPr>
        <p:style>
          <a:lnRef idx="0"/>
          <a:fillRef idx="0"/>
          <a:effectRef idx="0"/>
          <a:fontRef idx="minor"/>
        </p:style>
        <p:txBody>
          <a:bodyPr lIns="90000" rIns="90000" tIns="46800" bIns="46800" anchor="t">
            <a:spAutoFit/>
          </a:bodyPr>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No Disciplinary Appeals</a:t>
            </a:r>
            <a:endParaRPr b="0" lang="en-IN" sz="18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3" name=""/>
          <p:cNvSpPr/>
          <p:nvPr/>
        </p:nvSpPr>
        <p:spPr>
          <a:xfrm>
            <a:off x="0" y="0"/>
            <a:ext cx="1752480" cy="6931440"/>
          </a:xfrm>
          <a:prstGeom prst="rect">
            <a:avLst/>
          </a:prstGeom>
          <a:solidFill>
            <a:srgbClr val="ff9900"/>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000000"/>
                </a:solidFill>
                <a:effectLst/>
                <a:uFillTx/>
                <a:latin typeface="Arial Black"/>
              </a:rPr>
              <a:t>ULTIMATE OUTCOMES</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Black"/>
              </a:rPr>
              <a:t>Employees are committed to the work they do and the goals of the organization</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Black"/>
              </a:rPr>
              <a:t>Successful, productive employees are retained</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Black"/>
              </a:rPr>
              <a:t>The state has the workforce breadth and depth needed for present and future success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Black"/>
              </a:rPr>
              <a:t>Performance Measures </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ff"/>
                </a:solidFill>
                <a:effectLst/>
                <a:uFillTx/>
                <a:latin typeface="Arial"/>
              </a:rPr>
              <a:t>Employee survey ratings on “commitment” questions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Turnover rates and types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Turnover rate: key occupational categories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Workforce diversity profile</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Retention measure (TBD)</a:t>
            </a:r>
            <a:br>
              <a:rPr sz="1000"/>
            </a:br>
            <a:br>
              <a:rPr sz="1000"/>
            </a:br>
            <a:br>
              <a:rPr sz="1000"/>
            </a:br>
            <a:br>
              <a:rPr sz="1000"/>
            </a:br>
            <a:br>
              <a:rPr sz="1000"/>
            </a:br>
            <a:endParaRPr b="0" lang="en-IN" sz="1000" strike="noStrike" u="none">
              <a:solidFill>
                <a:srgbClr val="000000"/>
              </a:solidFill>
              <a:effectLst/>
              <a:uFillTx/>
              <a:latin typeface="Arial"/>
            </a:endParaRPr>
          </a:p>
        </p:txBody>
      </p:sp>
      <p:grpSp>
        <p:nvGrpSpPr>
          <p:cNvPr id="334" name=""/>
          <p:cNvGrpSpPr/>
          <p:nvPr/>
        </p:nvGrpSpPr>
        <p:grpSpPr>
          <a:xfrm>
            <a:off x="1981080" y="1143000"/>
            <a:ext cx="4191120" cy="1923120"/>
            <a:chOff x="1981080" y="1143000"/>
            <a:chExt cx="4191120" cy="1923120"/>
          </a:xfrm>
        </p:grpSpPr>
        <p:grpSp>
          <p:nvGrpSpPr>
            <p:cNvPr id="335" name=""/>
            <p:cNvGrpSpPr/>
            <p:nvPr/>
          </p:nvGrpSpPr>
          <p:grpSpPr>
            <a:xfrm>
              <a:off x="1981080" y="1295280"/>
              <a:ext cx="4114800" cy="1770840"/>
              <a:chOff x="1981080" y="1295280"/>
              <a:chExt cx="4114800" cy="1770840"/>
            </a:xfrm>
          </p:grpSpPr>
          <p:sp>
            <p:nvSpPr>
              <p:cNvPr id="336" name=""/>
              <p:cNvSpPr/>
              <p:nvPr/>
            </p:nvSpPr>
            <p:spPr>
              <a:xfrm>
                <a:off x="1981080" y="1295280"/>
                <a:ext cx="4114800" cy="1131480"/>
              </a:xfrm>
              <a:prstGeom prst="rect">
                <a:avLst/>
              </a:prstGeom>
              <a:noFill/>
              <a:ln w="0">
                <a:noFill/>
              </a:ln>
            </p:spPr>
            <p:style>
              <a:lnRef idx="0"/>
              <a:fillRef idx="0"/>
              <a:effectRef idx="0"/>
              <a:fontRef idx="minor"/>
            </p:style>
            <p:txBody>
              <a:bodyPr lIns="90000" rIns="90000" tIns="46800" bIns="46800" anchor="t">
                <a:spAutoFit/>
              </a:bodyPr>
              <a:p>
                <a:pPr>
                  <a:spcAft>
                    <a:spcPts val="2126"/>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Q3. I know how my work contributes to the goals of my agency.</a:t>
                </a:r>
                <a:endParaRPr b="0" lang="en-IN" sz="1000" strike="noStrike" u="none">
                  <a:solidFill>
                    <a:srgbClr val="000000"/>
                  </a:solidFill>
                  <a:effectLst/>
                  <a:uFillTx/>
                  <a:latin typeface="Arial"/>
                </a:endParaRPr>
              </a:p>
              <a:p>
                <a:pPr>
                  <a:spcAft>
                    <a:spcPts val="2126"/>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Q12. I know how my agency measures its success.</a:t>
                </a:r>
                <a:endParaRPr b="0" lang="en-IN" sz="1000" strike="noStrike" u="none">
                  <a:solidFill>
                    <a:srgbClr val="000000"/>
                  </a:solidFill>
                  <a:effectLst/>
                  <a:uFillTx/>
                  <a:latin typeface="Arial"/>
                </a:endParaRPr>
              </a:p>
              <a:p>
                <a:pPr>
                  <a:spcBef>
                    <a:spcPts val="312"/>
                  </a:spcBef>
                  <a:spcAft>
                    <a:spcPts val="2126"/>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Q9. I receive recognition for a job well done.</a:t>
                </a:r>
                <a:endParaRPr b="0" lang="en-IN" sz="1000" strike="noStrike" u="none">
                  <a:solidFill>
                    <a:srgbClr val="000000"/>
                  </a:solidFill>
                  <a:effectLst/>
                  <a:uFillTx/>
                  <a:latin typeface="Arial"/>
                </a:endParaRPr>
              </a:p>
            </p:txBody>
          </p:sp>
          <p:graphicFrame>
            <p:nvGraphicFramePr>
              <p:cNvPr id="337" name=""/>
              <p:cNvGraphicFramePr/>
              <p:nvPr/>
            </p:nvGraphicFramePr>
            <p:xfrm>
              <a:off x="2209680" y="1295280"/>
              <a:ext cx="3505320" cy="606600"/>
            </p:xfrm>
            <a:graphic>
              <a:graphicData uri="http://schemas.openxmlformats.org/presentationml/2006/ole">
                <p:oleObj r:id="rId1" spid="">
                  <p:embed/>
                  <p:pic>
                    <p:nvPicPr>
                      <p:cNvPr id="338" name="" descr=""/>
                      <p:cNvPicPr/>
                      <p:nvPr/>
                    </p:nvPicPr>
                    <p:blipFill>
                      <a:blip r:embed="rId2"/>
                      <a:stretch/>
                    </p:blipFill>
                    <p:spPr>
                      <a:xfrm>
                        <a:off x="2209680" y="1295280"/>
                        <a:ext cx="3505320" cy="606600"/>
                      </a:xfrm>
                      <a:prstGeom prst="rect">
                        <a:avLst/>
                      </a:prstGeom>
                      <a:noFill/>
                      <a:ln w="0">
                        <a:noFill/>
                      </a:ln>
                    </p:spPr>
                  </p:pic>
                </p:oleObj>
              </a:graphicData>
            </a:graphic>
          </p:graphicFrame>
          <p:graphicFrame>
            <p:nvGraphicFramePr>
              <p:cNvPr id="339" name=""/>
              <p:cNvGraphicFramePr/>
              <p:nvPr/>
            </p:nvGraphicFramePr>
            <p:xfrm>
              <a:off x="2209680" y="1752480"/>
              <a:ext cx="3505320" cy="609840"/>
            </p:xfrm>
            <a:graphic>
              <a:graphicData uri="http://schemas.openxmlformats.org/presentationml/2006/ole">
                <p:oleObj r:id="rId3" spid="">
                  <p:embed/>
                  <p:pic>
                    <p:nvPicPr>
                      <p:cNvPr id="340" name="" descr=""/>
                      <p:cNvPicPr/>
                      <p:nvPr/>
                    </p:nvPicPr>
                    <p:blipFill>
                      <a:blip r:embed="rId4"/>
                      <a:stretch/>
                    </p:blipFill>
                    <p:spPr>
                      <a:xfrm>
                        <a:off x="2209680" y="1752480"/>
                        <a:ext cx="3505320" cy="609840"/>
                      </a:xfrm>
                      <a:prstGeom prst="rect">
                        <a:avLst/>
                      </a:prstGeom>
                      <a:noFill/>
                      <a:ln w="0">
                        <a:noFill/>
                      </a:ln>
                    </p:spPr>
                  </p:pic>
                </p:oleObj>
              </a:graphicData>
            </a:graphic>
          </p:graphicFrame>
          <p:graphicFrame>
            <p:nvGraphicFramePr>
              <p:cNvPr id="341" name=""/>
              <p:cNvGraphicFramePr/>
              <p:nvPr/>
            </p:nvGraphicFramePr>
            <p:xfrm>
              <a:off x="2209680" y="2209680"/>
              <a:ext cx="3505320" cy="609840"/>
            </p:xfrm>
            <a:graphic>
              <a:graphicData uri="http://schemas.openxmlformats.org/presentationml/2006/ole">
                <p:oleObj r:id="rId5" spid="">
                  <p:embed/>
                  <p:pic>
                    <p:nvPicPr>
                      <p:cNvPr id="342" name="" descr=""/>
                      <p:cNvPicPr/>
                      <p:nvPr/>
                    </p:nvPicPr>
                    <p:blipFill>
                      <a:blip r:embed="rId6"/>
                      <a:stretch/>
                    </p:blipFill>
                    <p:spPr>
                      <a:xfrm>
                        <a:off x="2209680" y="2209680"/>
                        <a:ext cx="3505320" cy="609840"/>
                      </a:xfrm>
                      <a:prstGeom prst="rect">
                        <a:avLst/>
                      </a:prstGeom>
                      <a:noFill/>
                      <a:ln w="0">
                        <a:noFill/>
                      </a:ln>
                    </p:spPr>
                  </p:pic>
                </p:oleObj>
              </a:graphicData>
            </a:graphic>
          </p:graphicFrame>
          <p:grpSp>
            <p:nvGrpSpPr>
              <p:cNvPr id="343" name=""/>
              <p:cNvGrpSpPr/>
              <p:nvPr/>
            </p:nvGrpSpPr>
            <p:grpSpPr>
              <a:xfrm>
                <a:off x="2039760" y="2819520"/>
                <a:ext cx="3522960" cy="246600"/>
                <a:chOff x="2039760" y="2819520"/>
                <a:chExt cx="3522960" cy="246600"/>
              </a:xfrm>
            </p:grpSpPr>
            <p:sp>
              <p:nvSpPr>
                <p:cNvPr id="344" name=""/>
                <p:cNvSpPr/>
                <p:nvPr/>
              </p:nvSpPr>
              <p:spPr>
                <a:xfrm>
                  <a:off x="2039760" y="2819520"/>
                  <a:ext cx="68436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8000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Never</a:t>
                  </a:r>
                  <a:endParaRPr b="0" lang="en-IN" sz="1000" strike="noStrike" u="none">
                    <a:solidFill>
                      <a:srgbClr val="000000"/>
                    </a:solidFill>
                    <a:effectLst/>
                    <a:uFillTx/>
                    <a:latin typeface="Arial"/>
                  </a:endParaRPr>
                </a:p>
              </p:txBody>
            </p:sp>
            <p:sp>
              <p:nvSpPr>
                <p:cNvPr id="345" name=""/>
                <p:cNvSpPr/>
                <p:nvPr/>
              </p:nvSpPr>
              <p:spPr>
                <a:xfrm>
                  <a:off x="2603520" y="2819520"/>
                  <a:ext cx="80784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cc00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Seldom</a:t>
                  </a:r>
                  <a:endParaRPr b="0" lang="en-IN" sz="1000" strike="noStrike" u="none">
                    <a:solidFill>
                      <a:srgbClr val="000000"/>
                    </a:solidFill>
                    <a:effectLst/>
                    <a:uFillTx/>
                    <a:latin typeface="Arial"/>
                  </a:endParaRPr>
                </a:p>
              </p:txBody>
            </p:sp>
            <p:sp>
              <p:nvSpPr>
                <p:cNvPr id="346" name=""/>
                <p:cNvSpPr/>
                <p:nvPr/>
              </p:nvSpPr>
              <p:spPr>
                <a:xfrm>
                  <a:off x="3259080" y="2819520"/>
                  <a:ext cx="108432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ffff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Occasionally</a:t>
                  </a:r>
                  <a:endParaRPr b="0" lang="en-IN" sz="1000" strike="noStrike" u="none">
                    <a:solidFill>
                      <a:srgbClr val="000000"/>
                    </a:solidFill>
                    <a:effectLst/>
                    <a:uFillTx/>
                    <a:latin typeface="Arial"/>
                  </a:endParaRPr>
                </a:p>
              </p:txBody>
            </p:sp>
            <p:sp>
              <p:nvSpPr>
                <p:cNvPr id="347" name=""/>
                <p:cNvSpPr/>
                <p:nvPr/>
              </p:nvSpPr>
              <p:spPr>
                <a:xfrm>
                  <a:off x="4173480" y="2819520"/>
                  <a:ext cx="88092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99ccff"/>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Usually</a:t>
                  </a:r>
                  <a:endParaRPr b="0" lang="en-IN" sz="1000" strike="noStrike" u="none">
                    <a:solidFill>
                      <a:srgbClr val="000000"/>
                    </a:solidFill>
                    <a:effectLst/>
                    <a:uFillTx/>
                    <a:latin typeface="Arial"/>
                  </a:endParaRPr>
                </a:p>
              </p:txBody>
            </p:sp>
            <p:sp>
              <p:nvSpPr>
                <p:cNvPr id="348" name=""/>
                <p:cNvSpPr/>
                <p:nvPr/>
              </p:nvSpPr>
              <p:spPr>
                <a:xfrm>
                  <a:off x="4782960" y="2819520"/>
                  <a:ext cx="77976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0000ff"/>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Always</a:t>
                  </a:r>
                  <a:endParaRPr b="0" lang="en-IN" sz="1000" strike="noStrike" u="none">
                    <a:solidFill>
                      <a:srgbClr val="000000"/>
                    </a:solidFill>
                    <a:effectLst/>
                    <a:uFillTx/>
                    <a:latin typeface="Arial"/>
                  </a:endParaRPr>
                </a:p>
              </p:txBody>
            </p:sp>
          </p:grpSp>
        </p:grpSp>
        <p:sp>
          <p:nvSpPr>
            <p:cNvPr id="349" name=""/>
            <p:cNvSpPr/>
            <p:nvPr/>
          </p:nvSpPr>
          <p:spPr>
            <a:xfrm>
              <a:off x="5638680" y="144792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4.1</a:t>
              </a:r>
              <a:endParaRPr b="0" lang="en-IN" sz="1000" strike="noStrike" u="none">
                <a:solidFill>
                  <a:srgbClr val="000000"/>
                </a:solidFill>
                <a:effectLst/>
                <a:uFillTx/>
                <a:latin typeface="Arial"/>
              </a:endParaRPr>
            </a:p>
          </p:txBody>
        </p:sp>
        <p:sp>
          <p:nvSpPr>
            <p:cNvPr id="350" name=""/>
            <p:cNvSpPr/>
            <p:nvPr/>
          </p:nvSpPr>
          <p:spPr>
            <a:xfrm>
              <a:off x="5638680" y="190512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3.2</a:t>
              </a:r>
              <a:endParaRPr b="0" lang="en-IN" sz="1000" strike="noStrike" u="none">
                <a:solidFill>
                  <a:srgbClr val="000000"/>
                </a:solidFill>
                <a:effectLst/>
                <a:uFillTx/>
                <a:latin typeface="Arial"/>
              </a:endParaRPr>
            </a:p>
          </p:txBody>
        </p:sp>
        <p:sp>
          <p:nvSpPr>
            <p:cNvPr id="351" name=""/>
            <p:cNvSpPr/>
            <p:nvPr/>
          </p:nvSpPr>
          <p:spPr>
            <a:xfrm>
              <a:off x="5638680" y="236232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3.1</a:t>
              </a:r>
              <a:endParaRPr b="0" lang="en-IN" sz="1000" strike="noStrike" u="none">
                <a:solidFill>
                  <a:srgbClr val="000000"/>
                </a:solidFill>
                <a:effectLst/>
                <a:uFillTx/>
                <a:latin typeface="Arial"/>
              </a:endParaRPr>
            </a:p>
          </p:txBody>
        </p:sp>
        <p:sp>
          <p:nvSpPr>
            <p:cNvPr id="352" name=""/>
            <p:cNvSpPr/>
            <p:nvPr/>
          </p:nvSpPr>
          <p:spPr>
            <a:xfrm>
              <a:off x="5638680" y="1143000"/>
              <a:ext cx="533520" cy="24660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sng">
                  <a:solidFill>
                    <a:srgbClr val="000000"/>
                  </a:solidFill>
                  <a:effectLst/>
                  <a:uFillTx/>
                  <a:latin typeface="Arial"/>
                </a:rPr>
                <a:t>Avg</a:t>
              </a:r>
              <a:endParaRPr b="0" lang="en-IN" sz="1000" strike="noStrike" u="none">
                <a:solidFill>
                  <a:srgbClr val="000000"/>
                </a:solidFill>
                <a:effectLst/>
                <a:uFillTx/>
                <a:latin typeface="Arial"/>
              </a:endParaRPr>
            </a:p>
          </p:txBody>
        </p:sp>
      </p:grpSp>
      <p:sp>
        <p:nvSpPr>
          <p:cNvPr id="353" name=""/>
          <p:cNvSpPr/>
          <p:nvPr/>
        </p:nvSpPr>
        <p:spPr>
          <a:xfrm>
            <a:off x="1752480" y="550800"/>
            <a:ext cx="7315200" cy="3074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Employee Survey “Employee Commitment” Ratings</a:t>
            </a:r>
            <a:endParaRPr b="0" lang="en-IN" sz="1400" strike="noStrike" u="none">
              <a:solidFill>
                <a:srgbClr val="000000"/>
              </a:solidFill>
              <a:effectLst/>
              <a:uFillTx/>
              <a:latin typeface="Arial"/>
            </a:endParaRPr>
          </a:p>
        </p:txBody>
      </p:sp>
      <p:sp>
        <p:nvSpPr>
          <p:cNvPr id="354" name=""/>
          <p:cNvSpPr/>
          <p:nvPr/>
        </p:nvSpPr>
        <p:spPr>
          <a:xfrm>
            <a:off x="6248520" y="1174680"/>
            <a:ext cx="2752560" cy="423252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Agency averages for questions 9 and 12 are slightly below the state averages.  Agency average for question 3 is equal to the state average.</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Agency average for question 9 is slightly below the state average of 3.4. More than a quarter of our employees feel that they seldom or never receive recognition for a job well done.</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has focused on open communication of its goals, its successes, areas needing improvement, and the direction the agency is going.  This information is shared to all employees via all staff meetings and department meetings.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Our agency is developing a recognition program that will incorporate individual thanks as well as traditional forms of recognition.  The program is to be in place by the end of November. </a:t>
            </a:r>
            <a:endParaRPr b="0" lang="en-IN" sz="1000" strike="noStrike" u="none">
              <a:solidFill>
                <a:srgbClr val="000000"/>
              </a:solidFill>
              <a:effectLst/>
              <a:uFillTx/>
              <a:latin typeface="Arial"/>
            </a:endParaRPr>
          </a:p>
        </p:txBody>
      </p:sp>
      <p:sp>
        <p:nvSpPr>
          <p:cNvPr id="355" name=""/>
          <p:cNvSpPr/>
          <p:nvPr/>
        </p:nvSpPr>
        <p:spPr>
          <a:xfrm>
            <a:off x="1905120" y="3505320"/>
            <a:ext cx="4190760" cy="246600"/>
          </a:xfrm>
          <a:prstGeom prst="rect">
            <a:avLst/>
          </a:prstGeom>
          <a:solidFill>
            <a:srgbClr val="ffffff"/>
          </a:solidFill>
          <a:ln w="28440">
            <a:solidFill>
              <a:srgbClr val="000000"/>
            </a:solidFill>
            <a:miter/>
          </a:ln>
        </p:spPr>
        <p:style>
          <a:lnRef idx="0"/>
          <a:fillRef idx="0"/>
          <a:effectRef idx="0"/>
          <a:fontRef idx="minor"/>
        </p:style>
        <p:txBody>
          <a:bodyPr lIns="90000" rIns="90000" tIns="46800" bIns="46800" anchor="t">
            <a:spAutoFit/>
          </a:bodyPr>
          <a:p>
            <a:pPr algn="ctr">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Overall average score for Employee Commitment ratings:  3.5</a:t>
            </a:r>
            <a:endParaRPr b="0" lang="en-IN" sz="1000" strike="noStrike" u="none">
              <a:solidFill>
                <a:srgbClr val="000000"/>
              </a:solidFill>
              <a:effectLst/>
              <a:uFillTx/>
              <a:latin typeface="Arial"/>
            </a:endParaRPr>
          </a:p>
        </p:txBody>
      </p:sp>
      <p:sp>
        <p:nvSpPr>
          <p:cNvPr id="356" name=""/>
          <p:cNvSpPr/>
          <p:nvPr/>
        </p:nvSpPr>
        <p:spPr>
          <a:xfrm>
            <a:off x="1752480" y="6523200"/>
            <a:ext cx="441972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October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2006 DOP Employee Survey</a:t>
            </a:r>
            <a:endParaRPr b="0" lang="en-IN" sz="10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7" name=""/>
          <p:cNvSpPr/>
          <p:nvPr/>
        </p:nvSpPr>
        <p:spPr>
          <a:xfrm>
            <a:off x="5638680" y="749160"/>
            <a:ext cx="3329280" cy="309060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There was a slight decrease in turnover during the second half or the fiscal year.</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majority of our resignations come from our entry level production employees.</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has addressed one cause of the entry level production resignations by reviewing and changing the wage structure for those positions.  The positions are physically demanding so some turnover is to be expected. </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In addition, the agency is developing a recognition program that will incorporate individual thanks as well as traditional forms of recognition. </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358" name=""/>
          <p:cNvSpPr/>
          <p:nvPr/>
        </p:nvSpPr>
        <p:spPr>
          <a:xfrm>
            <a:off x="1752480" y="6523200"/>
            <a:ext cx="441972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October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DOP Business Warehouse</a:t>
            </a:r>
            <a:endParaRPr b="0" lang="en-IN" sz="1000" strike="noStrike" u="none">
              <a:solidFill>
                <a:srgbClr val="000000"/>
              </a:solidFill>
              <a:effectLst/>
              <a:uFillTx/>
              <a:latin typeface="Arial"/>
            </a:endParaRPr>
          </a:p>
        </p:txBody>
      </p:sp>
      <p:sp>
        <p:nvSpPr>
          <p:cNvPr id="359" name=""/>
          <p:cNvSpPr/>
          <p:nvPr/>
        </p:nvSpPr>
        <p:spPr>
          <a:xfrm>
            <a:off x="1828800" y="673200"/>
            <a:ext cx="3733920" cy="4038480"/>
          </a:xfrm>
          <a:prstGeom prst="rect">
            <a:avLst/>
          </a:prstGeom>
          <a:noFill/>
          <a:ln w="28440">
            <a:solidFill>
              <a:srgbClr val="000000"/>
            </a:solidFill>
            <a:miter/>
          </a:ln>
        </p:spPr>
        <p:style>
          <a:lnRef idx="0"/>
          <a:fillRef idx="0"/>
          <a:effectRef idx="0"/>
          <a:fontRef idx="minor"/>
        </p:style>
        <p:txBody>
          <a:bodyPr lIns="90000" rIns="90000" tIns="46800" bIns="46800" anchor="t">
            <a:spAutoFit/>
          </a:bodyPr>
          <a:p>
            <a:endParaRPr b="0" lang="en-IN" sz="1800" strike="noStrike" u="none">
              <a:solidFill>
                <a:srgbClr val="000000"/>
              </a:solidFill>
              <a:effectLst/>
              <a:uFillTx/>
              <a:latin typeface="Arial"/>
            </a:endParaRPr>
          </a:p>
        </p:txBody>
      </p:sp>
      <p:sp>
        <p:nvSpPr>
          <p:cNvPr id="360" name=""/>
          <p:cNvSpPr/>
          <p:nvPr/>
        </p:nvSpPr>
        <p:spPr>
          <a:xfrm>
            <a:off x="1828800" y="4419720"/>
            <a:ext cx="36576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Note:  Movement to another agency is currently not available in HRMS/BW</a:t>
            </a:r>
            <a:endParaRPr b="0" lang="en-IN" sz="1000" strike="noStrike" u="none">
              <a:solidFill>
                <a:srgbClr val="000000"/>
              </a:solidFill>
              <a:effectLst/>
              <a:uFillTx/>
              <a:latin typeface="Arial"/>
            </a:endParaRPr>
          </a:p>
        </p:txBody>
      </p:sp>
      <p:sp>
        <p:nvSpPr>
          <p:cNvPr id="361" name=""/>
          <p:cNvSpPr/>
          <p:nvPr/>
        </p:nvSpPr>
        <p:spPr>
          <a:xfrm>
            <a:off x="1828800" y="304920"/>
            <a:ext cx="7315200" cy="3074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Turnover Rates</a:t>
            </a:r>
            <a:endParaRPr b="0" lang="en-IN" sz="1400" strike="noStrike" u="none">
              <a:solidFill>
                <a:srgbClr val="000000"/>
              </a:solidFill>
              <a:effectLst/>
              <a:uFillTx/>
              <a:latin typeface="Arial"/>
            </a:endParaRPr>
          </a:p>
        </p:txBody>
      </p:sp>
      <p:sp>
        <p:nvSpPr>
          <p:cNvPr id="362" name=""/>
          <p:cNvSpPr/>
          <p:nvPr/>
        </p:nvSpPr>
        <p:spPr>
          <a:xfrm>
            <a:off x="1816200" y="4102200"/>
            <a:ext cx="3352680" cy="39924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Total Turnover Actions:  17</a:t>
            </a:r>
            <a:br>
              <a:rPr sz="1000"/>
            </a:br>
            <a:r>
              <a:rPr b="1" lang="en-IN" sz="1000" strike="noStrike" u="none">
                <a:solidFill>
                  <a:srgbClr val="000000"/>
                </a:solidFill>
                <a:effectLst/>
                <a:uFillTx/>
                <a:latin typeface="Arial"/>
              </a:rPr>
              <a:t>Total % Turnover:  14.0%</a:t>
            </a:r>
            <a:endParaRPr b="0" lang="en-IN" sz="1000" strike="noStrike" u="none">
              <a:solidFill>
                <a:srgbClr val="000000"/>
              </a:solidFill>
              <a:effectLst/>
              <a:uFillTx/>
              <a:latin typeface="Arial"/>
            </a:endParaRPr>
          </a:p>
        </p:txBody>
      </p:sp>
      <p:sp>
        <p:nvSpPr>
          <p:cNvPr id="363" name=""/>
          <p:cNvSpPr/>
          <p:nvPr/>
        </p:nvSpPr>
        <p:spPr>
          <a:xfrm>
            <a:off x="0" y="0"/>
            <a:ext cx="1752480" cy="6931440"/>
          </a:xfrm>
          <a:prstGeom prst="rect">
            <a:avLst/>
          </a:prstGeom>
          <a:solidFill>
            <a:srgbClr val="ff9900"/>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000000"/>
                </a:solidFill>
                <a:effectLst/>
                <a:uFillTx/>
                <a:latin typeface="Arial Black"/>
              </a:rPr>
              <a:t>ULTIMATE OUTCOMES</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Black"/>
              </a:rPr>
              <a:t>Employees are committed to the work they do and the goals of the organization</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Black"/>
              </a:rPr>
              <a:t>Successful, productive employees are retained</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Black"/>
              </a:rPr>
              <a:t>The state has the workforce breadth and depth needed for present and future success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Black"/>
              </a:rPr>
              <a:t>Performance Measures </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Employee survey ratings on “commitment” questions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ff"/>
                </a:solidFill>
                <a:effectLst/>
                <a:uFillTx/>
                <a:latin typeface="Arial"/>
              </a:rPr>
              <a:t>Turnover rates and types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Turnover rate: key occupational categories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Workforce diversity profile</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Retention measure (TBD)</a:t>
            </a:r>
            <a:br>
              <a:rPr sz="1000"/>
            </a:br>
            <a:br>
              <a:rPr sz="1000"/>
            </a:br>
            <a:br>
              <a:rPr sz="1000"/>
            </a:br>
            <a:br>
              <a:rPr sz="1000"/>
            </a:br>
            <a:br>
              <a:rPr sz="1000"/>
            </a:br>
            <a:br>
              <a:rPr sz="1000"/>
            </a:br>
            <a:endParaRPr b="0" lang="en-IN" sz="1000" strike="noStrike" u="none">
              <a:solidFill>
                <a:srgbClr val="000000"/>
              </a:solidFill>
              <a:effectLst/>
              <a:uFillTx/>
              <a:latin typeface="Arial"/>
            </a:endParaRPr>
          </a:p>
        </p:txBody>
      </p:sp>
      <p:graphicFrame>
        <p:nvGraphicFramePr>
          <p:cNvPr id="364" name=""/>
          <p:cNvGraphicFramePr/>
          <p:nvPr/>
        </p:nvGraphicFramePr>
        <p:xfrm>
          <a:off x="2057400" y="1206360"/>
          <a:ext cx="3276720" cy="2899080"/>
        </p:xfrm>
        <a:graphic>
          <a:graphicData uri="http://schemas.openxmlformats.org/presentationml/2006/ole">
            <p:oleObj r:id="rId1" spid="">
              <p:embed/>
              <p:pic>
                <p:nvPicPr>
                  <p:cNvPr id="365" name="" descr=""/>
                  <p:cNvPicPr/>
                  <p:nvPr/>
                </p:nvPicPr>
                <p:blipFill>
                  <a:blip r:embed="rId2"/>
                  <a:stretch/>
                </p:blipFill>
                <p:spPr>
                  <a:xfrm>
                    <a:off x="2057400" y="1206360"/>
                    <a:ext cx="3276720" cy="2899080"/>
                  </a:xfrm>
                  <a:prstGeom prst="rect">
                    <a:avLst/>
                  </a:prstGeom>
                  <a:noFill/>
                  <a:ln w="0">
                    <a:noFill/>
                  </a:ln>
                </p:spPr>
              </p:pic>
            </p:oleObj>
          </a:graphicData>
        </a:graphic>
      </p:graphicFrame>
      <p:sp>
        <p:nvSpPr>
          <p:cNvPr id="366" name=""/>
          <p:cNvSpPr/>
          <p:nvPr/>
        </p:nvSpPr>
        <p:spPr>
          <a:xfrm>
            <a:off x="2057400" y="749160"/>
            <a:ext cx="3352680" cy="478440"/>
          </a:xfrm>
          <a:prstGeom prst="rect">
            <a:avLst/>
          </a:prstGeom>
          <a:noFill/>
          <a:ln w="0">
            <a:noFill/>
          </a:ln>
        </p:spPr>
        <p:style>
          <a:lnRef idx="0"/>
          <a:fillRef idx="0"/>
          <a:effectRef idx="0"/>
          <a:fontRef idx="minor"/>
        </p:style>
        <p:txBody>
          <a:bodyPr lIns="90000" rIns="90000" tIns="46800" bIns="46800" anchor="t">
            <a:spAutoFit/>
          </a:bodyPr>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Total % Turnover (leaving state)</a:t>
            </a:r>
            <a:endParaRPr b="0" lang="en-IN" sz="1000" strike="noStrike" u="none">
              <a:solidFill>
                <a:srgbClr val="000000"/>
              </a:solidFill>
              <a:effectLst/>
              <a:uFillTx/>
              <a:latin typeface="Arial"/>
            </a:endParaRPr>
          </a:p>
          <a:p>
            <a:pPr algn="ct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Time Period:  07/06 through 06/07</a:t>
            </a:r>
            <a:endParaRPr b="0" lang="en-IN" sz="10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367" name=""/>
          <p:cNvGraphicFramePr/>
          <p:nvPr/>
        </p:nvGraphicFramePr>
        <p:xfrm>
          <a:off x="1968480" y="1828800"/>
          <a:ext cx="3200400" cy="2484360"/>
        </p:xfrm>
        <a:graphic>
          <a:graphicData uri="http://schemas.openxmlformats.org/presentationml/2006/ole">
            <p:oleObj r:id="rId1" spid="">
              <p:embed/>
              <p:pic>
                <p:nvPicPr>
                  <p:cNvPr id="368" name="" descr=""/>
                  <p:cNvPicPr/>
                  <p:nvPr/>
                </p:nvPicPr>
                <p:blipFill>
                  <a:blip r:embed="rId2"/>
                  <a:stretch/>
                </p:blipFill>
                <p:spPr>
                  <a:xfrm>
                    <a:off x="1968480" y="1828800"/>
                    <a:ext cx="3200400" cy="2484360"/>
                  </a:xfrm>
                  <a:prstGeom prst="rect">
                    <a:avLst/>
                  </a:prstGeom>
                  <a:noFill/>
                  <a:ln w="0">
                    <a:noFill/>
                  </a:ln>
                </p:spPr>
              </p:pic>
            </p:oleObj>
          </a:graphicData>
        </a:graphic>
      </p:graphicFrame>
      <p:sp>
        <p:nvSpPr>
          <p:cNvPr id="369" name=""/>
          <p:cNvSpPr/>
          <p:nvPr/>
        </p:nvSpPr>
        <p:spPr>
          <a:xfrm>
            <a:off x="1905120" y="609480"/>
            <a:ext cx="3352680" cy="1162440"/>
          </a:xfrm>
          <a:prstGeom prst="rect">
            <a:avLst/>
          </a:prstGeom>
          <a:noFill/>
          <a:ln w="28440">
            <a:solidFill>
              <a:srgbClr val="000000"/>
            </a:solidFill>
            <a:miter/>
          </a:ln>
        </p:spPr>
        <p:style>
          <a:lnRef idx="0"/>
          <a:fillRef idx="0"/>
          <a:effectRef idx="0"/>
          <a:fontRef idx="minor"/>
        </p:style>
        <p:txBody>
          <a:bodyPr lIns="90000" rIns="90000" tIns="46800" bIns="46800" anchor="t">
            <a:spAutoFit/>
          </a:bodyPr>
          <a:p>
            <a:pPr>
              <a:tabLst>
                <a:tab algn="l" pos="0"/>
                <a:tab algn="r" pos="1941480"/>
                <a:tab algn="r" pos="285588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	</a:t>
            </a:r>
            <a:r>
              <a:rPr b="1" lang="en-IN" sz="1000" strike="noStrike" u="none">
                <a:solidFill>
                  <a:srgbClr val="000000"/>
                </a:solidFill>
                <a:effectLst/>
                <a:uFillTx/>
                <a:latin typeface="Arial"/>
              </a:rPr>
              <a:t> Agency</a:t>
            </a:r>
            <a:r>
              <a:rPr b="1" lang="en-IN" sz="1000" strike="noStrike" u="none">
                <a:solidFill>
                  <a:srgbClr val="000000"/>
                </a:solidFill>
                <a:effectLst/>
                <a:uFillTx/>
                <a:latin typeface="Arial"/>
              </a:rPr>
              <a:t>	</a:t>
            </a:r>
            <a:r>
              <a:rPr b="1" lang="en-IN" sz="1000" strike="noStrike" u="none">
                <a:solidFill>
                  <a:srgbClr val="000000"/>
                </a:solidFill>
                <a:effectLst/>
                <a:uFillTx/>
                <a:latin typeface="Arial"/>
              </a:rPr>
              <a:t>State</a:t>
            </a:r>
            <a:endParaRPr b="0" lang="en-IN" sz="1000" strike="noStrike" u="none">
              <a:solidFill>
                <a:srgbClr val="000000"/>
              </a:solidFill>
              <a:effectLst/>
              <a:uFillTx/>
              <a:latin typeface="Arial"/>
            </a:endParaRPr>
          </a:p>
          <a:p>
            <a:pPr>
              <a:tabLst>
                <a:tab algn="l" pos="0"/>
                <a:tab algn="r" pos="1941480"/>
                <a:tab algn="r" pos="285588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Female</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 41%</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   53%</a:t>
            </a:r>
            <a:endParaRPr b="0" lang="en-IN" sz="1000" strike="noStrike" u="none">
              <a:solidFill>
                <a:srgbClr val="000000"/>
              </a:solidFill>
              <a:effectLst/>
              <a:uFillTx/>
              <a:latin typeface="Arial"/>
            </a:endParaRPr>
          </a:p>
          <a:p>
            <a:pPr>
              <a:tabLst>
                <a:tab algn="l" pos="0"/>
                <a:tab algn="r" pos="1941480"/>
                <a:tab algn="r" pos="285588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Disabled</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 2%</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    5%</a:t>
            </a:r>
            <a:endParaRPr b="0" lang="en-IN" sz="1000" strike="noStrike" u="none">
              <a:solidFill>
                <a:srgbClr val="000000"/>
              </a:solidFill>
              <a:effectLst/>
              <a:uFillTx/>
              <a:latin typeface="Arial"/>
            </a:endParaRPr>
          </a:p>
          <a:p>
            <a:pPr>
              <a:tabLst>
                <a:tab algn="l" pos="0"/>
                <a:tab algn="r" pos="1941480"/>
                <a:tab algn="r" pos="285588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Vietnam Vet</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1%</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    7%</a:t>
            </a:r>
            <a:endParaRPr b="0" lang="en-IN" sz="1000" strike="noStrike" u="none">
              <a:solidFill>
                <a:srgbClr val="000000"/>
              </a:solidFill>
              <a:effectLst/>
              <a:uFillTx/>
              <a:latin typeface="Arial"/>
            </a:endParaRPr>
          </a:p>
          <a:p>
            <a:pPr>
              <a:tabLst>
                <a:tab algn="l" pos="0"/>
                <a:tab algn="r" pos="1941480"/>
                <a:tab algn="r" pos="285588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Disabled Vet </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    2% </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    2%</a:t>
            </a:r>
            <a:endParaRPr b="0" lang="en-IN" sz="1000" strike="noStrike" u="none">
              <a:solidFill>
                <a:srgbClr val="000000"/>
              </a:solidFill>
              <a:effectLst/>
              <a:uFillTx/>
              <a:latin typeface="Arial"/>
            </a:endParaRPr>
          </a:p>
          <a:p>
            <a:pPr>
              <a:tabLst>
                <a:tab algn="l" pos="0"/>
                <a:tab algn="r" pos="1941480"/>
                <a:tab algn="r" pos="285588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People of color</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16%</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   18%</a:t>
            </a:r>
            <a:endParaRPr b="0" lang="en-IN" sz="1000" strike="noStrike" u="none">
              <a:solidFill>
                <a:srgbClr val="000000"/>
              </a:solidFill>
              <a:effectLst/>
              <a:uFillTx/>
              <a:latin typeface="Arial"/>
            </a:endParaRPr>
          </a:p>
          <a:p>
            <a:pPr>
              <a:tabLst>
                <a:tab algn="l" pos="0"/>
                <a:tab algn="r" pos="1941480"/>
                <a:tab algn="r" pos="285588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Persons over 40</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 59%</a:t>
            </a:r>
            <a:r>
              <a:rPr b="0" lang="en-IN" sz="1000" strike="noStrike" u="none">
                <a:solidFill>
                  <a:srgbClr val="000000"/>
                </a:solidFill>
                <a:effectLst/>
                <a:uFillTx/>
                <a:latin typeface="Arial"/>
              </a:rPr>
              <a:t>	</a:t>
            </a:r>
            <a:r>
              <a:rPr b="0" lang="en-IN" sz="1000" strike="noStrike" u="none">
                <a:solidFill>
                  <a:srgbClr val="000000"/>
                </a:solidFill>
                <a:effectLst/>
                <a:uFillTx/>
                <a:latin typeface="Arial"/>
              </a:rPr>
              <a:t>   75%</a:t>
            </a:r>
            <a:endParaRPr b="0" lang="en-IN" sz="1000" strike="noStrike" u="none">
              <a:solidFill>
                <a:srgbClr val="000000"/>
              </a:solidFill>
              <a:effectLst/>
              <a:uFillTx/>
              <a:latin typeface="Arial"/>
            </a:endParaRPr>
          </a:p>
        </p:txBody>
      </p:sp>
      <p:graphicFrame>
        <p:nvGraphicFramePr>
          <p:cNvPr id="370" name=""/>
          <p:cNvGraphicFramePr/>
          <p:nvPr/>
        </p:nvGraphicFramePr>
        <p:xfrm>
          <a:off x="1968480" y="4214880"/>
          <a:ext cx="3289320" cy="2554200"/>
        </p:xfrm>
        <a:graphic>
          <a:graphicData uri="http://schemas.openxmlformats.org/presentationml/2006/ole">
            <p:oleObj r:id="rId3" spid="">
              <p:embed/>
              <p:pic>
                <p:nvPicPr>
                  <p:cNvPr id="371" name="" descr=""/>
                  <p:cNvPicPr/>
                  <p:nvPr/>
                </p:nvPicPr>
                <p:blipFill>
                  <a:blip r:embed="rId4"/>
                  <a:stretch/>
                </p:blipFill>
                <p:spPr>
                  <a:xfrm>
                    <a:off x="1968480" y="4214880"/>
                    <a:ext cx="3289320" cy="2554200"/>
                  </a:xfrm>
                  <a:prstGeom prst="rect">
                    <a:avLst/>
                  </a:prstGeom>
                  <a:noFill/>
                  <a:ln w="0">
                    <a:noFill/>
                  </a:ln>
                </p:spPr>
              </p:pic>
            </p:oleObj>
          </a:graphicData>
        </a:graphic>
      </p:graphicFrame>
      <p:sp>
        <p:nvSpPr>
          <p:cNvPr id="372" name=""/>
          <p:cNvSpPr/>
          <p:nvPr/>
        </p:nvSpPr>
        <p:spPr>
          <a:xfrm>
            <a:off x="5410080" y="3733920"/>
            <a:ext cx="3505320" cy="2864520"/>
          </a:xfrm>
          <a:prstGeom prst="rect">
            <a:avLst/>
          </a:prstGeom>
          <a:noFill/>
          <a:ln w="0">
            <a:noFill/>
          </a:ln>
        </p:spPr>
        <p:style>
          <a:lnRef idx="0"/>
          <a:fillRef idx="0"/>
          <a:effectRef idx="0"/>
          <a:fontRef idx="minor"/>
        </p:style>
        <p:txBody>
          <a:bodyPr lIns="90000" rIns="90000" tIns="46800" bIns="46800" anchor="t">
            <a:spAutoFit/>
          </a:bodyPr>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Analysis: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According to the May 2006 Affirmative Action Plan for the agency, compared to similar production facilities, we are underrepresented in the Native American group.</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Action Steps:</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will continue to monitor the hiring process to determine if our recruitment or hiring practices need to be revised.</a:t>
            </a: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 agency will continue to utilize various diversity listings to attract qualified candidates.</a:t>
            </a:r>
            <a:endParaRPr b="0" lang="en-IN" sz="1000" strike="noStrike" u="none">
              <a:solidFill>
                <a:srgbClr val="000000"/>
              </a:solidFill>
              <a:effectLst/>
              <a:uFillTx/>
              <a:latin typeface="Arial"/>
            </a:endParaRPr>
          </a:p>
          <a:p>
            <a:pPr marL="168120" indent="-168120">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168120" indent="-168120">
              <a:spcBef>
                <a:spcPts val="62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373" name=""/>
          <p:cNvSpPr/>
          <p:nvPr/>
        </p:nvSpPr>
        <p:spPr>
          <a:xfrm>
            <a:off x="1833480" y="291960"/>
            <a:ext cx="7234200" cy="3074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Workforce Diversity Profile</a:t>
            </a:r>
            <a:endParaRPr b="0" lang="en-IN" sz="1400" strike="noStrike" u="none">
              <a:solidFill>
                <a:srgbClr val="000000"/>
              </a:solidFill>
              <a:effectLst/>
              <a:uFillTx/>
              <a:latin typeface="Arial"/>
            </a:endParaRPr>
          </a:p>
        </p:txBody>
      </p:sp>
      <p:sp>
        <p:nvSpPr>
          <p:cNvPr id="374" name=""/>
          <p:cNvSpPr/>
          <p:nvPr/>
        </p:nvSpPr>
        <p:spPr>
          <a:xfrm>
            <a:off x="1905120" y="1866960"/>
            <a:ext cx="3352680" cy="2400120"/>
          </a:xfrm>
          <a:prstGeom prst="rect">
            <a:avLst/>
          </a:prstGeom>
          <a:noFill/>
          <a:ln w="28440">
            <a:solidFill>
              <a:srgbClr val="000000"/>
            </a:solidFill>
            <a:miter/>
          </a:ln>
        </p:spPr>
        <p:style>
          <a:lnRef idx="0"/>
          <a:fillRef idx="0"/>
          <a:effectRef idx="0"/>
          <a:fontRef idx="minor"/>
        </p:style>
        <p:txBody>
          <a:bodyPr lIns="90000" rIns="90000" tIns="46800" bIns="46800" anchor="t">
            <a:spAutoFit/>
          </a:bodyPr>
          <a:p>
            <a:endParaRPr b="0" lang="en-IN" sz="1800" strike="noStrike" u="none">
              <a:solidFill>
                <a:srgbClr val="000000"/>
              </a:solidFill>
              <a:effectLst/>
              <a:uFillTx/>
              <a:latin typeface="Arial"/>
            </a:endParaRPr>
          </a:p>
        </p:txBody>
      </p:sp>
      <p:sp>
        <p:nvSpPr>
          <p:cNvPr id="375" name=""/>
          <p:cNvSpPr/>
          <p:nvPr/>
        </p:nvSpPr>
        <p:spPr>
          <a:xfrm>
            <a:off x="1905120" y="4343400"/>
            <a:ext cx="3352680" cy="2438280"/>
          </a:xfrm>
          <a:prstGeom prst="rect">
            <a:avLst/>
          </a:prstGeom>
          <a:noFill/>
          <a:ln w="28440">
            <a:solidFill>
              <a:srgbClr val="000000"/>
            </a:solidFill>
            <a:miter/>
          </a:ln>
        </p:spPr>
        <p:style>
          <a:lnRef idx="0"/>
          <a:fillRef idx="0"/>
          <a:effectRef idx="0"/>
          <a:fontRef idx="minor"/>
        </p:style>
        <p:txBody>
          <a:bodyPr lIns="90000" rIns="90000" tIns="46800" bIns="46800" anchor="t">
            <a:spAutoFit/>
          </a:bodyPr>
          <a:p>
            <a:endParaRPr b="0" lang="en-IN" sz="1800" strike="noStrike" u="none">
              <a:solidFill>
                <a:srgbClr val="000000"/>
              </a:solidFill>
              <a:effectLst/>
              <a:uFillTx/>
              <a:latin typeface="Arial"/>
            </a:endParaRPr>
          </a:p>
        </p:txBody>
      </p:sp>
      <p:sp>
        <p:nvSpPr>
          <p:cNvPr id="376" name=""/>
          <p:cNvSpPr/>
          <p:nvPr/>
        </p:nvSpPr>
        <p:spPr>
          <a:xfrm>
            <a:off x="5410080" y="622440"/>
            <a:ext cx="3505320" cy="2692440"/>
          </a:xfrm>
          <a:prstGeom prst="rect">
            <a:avLst/>
          </a:prstGeom>
          <a:noFill/>
          <a:ln w="28440">
            <a:solidFill>
              <a:srgbClr val="000000"/>
            </a:solidFill>
            <a:miter/>
          </a:ln>
        </p:spPr>
        <p:style>
          <a:lnRef idx="0"/>
          <a:fillRef idx="0"/>
          <a:effectRef idx="0"/>
          <a:fontRef idx="minor"/>
        </p:style>
        <p:txBody>
          <a:bodyPr lIns="90000" rIns="90000" tIns="46800" bIns="46800" anchor="t">
            <a:spAutoFit/>
          </a:bodyPr>
          <a:p>
            <a:endParaRPr b="0" lang="en-IN" sz="1800" strike="noStrike" u="none">
              <a:solidFill>
                <a:srgbClr val="000000"/>
              </a:solidFill>
              <a:effectLst/>
              <a:uFillTx/>
              <a:latin typeface="Arial"/>
            </a:endParaRPr>
          </a:p>
        </p:txBody>
      </p:sp>
      <p:graphicFrame>
        <p:nvGraphicFramePr>
          <p:cNvPr id="377" name=""/>
          <p:cNvGraphicFramePr/>
          <p:nvPr/>
        </p:nvGraphicFramePr>
        <p:xfrm>
          <a:off x="5448240" y="855720"/>
          <a:ext cx="3619440" cy="2421000"/>
        </p:xfrm>
        <a:graphic>
          <a:graphicData uri="http://schemas.openxmlformats.org/presentationml/2006/ole">
            <p:oleObj r:id="rId5" spid="">
              <p:embed/>
              <p:pic>
                <p:nvPicPr>
                  <p:cNvPr id="378" name="" descr=""/>
                  <p:cNvPicPr/>
                  <p:nvPr/>
                </p:nvPicPr>
                <p:blipFill>
                  <a:blip r:embed="rId6"/>
                  <a:stretch/>
                </p:blipFill>
                <p:spPr>
                  <a:xfrm>
                    <a:off x="5448240" y="855720"/>
                    <a:ext cx="3619440" cy="2421000"/>
                  </a:xfrm>
                  <a:prstGeom prst="rect">
                    <a:avLst/>
                  </a:prstGeom>
                  <a:noFill/>
                  <a:ln w="0">
                    <a:noFill/>
                  </a:ln>
                </p:spPr>
              </p:pic>
            </p:oleObj>
          </a:graphicData>
        </a:graphic>
      </p:graphicFrame>
      <p:sp>
        <p:nvSpPr>
          <p:cNvPr id="379" name=""/>
          <p:cNvSpPr/>
          <p:nvPr/>
        </p:nvSpPr>
        <p:spPr>
          <a:xfrm>
            <a:off x="0" y="0"/>
            <a:ext cx="1752480" cy="6931440"/>
          </a:xfrm>
          <a:prstGeom prst="rect">
            <a:avLst/>
          </a:prstGeom>
          <a:solidFill>
            <a:srgbClr val="ff9900"/>
          </a:solidFill>
          <a:ln w="0">
            <a:noFill/>
          </a:ln>
        </p:spPr>
        <p:style>
          <a:lnRef idx="0"/>
          <a:fillRef idx="0"/>
          <a:effectRef idx="0"/>
          <a:fontRef idx="minor"/>
        </p:style>
        <p:txBody>
          <a:bodyPr lIns="69480" rIns="69480" tIns="34920" bIns="34920" anchor="t">
            <a:spAutoFit/>
          </a:bodyPr>
          <a:p>
            <a:pPr algn="ct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gn="ctr">
              <a:lnSpc>
                <a:spcPct val="100000"/>
              </a:lnSpc>
              <a:spcBef>
                <a:spcPts val="1125"/>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800" strike="noStrike" u="none">
                <a:solidFill>
                  <a:srgbClr val="000000"/>
                </a:solidFill>
                <a:effectLst/>
                <a:uFillTx/>
                <a:latin typeface="Arial Black"/>
              </a:rPr>
              <a:t>ULTIMATE OUTCOMES</a:t>
            </a:r>
            <a:endParaRPr b="0" lang="en-IN" sz="18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Black"/>
              </a:rPr>
              <a:t>Employees are committed to the work they do and the goals of the organization</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Black"/>
              </a:rPr>
              <a:t>Successful, productive employees are retained</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Black"/>
              </a:rPr>
              <a:t>The state has the workforce breadth and depth needed for present and future success</a:t>
            </a:r>
            <a:endParaRPr b="0" lang="en-IN" sz="1000" strike="noStrike" u="none">
              <a:solidFill>
                <a:srgbClr val="000000"/>
              </a:solidFill>
              <a:effectLst/>
              <a:uFillTx/>
              <a:latin typeface="Arial"/>
            </a:endParaRPr>
          </a:p>
          <a:p>
            <a:pPr>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endParaRPr b="0" lang="en-IN" sz="1000" strike="noStrike" u="none">
              <a:solidFill>
                <a:srgbClr val="000000"/>
              </a:solidFill>
              <a:effectLst/>
              <a:uFillTx/>
              <a:latin typeface="Arial"/>
            </a:endParaRPr>
          </a:p>
          <a:p>
            <a:pPr>
              <a:lnSpc>
                <a:spcPct val="10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Black"/>
              </a:rPr>
              <a:t>Performance Measures </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Employee survey ratings on “commitment” questions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Turnover rates and types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Turnover rate: key occupational categories</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000" strike="noStrike" u="none">
                <a:solidFill>
                  <a:srgbClr val="ffffff"/>
                </a:solidFill>
                <a:effectLst/>
                <a:uFillTx/>
                <a:latin typeface="Arial"/>
              </a:rPr>
              <a:t>Workforce diversity profile</a:t>
            </a:r>
            <a:endParaRPr b="0" lang="en-IN" sz="1000" strike="noStrike" u="none">
              <a:solidFill>
                <a:srgbClr val="000000"/>
              </a:solidFill>
              <a:effectLst/>
              <a:uFillTx/>
              <a:latin typeface="Arial"/>
            </a:endParaRPr>
          </a:p>
          <a:p>
            <a:pPr>
              <a:lnSpc>
                <a:spcPct val="110000"/>
              </a:lnSpc>
              <a:spcBef>
                <a:spcPts val="624"/>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000" strike="noStrike" u="none">
                <a:solidFill>
                  <a:srgbClr val="000000"/>
                </a:solidFill>
                <a:effectLst/>
                <a:uFillTx/>
                <a:latin typeface="Arial"/>
              </a:rPr>
              <a:t>Retention measure (TBD)</a:t>
            </a:r>
            <a:br>
              <a:rPr sz="1000"/>
            </a:br>
            <a:br>
              <a:rPr sz="1000"/>
            </a:br>
            <a:br>
              <a:rPr sz="1000"/>
            </a:br>
            <a:br>
              <a:rPr sz="1000"/>
            </a:br>
            <a:br>
              <a:rPr sz="1000"/>
            </a:br>
            <a:br>
              <a:rPr sz="1000"/>
            </a:br>
            <a:endParaRPr b="0" lang="en-IN" sz="1000" strike="noStrike" u="none">
              <a:solidFill>
                <a:srgbClr val="000000"/>
              </a:solidFill>
              <a:effectLst/>
              <a:uFillTx/>
              <a:latin typeface="Arial"/>
            </a:endParaRPr>
          </a:p>
        </p:txBody>
      </p:sp>
      <p:sp>
        <p:nvSpPr>
          <p:cNvPr id="380" name=""/>
          <p:cNvSpPr/>
          <p:nvPr/>
        </p:nvSpPr>
        <p:spPr>
          <a:xfrm>
            <a:off x="5257800" y="6523200"/>
            <a:ext cx="3352680" cy="339480"/>
          </a:xfrm>
          <a:prstGeom prst="rect">
            <a:avLst/>
          </a:prstGeom>
          <a:noFill/>
          <a:ln w="0">
            <a:noFill/>
          </a:ln>
        </p:spPr>
        <p:style>
          <a:lnRef idx="0"/>
          <a:fillRef idx="0"/>
          <a:effectRef idx="0"/>
          <a:fontRef idx="minor"/>
        </p:style>
        <p:txBody>
          <a:bodyPr lIns="90000" rIns="90000" tIns="46800" bIns="46800" anchor="t">
            <a:spAutoFit/>
          </a:bodyPr>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Data as of July 1, 2007</a:t>
            </a:r>
            <a:endParaRPr b="0" lang="en-IN" sz="1000" strike="noStrike" u="none">
              <a:solidFill>
                <a:srgbClr val="000000"/>
              </a:solidFill>
              <a:effectLst/>
              <a:uFillTx/>
              <a:latin typeface="Arial"/>
            </a:endParaRPr>
          </a:p>
          <a:p>
            <a:pPr>
              <a:lnSpc>
                <a:spcPct val="7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Source:  DOP Business Warehouse</a:t>
            </a:r>
            <a:endParaRPr b="0" lang="en-IN" sz="1000" strike="noStrike" u="none">
              <a:solidFill>
                <a:srgbClr val="000000"/>
              </a:solidFill>
              <a:effectLst/>
              <a:uFillTx/>
              <a:latin typeface="Arial"/>
            </a:endParaRPr>
          </a:p>
        </p:txBody>
      </p:sp>
      <p:sp>
        <p:nvSpPr>
          <p:cNvPr id="2" name="PlaceHolder 1"/>
          <p:cNvSpPr>
            <a:spLocks noGrp="1"/>
          </p:cNvSpPr>
          <p:nvPr>
            <p:ph type="ftr" idx="2"/>
          </p:nvPr>
        </p:nvSpPr>
        <p:spPr/>
        <p:txBody>
          <a:bodyPr/>
          <a:p>
            <a:r>
              <a:t>Department of Printing</a:t>
            </a: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30241</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2006-11-10T08:45:20Z</dcterms:created>
  <dc:creator>Julia Graham</dc:creator>
  <dc:description/>
  <dc:language>en-IN</dc:language>
  <cp:lastModifiedBy>SherriH</cp:lastModifiedBy>
  <dcterms:modified xsi:type="dcterms:W3CDTF">2007-11-21T12:05:48Z</dcterms:modified>
  <cp:revision>203</cp:revision>
  <dc:subject/>
  <dc:title>State of Washington  Human Resource Management Report  Statewide Roll-up Report - October 2006</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ingExpirationDate">
    <vt:lpwstr/>
  </property>
  <property fmtid="{D5CDD505-2E9C-101B-9397-08002B2CF9AE}" pid="3" name="PublishingStartDate">
    <vt:lpwstr/>
  </property>
  <property fmtid="{D5CDD505-2E9C-101B-9397-08002B2CF9AE}" pid="4" name="TemplateUrl">
    <vt:lpwstr/>
  </property>
  <property fmtid="{D5CDD505-2E9C-101B-9397-08002B2CF9AE}" pid="5" name="_SharedFileIndex">
    <vt:lpwstr/>
  </property>
  <property fmtid="{D5CDD505-2E9C-101B-9397-08002B2CF9AE}" pid="6" name="_SourceUrl">
    <vt:lpwstr/>
  </property>
  <property fmtid="{D5CDD505-2E9C-101B-9397-08002B2CF9AE}" pid="7" name="display_urn:schemas-microsoft-com:office:office#Author">
    <vt:lpwstr>System Account</vt:lpwstr>
  </property>
  <property fmtid="{D5CDD505-2E9C-101B-9397-08002B2CF9AE}" pid="8" name="display_urn:schemas-microsoft-com:office:office#Editor">
    <vt:lpwstr>System Account</vt:lpwstr>
  </property>
  <property fmtid="{D5CDD505-2E9C-101B-9397-08002B2CF9AE}" pid="9" name="xd_ProgID">
    <vt:lpwstr/>
  </property>
  <property fmtid="{D5CDD505-2E9C-101B-9397-08002B2CF9AE}" pid="10" name="xd_Signature">
    <vt:lpwstr/>
  </property>
</Properties>
</file>