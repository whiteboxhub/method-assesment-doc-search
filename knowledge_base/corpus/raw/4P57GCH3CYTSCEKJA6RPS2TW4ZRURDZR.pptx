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37.xml" ContentType="application/vnd.openxmlformats-officedocument.presentationml.notesSlide+xml"/>
  <Override PartName="/ppt/notesSlides/_rels/notesSlide37.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IN" sz="1200" strike="noStrike" u="none">
              <a:solidFill>
                <a:srgbClr val="ffffff"/>
              </a:solidFill>
              <a:effectLst/>
              <a:uFillTx/>
              <a:latin typeface="Arial"/>
            </a:endParaRPr>
          </a:p>
        </p:txBody>
      </p:sp>
      <p:sp>
        <p:nvSpPr>
          <p:cNvPr id="7" name="PlaceHolder 1"/>
          <p:cNvSpPr>
            <a:spLocks noGrp="1"/>
          </p:cNvSpPr>
          <p:nvPr>
            <p:ph type="sldImg"/>
          </p:nvPr>
        </p:nvSpPr>
        <p:spPr>
          <a:xfrm>
            <a:off x="1143000" y="685440"/>
            <a:ext cx="4572000" cy="3429000"/>
          </a:xfrm>
          <a:prstGeom prst="rect">
            <a:avLst/>
          </a:prstGeom>
          <a:solidFill>
            <a:srgbClr val="ffffff"/>
          </a:solidFill>
          <a:ln w="9360">
            <a:solidFill>
              <a:srgbClr val="000000"/>
            </a:solidFill>
            <a:miter/>
          </a:ln>
        </p:spPr>
        <p:txBody>
          <a:bodyPr lIns="90000" rIns="90000" tIns="46800" bIns="46800" anchor="ctr">
            <a:noAutofit/>
          </a:bodyPr>
          <a:p>
            <a:pPr marL="39600"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Click to move the slide</a:t>
            </a:r>
            <a:endParaRPr b="0" lang="en-IN" sz="4400" strike="noStrike" u="none">
              <a:solidFill>
                <a:srgbClr val="ffffff"/>
              </a:solidFill>
              <a:effectLst/>
              <a:uFillTx/>
              <a:latin typeface="Tahoma"/>
            </a:endParaRPr>
          </a:p>
        </p:txBody>
      </p:sp>
      <p:sp>
        <p:nvSpPr>
          <p:cNvPr id="8"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rPr>
              <a:t>Click to edit the notes format</a:t>
            </a:r>
            <a:endParaRPr b="0" lang="en-IN" sz="1200" strike="noStrike" u="none">
              <a:solidFill>
                <a:srgbClr val="000000"/>
              </a:solidFill>
              <a:effectLst/>
              <a:uFillTx/>
              <a:latin typeface="Arial"/>
            </a:endParaRPr>
          </a:p>
        </p:txBody>
      </p:sp>
    </p:spTree>
  </p:cSld>
  <p:clrMap bg1="lt1" bg2="lt2" tx1="dk1" tx2="dk2" accent1="accent1" accent2="accent2" accent3="accent3" accent4="accent4" accent5="accent5" accent6="accent6" hlink="hlink" folHlink="folHlink"/>
</p:notesMaster>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sldImg"/>
          </p:nvPr>
        </p:nvSpPr>
        <p:spPr>
          <a:xfrm>
            <a:off x="1143000" y="685800"/>
            <a:ext cx="4572000" cy="3429000"/>
          </a:xfrm>
          <a:prstGeom prst="rect">
            <a:avLst/>
          </a:prstGeom>
          <a:ln w="0">
            <a:noFill/>
          </a:ln>
        </p:spPr>
      </p:sp>
      <p:sp>
        <p:nvSpPr>
          <p:cNvPr id="119" name="PlaceHolder 2"/>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marL="39600" indent="0">
              <a:spcBef>
                <a:spcPts val="41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200" strike="noStrike" u="none">
                <a:solidFill>
                  <a:srgbClr val="000000"/>
                </a:solidFill>
                <a:effectLst/>
                <a:uFillTx/>
                <a:latin typeface="Arial"/>
                <a:ea typeface="Arial"/>
              </a:rPr>
              <a:t>BREAK</a:t>
            </a:r>
            <a:endParaRPr b="0" lang="en-IN" sz="12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82600"/>
            <a:ext cx="7772400" cy="3146400"/>
          </a:xfrm>
          <a:prstGeom prst="rect">
            <a:avLst/>
          </a:prstGeom>
          <a:noFill/>
          <a:ln w="0">
            <a:noFill/>
          </a:ln>
        </p:spPr>
        <p:txBody>
          <a:bodyPr lIns="50760" rIns="90000" tIns="50760" bIns="50760" anchor="b">
            <a:noAutofit/>
          </a:bodyPr>
          <a:p>
            <a:pPr marL="396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Click to edit the title text format</a:t>
            </a:r>
            <a:endParaRPr b="0" lang="en-IN" sz="4400" strike="noStrike" u="none">
              <a:solidFill>
                <a:srgbClr val="ffffff"/>
              </a:solidFill>
              <a:effectLst/>
              <a:uFillTx/>
              <a:latin typeface="Tahoma"/>
            </a:endParaRPr>
          </a:p>
        </p:txBody>
      </p:sp>
      <p:sp>
        <p:nvSpPr>
          <p:cNvPr id="1" name="PlaceHolder 2"/>
          <p:cNvSpPr>
            <a:spLocks noGrp="1"/>
          </p:cNvSpPr>
          <p:nvPr>
            <p:ph type="body"/>
          </p:nvPr>
        </p:nvSpPr>
        <p:spPr>
          <a:xfrm>
            <a:off x="1371600" y="3885840"/>
            <a:ext cx="6400800" cy="2971800"/>
          </a:xfrm>
          <a:prstGeom prst="rect">
            <a:avLst/>
          </a:prstGeom>
          <a:noFill/>
          <a:ln w="0">
            <a:noFill/>
          </a:ln>
        </p:spPr>
        <p:txBody>
          <a:bodyPr lIns="50760" rIns="90000" tIns="50760" bIns="50760" anchor="t">
            <a:normAutofit fontScale="70000" lnSpcReduction="19999"/>
          </a:bodyPr>
          <a:p>
            <a:pPr marL="39600" indent="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39600" algn="ctr">
              <a:spcBef>
                <a:spcPts val="799"/>
              </a:spcBef>
              <a:buClr>
                <a:srgbClr val="ffffff"/>
              </a:buClr>
              <a:buFont typeface="Tahoma"/>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39600" algn="ctr">
              <a:spcBef>
                <a:spcPts val="799"/>
              </a:spcBef>
              <a:buClr>
                <a:srgbClr val="ffffff"/>
              </a:buClr>
              <a:buFont typeface="Tahoma"/>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39600" algn="ctr">
              <a:spcBef>
                <a:spcPts val="799"/>
              </a:spcBef>
              <a:buClr>
                <a:srgbClr val="ffffff"/>
              </a:buClr>
              <a:buFont typeface="Tahoma"/>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39600" algn="ctr">
              <a:spcBef>
                <a:spcPts val="799"/>
              </a:spcBef>
              <a:buClr>
                <a:srgbClr val="ffffff"/>
              </a:buClr>
              <a:buFont typeface="Tahoma"/>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39600" algn="ctr">
              <a:spcBef>
                <a:spcPts val="799"/>
              </a:spcBef>
              <a:buClr>
                <a:srgbClr val="ffffff"/>
              </a:buClr>
              <a:buFont typeface="Tahoma"/>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39600" algn="ctr">
              <a:spcBef>
                <a:spcPts val="799"/>
              </a:spcBef>
              <a:buClr>
                <a:srgbClr val="ffffff"/>
              </a:buClr>
              <a:buFont typeface="Tahoma"/>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2" name="PlaceHolder 3"/>
          <p:cNvSpPr>
            <a:spLocks noGrp="1"/>
          </p:cNvSpPr>
          <p:nvPr>
            <p:ph type="sldNum" idx="1"/>
          </p:nvPr>
        </p:nvSpPr>
        <p:spPr>
          <a:xfrm>
            <a:off x="7462440" y="6416280"/>
            <a:ext cx="312840" cy="304920"/>
          </a:xfrm>
          <a:prstGeom prst="rect">
            <a:avLst/>
          </a:prstGeom>
          <a:noFill/>
          <a:ln w="0">
            <a:noFill/>
          </a:ln>
        </p:spPr>
        <p:txBody>
          <a:bodyPr lIns="90000" rIns="90000" tIns="46800" bIns="46800" anchor="b" anchorCtr="1">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000000"/>
                </a:solidFill>
                <a:effectLst/>
                <a:uFillTx/>
                <a:latin typeface="Arial"/>
                <a:ea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013C57-E616-47FF-A1CC-114699E7FD74}" type="slidenum">
              <a:rPr b="0" lang="en-IN" sz="1400" strike="noStrike" u="none">
                <a:solidFill>
                  <a:srgbClr val="000000"/>
                </a:solidFill>
                <a:effectLst/>
                <a:uFillTx/>
                <a:latin typeface="Arial"/>
                <a:ea typeface="Arial"/>
              </a:rPr>
              <a:t>&lt;number&gt;</a:t>
            </a:fld>
            <a:endParaRPr b="0" lang="en-IN" sz="14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bg>
      <p:bgPr>
        <a:blipFill rotWithShape="0">
          <a:blip r:embed="rId2"/>
          <a:stretch/>
        </a:blip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Click to edit the title text format</a:t>
            </a:r>
            <a:endParaRPr b="0" lang="en-IN" sz="4400" strike="noStrike" u="none">
              <a:solidFill>
                <a:srgbClr val="ffffff"/>
              </a:solidFill>
              <a:effectLst/>
              <a:uFillTx/>
              <a:latin typeface="Tahoma"/>
            </a:endParaRPr>
          </a:p>
        </p:txBody>
      </p:sp>
      <p:sp>
        <p:nvSpPr>
          <p:cNvPr id="4" name="PlaceHolder 2"/>
          <p:cNvSpPr>
            <a:spLocks noGrp="1"/>
          </p:cNvSpPr>
          <p:nvPr>
            <p:ph type="body"/>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Click to edit the outline text format</a:t>
            </a:r>
            <a:endParaRPr b="0" lang="en-IN" sz="3200" strike="noStrike" u="none">
              <a:solidFill>
                <a:srgbClr val="ffffff"/>
              </a:solidFill>
              <a:effectLst/>
              <a:uFillTx/>
              <a:latin typeface="Tahoma"/>
            </a:endParaRPr>
          </a:p>
          <a:p>
            <a:pPr lvl="1" marL="73188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Second Outline Level</a:t>
            </a:r>
            <a:endParaRPr b="0" lang="en-IN" sz="3200" strike="noStrike" u="none">
              <a:solidFill>
                <a:srgbClr val="ffffff"/>
              </a:solidFill>
              <a:effectLst/>
              <a:uFillTx/>
              <a:latin typeface="Tahoma"/>
            </a:endParaRPr>
          </a:p>
          <a:p>
            <a:pPr lvl="2" marL="1131840" indent="-22860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Third Outline Level</a:t>
            </a:r>
            <a:endParaRPr b="0" lang="en-IN" sz="3200" strike="noStrike" u="none">
              <a:solidFill>
                <a:srgbClr val="ffffff"/>
              </a:solidFill>
              <a:effectLst/>
              <a:uFillTx/>
              <a:latin typeface="Tahoma"/>
            </a:endParaRPr>
          </a:p>
          <a:p>
            <a:pPr lvl="3" marL="158904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Fourth Outline Level</a:t>
            </a:r>
            <a:endParaRPr b="0" lang="en-IN" sz="3200" strike="noStrike" u="none">
              <a:solidFill>
                <a:srgbClr val="ffffff"/>
              </a:solidFill>
              <a:effectLst/>
              <a:uFillTx/>
              <a:latin typeface="Tahoma"/>
            </a:endParaRPr>
          </a:p>
          <a:p>
            <a:pPr lvl="4" marL="2046240" indent="-228600">
              <a:spcBef>
                <a:spcPts val="799"/>
              </a:spcBef>
              <a:buClr>
                <a:srgbClr val="ffcc00"/>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Fifth Outline Level</a:t>
            </a:r>
            <a:endParaRPr b="0" lang="en-IN" sz="3200" strike="noStrike" u="none">
              <a:solidFill>
                <a:srgbClr val="ffffff"/>
              </a:solidFill>
              <a:effectLst/>
              <a:uFillTx/>
              <a:latin typeface="Tahoma"/>
            </a:endParaRPr>
          </a:p>
          <a:p>
            <a:pPr lvl="5" marL="2046240" indent="-228600">
              <a:spcBef>
                <a:spcPts val="799"/>
              </a:spcBef>
              <a:buClr>
                <a:srgbClr val="ffffff"/>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Sixth Outline Level</a:t>
            </a:r>
            <a:endParaRPr b="0" lang="en-IN" sz="3200" strike="noStrike" u="none">
              <a:solidFill>
                <a:srgbClr val="ffffff"/>
              </a:solidFill>
              <a:effectLst/>
              <a:uFillTx/>
              <a:latin typeface="Tahoma"/>
            </a:endParaRPr>
          </a:p>
          <a:p>
            <a:pPr lvl="6" marL="2046240" indent="-228600">
              <a:spcBef>
                <a:spcPts val="799"/>
              </a:spcBef>
              <a:buClr>
                <a:srgbClr val="ffffff"/>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Seventh Outline Level</a:t>
            </a:r>
            <a:endParaRPr b="0" lang="en-IN" sz="3200" strike="noStrike" u="none">
              <a:solidFill>
                <a:srgbClr val="ffffff"/>
              </a:solidFill>
              <a:effectLst/>
              <a:uFillTx/>
              <a:latin typeface="Tahoma"/>
            </a:endParaRPr>
          </a:p>
        </p:txBody>
      </p:sp>
      <p:sp>
        <p:nvSpPr>
          <p:cNvPr id="5" name="PlaceHolder 3"/>
          <p:cNvSpPr>
            <a:spLocks noGrp="1"/>
          </p:cNvSpPr>
          <p:nvPr>
            <p:ph type="sldNum" idx="2"/>
          </p:nvPr>
        </p:nvSpPr>
        <p:spPr>
          <a:xfrm>
            <a:off x="7462440" y="6416280"/>
            <a:ext cx="312840" cy="304920"/>
          </a:xfrm>
          <a:prstGeom prst="rect">
            <a:avLst/>
          </a:prstGeom>
          <a:noFill/>
          <a:ln w="0">
            <a:noFill/>
          </a:ln>
        </p:spPr>
        <p:txBody>
          <a:bodyPr lIns="90000" rIns="90000" tIns="46800" bIns="46800" anchor="b" anchorCtr="1">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IN" sz="1400" strike="noStrike" u="none">
                <a:solidFill>
                  <a:srgbClr val="ffffff"/>
                </a:solidFill>
                <a:effectLst/>
                <a:uFillTx/>
                <a:latin typeface="Arial"/>
                <a:ea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4E3E25-8E3B-448F-B829-42F8A21F9785}" type="slidenum">
              <a:rPr b="0" lang="en-IN" sz="1400" strike="noStrike" u="none">
                <a:solidFill>
                  <a:srgbClr val="ffffff"/>
                </a:solidFill>
                <a:effectLst/>
                <a:uFillTx/>
                <a:latin typeface="Arial"/>
                <a:ea typeface="Arial"/>
              </a:rPr>
              <a:t>&lt;number&gt;</a:t>
            </a:fld>
            <a:endParaRPr b="0" lang="en-IN" sz="14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mailto:JGS05@OMIG.State.ny.us" TargetMode="External"/><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s://www.epls.gov/" TargetMode="External"/><Relationship Id="rId3"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oig.hhs.gov/fraud/alerts/effect_of_exclusion.asp" TargetMode="External"/><Relationship Id="rId3"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oig.hhs.gov/rss_feeds.asp" TargetMode="External"/><Relationship Id="rId3" Type="http://schemas.openxmlformats.org/officeDocument/2006/relationships/hyperlink" Target="http://www.arnet.gov/epls/" TargetMode="External"/><Relationship Id="rId4" Type="http://schemas.openxmlformats.org/officeDocument/2006/relationships/hyperlink" Target="http://www.omig.state.ny.us/" TargetMode="External"/><Relationship Id="rId5"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www.epls.gov/" TargetMode="External"/><Relationship Id="rId3" Type="http://schemas.openxmlformats.org/officeDocument/2006/relationships/hyperlink" Target="http://www.epls.gov/" TargetMode="External"/><Relationship Id="rId4"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4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5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5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5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www.omig.state.ny.us/" TargetMode="External"/><Relationship Id="rId3"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 name=""/>
          <p:cNvSpPr/>
          <p:nvPr/>
        </p:nvSpPr>
        <p:spPr>
          <a:xfrm>
            <a:off x="285840" y="2803680"/>
            <a:ext cx="360" cy="3035160"/>
          </a:xfrm>
          <a:custGeom>
            <a:avLst/>
            <a:gdLst>
              <a:gd name="GluePoint1X" fmla="*/ 10800 w 21600"/>
              <a:gd name="GluePoint1Y" fmla="*/ 10800 h 21600"/>
            </a:gdLst>
            <a:ahLst/>
            <a:cxnLst>
              <a:cxn ang="0">
                <a:pos x="GluePoint1X" y="GluePoint1Y"/>
              </a:cxn>
            </a:cxnLst>
            <a:rect l="l" t="t" r="r" b="b"/>
            <a:pathLst>
              <a:path w="21600" h="21600">
                <a:moveTo>
                  <a:pt x="0" y="0"/>
                </a:moveTo>
                <a:lnTo>
                  <a:pt x="68" y="68"/>
                </a:lnTo>
                <a:lnTo>
                  <a:pt x="68" y="68"/>
                </a:lnTo>
                <a:lnTo>
                  <a:pt x="678" y="678"/>
                </a:lnTo>
                <a:lnTo>
                  <a:pt x="21600" y="21600"/>
                </a:lnTo>
                <a:lnTo>
                  <a:pt x="21600" y="21600"/>
                </a:lnTo>
                <a:lnTo>
                  <a:pt x="0" y="0"/>
                </a:lnTo>
                <a:lnTo>
                  <a:pt x="0" y="0"/>
                </a:lnTo>
                <a:close/>
                <a:moveTo>
                  <a:pt x="0" y="0"/>
                </a:moveTo>
              </a:path>
            </a:pathLst>
          </a:custGeom>
          <a:solidFill>
            <a:srgbClr val="6bba27"/>
          </a:solidFill>
          <a:ln w="0">
            <a:noFill/>
          </a:ln>
        </p:spPr>
        <p:style>
          <a:lnRef idx="0"/>
          <a:fillRef idx="0"/>
          <a:effectRef idx="0"/>
          <a:fontRef idx="minor"/>
        </p:style>
        <p:txBody>
          <a:bodyPr lIns="0" rIns="0" tIns="0" bIns="0" anchor="t">
            <a:noAutofit/>
          </a:bodyPr>
          <a:p>
            <a:endParaRPr b="0" lang="en-IN" sz="1200" strike="noStrike" u="none">
              <a:solidFill>
                <a:srgbClr val="ffffff"/>
              </a:solidFill>
              <a:effectLst/>
              <a:uFillTx/>
              <a:latin typeface="Arial"/>
            </a:endParaRPr>
          </a:p>
        </p:txBody>
      </p:sp>
      <p:sp>
        <p:nvSpPr>
          <p:cNvPr id="10" name="PlaceHolder 1"/>
          <p:cNvSpPr>
            <a:spLocks noGrp="1"/>
          </p:cNvSpPr>
          <p:nvPr>
            <p:ph type="title"/>
          </p:nvPr>
        </p:nvSpPr>
        <p:spPr>
          <a:xfrm>
            <a:off x="609480" y="419040"/>
            <a:ext cx="7772400" cy="3492720"/>
          </a:xfrm>
          <a:prstGeom prst="rect">
            <a:avLst/>
          </a:prstGeom>
          <a:noFill/>
          <a:ln w="0">
            <a:noFill/>
          </a:ln>
        </p:spPr>
        <p:txBody>
          <a:bodyPr lIns="50760" rIns="132120" tIns="50760" bIns="50760" anchor="b">
            <a:noAutofit/>
          </a:bodyPr>
          <a:p>
            <a:pPr marL="39600"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OMIG COMPLIANCE WEBINAR #1- ADDRESSING EXCLUDED PERSONS IN MEDICAID EMPLOYMENT AND CONTRACTING-NEW YORK</a:t>
            </a:r>
            <a:br>
              <a:rPr sz="4000"/>
            </a:br>
            <a:r>
              <a:rPr b="0" lang="en-IN" sz="4000" strike="noStrike" u="none">
                <a:solidFill>
                  <a:srgbClr val="ffffff"/>
                </a:solidFill>
                <a:effectLst/>
                <a:uFillTx/>
                <a:latin typeface="Tahoma"/>
              </a:rPr>
              <a:t> JUNE 2010 </a:t>
            </a:r>
            <a:endParaRPr b="0" lang="en-IN" sz="4000" strike="noStrike" u="none">
              <a:solidFill>
                <a:srgbClr val="ffffff"/>
              </a:solidFill>
              <a:effectLst/>
              <a:uFillTx/>
              <a:latin typeface="Tahoma"/>
            </a:endParaRPr>
          </a:p>
        </p:txBody>
      </p:sp>
      <p:sp>
        <p:nvSpPr>
          <p:cNvPr id="11" name="PlaceHolder 2"/>
          <p:cNvSpPr>
            <a:spLocks noGrp="1"/>
          </p:cNvSpPr>
          <p:nvPr>
            <p:ph/>
          </p:nvPr>
        </p:nvSpPr>
        <p:spPr>
          <a:xfrm>
            <a:off x="1371600" y="3885840"/>
            <a:ext cx="6400800" cy="2971800"/>
          </a:xfrm>
          <a:prstGeom prst="rect">
            <a:avLst/>
          </a:prstGeom>
          <a:noFill/>
          <a:ln w="0">
            <a:noFill/>
          </a:ln>
        </p:spPr>
        <p:txBody>
          <a:bodyPr lIns="50760" rIns="132120" tIns="50760" bIns="50760" anchor="t">
            <a:normAutofit/>
          </a:bodyPr>
          <a:p>
            <a:pPr marL="39600" indent="0" algn="ctr">
              <a:lnSpc>
                <a:spcPct val="9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JIM SHEEHAN</a:t>
            </a:r>
            <a:endParaRPr b="0" lang="en-IN" sz="2400" strike="noStrike" u="none">
              <a:solidFill>
                <a:srgbClr val="ffffff"/>
              </a:solidFill>
              <a:effectLst/>
              <a:uFillTx/>
              <a:latin typeface="Tahoma"/>
            </a:endParaRPr>
          </a:p>
          <a:p>
            <a:pPr marL="39600" indent="0" algn="ctr">
              <a:lnSpc>
                <a:spcPct val="9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OFFICE OF MEDICAID INSPECTOR GENERAL</a:t>
            </a:r>
            <a:endParaRPr b="0" lang="en-IN" sz="2400" strike="noStrike" u="none">
              <a:solidFill>
                <a:srgbClr val="ffffff"/>
              </a:solidFill>
              <a:effectLst/>
              <a:uFillTx/>
              <a:latin typeface="Tahoma"/>
            </a:endParaRPr>
          </a:p>
          <a:p>
            <a:pPr marL="39600" indent="0" algn="ctr">
              <a:lnSpc>
                <a:spcPct val="9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sng">
                <a:solidFill>
                  <a:srgbClr val="009999"/>
                </a:solidFill>
                <a:effectLst/>
                <a:uFillTx/>
                <a:latin typeface="Tahoma"/>
                <a:hlinkClick r:id="rId2"/>
              </a:rPr>
              <a:t>JGS05@OMIG.State.ny.us</a:t>
            </a:r>
            <a:endParaRPr b="0" lang="en-IN" sz="2400" strike="noStrike" u="none">
              <a:solidFill>
                <a:srgbClr val="ffffff"/>
              </a:solidFill>
              <a:effectLst/>
              <a:uFillTx/>
              <a:latin typeface="Tahoma"/>
            </a:endParaRPr>
          </a:p>
          <a:p>
            <a:pPr marL="39600" indent="0" algn="ctr">
              <a:lnSpc>
                <a:spcPct val="9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518 473-3782</a:t>
            </a:r>
            <a:endParaRPr b="0" lang="en-IN" sz="2400" strike="noStrike" u="none">
              <a:solidFill>
                <a:srgbClr val="ffffff"/>
              </a:solidFill>
              <a:effectLst/>
              <a:uFillTx/>
              <a:latin typeface="Tahoma"/>
            </a:endParaRPr>
          </a:p>
        </p:txBody>
      </p:sp>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OMIG WEBINARS-FULFILLING OMIG’S SECTION 32 DUTY-</a:t>
            </a:r>
            <a:endParaRPr b="0" lang="en-IN" sz="4000" strike="noStrike" u="none">
              <a:solidFill>
                <a:srgbClr val="ffffff"/>
              </a:solidFill>
              <a:effectLst/>
              <a:uFillTx/>
              <a:latin typeface="Tahoma"/>
            </a:endParaRPr>
          </a:p>
        </p:txBody>
      </p:sp>
      <p:sp>
        <p:nvSpPr>
          <p:cNvPr id="1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Bold"/>
                <a:ea typeface="Tahoma Bold"/>
              </a:rPr>
              <a:t>“17. to conduct educational programs for medical assistance program providers, vendors, contractors and recipients designed to limit fraud and abuse within the medical assistance program”</a:t>
            </a:r>
            <a:endParaRPr b="0" lang="en-IN" sz="28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Bold"/>
                <a:ea typeface="Tahoma Bold"/>
              </a:rPr>
              <a:t>These programs will be scheduled as needed by the provider community. Your feedback on this program, and suggestions for new topics are appreciated.</a:t>
            </a:r>
            <a:endParaRPr b="0" lang="en-IN" sz="28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Bold"/>
              </a:rPr>
              <a:t>Next program in July on PPACA 6402: Mandatory Disclosure of Overpayments</a:t>
            </a:r>
            <a:endParaRPr b="0" lang="en-IN" sz="2800" strike="noStrike" u="none">
              <a:solidFill>
                <a:srgbClr val="ffffff"/>
              </a:solidFill>
              <a:effectLst/>
              <a:uFillTx/>
              <a:latin typeface="Tahoma"/>
            </a:endParaRPr>
          </a:p>
        </p:txBody>
      </p:sp>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360"/>
            <a:ext cx="8229600" cy="184140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Program Exclusions</a:t>
            </a:r>
            <a:endParaRPr b="0" lang="en-IN" sz="4400" strike="noStrike" u="none">
              <a:solidFill>
                <a:srgbClr val="ffffff"/>
              </a:solidFill>
              <a:effectLst/>
              <a:uFillTx/>
              <a:latin typeface="Tahoma"/>
            </a:endParaRPr>
          </a:p>
        </p:txBody>
      </p:sp>
      <p:sp>
        <p:nvSpPr>
          <p:cNvPr id="15"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Exclusions</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Mandatory</a:t>
            </a:r>
            <a:endParaRPr b="0" lang="en-IN" sz="24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Permissive</a:t>
            </a:r>
            <a:endParaRPr b="0" lang="en-IN" sz="24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Remedial in purpose</a:t>
            </a:r>
            <a:endParaRPr b="0" lang="en-IN" sz="24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protection of federal health care programs and beneficiaries</a:t>
            </a:r>
            <a:endParaRPr b="0" lang="en-IN" sz="2400" strike="noStrike" u="none">
              <a:solidFill>
                <a:srgbClr val="ffffff"/>
              </a:solidFill>
              <a:effectLst/>
              <a:uFillTx/>
              <a:latin typeface="Tahoma"/>
            </a:endParaRPr>
          </a:p>
          <a:p>
            <a:pPr lvl="2" marL="1182600" indent="-228600">
              <a:spcBef>
                <a:spcPts val="601"/>
              </a:spcBef>
              <a:buClr>
                <a:srgbClr val="ffcc00"/>
              </a:buClr>
              <a:buSzPct val="120000"/>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improper payment</a:t>
            </a:r>
            <a:endParaRPr b="0" lang="en-IN" sz="2400" strike="noStrike" u="none">
              <a:solidFill>
                <a:srgbClr val="ffffff"/>
              </a:solidFill>
              <a:effectLst/>
              <a:uFillTx/>
              <a:latin typeface="Tahoma"/>
            </a:endParaRPr>
          </a:p>
          <a:p>
            <a:pPr lvl="2" marL="1182600" indent="-228600">
              <a:spcBef>
                <a:spcPts val="601"/>
              </a:spcBef>
              <a:buClr>
                <a:srgbClr val="ffcc00"/>
              </a:buClr>
              <a:buSzPct val="120000"/>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improper/abusive practices</a:t>
            </a:r>
            <a:endParaRPr b="0" lang="en-IN" sz="2400" strike="noStrike" u="none">
              <a:solidFill>
                <a:srgbClr val="ffffff"/>
              </a:solidFill>
              <a:effectLst/>
              <a:uFillTx/>
              <a:latin typeface="Tahoma"/>
            </a:endParaRPr>
          </a:p>
          <a:p>
            <a:pPr lvl="2" marL="1182600" indent="-228600">
              <a:spcBef>
                <a:spcPts val="601"/>
              </a:spcBef>
              <a:buClr>
                <a:srgbClr val="ffcc00"/>
              </a:buClr>
              <a:buSzPct val="120000"/>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No further program reimbursement (with few exceptions)</a:t>
            </a:r>
            <a:endParaRPr b="0" lang="en-IN" sz="2400" strike="noStrike" u="none">
              <a:solidFill>
                <a:srgbClr val="ffffff"/>
              </a:solidFill>
              <a:effectLst/>
              <a:uFillTx/>
              <a:latin typeface="Tahoma"/>
            </a:endParaRPr>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Program Exclusions</a:t>
            </a:r>
            <a:endParaRPr b="0" lang="en-IN" sz="4400" strike="noStrike" u="none">
              <a:solidFill>
                <a:srgbClr val="ffffff"/>
              </a:solidFill>
              <a:effectLst/>
              <a:uFillTx/>
              <a:latin typeface="Tahoma"/>
            </a:endParaRPr>
          </a:p>
        </p:txBody>
      </p:sp>
      <p:sp>
        <p:nvSpPr>
          <p:cNvPr id="17"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Statute</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Regulation</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Federal OIG Guidance</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Federal CMS Guidance</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State Guidance Mandated by CMS</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Condition of NY provider enrollment or NY state contract</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Virtually no case law (criminal, civil, or administrative) on extent and effect of exclusion </a:t>
            </a:r>
            <a:endParaRPr b="0" lang="en-IN" sz="28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CB3FB546-23A9-4E6F-A47F-12B895207EB6}" type="slidenum">
              <a:t>4</a:t>
            </a:fld>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PROGRAM EXCLUSION</a:t>
            </a:r>
            <a:endParaRPr b="0" lang="en-IN" sz="4400" strike="noStrike" u="none">
              <a:solidFill>
                <a:srgbClr val="ffffff"/>
              </a:solidFill>
              <a:effectLst/>
              <a:uFillTx/>
              <a:latin typeface="Tahoma"/>
            </a:endParaRPr>
          </a:p>
        </p:txBody>
      </p:sp>
      <p:sp>
        <p:nvSpPr>
          <p:cNvPr id="19"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Federal authority and requirement on providers</a:t>
            </a:r>
            <a:endParaRPr b="0" lang="en-IN" sz="32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No claims based on work of excluded persons</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Federal authority and mandate on state Medicaid programs</a:t>
            </a:r>
            <a:endParaRPr b="0" lang="en-IN" sz="32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No state Medicaid claims to CMS based on work of excluded persons</a:t>
            </a:r>
            <a:r>
              <a:rPr b="0" lang="en-IN" sz="2800" strike="noStrike" u="none">
                <a:solidFill>
                  <a:srgbClr val="ffffff"/>
                </a:solidFill>
                <a:effectLst/>
                <a:uFillTx/>
                <a:latin typeface="Tahoma"/>
              </a:rPr>
              <a:t>	</a:t>
            </a:r>
            <a:endParaRPr b="0" lang="en-IN" sz="2800" strike="noStrike" u="none">
              <a:solidFill>
                <a:srgbClr val="ffffff"/>
              </a:solidFill>
              <a:effectLst/>
              <a:uFillTx/>
              <a:latin typeface="Tahoma"/>
            </a:endParaRPr>
          </a:p>
          <a:p>
            <a:pPr lvl="1" marL="7318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AEDC2CD8-9816-411C-B5D1-F82C7039745C}" type="slidenum">
              <a:t>5</a:t>
            </a:fld>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PROGRAM EXCLUSION</a:t>
            </a:r>
            <a:endParaRPr b="0" lang="en-IN" sz="4400" strike="noStrike" u="none">
              <a:solidFill>
                <a:srgbClr val="ffffff"/>
              </a:solidFill>
              <a:effectLst/>
              <a:uFillTx/>
              <a:latin typeface="Tahoma"/>
            </a:endParaRPr>
          </a:p>
        </p:txBody>
      </p:sp>
      <p:sp>
        <p:nvSpPr>
          <p:cNvPr id="21"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Why are persons excluded?</a:t>
            </a:r>
            <a:endParaRPr b="0" lang="en-IN" sz="32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Sexual assault</a:t>
            </a:r>
            <a:endParaRPr b="0" lang="en-IN" sz="28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Patient abuse</a:t>
            </a:r>
            <a:endParaRPr b="0" lang="en-IN" sz="28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Failure to repay HEAL loans</a:t>
            </a:r>
            <a:endParaRPr b="0" lang="en-IN" sz="28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Criminal convictions related to program</a:t>
            </a:r>
            <a:endParaRPr b="0" lang="en-IN" sz="28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Criminal convictions related to controlled substances </a:t>
            </a:r>
            <a:endParaRPr b="0" lang="en-IN" sz="2800" strike="noStrike" u="none">
              <a:solidFill>
                <a:srgbClr val="ffffff"/>
              </a:solidFill>
              <a:effectLst/>
              <a:uFillTx/>
              <a:latin typeface="Tahoma"/>
            </a:endParaRPr>
          </a:p>
          <a:p>
            <a:pPr lvl="1" marL="7318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505AD4BC-5666-4086-A829-4B872B7267D6}" type="slidenum">
              <a:t>6</a:t>
            </a:fld>
          </a:p>
        </p:txBody>
      </p:sp>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Tahoma"/>
              </a:rPr>
              <a:t>NEW YORK MEDICAID REMEDIES FOR PROVIDER INAPPROPRIATE PRACTICES</a:t>
            </a:r>
            <a:endParaRPr b="0" lang="en-IN" sz="3600" strike="noStrike" u="none">
              <a:solidFill>
                <a:srgbClr val="ffffff"/>
              </a:solidFill>
              <a:effectLst/>
              <a:uFillTx/>
              <a:latin typeface="Tahoma"/>
            </a:endParaRPr>
          </a:p>
        </p:txBody>
      </p:sp>
      <p:sp>
        <p:nvSpPr>
          <p:cNvPr id="2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Censure: Persons remain in Medicaid program, but are under intense scrutiny for future efforts</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Exclusion: Persons are not allowed to participate in the Medicaid program, due to having committed a crime related to the provision of health care, or having engaged in conduct characterized as “unacceptable practices” in the provision of health care</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If the OIG excludes a person from Medicare, State must exclude  that person from New York Medicaid</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Termination: an end to a provider’s contractual relationship with the Medicaid program-can be for cause or without cause. See NYCRR 504.7 for complete details.  </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Starting January 1, 2011, under Section 6501 of PPACA, if CMS revokes a provider’s Medicare </a:t>
            </a:r>
            <a:r>
              <a:rPr b="0" lang="en-IN" sz="1800" strike="noStrike" u="none">
                <a:solidFill>
                  <a:srgbClr val="ffffff"/>
                </a:solidFill>
                <a:effectLst/>
                <a:uFillTx/>
                <a:latin typeface="Tahoma"/>
              </a:rPr>
              <a:t>billing privileges ( of providers and suppliers who are convicted of certain felonies). 42 C.F.R. § 424.535(a)(3), </a:t>
            </a:r>
            <a:r>
              <a:rPr b="0" lang="en-IN" sz="1800" strike="noStrike" u="none">
                <a:solidFill>
                  <a:srgbClr val="ffffff"/>
                </a:solidFill>
                <a:effectLst/>
                <a:uFillTx/>
                <a:latin typeface="Times New Roman"/>
              </a:rPr>
              <a:t>States are required to terminate the individuals or entities from Medicaid programs . The felonies include f</a:t>
            </a:r>
            <a:r>
              <a:rPr b="0" lang="en-IN" sz="1800" strike="noStrike" u="none">
                <a:solidFill>
                  <a:srgbClr val="ffffff"/>
                </a:solidFill>
                <a:effectLst/>
                <a:uFillTx/>
                <a:latin typeface="Tahoma"/>
              </a:rPr>
              <a:t>inancial crimes, such as extortion, embezzlement, income tax evasion, insurance fraud and other similar crimes for which the individual was convicted, including guilty pleas and adjudicated pretrial diversions</a:t>
            </a:r>
            <a:r>
              <a:rPr b="0" lang="en-IN" sz="1800" strike="noStrike" u="none">
                <a:solidFill>
                  <a:srgbClr val="ffffff"/>
                </a:solidFill>
                <a:effectLst/>
                <a:uFillTx/>
                <a:latin typeface="Tahoma"/>
              </a:rPr>
              <a:t>. </a:t>
            </a:r>
            <a:endParaRPr b="0" lang="en-IN" sz="18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Tahoma"/>
            </a:endParaRPr>
          </a:p>
        </p:txBody>
      </p:sp>
    </p:spTree>
  </p:cSld>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ahoma"/>
              </a:rPr>
              <a:t>PROGRAM EXCLUSION EXAMPLE-Dr. Ioni Sisodia</a:t>
            </a:r>
            <a:endParaRPr b="0" lang="en-IN" sz="4400" strike="noStrike" u="none">
              <a:solidFill>
                <a:srgbClr val="ffffff"/>
              </a:solidFill>
              <a:effectLst/>
              <a:uFillTx/>
              <a:latin typeface="Tahoma"/>
            </a:endParaRPr>
          </a:p>
        </p:txBody>
      </p:sp>
      <p:sp>
        <p:nvSpPr>
          <p:cNvPr id="25"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New York psychiatrist, </a:t>
            </a:r>
            <a:r>
              <a:rPr b="0" lang="en-US" sz="2000" strike="noStrike" u="none">
                <a:solidFill>
                  <a:srgbClr val="ffffff"/>
                </a:solidFill>
                <a:effectLst/>
                <a:uFillTx/>
                <a:latin typeface="Tahoma"/>
              </a:rPr>
              <a:t>entered a plea of guilty on 11/20/2007 to petty larceny related to submission of Medicaid claims and paid $75,645.83 in fines and restitution in  </a:t>
            </a:r>
            <a:r>
              <a:rPr b="0" lang="en-US" sz="2000" strike="noStrike" u="sng">
                <a:solidFill>
                  <a:srgbClr val="ffffff"/>
                </a:solidFill>
                <a:effectLst/>
                <a:uFillTx/>
                <a:latin typeface="Tahoma"/>
              </a:rPr>
              <a:t>People of the State of New York v. Ioni Sisodia</a:t>
            </a:r>
            <a:r>
              <a:rPr b="0" lang="en-US" sz="2000" strike="noStrike" u="none">
                <a:solidFill>
                  <a:srgbClr val="ffffff"/>
                </a:solidFill>
                <a:effectLst/>
                <a:uFillTx/>
                <a:latin typeface="Tahoma"/>
              </a:rPr>
              <a:t>, Kingston City Court, Dkt. No. 07-56074 (2007)</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Dr. Sisodia asked the court at her sentencing for “added protection for [her]self . . . that through institution there will be billing or company billing that it would be allowed.”  In response, the court stated, “that’s going to be between you and your employer, they’re going to have to do the best they can.” </a:t>
            </a:r>
            <a:r>
              <a:rPr b="0" lang="en-US" sz="2000" strike="noStrike" u="none">
                <a:solidFill>
                  <a:srgbClr val="ffffff"/>
                </a:solidFill>
                <a:effectLst/>
                <a:uFillTx/>
                <a:latin typeface="Tahoma"/>
              </a:rPr>
              <a:t>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OIG notice of exclusion March 31, 2008; upheld by DAB </a:t>
            </a:r>
            <a:r>
              <a:rPr b="0" lang="en-US" sz="2000" strike="noStrike" u="none">
                <a:solidFill>
                  <a:srgbClr val="ffffff"/>
                </a:solidFill>
                <a:effectLst/>
                <a:uFillTx/>
                <a:latin typeface="Tahoma"/>
              </a:rPr>
              <a:t>Decision No. 2224</a:t>
            </a:r>
            <a:r>
              <a:rPr b="0" lang="en-US" sz="2000" strike="noStrike" u="none">
                <a:solidFill>
                  <a:srgbClr val="ffffff"/>
                </a:solidFill>
                <a:effectLst/>
                <a:uFillTx/>
                <a:latin typeface="Tahoma"/>
              </a:rPr>
              <a:t>  “</a:t>
            </a:r>
            <a:r>
              <a:rPr b="0" lang="en-US" sz="2000" strike="noStrike" u="none">
                <a:solidFill>
                  <a:srgbClr val="ffffff"/>
                </a:solidFill>
                <a:effectLst/>
                <a:uFillTx/>
                <a:latin typeface="Tahoma"/>
              </a:rPr>
              <a:t>the plain language of section1128(c)(3)(B) of the Act requires the duration of Petitioner’s exclusion to be no less than five years.”</a:t>
            </a:r>
            <a:r>
              <a:rPr b="0" lang="en-US" sz="2000" strike="noStrike" u="none">
                <a:solidFill>
                  <a:srgbClr val="ffffff"/>
                </a:solidFill>
                <a:effectLst/>
                <a:uFillTx/>
                <a:latin typeface="Tahoma"/>
              </a:rPr>
              <a:t>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Excluded 04/20/08 by OMIG, as required by federal law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March 30, 2009-consent censure and reprimand by NY Office of Professional Medical Conduct, permitted to retain her medical license</a:t>
            </a:r>
            <a:endParaRPr b="0" lang="en-IN" sz="20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52FE49D6-147B-42E6-8AE8-5BCE90C1FA04}" type="slidenum">
              <a:t>8</a:t>
            </a:fld>
          </a:p>
        </p:txBody>
      </p:sp>
    </p:spTree>
  </p:cSld>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trike="noStrike" u="none">
                <a:solidFill>
                  <a:srgbClr val="ffffff"/>
                </a:solidFill>
                <a:effectLst/>
                <a:uFillTx/>
                <a:latin typeface="Tahoma"/>
              </a:rPr>
              <a:t>PROGRAM EXCLUSION EXAMPLE-</a:t>
            </a:r>
            <a:r>
              <a:rPr b="0" lang="en-US" sz="4400" strike="noStrike" u="none">
                <a:solidFill>
                  <a:srgbClr val="ffffff"/>
                </a:solidFill>
                <a:effectLst/>
                <a:uFillTx/>
                <a:latin typeface="Tahoma"/>
              </a:rPr>
              <a:t>Nabil Elhadidy, M.D</a:t>
            </a:r>
            <a:endParaRPr b="0" lang="en-IN" sz="4400" strike="noStrike" u="none">
              <a:solidFill>
                <a:srgbClr val="ffffff"/>
              </a:solidFill>
              <a:effectLst/>
              <a:uFillTx/>
              <a:latin typeface="Tahoma"/>
            </a:endParaRPr>
          </a:p>
        </p:txBody>
      </p:sp>
      <p:sp>
        <p:nvSpPr>
          <p:cNvPr id="27"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Medicaid undercover investigator visited  asking for prescription pain medication for himself and his fictitious wife.  Although Elhadidy had never seen the wife,  he supplied prescriptions for the requested drugs (Tylenol 3 and Ambien – schedule III and IV controlled substances), accepting $50 in cash. Petitioner then manufactured a medical record for the bogus wife, which listed vital signs, descriptions of organs, and diagnoses.</a:t>
            </a:r>
            <a:r>
              <a:rPr b="0" lang="en-US" sz="2000" strike="noStrike" u="none">
                <a:solidFill>
                  <a:srgbClr val="ffffff"/>
                </a:solidFill>
                <a:effectLst/>
                <a:uFillTx/>
                <a:latin typeface="Tahoma"/>
              </a:rPr>
              <a:t>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pled guilty to one misdemeanor count.(2007) His conviction was “conditionally discharged” upon his completion of community service and payment of $160 in fines and surcharges.</a:t>
            </a:r>
            <a:r>
              <a:rPr b="0" lang="en-US" sz="2000" strike="noStrike" u="none">
                <a:solidFill>
                  <a:srgbClr val="ffffff"/>
                </a:solidFill>
                <a:effectLst/>
                <a:uFillTx/>
                <a:latin typeface="Tahoma"/>
              </a:rPr>
              <a:t>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state court decision precluded the OMIG for the State of New York from imposing an exclusion</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OIG  excluded Dr. Elhadidy- DAB </a:t>
            </a:r>
            <a:r>
              <a:rPr b="0" lang="en-US" sz="2000" strike="noStrike" u="none">
                <a:solidFill>
                  <a:srgbClr val="ffffff"/>
                </a:solidFill>
                <a:effectLst/>
                <a:uFillTx/>
                <a:latin typeface="Tahoma"/>
              </a:rPr>
              <a:t>Decision No. CR2000 (2009)</a:t>
            </a:r>
            <a:r>
              <a:rPr b="0" lang="en-US" sz="2000" strike="noStrike" u="none">
                <a:solidFill>
                  <a:srgbClr val="ffffff"/>
                </a:solidFill>
                <a:effectLst/>
                <a:uFillTx/>
                <a:latin typeface="Tahoma"/>
              </a:rPr>
              <a:t>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OMIG excluded 3/15/2009 as required based on OIG exclusion</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ffffff"/>
                </a:solidFill>
                <a:effectLst/>
                <a:uFillTx/>
                <a:latin typeface="Tahoma"/>
              </a:rPr>
              <a:t>No public OPMC action </a:t>
            </a:r>
            <a:r>
              <a:rPr b="0" lang="en-US" sz="2000" strike="noStrike" u="none">
                <a:solidFill>
                  <a:srgbClr val="ffffff"/>
                </a:solidFill>
                <a:effectLst/>
                <a:uFillTx/>
                <a:latin typeface="Tahoma"/>
              </a:rPr>
              <a:t> </a:t>
            </a:r>
            <a:r>
              <a:rPr b="0" lang="en-US" sz="2000" strike="noStrike" u="none">
                <a:solidFill>
                  <a:srgbClr val="ffffff"/>
                </a:solidFill>
                <a:effectLst/>
                <a:uFillTx/>
                <a:latin typeface="Tahoma"/>
              </a:rPr>
              <a:t>	</a:t>
            </a:r>
            <a:endParaRPr b="0" lang="en-IN" sz="20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2FBF3BEF-839D-458F-9BFD-AF3F87A0603A}" type="slidenum">
              <a:t>9</a:t>
            </a:fld>
          </a:p>
        </p:txBody>
      </p:sp>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304560"/>
            <a:ext cx="8229600" cy="184140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PROGRAM EXCLUSION EXAMPLE- </a:t>
            </a:r>
            <a:br>
              <a:rPr sz="4000"/>
            </a:br>
            <a:r>
              <a:rPr b="0" lang="en-IN" sz="4000" strike="noStrike" u="none">
                <a:solidFill>
                  <a:srgbClr val="ffffff"/>
                </a:solidFill>
                <a:effectLst/>
                <a:uFillTx/>
                <a:latin typeface="Tahoma"/>
              </a:rPr>
              <a:t>Sandra Hernandez/a/k/a Sandra Meza </a:t>
            </a:r>
            <a:r>
              <a:rPr b="0" lang="en-IN" sz="4000" strike="noStrike" u="none">
                <a:solidFill>
                  <a:srgbClr val="ffffff"/>
                </a:solidFill>
                <a:effectLst/>
                <a:uFillTx/>
                <a:latin typeface="Tahoma"/>
              </a:rPr>
              <a:t>	</a:t>
            </a:r>
            <a:br>
              <a:rPr sz="4000"/>
            </a:br>
            <a:endParaRPr b="0" lang="en-IN" sz="4000" strike="noStrike" u="none">
              <a:solidFill>
                <a:srgbClr val="ffffff"/>
              </a:solidFill>
              <a:effectLst/>
              <a:uFillTx/>
              <a:latin typeface="Tahoma"/>
            </a:endParaRPr>
          </a:p>
        </p:txBody>
      </p:sp>
      <p:sp>
        <p:nvSpPr>
          <p:cNvPr id="29"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lnSpcReduction="9999"/>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lvl="1" marL="731880" indent="-28584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registered nurse employed as a surveyor for the Texas Department of Aging and Disability Services, the state agency responsible for nursing home inspections.  She accepted $2000 from Bill Lofton, the administrator of a nursing home whose facility she was charged with inspecting. </a:t>
            </a:r>
            <a:endParaRPr b="0" lang="en-IN" sz="2000" strike="noStrike" u="none">
              <a:solidFill>
                <a:srgbClr val="ffffff"/>
              </a:solidFill>
              <a:effectLst/>
              <a:uFillTx/>
              <a:latin typeface="Tahoma"/>
            </a:endParaRPr>
          </a:p>
          <a:p>
            <a:pPr lvl="1" marL="731880" indent="-28584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 On August 14, 2006, she pled no contest in a Texas State Court to one misdemeanor count of “Gift to Public Servant by Person in his Jurisdiction.”  The court entered an order of deferred adjudication. She was sentenced to one year of probation, allowed to complete 32 hours of community service work in lieu of serving four days in jail, and required to pay $2000 in restitution, a $1000 fine, and various court costs and supervision fees.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Excluded from Medicare for five years DAB </a:t>
            </a:r>
            <a:r>
              <a:rPr b="0" lang="en-IN" sz="2400" strike="noStrike" u="none">
                <a:solidFill>
                  <a:srgbClr val="ffffff"/>
                </a:solidFill>
                <a:effectLst/>
                <a:uFillTx/>
                <a:latin typeface="Tahoma"/>
              </a:rPr>
              <a:t>Decision No. CR1994(2009) </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   </a:t>
            </a:r>
            <a:r>
              <a:rPr b="0" lang="en-IN" sz="2400" strike="noStrike" u="none">
                <a:solidFill>
                  <a:srgbClr val="ffffff"/>
                </a:solidFill>
                <a:effectLst/>
                <a:uFillTx/>
                <a:latin typeface="Tahoma"/>
              </a:rPr>
              <a:t> Texas nursing license revoked by state</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E3C876AA-B455-41B4-8B40-C02E454B9CC9}" type="slidenum">
              <a:t>10</a:t>
            </a:fld>
          </a:p>
        </p:txBody>
      </p: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Bold"/>
                <a:ea typeface="Tahoma Bold"/>
              </a:rPr>
              <a:t>limiting fraud and abuse within the program</a:t>
            </a:r>
            <a:endParaRPr b="0" lang="en-IN" sz="4000" strike="noStrike" u="none">
              <a:solidFill>
                <a:srgbClr val="ffffff"/>
              </a:solidFill>
              <a:effectLst/>
              <a:uFillTx/>
              <a:latin typeface="Tahoma"/>
            </a:endParaRPr>
          </a:p>
        </p:txBody>
      </p:sp>
      <p:sp>
        <p:nvSpPr>
          <p:cNvPr id="31"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“Abuse means provider practices that are inconsistent with sound fiscal, business, or medical practices, and result in an unnecessary cost to the Medicaid program, or in reimbursement for services that are not medically necessary or that fail to meet professionally recognized standards for health care. It also includes recipient practices that result in unnecessary cost to the Medicaid program.”  42 CFR 455.2-similar provision in state regulations 18 NYCRR 515.1 (b) (1)</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“Abuse” does not require intent</a:t>
            </a:r>
            <a:endParaRPr b="0" lang="en-IN" sz="2400" strike="noStrike" u="none">
              <a:solidFill>
                <a:srgbClr val="ffffff"/>
              </a:solidFill>
              <a:effectLst/>
              <a:uFillTx/>
              <a:latin typeface="Tahoma"/>
            </a:endParaRPr>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Tahoma"/>
              </a:rPr>
              <a:t>Impact of Exclusion on health care employers</a:t>
            </a:r>
            <a:endParaRPr b="0" lang="en-IN" sz="3600" strike="noStrike" u="none">
              <a:solidFill>
                <a:srgbClr val="ffffff"/>
              </a:solidFill>
              <a:effectLst/>
              <a:uFillTx/>
              <a:latin typeface="Tahoma"/>
            </a:endParaRPr>
          </a:p>
        </p:txBody>
      </p:sp>
      <p:sp>
        <p:nvSpPr>
          <p:cNvPr id="33" name="PlaceHolder 2"/>
          <p:cNvSpPr>
            <a:spLocks noGrp="1"/>
          </p:cNvSpPr>
          <p:nvPr>
            <p:ph/>
          </p:nvPr>
        </p:nvSpPr>
        <p:spPr>
          <a:xfrm>
            <a:off x="457200" y="1447920"/>
            <a:ext cx="8229600" cy="54100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Once exclusion occurs, health care providers:</a:t>
            </a:r>
            <a:endParaRPr b="0" lang="en-IN" sz="2800" strike="noStrike" u="none">
              <a:solidFill>
                <a:srgbClr val="ffffff"/>
              </a:solidFill>
              <a:effectLst/>
              <a:uFillTx/>
              <a:latin typeface="Tahoma"/>
            </a:endParaRPr>
          </a:p>
          <a:p>
            <a:pPr lvl="1" marL="782640" indent="-28584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ffffff"/>
                </a:solidFill>
                <a:effectLst/>
                <a:uFillTx/>
                <a:latin typeface="Tahoma"/>
              </a:rPr>
              <a:t>May employ or contract with excluded persons, but may not allow excluded persons to provide or to direct the ordering or delivery of services or supplies, or to undertake certain administrative duties</a:t>
            </a:r>
            <a:endParaRPr b="0" lang="en-IN" sz="2500" strike="noStrike" u="none">
              <a:solidFill>
                <a:srgbClr val="ffffff"/>
              </a:solidFill>
              <a:effectLst/>
              <a:uFillTx/>
              <a:latin typeface="Tahoma"/>
            </a:endParaRPr>
          </a:p>
          <a:p>
            <a:pPr lvl="1" marL="782640" indent="-28584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ffffff"/>
                </a:solidFill>
                <a:effectLst/>
                <a:uFillTx/>
                <a:latin typeface="Tahoma"/>
              </a:rPr>
              <a:t>Whether or not direct care activities are involved</a:t>
            </a:r>
            <a:endParaRPr b="0" lang="en-IN" sz="2500" strike="noStrike" u="none">
              <a:solidFill>
                <a:srgbClr val="ffffff"/>
              </a:solidFill>
              <a:effectLst/>
              <a:uFillTx/>
              <a:latin typeface="Tahoma"/>
            </a:endParaRPr>
          </a:p>
          <a:p>
            <a:pPr lvl="1" marL="782640" indent="-28584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ffffff"/>
                </a:solidFill>
                <a:effectLst/>
                <a:uFillTx/>
                <a:latin typeface="Tahoma"/>
              </a:rPr>
              <a:t>If any part of the task is reimbursed by federal program dollars</a:t>
            </a:r>
            <a:endParaRPr b="0" lang="en-IN" sz="2500" strike="noStrike" u="none">
              <a:solidFill>
                <a:srgbClr val="ffffff"/>
              </a:solidFill>
              <a:effectLst/>
              <a:uFillTx/>
              <a:latin typeface="Tahoma"/>
            </a:endParaRPr>
          </a:p>
          <a:p>
            <a:pPr lvl="1" marL="782640" indent="-285840">
              <a:lnSpc>
                <a:spcPct val="9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ffffff"/>
                </a:solidFill>
                <a:effectLst/>
                <a:uFillTx/>
                <a:latin typeface="Tahoma"/>
              </a:rPr>
              <a:t>Note: Staffing agencies must screen potential candidates to ensure that they have not been excluded prior to being sent to providers for work.  Providers must develop and enforce contractual agreements to ensure prescreening occurs.</a:t>
            </a:r>
            <a:endParaRPr b="0" lang="en-IN" sz="2500" strike="noStrike" u="none">
              <a:solidFill>
                <a:srgbClr val="ffffff"/>
              </a:solidFill>
              <a:effectLst/>
              <a:uFillTx/>
              <a:latin typeface="Tahoma"/>
            </a:endParaRPr>
          </a:p>
          <a:p>
            <a:pPr lvl="1" marL="78264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500" strike="noStrike" u="none">
              <a:solidFill>
                <a:srgbClr val="ffffff"/>
              </a:solidFill>
              <a:effectLst/>
              <a:uFillTx/>
              <a:latin typeface="Tahoma"/>
            </a:endParaRPr>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28240"/>
            <a:ext cx="8229600" cy="184140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EXCLUSIONS-FEDERAL LAW-STATE MEDICAID MANAGED CARE PLANS</a:t>
            </a:r>
            <a:endParaRPr b="0" lang="en-IN" sz="4000" strike="noStrike" u="none">
              <a:solidFill>
                <a:srgbClr val="ffffff"/>
              </a:solidFill>
              <a:effectLst/>
              <a:uFillTx/>
              <a:latin typeface="Tahoma"/>
            </a:endParaRPr>
          </a:p>
        </p:txBody>
      </p:sp>
      <p:sp>
        <p:nvSpPr>
          <p:cNvPr id="35" name="PlaceHolder 2"/>
          <p:cNvSpPr>
            <a:spLocks noGrp="1"/>
          </p:cNvSpPr>
          <p:nvPr>
            <p:ph/>
          </p:nvPr>
        </p:nvSpPr>
        <p:spPr>
          <a:xfrm>
            <a:off x="279360" y="2349000"/>
            <a:ext cx="8229600" cy="495324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500" strike="noStrike" u="none">
                <a:solidFill>
                  <a:srgbClr val="ffffff"/>
                </a:solidFill>
                <a:effectLst/>
                <a:uFillTx/>
                <a:latin typeface="Tahoma"/>
              </a:rPr>
              <a:t>section 1932(d)(1) of the Social Security Act (42 U.S.C. 1396u-2):</a:t>
            </a:r>
            <a:endParaRPr b="0" lang="en-IN" sz="25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A) In general.—A managed care entity may not knowingly—</a:t>
            </a:r>
            <a:endParaRPr b="0" lang="en-IN" sz="17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(i) have a person described in subparagraph (C) (i.e., an excluded person) as a director, officer, partner, or person with beneficial ownership of more than 5 percent of the entity's equity, or</a:t>
            </a:r>
            <a:endParaRPr b="0" lang="en-IN" sz="17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(ii) have an employment, consulting, or other agreement with a person described in such subparagraph for the provision of items and services that are significant and material to the entity's obligations under its contract with the state. </a:t>
            </a:r>
            <a:endParaRPr b="0" lang="en-IN" sz="1700" strike="noStrike" u="none">
              <a:solidFill>
                <a:srgbClr val="ffffff"/>
              </a:solidFill>
              <a:effectLst/>
              <a:uFillTx/>
              <a:latin typeface="Tahoma"/>
            </a:endParaRPr>
          </a:p>
          <a:p>
            <a:pPr marL="382680"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7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Thus, a managed care plan may not knowingly contract with excluded persons to provide services to Medicaid managed care enrollees.</a:t>
            </a:r>
            <a:endParaRPr b="0" lang="en-IN" sz="17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Compare with fee-for-service: “ </a:t>
            </a:r>
            <a:r>
              <a:rPr b="0" lang="en-IN" sz="1600" strike="noStrike" u="none">
                <a:solidFill>
                  <a:srgbClr val="ffffff"/>
                </a:solidFill>
                <a:effectLst/>
                <a:uFillTx/>
                <a:latin typeface="Tahoma"/>
              </a:rPr>
              <a:t>knew or had reason to know of the exclusion.” 42 CFR 1001.1901 (b)</a:t>
            </a:r>
            <a:endParaRPr b="0" lang="en-IN" sz="1600" strike="noStrike" u="none">
              <a:solidFill>
                <a:srgbClr val="ffffff"/>
              </a:solidFill>
              <a:effectLst/>
              <a:uFillTx/>
              <a:latin typeface="Tahoma"/>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Searching the OMIG Web Site</a:t>
            </a:r>
            <a:endParaRPr b="0" lang="en-IN" sz="4400" strike="noStrike" u="none">
              <a:solidFill>
                <a:srgbClr val="ffffff"/>
              </a:solidFill>
              <a:effectLst/>
              <a:uFillTx/>
              <a:latin typeface="Tahoma"/>
            </a:endParaRPr>
          </a:p>
        </p:txBody>
      </p:sp>
      <p:pic>
        <p:nvPicPr>
          <p:cNvPr id="37" name="" descr=""/>
          <p:cNvPicPr/>
          <p:nvPr/>
        </p:nvPicPr>
        <p:blipFill>
          <a:blip r:embed="rId2"/>
          <a:stretch/>
        </p:blipFill>
        <p:spPr>
          <a:xfrm>
            <a:off x="457200" y="1905120"/>
            <a:ext cx="8229600" cy="4952880"/>
          </a:xfrm>
          <a:prstGeom prst="rect">
            <a:avLst/>
          </a:prstGeom>
          <a:noFill/>
          <a:ln w="0">
            <a:noFill/>
          </a:ln>
        </p:spPr>
      </p:pic>
      <p:sp>
        <p:nvSpPr>
          <p:cNvPr id="3" name="PlaceHolder 2"/>
          <p:cNvSpPr>
            <a:spLocks noGrp="1"/>
          </p:cNvSpPr>
          <p:nvPr>
            <p:ph type="sldNum" idx="1"/>
          </p:nvPr>
        </p:nvSpPr>
        <p:spPr/>
        <p:txBody>
          <a:bodyPr/>
          <a:p>
            <a:fld id="{0E7B29E5-036B-4684-80CE-EE0D7A5110FE}" type="slidenum">
              <a:t>14</a:t>
            </a:fld>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sp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ahoma"/>
            </a:endParaRPr>
          </a:p>
        </p:txBody>
      </p:sp>
      <p:sp>
        <p:nvSpPr>
          <p:cNvPr id="39"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p:txBody>
      </p:sp>
      <p:pic>
        <p:nvPicPr>
          <p:cNvPr id="40" name="" descr=""/>
          <p:cNvPicPr/>
          <p:nvPr/>
        </p:nvPicPr>
        <p:blipFill>
          <a:blip r:embed="rId2"/>
          <a:stretch/>
        </p:blipFill>
        <p:spPr>
          <a:xfrm>
            <a:off x="-1523880" y="-1447920"/>
            <a:ext cx="12191760" cy="9753840"/>
          </a:xfrm>
          <a:prstGeom prst="rect">
            <a:avLst/>
          </a:prstGeom>
          <a:noFill/>
          <a:ln w="0">
            <a:noFill/>
          </a:ln>
        </p:spPr>
      </p:pic>
      <p:sp>
        <p:nvSpPr>
          <p:cNvPr id="4" name="PlaceHolder 3"/>
          <p:cNvSpPr>
            <a:spLocks noGrp="1"/>
          </p:cNvSpPr>
          <p:nvPr>
            <p:ph type="sldNum" idx="1"/>
          </p:nvPr>
        </p:nvSpPr>
        <p:spPr/>
        <p:txBody>
          <a:bodyPr/>
          <a:p>
            <a:fld id="{EE25AA79-BAD1-463F-AD46-E0B75B6A17E9}" type="slidenum">
              <a:t>15</a:t>
            </a:fld>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sp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ffffff"/>
              </a:solidFill>
              <a:effectLst/>
              <a:uFillTx/>
              <a:latin typeface="Tahoma"/>
            </a:endParaRPr>
          </a:p>
        </p:txBody>
      </p:sp>
      <p:pic>
        <p:nvPicPr>
          <p:cNvPr id="42" name="" descr=""/>
          <p:cNvPicPr/>
          <p:nvPr/>
        </p:nvPicPr>
        <p:blipFill>
          <a:blip r:embed="rId2"/>
          <a:stretch/>
        </p:blipFill>
        <p:spPr>
          <a:xfrm>
            <a:off x="-228600" y="-457200"/>
            <a:ext cx="9601200" cy="7620120"/>
          </a:xfrm>
          <a:prstGeom prst="rect">
            <a:avLst/>
          </a:prstGeom>
          <a:noFill/>
          <a:ln w="0">
            <a:noFill/>
          </a:ln>
        </p:spPr>
      </p:pic>
      <p:sp>
        <p:nvSpPr>
          <p:cNvPr id="43" name=""/>
          <p:cNvSpPr/>
          <p:nvPr/>
        </p:nvSpPr>
        <p:spPr>
          <a:xfrm>
            <a:off x="6553080" y="6248520"/>
            <a:ext cx="1917720" cy="291960"/>
          </a:xfrm>
          <a:prstGeom prst="rect">
            <a:avLst/>
          </a:prstGeom>
          <a:noFill/>
          <a:ln w="0">
            <a:noFill/>
          </a:ln>
        </p:spPr>
        <p:style>
          <a:lnRef idx="0"/>
          <a:fillRef idx="0"/>
          <a:effectRef idx="0"/>
          <a:fontRef idx="minor"/>
        </p:style>
        <p:txBody>
          <a:bodyPr lIns="0" rIns="40680" tIns="0" bIns="0" anchor="t">
            <a:noAutofit/>
          </a:bodyPr>
          <a:p>
            <a:pPr marL="39600"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1400" strike="noStrike" u="none">
                <a:solidFill>
                  <a:srgbClr val="ffffff"/>
                </a:solidFill>
                <a:effectLst/>
                <a:uFillTx/>
                <a:latin typeface="Times New Roman"/>
                <a:ea typeface="Times New Roman"/>
              </a:rPr>
              <a:t>31</a:t>
            </a:r>
            <a:endParaRPr b="0" lang="en-IN" sz="1400" strike="noStrike" u="none">
              <a:solidFill>
                <a:srgbClr val="ffffff"/>
              </a:solidFill>
              <a:effectLst/>
              <a:uFillTx/>
              <a:latin typeface="Arial"/>
            </a:endParaRPr>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2680"/>
            <a:ext cx="8229600" cy="196884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Tahoma"/>
              </a:rPr>
              <a:t>The Federal Acquisition Streamlining Act of 1994 requires that exclusion from any federal program is exclusion</a:t>
            </a:r>
            <a:r>
              <a:rPr b="0" lang="en-IN" sz="4000" strike="noStrike" u="none">
                <a:solidFill>
                  <a:srgbClr val="ffffff"/>
                </a:solidFill>
                <a:effectLst/>
                <a:uFillTx/>
                <a:latin typeface="Tahoma"/>
              </a:rPr>
              <a:t> from all </a:t>
            </a:r>
            <a:endParaRPr b="0" lang="en-IN" sz="4000" strike="noStrike" u="none">
              <a:solidFill>
                <a:srgbClr val="ffffff"/>
              </a:solidFill>
              <a:effectLst/>
              <a:uFillTx/>
              <a:latin typeface="Tahoma"/>
            </a:endParaRPr>
          </a:p>
        </p:txBody>
      </p:sp>
      <p:sp>
        <p:nvSpPr>
          <p:cNvPr id="45" name="PlaceHolder 2"/>
          <p:cNvSpPr>
            <a:spLocks noGrp="1"/>
          </p:cNvSpPr>
          <p:nvPr>
            <p:ph/>
          </p:nvPr>
        </p:nvSpPr>
        <p:spPr>
          <a:xfrm>
            <a:off x="457200" y="2209680"/>
            <a:ext cx="8229600" cy="464832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mandates and expands the government-wide effect of all debarments, suspensions, and other exclusionary actions to federal procurement, as well as non-procurement programs. </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Section 2455: “No agency shall allow a party to participate in any procurement or nonprocurement activity if any agency has debarred, suspended, or otherwise excluded (to the extent specified in the exclusion agreement) that party from participation in a procurement or nonprocurement activity.”</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THE GSA AND OIG LISTS ARE NOT INTEGRATED-EACH MUST BE CHECKED</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List of parties excluded from federal procurement and nonprocurement programs </a:t>
            </a:r>
            <a:br>
              <a:rPr sz="1600"/>
            </a:br>
            <a:r>
              <a:rPr b="0" lang="en-IN" sz="2800" strike="noStrike" u="sng">
                <a:solidFill>
                  <a:srgbClr val="009999"/>
                </a:solidFill>
                <a:effectLst/>
                <a:uFillTx/>
                <a:latin typeface="Tahoma"/>
                <a:hlinkClick r:id="rId2"/>
              </a:rPr>
              <a:t>https://www.epls.gov</a:t>
            </a:r>
            <a:r>
              <a:rPr b="0" lang="en-IN" sz="2800" strike="noStrike" u="none">
                <a:solidFill>
                  <a:srgbClr val="ffffff"/>
                </a:solidFill>
                <a:effectLst/>
                <a:uFillTx/>
                <a:latin typeface="Tahoma"/>
              </a:rPr>
              <a:t> </a:t>
            </a:r>
            <a:r>
              <a:rPr b="0" lang="en-IN" sz="1600" strike="noStrike" u="none">
                <a:solidFill>
                  <a:srgbClr val="ffffff"/>
                </a:solidFill>
                <a:effectLst/>
                <a:uFillTx/>
                <a:latin typeface="Tahoma"/>
              </a:rPr>
              <a:t> </a:t>
            </a:r>
            <a:br>
              <a:rPr sz="1600"/>
            </a:br>
            <a:r>
              <a:rPr b="0" lang="en-IN" sz="1600" strike="noStrike" u="none">
                <a:solidFill>
                  <a:srgbClr val="ffffff"/>
                </a:solidFill>
                <a:effectLst/>
                <a:uFillTx/>
                <a:latin typeface="Tahoma"/>
              </a:rPr>
              <a:t> </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No public discussion of this provision by CMS or OIG that OMIG could find</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NOTE THAT EXCLUSION FROM ONE STATE’S MEDICAID PROGRAM DOES NOT RESULT IN EXCLUSION FROM ALL STATE MEDICAID PROGRAMS, AND THAT INDIVIDUAL STATE EXCLUSIONS ARE NOT REPORTED ON ANY FEDERAL DATABASE</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After January 1, 2011, any state’s “termination” of a person will require that all states “terminate”  that person (PPACA Section 6501).  </a:t>
            </a:r>
            <a:endParaRPr b="0" lang="en-IN" sz="1600" strike="noStrike" u="none">
              <a:solidFill>
                <a:srgbClr val="ffffff"/>
              </a:solidFill>
              <a:effectLst/>
              <a:uFillTx/>
              <a:latin typeface="Tahoma"/>
            </a:endParaRPr>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THE CMS EXCLUSION REGULATION</a:t>
            </a:r>
            <a:endParaRPr b="0" lang="en-IN" sz="4000" strike="noStrike" u="none">
              <a:solidFill>
                <a:srgbClr val="ffffff"/>
              </a:solidFill>
              <a:effectLst/>
              <a:uFillTx/>
              <a:latin typeface="Tahoma"/>
            </a:endParaRPr>
          </a:p>
        </p:txBody>
      </p:sp>
      <p:sp>
        <p:nvSpPr>
          <p:cNvPr id="47"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“No payment will be made by Medicare, Medicaid or any of the other federal health care programs for any item or service furnished by an excluded individual or entity, or at the medical direction or on the prescription of a physician or other authorized individual who is excluded when the person furnishing such item or service knew or had reason to know of the exclusion.” 42 CFR 1001.1901 (b)</a:t>
            </a:r>
            <a:endParaRPr b="0" lang="en-IN" sz="2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Focus is not on the relationship but on the </a:t>
            </a:r>
            <a:r>
              <a:rPr b="0" lang="en-IN" sz="2800" strike="noStrike" u="none">
                <a:solidFill>
                  <a:srgbClr val="ffffff"/>
                </a:solidFill>
                <a:effectLst/>
                <a:uFillTx/>
                <a:latin typeface="Tahoma Bold"/>
                <a:ea typeface="Tahoma Bold"/>
              </a:rPr>
              <a:t>payment.</a:t>
            </a:r>
            <a:endParaRPr b="0" lang="en-IN" sz="2800" strike="noStrike" u="none">
              <a:solidFill>
                <a:srgbClr val="ffffff"/>
              </a:solidFill>
              <a:effectLst/>
              <a:uFillTx/>
              <a:latin typeface="Tahoma"/>
            </a:endParaRPr>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THE FEDERAL GUIDANCE</a:t>
            </a:r>
            <a:endParaRPr b="0" lang="en-IN" sz="4400" strike="noStrike" u="none">
              <a:solidFill>
                <a:srgbClr val="ffffff"/>
              </a:solidFill>
              <a:effectLst/>
              <a:uFillTx/>
              <a:latin typeface="Tahoma"/>
            </a:endParaRPr>
          </a:p>
        </p:txBody>
      </p:sp>
      <p:sp>
        <p:nvSpPr>
          <p:cNvPr id="49"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 </a:t>
            </a:r>
            <a:r>
              <a:rPr b="0" lang="en-IN" sz="3200" strike="noStrike" u="sng">
                <a:solidFill>
                  <a:srgbClr val="009999"/>
                </a:solidFill>
                <a:effectLst/>
                <a:uFillTx/>
                <a:latin typeface="Tahoma"/>
                <a:hlinkClick r:id="rId2"/>
              </a:rPr>
              <a:t>Special Advisory Bulletin on the Effect of Exclusion</a:t>
            </a:r>
            <a:r>
              <a:rPr b="0" lang="en-IN" sz="3200" strike="noStrike" u="none">
                <a:solidFill>
                  <a:srgbClr val="ffffff"/>
                </a:solidFill>
                <a:effectLst/>
                <a:uFillTx/>
                <a:latin typeface="Tahoma"/>
              </a:rPr>
              <a:t> (OIG-September, 1999)</a:t>
            </a:r>
            <a:endParaRPr b="0" lang="en-IN" sz="3200" strike="noStrike" u="none">
              <a:solidFill>
                <a:srgbClr val="ffffff"/>
              </a:solidFill>
              <a:effectLst/>
              <a:uFillTx/>
              <a:latin typeface="Tahoma"/>
            </a:endParaRPr>
          </a:p>
          <a:p>
            <a:pPr marL="382680" indent="-343080">
              <a:lnSpc>
                <a:spcPct val="10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Bold"/>
                <a:ea typeface="Tahoma Bold"/>
              </a:rPr>
              <a:t>Frequently Asked Questions (OIG)</a:t>
            </a:r>
            <a:endParaRPr b="0" lang="en-IN" sz="3200" strike="noStrike" u="none">
              <a:solidFill>
                <a:srgbClr val="ffffff"/>
              </a:solidFill>
              <a:effectLst/>
              <a:uFillTx/>
              <a:latin typeface="Tahoma"/>
            </a:endParaRPr>
          </a:p>
          <a:p>
            <a:pPr marL="382680" indent="-343080">
              <a:lnSpc>
                <a:spcPct val="10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Bold"/>
                <a:ea typeface="Tahoma Bold"/>
              </a:rPr>
              <a:t>STATE MEDICAID DIRECTOR LETTERS(CMS)</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SMDL #09-001</a:t>
            </a:r>
            <a:r>
              <a:rPr b="0" lang="en-IN" sz="2800" strike="noStrike" u="none">
                <a:solidFill>
                  <a:srgbClr val="ffffff"/>
                </a:solidFill>
                <a:effectLst/>
                <a:uFillTx/>
                <a:latin typeface="Tahoma"/>
              </a:rPr>
              <a:t> January 16, 2009</a:t>
            </a:r>
            <a:endParaRPr b="0" lang="en-IN" sz="28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SMDL #08-003 June 12, 2008</a:t>
            </a:r>
            <a:r>
              <a:rPr b="0" lang="en-IN" sz="3200" strike="noStrike" u="none">
                <a:solidFill>
                  <a:srgbClr val="ffffff"/>
                </a:solidFill>
                <a:effectLst/>
                <a:uFillTx/>
                <a:latin typeface="Tahoma"/>
              </a:rPr>
              <a:t> </a:t>
            </a:r>
            <a:endParaRPr b="0" lang="en-IN" sz="3200" strike="noStrike" u="none">
              <a:solidFill>
                <a:srgbClr val="ffffff"/>
              </a:solidFill>
              <a:effectLst/>
              <a:uFillTx/>
              <a:latin typeface="Tahoma"/>
            </a:endParaRPr>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THE NEW YORK STATE EXCLUSION REGULATION</a:t>
            </a:r>
            <a:endParaRPr b="0" lang="en-IN" sz="4000" strike="noStrike" u="none">
              <a:solidFill>
                <a:srgbClr val="ffffff"/>
              </a:solidFill>
              <a:effectLst/>
              <a:uFillTx/>
              <a:latin typeface="Tahoma"/>
            </a:endParaRPr>
          </a:p>
        </p:txBody>
      </p:sp>
      <p:sp>
        <p:nvSpPr>
          <p:cNvPr id="51"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10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Bold"/>
                <a:ea typeface="Tahoma Bold"/>
              </a:rPr>
              <a:t>18 NYCRR 515.5</a:t>
            </a:r>
            <a:r>
              <a:rPr b="0" lang="en-IN" sz="3200" strike="noStrike" u="none">
                <a:solidFill>
                  <a:srgbClr val="ffffff"/>
                </a:solidFill>
                <a:effectLst/>
                <a:uFillTx/>
                <a:latin typeface="Tahoma"/>
              </a:rPr>
              <a:t> Sanctions effect: (a) No payments will be made to or on behalf of any person for the medical care, services or supplies furnished by or under the supervision of the person during a period of exclusion or in violation of any condition of participation in the program. </a:t>
            </a:r>
            <a:endParaRPr b="0" lang="en-IN" sz="3200" strike="noStrike" u="none">
              <a:solidFill>
                <a:srgbClr val="ffffff"/>
              </a:solidFill>
              <a:effectLst/>
              <a:uFillTx/>
              <a:latin typeface="Tahoma"/>
            </a:endParaRPr>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THE NEW YORK STATE EXCLUSION REGULATION</a:t>
            </a:r>
            <a:endParaRPr b="0" lang="en-IN" sz="4000" strike="noStrike" u="none">
              <a:solidFill>
                <a:srgbClr val="ffffff"/>
              </a:solidFill>
              <a:effectLst/>
              <a:uFillTx/>
              <a:latin typeface="Tahoma"/>
            </a:endParaRPr>
          </a:p>
        </p:txBody>
      </p:sp>
      <p:sp>
        <p:nvSpPr>
          <p:cNvPr id="5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Bold"/>
                <a:ea typeface="Tahoma Bold"/>
              </a:rPr>
              <a:t>18 NYCRR 515.5</a:t>
            </a:r>
            <a:r>
              <a:rPr b="0" lang="en-IN" sz="1700" strike="noStrike" u="none">
                <a:solidFill>
                  <a:srgbClr val="ffffff"/>
                </a:solidFill>
                <a:effectLst/>
                <a:uFillTx/>
                <a:latin typeface="Tahoma"/>
              </a:rPr>
              <a:t> Sanctions effect (continued):</a:t>
            </a:r>
            <a:endParaRPr b="0" lang="en-IN" sz="1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 (b) No payment will be made for medical care, services or supplies ordered or prescribed by any person while that person is excluded, nor for any medical care, services or supplies ordered or prescribed in violation of any condition of participation in the program. </a:t>
            </a:r>
            <a:endParaRPr b="0" lang="en-IN" sz="1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700" strike="noStrike" u="none">
                <a:solidFill>
                  <a:srgbClr val="ffffff"/>
                </a:solidFill>
                <a:effectLst/>
                <a:uFillTx/>
                <a:latin typeface="Tahoma"/>
              </a:rPr>
              <a:t>(c) A person who is excluded from the program cannot be involved in any activity relating to furnishing medical care, services or supplies to recipients of medical assistance for which claims are submitted to the program, or relating to claiming or receiving payment for medical care, services or supplies during the period. </a:t>
            </a:r>
            <a:br>
              <a:rPr sz="1700"/>
            </a:br>
            <a:br>
              <a:rPr sz="1700"/>
            </a:br>
            <a:r>
              <a:rPr b="0" lang="en-IN" sz="1700" strike="noStrike" u="none">
                <a:solidFill>
                  <a:srgbClr val="ffffff"/>
                </a:solidFill>
                <a:effectLst/>
                <a:uFillTx/>
                <a:latin typeface="Tahoma"/>
              </a:rPr>
              <a:t>(d) Providers reimbursed on a cost-related basis may not claim as allowable costs any amounts paid or credited to any person who is excluded from the program or who is in violation of any condition of participation in the program. </a:t>
            </a:r>
            <a:br>
              <a:rPr sz="1700"/>
            </a:br>
            <a:br>
              <a:rPr sz="1700"/>
            </a:br>
            <a:r>
              <a:rPr b="0" lang="en-IN" sz="1700" strike="noStrike" u="none">
                <a:solidFill>
                  <a:srgbClr val="ffffff"/>
                </a:solidFill>
                <a:effectLst/>
                <a:uFillTx/>
                <a:latin typeface="Tahoma"/>
              </a:rPr>
              <a:t>(e) Providers reimbursed on a fee-for-services basis may not submit any claim and cannot be reimbursed for any medical care, services or supplies furnished by any person who is excluded from the program or which are furnished in violation of any condition of participation in the program. </a:t>
            </a:r>
            <a:br>
              <a:rPr sz="1400"/>
            </a:br>
            <a:br>
              <a:rPr sz="1400"/>
            </a:br>
            <a:br>
              <a:rPr sz="1400"/>
            </a:br>
            <a:r>
              <a:rPr b="0" lang="en-IN" sz="1400" strike="noStrike" u="none">
                <a:solidFill>
                  <a:srgbClr val="ffffff"/>
                </a:solidFill>
                <a:effectLst/>
                <a:uFillTx/>
                <a:latin typeface="Tahoma"/>
              </a:rPr>
              <a:t> </a:t>
            </a:r>
            <a:endParaRPr b="0" lang="en-IN" sz="1400" strike="noStrike" u="none">
              <a:solidFill>
                <a:srgbClr val="ffffff"/>
              </a:solidFill>
              <a:effectLst/>
              <a:uFillTx/>
              <a:latin typeface="Tahoma"/>
            </a:endParaRPr>
          </a:p>
        </p:txBody>
      </p:sp>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88560"/>
            <a:ext cx="8229600" cy="2120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4000"/>
            </a:br>
            <a:r>
              <a:rPr b="0" lang="en-IN" sz="4000" strike="noStrike" u="none">
                <a:solidFill>
                  <a:srgbClr val="ffffff"/>
                </a:solidFill>
                <a:effectLst/>
                <a:uFillTx/>
                <a:latin typeface="Tahoma"/>
              </a:rPr>
              <a:t>THE NEW YORK GUIDANCE</a:t>
            </a:r>
            <a:br>
              <a:rPr sz="4000"/>
            </a:br>
            <a:r>
              <a:rPr b="0" lang="en-IN" sz="4000" strike="noStrike" u="none">
                <a:solidFill>
                  <a:srgbClr val="ffffff"/>
                </a:solidFill>
                <a:effectLst/>
                <a:uFillTx/>
                <a:latin typeface="Tahoma Bold"/>
                <a:ea typeface="Tahoma Bold"/>
              </a:rPr>
              <a:t>DOH Medicaid Update June 2005 Vol. 20, No. 7</a:t>
            </a:r>
            <a:br>
              <a:rPr sz="4000"/>
            </a:br>
            <a:endParaRPr b="0" lang="en-IN" sz="4000" strike="noStrike" u="none">
              <a:solidFill>
                <a:srgbClr val="ffffff"/>
              </a:solidFill>
              <a:effectLst/>
              <a:uFillTx/>
              <a:latin typeface="Tahoma"/>
            </a:endParaRPr>
          </a:p>
        </p:txBody>
      </p:sp>
      <p:sp>
        <p:nvSpPr>
          <p:cNvPr id="55" name="PlaceHolder 2"/>
          <p:cNvSpPr>
            <a:spLocks noGrp="1"/>
          </p:cNvSpPr>
          <p:nvPr>
            <p:ph/>
          </p:nvPr>
        </p:nvSpPr>
        <p:spPr>
          <a:xfrm>
            <a:off x="457200" y="2209680"/>
            <a:ext cx="8229600" cy="464832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DOH Medicaid Update June 2005 Vol. 20, No. 7</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CREDENTIALING</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Medicaid providers need to ensure that they do not employ, or are affiliated with, any individual who has been excluded from either the Medicare or the Medicaid program.</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Pursuant to federal regulations and department regulations at 18 NYCRR 515.5, an excluded person cannot be involved in any activity relating to the furnishing of medical care, services or supplies to recipients of medical assistance for which claims are submitted to Medicaid. </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The same prohibition applies to activities related to the Medicare program. Activities include both furnishing and ordering (i.e., prescribing) medical care, services or supplies. </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This prohibition extends to group affiliations and to employers (hospitals, nursing homes, pharmacies, etc.) who cannot be associated with, or employ, an excluded individual. </a:t>
            </a: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Bold"/>
                <a:ea typeface="Tahoma Bold"/>
              </a:rPr>
              <a:t>Eligible Medicaid providers are prohibited from submitting claims or ordering services for excluded individuals</a:t>
            </a:r>
            <a:endParaRPr b="0" lang="en-IN" sz="1600" strike="noStrike" u="none">
              <a:solidFill>
                <a:srgbClr val="ffffff"/>
              </a:solidFill>
              <a:effectLst/>
              <a:uFillTx/>
              <a:latin typeface="Tahoma"/>
            </a:endParaRPr>
          </a:p>
        </p:txBody>
      </p:sp>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41200"/>
            <a:ext cx="8229600" cy="166392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4000"/>
            </a:br>
            <a:r>
              <a:rPr b="0" lang="en-IN" sz="4000" strike="noStrike" u="none">
                <a:solidFill>
                  <a:srgbClr val="ffffff"/>
                </a:solidFill>
                <a:effectLst/>
                <a:uFillTx/>
                <a:latin typeface="Tahoma"/>
              </a:rPr>
              <a:t>THE NEW YORK GUIDANCE</a:t>
            </a:r>
            <a:br>
              <a:rPr sz="4000"/>
            </a:br>
            <a:r>
              <a:rPr b="0" lang="en-IN" sz="4000" strike="noStrike" u="none">
                <a:solidFill>
                  <a:srgbClr val="ffffff"/>
                </a:solidFill>
                <a:effectLst/>
                <a:uFillTx/>
                <a:latin typeface="Tahoma Bold"/>
                <a:ea typeface="Tahoma Bold"/>
              </a:rPr>
              <a:t>DOH Medicaid Update June 2007 Vol. 23, No. 6</a:t>
            </a:r>
            <a:br>
              <a:rPr sz="4000"/>
            </a:br>
            <a:endParaRPr b="0" lang="en-IN" sz="4000" strike="noStrike" u="none">
              <a:solidFill>
                <a:srgbClr val="ffffff"/>
              </a:solidFill>
              <a:effectLst/>
              <a:uFillTx/>
              <a:latin typeface="Tahoma"/>
            </a:endParaRPr>
          </a:p>
        </p:txBody>
      </p:sp>
      <p:sp>
        <p:nvSpPr>
          <p:cNvPr id="57"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Bold"/>
                <a:ea typeface="Tahoma Bold"/>
              </a:rPr>
              <a:t>Disqualified Provider List</a:t>
            </a:r>
            <a:br>
              <a:rPr sz="2000"/>
            </a:br>
            <a:br>
              <a:rPr sz="2000"/>
            </a:br>
            <a:r>
              <a:rPr b="0" lang="en-IN" sz="2000" strike="noStrike" u="none">
                <a:solidFill>
                  <a:srgbClr val="ffffff"/>
                </a:solidFill>
                <a:effectLst/>
                <a:uFillTx/>
                <a:latin typeface="Tahoma Bold"/>
                <a:ea typeface="Tahoma Bold"/>
              </a:rPr>
              <a:t>Do Not Hire!</a:t>
            </a:r>
            <a:br>
              <a:rPr sz="2000"/>
            </a:br>
            <a:r>
              <a:rPr b="0" lang="en-IN" sz="2000" strike="noStrike" u="none">
                <a:solidFill>
                  <a:srgbClr val="ffffff"/>
                </a:solidFill>
                <a:effectLst/>
                <a:uFillTx/>
                <a:latin typeface="Tahoma"/>
              </a:rPr>
              <a:t>It is important for all employers and individuals conducting business with the New York State Medicaid program to examine the list of providers not allowed to order before hiring an individual.</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The New York State Department of Health's providers not allowed to order list includes:</a:t>
            </a:r>
            <a:endParaRPr b="0" lang="en-IN" sz="2000" strike="noStrike" u="none">
              <a:solidFill>
                <a:srgbClr val="ffffff"/>
              </a:solidFill>
              <a:effectLst/>
              <a:uFillTx/>
              <a:latin typeface="Tahoma"/>
            </a:endParaRPr>
          </a:p>
          <a:p>
            <a:pPr lvl="1" marL="782640" indent="-28584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previously enrolled Medicaid providers who have been disqualified from the Medicaid program for various reasons; and </a:t>
            </a:r>
            <a:endParaRPr b="0" lang="en-IN" sz="2000" strike="noStrike" u="none">
              <a:solidFill>
                <a:srgbClr val="ffffff"/>
              </a:solidFill>
              <a:effectLst/>
              <a:uFillTx/>
              <a:latin typeface="Tahoma"/>
            </a:endParaRPr>
          </a:p>
          <a:p>
            <a:pPr lvl="1" marL="782640" indent="-285840">
              <a:lnSpc>
                <a:spcPct val="80000"/>
              </a:lnSpc>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individual providers who have never been enrolled in the Medicaid program, but have been disqualified from the Medicare program and therefore are not allowed to enroll in the New York State Medicaid program, or disqualified from the New York State Medicaid program and not allowed to enroll. </a:t>
            </a:r>
            <a:endParaRPr b="0" lang="en-IN" sz="2000" strike="noStrike" u="none">
              <a:solidFill>
                <a:srgbClr val="ffffff"/>
              </a:solidFill>
              <a:effectLst/>
              <a:uFillTx/>
              <a:latin typeface="Tahoma"/>
            </a:endParaRPr>
          </a:p>
        </p:txBody>
      </p:sp>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533520" y="545760"/>
            <a:ext cx="8229600" cy="181620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3600"/>
            </a:br>
            <a:r>
              <a:rPr b="0" lang="en-IN" sz="3600" strike="noStrike" u="none">
                <a:solidFill>
                  <a:srgbClr val="ffffff"/>
                </a:solidFill>
                <a:effectLst/>
                <a:uFillTx/>
                <a:latin typeface="Tahoma"/>
              </a:rPr>
              <a:t>THE NEW YORK GUIDANCE</a:t>
            </a:r>
            <a:br>
              <a:rPr sz="3600"/>
            </a:br>
            <a:r>
              <a:rPr b="0" lang="en-IN" sz="3600" strike="noStrike" u="none">
                <a:solidFill>
                  <a:srgbClr val="ffffff"/>
                </a:solidFill>
                <a:effectLst/>
                <a:uFillTx/>
                <a:latin typeface="Tahoma Bold"/>
                <a:ea typeface="Tahoma Bold"/>
              </a:rPr>
              <a:t>DOH Medicaid Update April  2010 Vol. 26, No. 6</a:t>
            </a:r>
            <a:br>
              <a:rPr sz="4000"/>
            </a:br>
            <a:endParaRPr b="0" lang="en-IN" sz="3600" strike="noStrike" u="none">
              <a:solidFill>
                <a:srgbClr val="ffffff"/>
              </a:solidFill>
              <a:effectLst/>
              <a:uFillTx/>
              <a:latin typeface="Tahoma"/>
            </a:endParaRPr>
          </a:p>
        </p:txBody>
      </p:sp>
      <p:sp>
        <p:nvSpPr>
          <p:cNvPr id="59" name="PlaceHolder 2"/>
          <p:cNvSpPr>
            <a:spLocks noGrp="1"/>
          </p:cNvSpPr>
          <p:nvPr>
            <p:ph/>
          </p:nvPr>
        </p:nvSpPr>
        <p:spPr>
          <a:xfrm>
            <a:off x="457200" y="2362320"/>
            <a:ext cx="8229600" cy="44956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“The Office of the Medicaid Inspector General (OMIG) reminds providers that they have an obligation to screen employees, prospective employees, and contractors, both individuals and entities, to determine if they have been excluded or terminated from participation in federal health care programs or New York Medicaid.”</a:t>
            </a:r>
            <a:endParaRPr b="0" lang="en-IN" sz="3200" strike="noStrike" u="none">
              <a:solidFill>
                <a:srgbClr val="ffffff"/>
              </a:solidFill>
              <a:effectLst/>
              <a:uFillTx/>
              <a:latin typeface="Tahoma"/>
            </a:endParaRPr>
          </a:p>
        </p:txBody>
      </p:sp>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4000"/>
            </a:br>
            <a:r>
              <a:rPr b="0" lang="en-IN" sz="4000" strike="noStrike" u="none">
                <a:solidFill>
                  <a:srgbClr val="ffffff"/>
                </a:solidFill>
                <a:effectLst/>
                <a:uFillTx/>
                <a:latin typeface="Tahoma"/>
              </a:rPr>
              <a:t>THE NEW YORK GUIDANCE</a:t>
            </a:r>
            <a:br>
              <a:rPr sz="4000"/>
            </a:br>
            <a:r>
              <a:rPr b="0" lang="en-IN" sz="4000" strike="noStrike" u="none">
                <a:solidFill>
                  <a:srgbClr val="ffffff"/>
                </a:solidFill>
                <a:effectLst/>
                <a:uFillTx/>
                <a:latin typeface="Tahoma Bold"/>
                <a:ea typeface="Tahoma Bold"/>
              </a:rPr>
              <a:t>DOH Medicaid Update April  2010 Vol. 26, No. 6</a:t>
            </a:r>
            <a:br>
              <a:rPr sz="4000"/>
            </a:br>
            <a:endParaRPr b="0" lang="en-IN" sz="4000" strike="noStrike" u="none">
              <a:solidFill>
                <a:srgbClr val="ffffff"/>
              </a:solidFill>
              <a:effectLst/>
              <a:uFillTx/>
              <a:latin typeface="Tahoma"/>
            </a:endParaRPr>
          </a:p>
        </p:txBody>
      </p:sp>
      <p:sp>
        <p:nvSpPr>
          <p:cNvPr id="61"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“Web searches should be performed for each individual upon hire and all employees, vendors, and referral sources should be rescreened on a </a:t>
            </a:r>
            <a:r>
              <a:rPr b="0" lang="en-US" sz="2800" strike="noStrike" u="none">
                <a:solidFill>
                  <a:srgbClr val="ffffff"/>
                </a:solidFill>
                <a:effectLst/>
                <a:uFillTx/>
                <a:latin typeface="Tahoma Bold"/>
                <a:ea typeface="Tahoma Bold"/>
              </a:rPr>
              <a:t>monthly</a:t>
            </a:r>
            <a:r>
              <a:rPr b="0" lang="en-US" sz="2800" strike="noStrike" u="none">
                <a:solidFill>
                  <a:srgbClr val="ffffff"/>
                </a:solidFill>
                <a:effectLst/>
                <a:uFillTx/>
                <a:latin typeface="Tahoma"/>
              </a:rPr>
              <a:t> basis, at a minimum.”</a:t>
            </a: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trike="noStrike" u="none">
                <a:solidFill>
                  <a:srgbClr val="ffffff"/>
                </a:solidFill>
                <a:effectLst/>
                <a:uFillTx/>
                <a:latin typeface="Tahoma"/>
              </a:rPr>
              <a:t>“Providers must use the OMIG Web site at </a:t>
            </a:r>
            <a:r>
              <a:rPr b="0" lang="en-US" sz="2800" strike="noStrike" u="sng">
                <a:solidFill>
                  <a:srgbClr val="ffcc00"/>
                </a:solidFill>
                <a:effectLst/>
                <a:uFillTx/>
                <a:latin typeface="Tahoma"/>
              </a:rPr>
              <a:t>www.omig.state.ny.us</a:t>
            </a:r>
            <a:r>
              <a:rPr b="0" lang="en-US" sz="2800" strike="noStrike" u="none">
                <a:solidFill>
                  <a:srgbClr val="ffffff"/>
                </a:solidFill>
                <a:effectLst/>
                <a:uFillTx/>
                <a:latin typeface="Tahoma"/>
              </a:rPr>
              <a:t> to perform this process. Direct access to the disqualified individuals list is available on the home page. </a:t>
            </a:r>
            <a:endParaRPr b="0" lang="en-IN" sz="2800" strike="noStrike" u="none">
              <a:solidFill>
                <a:srgbClr val="ffffff"/>
              </a:solidFill>
              <a:effectLst/>
              <a:uFillTx/>
              <a:latin typeface="Tahoma"/>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THE LISTS</a:t>
            </a:r>
            <a:endParaRPr b="0" lang="en-IN" sz="4400" strike="noStrike" u="none">
              <a:solidFill>
                <a:srgbClr val="ffffff"/>
              </a:solidFill>
              <a:effectLst/>
              <a:uFillTx/>
              <a:latin typeface="Tahoma"/>
            </a:endParaRPr>
          </a:p>
        </p:txBody>
      </p:sp>
      <p:sp>
        <p:nvSpPr>
          <p:cNvPr id="6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List of Excluded Individuals/Entities (LEIE) </a:t>
            </a:r>
            <a:r>
              <a:rPr b="0" lang="en-IN" sz="2400" strike="noStrike" u="sng">
                <a:solidFill>
                  <a:srgbClr val="009999"/>
                </a:solidFill>
                <a:effectLst/>
                <a:uFillTx/>
                <a:latin typeface="Tahoma"/>
                <a:hlinkClick r:id="rId2"/>
              </a:rPr>
              <a:t> </a:t>
            </a:r>
            <a:r>
              <a:rPr b="0" lang="en-IN" sz="2400" strike="noStrike" u="none">
                <a:solidFill>
                  <a:srgbClr val="ffffff"/>
                </a:solidFill>
                <a:effectLst/>
                <a:uFillTx/>
                <a:latin typeface="Tahoma"/>
              </a:rPr>
              <a:t>(OIG) http://www.oig.hhs.gov/fraud/ exclusions/exclusions/about.asp</a:t>
            </a:r>
            <a:endParaRPr b="0" lang="en-IN" sz="2400" strike="noStrike" u="none">
              <a:solidFill>
                <a:srgbClr val="ffffff"/>
              </a:solidFill>
              <a:effectLst/>
              <a:uFillTx/>
              <a:latin typeface="Tahoma"/>
            </a:endParaRPr>
          </a:p>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List of Parties Excluded From Federal Procurement and Nonprocurement Programs </a:t>
            </a:r>
            <a:br>
              <a:rPr sz="2400"/>
            </a:br>
            <a:r>
              <a:rPr b="0" lang="en-IN" sz="2400" strike="noStrike" u="sng">
                <a:solidFill>
                  <a:srgbClr val="009999"/>
                </a:solidFill>
                <a:effectLst/>
                <a:uFillTx/>
                <a:latin typeface="Tahoma"/>
                <a:hlinkClick r:id="rId3"/>
              </a:rPr>
              <a:t>http://www.epls.gov</a:t>
            </a:r>
            <a:r>
              <a:rPr b="0" lang="en-IN" sz="2400" strike="noStrike" u="none">
                <a:solidFill>
                  <a:srgbClr val="ffffff"/>
                </a:solidFill>
                <a:effectLst/>
                <a:uFillTx/>
                <a:latin typeface="Tahoma"/>
              </a:rPr>
              <a:t> </a:t>
            </a:r>
            <a:br>
              <a:rPr sz="2400"/>
            </a:b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Restricted, Terminated or Excluded Individuals or Entities </a:t>
            </a:r>
            <a:r>
              <a:rPr b="0" lang="en-IN" sz="2400" strike="noStrike" u="sng">
                <a:solidFill>
                  <a:srgbClr val="009999"/>
                </a:solidFill>
                <a:effectLst/>
                <a:uFillTx/>
                <a:latin typeface="Tahoma"/>
                <a:hlinkClick r:id="rId4"/>
              </a:rPr>
              <a:t>www.OMIG.state.ny.us</a:t>
            </a:r>
            <a:r>
              <a:rPr b="0" lang="en-IN" sz="2400" strike="noStrike" u="none">
                <a:solidFill>
                  <a:srgbClr val="ffffff"/>
                </a:solidFill>
                <a:effectLst/>
                <a:uFillTx/>
                <a:latin typeface="Tahoma"/>
              </a:rPr>
              <a:t> (Note explanation and disclaimer for restricted, terminated or excluded individuals or entities)</a:t>
            </a:r>
            <a:endParaRPr b="0" lang="en-IN" sz="2400" strike="noStrike" u="none">
              <a:solidFill>
                <a:srgbClr val="ffffff"/>
              </a:solidFill>
              <a:effectLst/>
              <a:uFillTx/>
              <a:latin typeface="Tahoma"/>
            </a:endParaRPr>
          </a:p>
        </p:txBody>
      </p:sp>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 DATA MINING: CREDENTIALING AND EXCLUSION</a:t>
            </a:r>
            <a:endParaRPr b="0" lang="en-IN" sz="4000" strike="noStrike" u="none">
              <a:solidFill>
                <a:srgbClr val="ffffff"/>
              </a:solidFill>
              <a:effectLst/>
              <a:uFillTx/>
              <a:latin typeface="Tahoma"/>
            </a:endParaRPr>
          </a:p>
        </p:txBody>
      </p:sp>
      <p:sp>
        <p:nvSpPr>
          <p:cNvPr id="65"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WHERE ARE THEY NOW? PROBLEM DOCTORS , NURSES, PHARMACISTS, THERAPISTS, AND PROVIDERS-STRAIGHTFORWARD FALSE CLAIM ACTION-CMS, OIG CITE 1999 STANDARD</a:t>
            </a:r>
            <a:endParaRPr b="0" lang="en-IN" sz="28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KEEPING BAD AND EXCLUDED PROVIDERS  OUT OF  HEALTH CARE--USING AUTOMATED BACKGROUND CHECKS, PRIOR LICENSE ACTIONS, PRIOR EXCLUSIONS (state and federal) </a:t>
            </a:r>
            <a:endParaRPr b="0" lang="en-IN" sz="28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NEW JERSEY PROJECT X </a:t>
            </a:r>
            <a:endParaRPr b="0" lang="en-IN" sz="2800" strike="noStrike" u="none">
              <a:solidFill>
                <a:srgbClr val="ffffff"/>
              </a:solidFill>
              <a:effectLst/>
              <a:uFillTx/>
              <a:latin typeface="Tahoma"/>
            </a:endParaRPr>
          </a:p>
        </p:txBody>
      </p:sp>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CMS-State Medicaid Directors Letter 09-001</a:t>
            </a:r>
            <a:endParaRPr b="0" lang="en-IN" sz="4000" strike="noStrike" u="none">
              <a:solidFill>
                <a:srgbClr val="ffffff"/>
              </a:solidFill>
              <a:effectLst/>
              <a:uFillTx/>
              <a:latin typeface="Tahoma"/>
            </a:endParaRPr>
          </a:p>
        </p:txBody>
      </p:sp>
      <p:sp>
        <p:nvSpPr>
          <p:cNvPr id="67"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Tahoma"/>
              </a:rPr>
              <a:t>Providers have an obligation to screen all employees and contractors to determine whether any of them have been excluded. </a:t>
            </a:r>
            <a:endParaRPr b="0" lang="en-IN" sz="1600" strike="noStrike" u="none">
              <a:solidFill>
                <a:srgbClr val="ffffff"/>
              </a:solidFill>
              <a:effectLst/>
              <a:uFillTx/>
              <a:latin typeface="Tahoma"/>
            </a:endParaRPr>
          </a:p>
          <a:p>
            <a:pPr marL="382680" indent="-343080">
              <a:lnSpc>
                <a:spcPct val="8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Tahoma"/>
              </a:rPr>
              <a:t> States should explicitly require providers to agree to comply with this obligation as a condition of enrollment.  (One reason for Medicaid Updates and this Webinar)</a:t>
            </a:r>
            <a:endParaRPr b="0" lang="en-IN" sz="16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Tahoma"/>
              </a:rPr>
              <a:t>Providers can search the HHS-OIG Web site by the names of any individual or entity.</a:t>
            </a:r>
            <a:endParaRPr b="0" lang="en-IN" sz="1600" strike="noStrike" u="none">
              <a:solidFill>
                <a:srgbClr val="ffffff"/>
              </a:solidFill>
              <a:effectLst/>
              <a:uFillTx/>
              <a:latin typeface="Tahoma"/>
            </a:endParaRPr>
          </a:p>
          <a:p>
            <a:pPr marL="382680" indent="-343080">
              <a:lnSpc>
                <a:spcPct val="8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Tahoma"/>
              </a:rPr>
              <a:t>	</a:t>
            </a:r>
            <a:r>
              <a:rPr b="0" lang="en-US" sz="1400" strike="noStrike" u="none">
                <a:solidFill>
                  <a:srgbClr val="ffffff"/>
                </a:solidFill>
                <a:effectLst/>
                <a:uFillTx/>
                <a:latin typeface="Tahoma"/>
              </a:rPr>
              <a:t>(</a:t>
            </a:r>
            <a:r>
              <a:rPr b="0" lang="en-US" sz="1400" strike="noStrike" u="sng">
                <a:solidFill>
                  <a:srgbClr val="009999"/>
                </a:solidFill>
                <a:effectLst/>
                <a:uFillTx/>
                <a:latin typeface="Tahoma"/>
                <a:hlinkClick r:id="rId2"/>
              </a:rPr>
              <a:t>http://</a:t>
            </a:r>
            <a:r>
              <a:rPr b="0" lang="en-US" sz="1400" strike="noStrike" u="sng">
                <a:solidFill>
                  <a:srgbClr val="009999"/>
                </a:solidFill>
                <a:effectLst/>
                <a:uFillTx/>
                <a:latin typeface="Tahoma"/>
                <a:hlinkClick r:id="rId3"/>
              </a:rPr>
              <a:t>www.epls.gov</a:t>
            </a:r>
            <a:r>
              <a:rPr b="0" lang="en-US" sz="1400" strike="noStrike" u="none">
                <a:solidFill>
                  <a:srgbClr val="ffffff"/>
                </a:solidFill>
                <a:effectLst/>
                <a:uFillTx/>
                <a:latin typeface="Tahoma"/>
              </a:rPr>
              <a:t>) </a:t>
            </a:r>
            <a:endParaRPr b="0" lang="en-IN" sz="1400" strike="noStrike" u="none">
              <a:solidFill>
                <a:srgbClr val="ffffff"/>
              </a:solidFill>
              <a:effectLst/>
              <a:uFillTx/>
              <a:latin typeface="Tahoma"/>
            </a:endParaRPr>
          </a:p>
          <a:p>
            <a:pPr marL="382680" indent="-343080">
              <a:lnSpc>
                <a:spcPct val="80000"/>
              </a:lnSpc>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Tahoma"/>
              </a:rPr>
              <a:t>Providers  should search the HHS-OIG Web site </a:t>
            </a:r>
            <a:r>
              <a:rPr b="1" lang="en-US" sz="1600" strike="noStrike" u="none">
                <a:solidFill>
                  <a:srgbClr val="ffffff"/>
                </a:solidFill>
                <a:effectLst/>
                <a:uFillTx/>
                <a:latin typeface="Tahoma"/>
              </a:rPr>
              <a:t>monthly</a:t>
            </a:r>
            <a:r>
              <a:rPr b="0" lang="en-US" sz="1600" strike="noStrike" u="none">
                <a:solidFill>
                  <a:srgbClr val="ffffff"/>
                </a:solidFill>
                <a:effectLst/>
                <a:uFillTx/>
                <a:latin typeface="Tahoma"/>
              </a:rPr>
              <a:t> to capture exclusions and reinstatements that have occurred since the last search </a:t>
            </a:r>
            <a:endParaRPr b="0" lang="en-IN" sz="16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Tahoma"/>
              </a:rPr>
              <a:t>Providers should immediately report to OMIG any employee or contractor who is on the excluded list </a:t>
            </a:r>
            <a:endParaRPr b="0" lang="en-IN" sz="1600" strike="noStrike" u="none">
              <a:solidFill>
                <a:srgbClr val="ffffff"/>
              </a:solidFill>
              <a:effectLst/>
              <a:uFillTx/>
              <a:latin typeface="Tahoma"/>
            </a:endParaRPr>
          </a:p>
        </p:txBody>
      </p:sp>
      <p:sp>
        <p:nvSpPr>
          <p:cNvPr id="68" name=""/>
          <p:cNvSpPr/>
          <p:nvPr/>
        </p:nvSpPr>
        <p:spPr>
          <a:xfrm>
            <a:off x="0" y="0"/>
            <a:ext cx="9156600" cy="12600"/>
          </a:xfrm>
          <a:prstGeom prst="rect">
            <a:avLst/>
          </a:prstGeom>
          <a:solidFill>
            <a:srgbClr val="dcf1ff"/>
          </a:solidFill>
          <a:ln w="0">
            <a:noFill/>
          </a:ln>
        </p:spPr>
        <p:style>
          <a:lnRef idx="0"/>
          <a:fillRef idx="0"/>
          <a:effectRef idx="0"/>
          <a:fontRef idx="minor"/>
        </p:style>
        <p:txBody>
          <a:bodyPr wrap="none" lIns="0" rIns="0" tIns="0" bIns="0" anchor="t">
            <a:spAutoFit/>
          </a:bodyPr>
          <a:p>
            <a:endParaRPr b="0" lang="en-IN" sz="1200" strike="noStrike" u="none">
              <a:solidFill>
                <a:srgbClr val="ffffff"/>
              </a:solidFill>
              <a:effectLst/>
              <a:uFillTx/>
              <a:latin typeface="Arial"/>
            </a:endParaRPr>
          </a:p>
        </p:txBody>
      </p:sp>
      <p:sp>
        <p:nvSpPr>
          <p:cNvPr id="69" name=""/>
          <p:cNvSpPr/>
          <p:nvPr/>
        </p:nvSpPr>
        <p:spPr>
          <a:xfrm>
            <a:off x="0" y="0"/>
            <a:ext cx="9156600" cy="12600"/>
          </a:xfrm>
          <a:prstGeom prst="rect">
            <a:avLst/>
          </a:prstGeom>
          <a:solidFill>
            <a:srgbClr val="dcf1ff"/>
          </a:solidFill>
          <a:ln w="0">
            <a:noFill/>
          </a:ln>
        </p:spPr>
        <p:style>
          <a:lnRef idx="0"/>
          <a:fillRef idx="0"/>
          <a:effectRef idx="0"/>
          <a:fontRef idx="minor"/>
        </p:style>
        <p:txBody>
          <a:bodyPr wrap="none" lIns="0" rIns="0" tIns="0" bIns="0" anchor="t">
            <a:spAutoFit/>
          </a:bodyPr>
          <a:p>
            <a:endParaRPr b="0" lang="en-IN" sz="1200" strike="noStrike" u="none">
              <a:solidFill>
                <a:srgbClr val="ffffff"/>
              </a:solidFill>
              <a:effectLst/>
              <a:uFillTx/>
              <a:latin typeface="Arial"/>
            </a:endParaRPr>
          </a:p>
        </p:txBody>
      </p:sp>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0"/>
            <a:ext cx="8229600" cy="238752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600" strike="noStrike" u="none">
                <a:solidFill>
                  <a:srgbClr val="ffffff"/>
                </a:solidFill>
                <a:effectLst/>
                <a:uFillTx/>
                <a:latin typeface="Tahoma"/>
              </a:rPr>
              <a:t>EXCLUSIONS-SMDL 09-001-PRECLUDES ALL MEDICAID PAYMENTS FOR EXCLUDED PERSONS</a:t>
            </a:r>
            <a:endParaRPr b="0" lang="en-IN" sz="3600" strike="noStrike" u="none">
              <a:solidFill>
                <a:srgbClr val="ffffff"/>
              </a:solidFill>
              <a:effectLst/>
              <a:uFillTx/>
              <a:latin typeface="Tahoma"/>
            </a:endParaRPr>
          </a:p>
        </p:txBody>
      </p:sp>
      <p:sp>
        <p:nvSpPr>
          <p:cNvPr id="71" name="PlaceHolder 2"/>
          <p:cNvSpPr>
            <a:spLocks noGrp="1"/>
          </p:cNvSpPr>
          <p:nvPr>
            <p:ph/>
          </p:nvPr>
        </p:nvSpPr>
        <p:spPr>
          <a:xfrm>
            <a:off x="380880" y="2057040"/>
            <a:ext cx="8229600" cy="4800600"/>
          </a:xfrm>
          <a:prstGeom prst="rect">
            <a:avLst/>
          </a:prstGeom>
          <a:noFill/>
          <a:ln w="0">
            <a:noFill/>
          </a:ln>
        </p:spPr>
        <p:txBody>
          <a:bodyPr lIns="50760" rIns="132120" tIns="50760" bIns="50760" anchor="t">
            <a:normAutofit fontScale="92500" lnSpcReduction="9999"/>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all methods of reimbursement, whether payment results from itemized claims, cost reports, fee schedules, or a prospective payment system; </a:t>
            </a:r>
            <a:endParaRPr b="0" lang="en-IN" sz="16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payment for administrative and management services not directly related to patient care, but that are a necessary component of providing items and services to Medicaid recipients, when those payments are reported on a cost report or are otherwise payable by the Medicaid program; and </a:t>
            </a:r>
            <a:endParaRPr b="0" lang="en-IN" sz="16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payment to cover an excluded individual's salary, expenses or fringe benefits, regardless of whether they provide direct patient care, when those payments are reported on a cost report or are otherwise payable by the Medicaid program. </a:t>
            </a:r>
            <a:endParaRPr b="0" lang="en-IN" sz="16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600" strike="noStrike" u="none">
                <a:solidFill>
                  <a:srgbClr val="ffffff"/>
                </a:solidFill>
                <a:effectLst/>
                <a:uFillTx/>
                <a:latin typeface="Tahoma"/>
              </a:rPr>
              <a:t>no Medicaid payments can be made for any items or services directed or prescribed by an excluded physician or other authorized person when the individual or entity furnishing the services either knew or should have known of the exclusion</a:t>
            </a:r>
            <a:r>
              <a:rPr b="0" lang="en-IN" sz="1600" strike="noStrike" u="none">
                <a:solidFill>
                  <a:srgbClr val="ffffff"/>
                </a:solidFill>
                <a:effectLst/>
                <a:uFillTx/>
                <a:latin typeface="Tahoma"/>
              </a:rPr>
              <a:t> </a:t>
            </a:r>
            <a:endParaRPr b="0" lang="en-IN" sz="1600" strike="noStrike" u="none">
              <a:solidFill>
                <a:srgbClr val="ffffff"/>
              </a:solidFill>
              <a:effectLst/>
              <a:uFillTx/>
              <a:latin typeface="Tahoma"/>
            </a:endParaRPr>
          </a:p>
        </p:txBody>
      </p:sp>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66400"/>
            <a:ext cx="8229600" cy="184140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Effect of Exclusion From Participation in Medicaid (SMDL 09-001) No payment for:</a:t>
            </a:r>
            <a:endParaRPr b="0" lang="en-IN" sz="4000" strike="noStrike" u="none">
              <a:solidFill>
                <a:srgbClr val="ffffff"/>
              </a:solidFill>
              <a:effectLst/>
              <a:uFillTx/>
              <a:latin typeface="Tahoma"/>
            </a:endParaRPr>
          </a:p>
        </p:txBody>
      </p:sp>
      <p:sp>
        <p:nvSpPr>
          <p:cNvPr id="7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Services performed by excluded nurses, technicians, or other excluded individuals who work for a hospital, nursing home, home health agency or physician practice, where such services are related to administrative duties, preparation of surgical trays or review of treatment plans if such services are reimbursed directly or indirectly (such as through a pay-per-service or a bundled payment) by a Medicaid program, even if the individuals do not furnish direct care to Medicaid recipients; </a:t>
            </a:r>
            <a:endParaRPr b="0" lang="en-IN" sz="18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Services performed by excluded pharmacists or other excluded individuals who input prescription information for pharmacy billing or who are involved in any way in filling prescriptions for drugs reimbursed, directly or indirectly, by a Medicaid program; </a:t>
            </a:r>
            <a:endParaRPr b="0" lang="en-IN" sz="1800" strike="noStrike" u="none">
              <a:solidFill>
                <a:srgbClr val="ffffff"/>
              </a:solidFill>
              <a:effectLst/>
              <a:uFillTx/>
              <a:latin typeface="Tahoma"/>
            </a:endParaRPr>
          </a:p>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Services performed by excluded ambulance drivers, dispatchers and other employees involved in providing transportation reimbursed by a Medicaid program, to hospital patients or nursing home residents; </a:t>
            </a:r>
            <a:endParaRPr b="0" lang="en-IN" sz="1800" strike="noStrike" u="none">
              <a:solidFill>
                <a:srgbClr val="ffffff"/>
              </a:solidFill>
              <a:effectLst/>
              <a:uFillTx/>
              <a:latin typeface="Tahoma"/>
            </a:endParaRPr>
          </a:p>
        </p:txBody>
      </p:sp>
    </p:spTree>
  </p:cSld>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Effect of Exclusion From Participation in Medicaid (SMDL 09-001)</a:t>
            </a:r>
            <a:endParaRPr b="0" lang="en-IN" sz="4000" strike="noStrike" u="none">
              <a:solidFill>
                <a:srgbClr val="ffffff"/>
              </a:solidFill>
              <a:effectLst/>
              <a:uFillTx/>
              <a:latin typeface="Tahoma"/>
            </a:endParaRPr>
          </a:p>
        </p:txBody>
      </p:sp>
      <p:sp>
        <p:nvSpPr>
          <p:cNvPr id="75" name="PlaceHolder 2"/>
          <p:cNvSpPr>
            <a:spLocks noGrp="1"/>
          </p:cNvSpPr>
          <p:nvPr>
            <p:ph/>
          </p:nvPr>
        </p:nvSpPr>
        <p:spPr>
          <a:xfrm>
            <a:off x="457200" y="2158560"/>
            <a:ext cx="8229600" cy="495324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ffffff"/>
                </a:solidFill>
                <a:effectLst/>
                <a:uFillTx/>
                <a:latin typeface="Tahoma"/>
              </a:rPr>
              <a:t>Services performed for program recipients by excluded individuals who sell, deliver or refill orders for medical devices or equipment being reimbursed by a Medicaid program; </a:t>
            </a:r>
            <a:endParaRPr b="0" lang="en-IN" sz="2200" strike="noStrike" u="none">
              <a:solidFill>
                <a:srgbClr val="ffffff"/>
              </a:solidFill>
              <a:effectLst/>
              <a:uFillTx/>
              <a:latin typeface="Tahoma"/>
            </a:endParaRPr>
          </a:p>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ffffff"/>
                </a:solidFill>
                <a:effectLst/>
                <a:uFillTx/>
                <a:latin typeface="Tahoma"/>
              </a:rPr>
              <a:t>Services performed by excluded social workers who are employed by health care entities to provide services to Medicaid recipients, and whose services are reimbursed, directly or indirectly, by a Medicaid program; and</a:t>
            </a:r>
            <a:endParaRPr b="0" lang="en-IN" sz="2200" strike="noStrike" u="none">
              <a:solidFill>
                <a:srgbClr val="ffffff"/>
              </a:solidFill>
              <a:effectLst/>
              <a:uFillTx/>
              <a:latin typeface="Tahoma"/>
            </a:endParaRPr>
          </a:p>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200" strike="noStrike" u="none">
                <a:solidFill>
                  <a:srgbClr val="ffffff"/>
                </a:solidFill>
                <a:effectLst/>
                <a:uFillTx/>
                <a:latin typeface="Tahoma"/>
              </a:rPr>
              <a:t>Services performed by an excluded administrator, billing agent, accountant, claims processor or utilization reviewer that are related to and reimbursed, directly or indirectly, by a Medicaid program.</a:t>
            </a:r>
            <a:r>
              <a:rPr b="0" lang="en-IN" sz="2400" strike="noStrike" u="none">
                <a:solidFill>
                  <a:srgbClr val="ffffff"/>
                </a:solidFill>
                <a:effectLst/>
                <a:uFillTx/>
                <a:latin typeface="Tahoma"/>
              </a:rPr>
              <a:t> </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p:txBody>
      </p:sp>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OIG POLICY GUIDANCE</a:t>
            </a:r>
            <a:endParaRPr b="0" lang="en-IN" sz="4400" strike="noStrike" u="none">
              <a:solidFill>
                <a:srgbClr val="ffffff"/>
              </a:solidFill>
              <a:effectLst/>
              <a:uFillTx/>
              <a:latin typeface="Tahoma"/>
            </a:endParaRPr>
          </a:p>
        </p:txBody>
      </p:sp>
      <p:sp>
        <p:nvSpPr>
          <p:cNvPr id="77"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“For all new employees who have discretionary authority to make decisions that may involve compliance with the law or compliance oversight, billing companies should conduct a reasonable and prudent background investigation, including a reference check, as part of every such employment application. The application should specifically require the applicant to disclose any criminal conviction, as defined by 42 U.S.C. 1320a-7(i), or exclusion action. Pursuant to the compliance program, billing company policies should prohibit the employment of individuals who have been recently convicted of a criminal offense related to health care or who are listed as debarred, excluded or otherwise ineligible for participation in Federal health care programs. </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Similarly, with regard to current employees or independent contractors, if resolution of the matter results in conviction,debarment or exclusion, then the billing company should remove the individual from company.”</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OIG Billing Compliance Guidance for Third-Party Billers</a:t>
            </a:r>
            <a:endParaRPr b="0" lang="en-IN" sz="20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oig.hhs.gov/fraud/docs/</a:t>
            </a:r>
            <a:r>
              <a:rPr b="0" lang="en-IN" sz="2000" strike="noStrike" u="none">
                <a:solidFill>
                  <a:srgbClr val="ffffff"/>
                </a:solidFill>
                <a:effectLst/>
                <a:uFillTx/>
                <a:latin typeface="Tahoma Bold"/>
                <a:ea typeface="Tahoma Bold"/>
              </a:rPr>
              <a:t>compliance</a:t>
            </a:r>
            <a:r>
              <a:rPr b="0" lang="en-IN" sz="2000" strike="noStrike" u="none">
                <a:solidFill>
                  <a:srgbClr val="ffffff"/>
                </a:solidFill>
                <a:effectLst/>
                <a:uFillTx/>
                <a:latin typeface="Tahoma"/>
              </a:rPr>
              <a:t>guidance/thirdparty.pdf  (1998)</a:t>
            </a:r>
            <a:endParaRPr b="0" lang="en-IN" sz="2000" strike="noStrike" u="none">
              <a:solidFill>
                <a:srgbClr val="ffffff"/>
              </a:solidFill>
              <a:effectLst/>
              <a:uFillTx/>
              <a:latin typeface="Tahoma"/>
            </a:endParaRPr>
          </a:p>
        </p:txBody>
      </p:sp>
    </p:spTree>
  </p:cSld>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Notable Exceptions</a:t>
            </a:r>
            <a:endParaRPr b="0" lang="en-IN" sz="4400" strike="noStrike" u="none">
              <a:solidFill>
                <a:srgbClr val="ffffff"/>
              </a:solidFill>
              <a:effectLst/>
              <a:uFillTx/>
              <a:latin typeface="Tahoma"/>
            </a:endParaRPr>
          </a:p>
        </p:txBody>
      </p:sp>
      <p:sp>
        <p:nvSpPr>
          <p:cNvPr id="79" name="PlaceHolder 2"/>
          <p:cNvSpPr>
            <a:spLocks noGrp="1"/>
          </p:cNvSpPr>
          <p:nvPr>
            <p:ph/>
          </p:nvPr>
        </p:nvSpPr>
        <p:spPr>
          <a:xfrm>
            <a:off x="457200" y="1523520"/>
            <a:ext cx="8229600" cy="495324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100" strike="noStrike" u="none">
                <a:solidFill>
                  <a:srgbClr val="ffffff"/>
                </a:solidFill>
                <a:effectLst/>
                <a:uFillTx/>
                <a:latin typeface="Tahoma"/>
              </a:rPr>
              <a:t>Pharmacy claims </a:t>
            </a:r>
            <a:r>
              <a:rPr b="0" lang="en-IN" sz="2100" strike="noStrike" u="none">
                <a:solidFill>
                  <a:srgbClr val="ffffff"/>
                </a:solidFill>
                <a:effectLst/>
                <a:uFillTx/>
                <a:latin typeface="Tahoma Bold"/>
                <a:ea typeface="Tahoma Bold"/>
              </a:rPr>
              <a:t>will pay</a:t>
            </a:r>
            <a:r>
              <a:rPr b="0" lang="en-IN" sz="2100" strike="noStrike" u="none">
                <a:solidFill>
                  <a:srgbClr val="ffffff"/>
                </a:solidFill>
                <a:effectLst/>
                <a:uFillTx/>
                <a:latin typeface="Tahoma"/>
              </a:rPr>
              <a:t> as long as the prescription date by the excluded/terminated individual (previously enrolled or unenrolled) precedes the exclusion or termination date, for service dates up to and including 180 days from the date of the prescription.</a:t>
            </a:r>
            <a:endParaRPr b="0" lang="en-IN" sz="21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100" strike="noStrike" u="none">
                <a:solidFill>
                  <a:srgbClr val="ffffff"/>
                </a:solidFill>
                <a:effectLst/>
                <a:uFillTx/>
                <a:latin typeface="Tahoma"/>
              </a:rPr>
              <a:t>Medicare co-insurance and deductible amounts </a:t>
            </a:r>
            <a:r>
              <a:rPr b="0" lang="en-IN" sz="2100" strike="noStrike" u="none">
                <a:solidFill>
                  <a:srgbClr val="ffffff"/>
                </a:solidFill>
                <a:effectLst/>
                <a:uFillTx/>
                <a:latin typeface="Tahoma Bold"/>
                <a:ea typeface="Tahoma Bold"/>
              </a:rPr>
              <a:t>will be paid </a:t>
            </a:r>
            <a:r>
              <a:rPr b="0" lang="en-IN" sz="2100" strike="noStrike" u="none">
                <a:solidFill>
                  <a:srgbClr val="ffffff"/>
                </a:solidFill>
                <a:effectLst/>
                <a:uFillTx/>
                <a:latin typeface="Tahoma"/>
              </a:rPr>
              <a:t>to the previously enrolled individual on dates of service after the exclusion/termination date as long as the individual remains eligible for Medicare; and</a:t>
            </a:r>
            <a:endParaRPr b="0" lang="en-IN" sz="21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100" strike="noStrike" u="none">
                <a:solidFill>
                  <a:srgbClr val="ffffff"/>
                </a:solidFill>
                <a:effectLst/>
                <a:uFillTx/>
                <a:latin typeface="Tahoma"/>
              </a:rPr>
              <a:t>Claims with dates of service prior to the exclusion date </a:t>
            </a:r>
            <a:r>
              <a:rPr b="0" lang="en-IN" sz="2100" strike="noStrike" u="none">
                <a:solidFill>
                  <a:srgbClr val="ffffff"/>
                </a:solidFill>
                <a:effectLst/>
                <a:uFillTx/>
                <a:latin typeface="Tahoma Bold"/>
                <a:ea typeface="Tahoma Bold"/>
              </a:rPr>
              <a:t>will be paid </a:t>
            </a:r>
            <a:r>
              <a:rPr b="0" lang="en-IN" sz="2100" strike="noStrike" u="none">
                <a:solidFill>
                  <a:srgbClr val="ffffff"/>
                </a:solidFill>
                <a:effectLst/>
                <a:uFillTx/>
                <a:latin typeface="Tahoma"/>
              </a:rPr>
              <a:t>directly to the excluded provider or to other providers where the excluded practitioner is listed as the order source, even when the claim is processed after the </a:t>
            </a:r>
            <a:r>
              <a:rPr b="0" lang="en-IN" sz="2200" strike="noStrike" u="none">
                <a:solidFill>
                  <a:srgbClr val="ffffff"/>
                </a:solidFill>
                <a:effectLst/>
                <a:uFillTx/>
                <a:latin typeface="Tahoma"/>
              </a:rPr>
              <a:t>exclusion date.</a:t>
            </a:r>
            <a:endParaRPr b="0" lang="en-IN" sz="2200" strike="noStrike" u="none">
              <a:solidFill>
                <a:srgbClr val="ffffff"/>
              </a:solidFill>
              <a:effectLst/>
              <a:uFillTx/>
              <a:latin typeface="Tahoma"/>
            </a:endParaRPr>
          </a:p>
        </p:txBody>
      </p:sp>
    </p:spTree>
  </p:cSld>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Impact on Employers</a:t>
            </a:r>
            <a:br>
              <a:rPr sz="4400"/>
            </a:br>
            <a:endParaRPr b="0" lang="en-IN" sz="4400" strike="noStrike" u="none">
              <a:solidFill>
                <a:srgbClr val="ffffff"/>
              </a:solidFill>
              <a:effectLst/>
              <a:uFillTx/>
              <a:latin typeface="Tahoma"/>
            </a:endParaRPr>
          </a:p>
        </p:txBody>
      </p:sp>
      <p:sp>
        <p:nvSpPr>
          <p:cNvPr id="81" name="PlaceHolder 2"/>
          <p:cNvSpPr>
            <a:spLocks noGrp="1"/>
          </p:cNvSpPr>
          <p:nvPr>
            <p:ph/>
          </p:nvPr>
        </p:nvSpPr>
        <p:spPr>
          <a:xfrm>
            <a:off x="279360" y="1917720"/>
            <a:ext cx="8229600" cy="495288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Bold"/>
              </a:rPr>
              <a:t>	</a:t>
            </a:r>
            <a:r>
              <a:rPr b="0" lang="en-IN" sz="2800" strike="noStrike" u="none">
                <a:solidFill>
                  <a:srgbClr val="ffffff"/>
                </a:solidFill>
                <a:effectLst/>
                <a:uFillTx/>
                <a:latin typeface="Tahoma Bold"/>
                <a:ea typeface="Tahoma Bold"/>
              </a:rPr>
              <a:t>Potential Liability for Employing or </a:t>
            </a:r>
            <a:r>
              <a:rPr b="0" lang="en-IN" sz="2800" strike="noStrike" u="none">
                <a:solidFill>
                  <a:srgbClr val="ffffff"/>
                </a:solidFill>
                <a:effectLst/>
                <a:uFillTx/>
                <a:latin typeface="Tahoma Bold"/>
              </a:rPr>
              <a:t>	</a:t>
            </a:r>
            <a:r>
              <a:rPr b="0" lang="en-IN" sz="2800" strike="noStrike" u="none">
                <a:solidFill>
                  <a:srgbClr val="ffffff"/>
                </a:solidFill>
                <a:effectLst/>
                <a:uFillTx/>
                <a:latin typeface="Tahoma Bold"/>
                <a:ea typeface="Tahoma Bold"/>
              </a:rPr>
              <a:t>Contracting with Excluded </a:t>
            </a:r>
            <a:r>
              <a:rPr b="0" lang="en-IN" sz="2800" strike="noStrike" u="none">
                <a:solidFill>
                  <a:srgbClr val="ffffff"/>
                </a:solidFill>
                <a:effectLst/>
                <a:uFillTx/>
                <a:latin typeface="Tahoma Bold"/>
              </a:rPr>
              <a:t>	</a:t>
            </a:r>
            <a:r>
              <a:rPr b="0" lang="en-IN" sz="2800" strike="noStrike" u="none">
                <a:solidFill>
                  <a:srgbClr val="ffffff"/>
                </a:solidFill>
                <a:effectLst/>
                <a:uFillTx/>
                <a:latin typeface="Tahoma Bold"/>
              </a:rPr>
              <a:t>	</a:t>
            </a:r>
            <a:r>
              <a:rPr b="0" lang="en-IN" sz="2800" strike="noStrike" u="none">
                <a:solidFill>
                  <a:srgbClr val="ffffff"/>
                </a:solidFill>
                <a:effectLst/>
                <a:uFillTx/>
                <a:latin typeface="Tahoma Bold"/>
              </a:rPr>
              <a:t>	</a:t>
            </a:r>
            <a:r>
              <a:rPr b="0" lang="en-IN" sz="2800" strike="noStrike" u="none">
                <a:solidFill>
                  <a:srgbClr val="ffffff"/>
                </a:solidFill>
                <a:effectLst/>
                <a:uFillTx/>
                <a:latin typeface="Tahoma Bold"/>
              </a:rPr>
              <a:t>	</a:t>
            </a:r>
            <a:r>
              <a:rPr b="0" lang="en-IN" sz="2800" strike="noStrike" u="none">
                <a:solidFill>
                  <a:srgbClr val="ffffff"/>
                </a:solidFill>
                <a:effectLst/>
                <a:uFillTx/>
                <a:latin typeface="Tahoma Bold"/>
                <a:ea typeface="Tahoma Bold"/>
              </a:rPr>
              <a:t>Individuals/Entities</a:t>
            </a:r>
            <a:endParaRPr b="0" lang="en-IN" sz="2800" strike="noStrike" u="none">
              <a:solidFill>
                <a:srgbClr val="ffffff"/>
              </a:solidFill>
              <a:effectLst/>
              <a:uFillTx/>
              <a:latin typeface="Tahoma"/>
            </a:endParaRPr>
          </a:p>
          <a:p>
            <a:pPr lvl="1" marL="782640" indent="-285840">
              <a:lnSpc>
                <a:spcPct val="80000"/>
              </a:lnSpc>
              <a:spcBef>
                <a:spcPts val="700"/>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For the excluded individual/entity submitting claims:</a:t>
            </a:r>
            <a:endParaRPr b="0" lang="en-IN" sz="2000" strike="noStrike" u="none">
              <a:solidFill>
                <a:srgbClr val="ffffff"/>
              </a:solidFill>
              <a:effectLst/>
              <a:uFillTx/>
              <a:latin typeface="Tahoma"/>
            </a:endParaRPr>
          </a:p>
          <a:p>
            <a:pPr lvl="2" marL="1125360" indent="-228600">
              <a:lnSpc>
                <a:spcPct val="80000"/>
              </a:lnSpc>
              <a:spcBef>
                <a:spcPts val="601"/>
              </a:spcBef>
              <a:buClr>
                <a:srgbClr val="ffcc00"/>
              </a:buClr>
              <a:buSzPct val="12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$10,000 fine for each item/service claimed or “caused to be” claimed (i.e., by another entity)</a:t>
            </a:r>
            <a:endParaRPr b="0" lang="en-IN" sz="2000" strike="noStrike" u="none">
              <a:solidFill>
                <a:srgbClr val="ffffff"/>
              </a:solidFill>
              <a:effectLst/>
              <a:uFillTx/>
              <a:latin typeface="Tahoma"/>
            </a:endParaRPr>
          </a:p>
          <a:p>
            <a:pPr lvl="2" marL="1125360" indent="-228600">
              <a:lnSpc>
                <a:spcPct val="80000"/>
              </a:lnSpc>
              <a:spcBef>
                <a:spcPts val="601"/>
              </a:spcBef>
              <a:buClr>
                <a:srgbClr val="ffcc00"/>
              </a:buClr>
              <a:buSzPct val="12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Plus treble damages = amount claimed for each item/service</a:t>
            </a:r>
            <a:endParaRPr b="0" lang="en-IN" sz="2000" strike="noStrike" u="none">
              <a:solidFill>
                <a:srgbClr val="ffffff"/>
              </a:solidFill>
              <a:effectLst/>
              <a:uFillTx/>
              <a:latin typeface="Tahoma"/>
            </a:endParaRPr>
          </a:p>
          <a:p>
            <a:pPr lvl="2" marL="1125360" indent="-228600">
              <a:lnSpc>
                <a:spcPct val="80000"/>
              </a:lnSpc>
              <a:spcBef>
                <a:spcPts val="601"/>
              </a:spcBef>
              <a:buClr>
                <a:srgbClr val="ffcc00"/>
              </a:buClr>
              <a:buSzPct val="12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Extension of existing exclusion period</a:t>
            </a:r>
            <a:endParaRPr b="0" lang="en-IN" sz="2000" strike="noStrike" u="none">
              <a:solidFill>
                <a:srgbClr val="ffffff"/>
              </a:solidFill>
              <a:effectLst/>
              <a:uFillTx/>
              <a:latin typeface="Tahoma"/>
            </a:endParaRPr>
          </a:p>
          <a:p>
            <a:pPr lvl="3" marL="1639800" indent="-399960">
              <a:lnSpc>
                <a:spcPct val="80000"/>
              </a:lnSpc>
              <a:spcBef>
                <a:spcPts val="499"/>
              </a:spcBef>
              <a:buClr>
                <a:srgbClr val="ffffff"/>
              </a:buClr>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Reinstatement is not automatic after exclusion</a:t>
            </a:r>
            <a:endParaRPr b="0" lang="en-IN" sz="1800" strike="noStrike" u="none">
              <a:solidFill>
                <a:srgbClr val="ffffff"/>
              </a:solidFill>
              <a:effectLst/>
              <a:uFillTx/>
              <a:latin typeface="Tahoma"/>
            </a:endParaRPr>
          </a:p>
          <a:p>
            <a:pPr lvl="3" marL="1639800" indent="-399960">
              <a:lnSpc>
                <a:spcPct val="80000"/>
              </a:lnSpc>
              <a:spcBef>
                <a:spcPts val="499"/>
              </a:spcBef>
              <a:buClr>
                <a:srgbClr val="ffffff"/>
              </a:buClr>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Provider must apply for reinstatement</a:t>
            </a:r>
            <a:endParaRPr b="0" lang="en-IN" sz="1800" strike="noStrike" u="none">
              <a:solidFill>
                <a:srgbClr val="ffffff"/>
              </a:solidFill>
              <a:effectLst/>
              <a:uFillTx/>
              <a:latin typeface="Tahoma"/>
            </a:endParaRPr>
          </a:p>
          <a:p>
            <a:pPr lvl="1" marL="782640" indent="-285840">
              <a:lnSpc>
                <a:spcPct val="80000"/>
              </a:lnSpc>
              <a:spcBef>
                <a:spcPts val="700"/>
              </a:spcBef>
              <a:buClr>
                <a:srgbClr val="ffffff"/>
              </a:buClr>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Also potentially amounts to a false claim under Federal False Claims Act</a:t>
            </a:r>
            <a:endParaRPr b="0" lang="en-IN" sz="2000" strike="noStrike" u="none">
              <a:solidFill>
                <a:srgbClr val="ffffff"/>
              </a:solidFill>
              <a:effectLst/>
              <a:uFillTx/>
              <a:latin typeface="Tahoma"/>
            </a:endParaRPr>
          </a:p>
          <a:p>
            <a:pPr lvl="2" marL="1125360" indent="-228600">
              <a:lnSpc>
                <a:spcPct val="80000"/>
              </a:lnSpc>
              <a:spcBef>
                <a:spcPts val="601"/>
              </a:spcBef>
              <a:buClr>
                <a:srgbClr val="ffcc00"/>
              </a:buClr>
              <a:buSzPct val="120000"/>
              <a:buFont typeface="Wingdings" charset="2"/>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Separate basis for administrative sanctions or exclusion</a:t>
            </a:r>
            <a:endParaRPr b="0" lang="en-IN" sz="2000" strike="noStrike" u="none">
              <a:solidFill>
                <a:srgbClr val="ffffff"/>
              </a:solidFill>
              <a:effectLst/>
              <a:uFillTx/>
              <a:latin typeface="Tahoma"/>
            </a:endParaRPr>
          </a:p>
        </p:txBody>
      </p:sp>
    </p:spTree>
  </p:cSld>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2" name="PlaceHolder 1"/>
          <p:cNvSpPr>
            <a:spLocks noGrp="1"/>
          </p:cNvSpPr>
          <p:nvPr>
            <p:ph type="title"/>
          </p:nvPr>
        </p:nvSpPr>
        <p:spPr>
          <a:xfrm>
            <a:off x="609120" y="0"/>
            <a:ext cx="7844040" cy="175248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Exclusions under Section 1128(b)(4)</a:t>
            </a:r>
            <a:endParaRPr b="0" lang="en-IN" sz="4000" strike="noStrike" u="none">
              <a:solidFill>
                <a:srgbClr val="ffffff"/>
              </a:solidFill>
              <a:effectLst/>
              <a:uFillTx/>
              <a:latin typeface="Tahoma"/>
            </a:endParaRPr>
          </a:p>
        </p:txBody>
      </p:sp>
      <p:sp>
        <p:nvSpPr>
          <p:cNvPr id="83" name="PlaceHolder 2"/>
          <p:cNvSpPr>
            <a:spLocks noGrp="1"/>
          </p:cNvSpPr>
          <p:nvPr>
            <p:ph/>
          </p:nvPr>
        </p:nvSpPr>
        <p:spPr>
          <a:xfrm>
            <a:off x="685800" y="1980720"/>
            <a:ext cx="7772400" cy="4876920"/>
          </a:xfrm>
          <a:prstGeom prst="rect">
            <a:avLst/>
          </a:prstGeom>
          <a:noFill/>
          <a:ln w="0">
            <a:noFill/>
          </a:ln>
        </p:spPr>
        <p:txBody>
          <a:bodyPr lIns="50760" rIns="132120" tIns="50760" bIns="50760" anchor="t">
            <a:normAutofit/>
          </a:bodyPr>
          <a:p>
            <a:pPr marL="382680" indent="-343080">
              <a:lnSpc>
                <a:spcPct val="10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Bold"/>
                <a:ea typeface="Tahoma Bold"/>
              </a:rPr>
              <a:t>1128(b)(4) – License Revocation, Suspension or Surrender</a:t>
            </a:r>
            <a:endParaRPr b="0" lang="en-IN" sz="3200" strike="noStrike" u="none">
              <a:solidFill>
                <a:srgbClr val="ffffff"/>
              </a:solidFill>
              <a:effectLst/>
              <a:uFillTx/>
              <a:latin typeface="Tahoma"/>
            </a:endParaRPr>
          </a:p>
          <a:p>
            <a:pPr marL="382680" indent="0">
              <a:lnSpc>
                <a:spcPct val="10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Any individual or entity whose license has been revoked, suspended, otherwise lost or voluntarily surrendered for reasons bearing on professional competence or professional performance  or financial integrity.</a:t>
            </a:r>
            <a:endParaRPr b="0" lang="en-IN" sz="2800" strike="noStrike" u="none">
              <a:solidFill>
                <a:srgbClr val="ffffff"/>
              </a:solidFill>
              <a:effectLst/>
              <a:uFillTx/>
              <a:latin typeface="Tahoma"/>
            </a:endParaRPr>
          </a:p>
        </p:txBody>
      </p:sp>
    </p:spTree>
  </p:cSld>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609120" y="-360"/>
            <a:ext cx="7767720" cy="167652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Exclusions under Section 1128(b)(8)</a:t>
            </a:r>
            <a:endParaRPr b="0" lang="en-IN" sz="4000" strike="noStrike" u="none">
              <a:solidFill>
                <a:srgbClr val="ffffff"/>
              </a:solidFill>
              <a:effectLst/>
              <a:uFillTx/>
              <a:latin typeface="Tahoma"/>
            </a:endParaRPr>
          </a:p>
        </p:txBody>
      </p:sp>
      <p:sp>
        <p:nvSpPr>
          <p:cNvPr id="85" name="PlaceHolder 2"/>
          <p:cNvSpPr>
            <a:spLocks noGrp="1"/>
          </p:cNvSpPr>
          <p:nvPr>
            <p:ph/>
          </p:nvPr>
        </p:nvSpPr>
        <p:spPr>
          <a:xfrm>
            <a:off x="685800" y="1980720"/>
            <a:ext cx="8229600" cy="4876920"/>
          </a:xfrm>
          <a:prstGeom prst="rect">
            <a:avLst/>
          </a:prstGeom>
          <a:noFill/>
          <a:ln w="0">
            <a:noFill/>
          </a:ln>
        </p:spPr>
        <p:txBody>
          <a:bodyPr lIns="50760" rIns="132120" tIns="50760" bIns="50760" anchor="t">
            <a:normAutofit/>
          </a:bodyPr>
          <a:p>
            <a:pPr marL="382680" indent="-343080">
              <a:lnSpc>
                <a:spcPct val="10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Bold"/>
                <a:ea typeface="Tahoma Bold"/>
              </a:rPr>
              <a:t>1128(b)(8) – Entities Owned or Controlled by Sanctioned Person</a:t>
            </a:r>
            <a:endParaRPr b="0" lang="en-IN" sz="3200" strike="noStrike" u="none">
              <a:solidFill>
                <a:srgbClr val="ffffff"/>
              </a:solidFill>
              <a:effectLst/>
              <a:uFillTx/>
              <a:latin typeface="Tahoma"/>
            </a:endParaRPr>
          </a:p>
          <a:p>
            <a:pPr marL="382680" indent="0">
              <a:lnSpc>
                <a:spcPct val="10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0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Associated with an individual</a:t>
            </a:r>
            <a:endParaRPr b="0" lang="en-IN" sz="2800" strike="noStrike" u="none">
              <a:solidFill>
                <a:srgbClr val="ffffff"/>
              </a:solidFill>
              <a:effectLst/>
              <a:uFillTx/>
              <a:latin typeface="Tahoma"/>
            </a:endParaRPr>
          </a:p>
          <a:p>
            <a:pPr lvl="2" marL="1182600" indent="-228600">
              <a:spcBef>
                <a:spcPts val="601"/>
              </a:spcBef>
              <a:buClr>
                <a:srgbClr val="ffcc00"/>
              </a:buClr>
              <a:buSzPct val="120000"/>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Convicted under 1128(a) or 1128(b)</a:t>
            </a:r>
            <a:endParaRPr b="0" lang="en-IN" sz="2400" strike="noStrike" u="none">
              <a:solidFill>
                <a:srgbClr val="ffffff"/>
              </a:solidFill>
              <a:effectLst/>
              <a:uFillTx/>
              <a:latin typeface="Tahoma"/>
            </a:endParaRPr>
          </a:p>
          <a:p>
            <a:pPr lvl="2" marL="1182600" indent="-228600">
              <a:spcBef>
                <a:spcPts val="601"/>
              </a:spcBef>
              <a:buClr>
                <a:srgbClr val="ffcc00"/>
              </a:buClr>
              <a:buSzPct val="120000"/>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Had CMP or assessment imposed under 1128A</a:t>
            </a:r>
            <a:endParaRPr b="0" lang="en-IN" sz="2400" strike="noStrike" u="none">
              <a:solidFill>
                <a:srgbClr val="ffffff"/>
              </a:solidFill>
              <a:effectLst/>
              <a:uFillTx/>
              <a:latin typeface="Tahoma"/>
            </a:endParaRPr>
          </a:p>
          <a:p>
            <a:pPr lvl="2" marL="1182600" indent="-228600">
              <a:spcBef>
                <a:spcPts val="601"/>
              </a:spcBef>
              <a:buClr>
                <a:srgbClr val="ffcc00"/>
              </a:buClr>
              <a:buSzPct val="120000"/>
              <a:buFont typeface="Tahoma"/>
              <a:buChar char="•"/>
              <a:tabLst>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Excluded</a:t>
            </a:r>
            <a:endParaRPr b="0" lang="en-IN" sz="24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Direct or indirect ownership or control interest of 5 percent or more in the entity, etc.</a:t>
            </a:r>
            <a:endParaRPr b="0" lang="en-IN" sz="2800" strike="noStrike" u="none">
              <a:solidFill>
                <a:srgbClr val="ffffff"/>
              </a:solidFill>
              <a:effectLst/>
              <a:uFillTx/>
              <a:latin typeface="Tahoma"/>
            </a:endParaRPr>
          </a:p>
        </p:txBody>
      </p:sp>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533520" y="0"/>
            <a:ext cx="7920000" cy="190512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Exclusions under Section 1128(b)(15)</a:t>
            </a:r>
            <a:endParaRPr b="0" lang="en-IN" sz="4000" strike="noStrike" u="none">
              <a:solidFill>
                <a:srgbClr val="ffffff"/>
              </a:solidFill>
              <a:effectLst/>
              <a:uFillTx/>
              <a:latin typeface="Tahoma"/>
            </a:endParaRPr>
          </a:p>
        </p:txBody>
      </p:sp>
      <p:sp>
        <p:nvSpPr>
          <p:cNvPr id="87"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10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Bold"/>
                <a:ea typeface="Tahoma Bold"/>
              </a:rPr>
              <a:t>1128(b)(15) – Individuals Owning or           Controlling Excluded Entity</a:t>
            </a:r>
            <a:endParaRPr b="0" lang="en-IN" sz="3200" strike="noStrike" u="none">
              <a:solidFill>
                <a:srgbClr val="ffffff"/>
              </a:solidFill>
              <a:effectLst/>
              <a:uFillTx/>
              <a:latin typeface="Tahoma"/>
            </a:endParaRPr>
          </a:p>
          <a:p>
            <a:pPr marL="382680" indent="0">
              <a:lnSpc>
                <a:spcPct val="10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Any individual who has a direct or indirect ownership/control interest in an excluded entity </a:t>
            </a:r>
            <a:r>
              <a:rPr b="0" lang="en-IN" sz="2800" strike="noStrike" u="sng">
                <a:solidFill>
                  <a:srgbClr val="ffffff"/>
                </a:solidFill>
                <a:effectLst/>
                <a:uFillTx/>
                <a:latin typeface="Tahoma Bold"/>
                <a:ea typeface="Tahoma Bold"/>
              </a:rPr>
              <a:t>AND</a:t>
            </a:r>
            <a:r>
              <a:rPr b="0" lang="en-IN" sz="2800" strike="noStrike" u="none">
                <a:solidFill>
                  <a:srgbClr val="ffffff"/>
                </a:solidFill>
                <a:effectLst/>
                <a:uFillTx/>
                <a:latin typeface="Tahoma"/>
              </a:rPr>
              <a:t> who knows or should know of action constituting the basis for exclusion or conviction</a:t>
            </a:r>
            <a:endParaRPr b="0" lang="en-IN" sz="2800" strike="noStrike" u="none">
              <a:solidFill>
                <a:srgbClr val="ffffff"/>
              </a:solidFill>
              <a:effectLst/>
              <a:uFillTx/>
              <a:latin typeface="Tahoma"/>
            </a:endParaRPr>
          </a:p>
        </p:txBody>
      </p:sp>
    </p:spTree>
  </p:cSld>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685800" y="0"/>
            <a:ext cx="7772400" cy="175248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Waivers</a:t>
            </a:r>
            <a:br>
              <a:rPr sz="4000"/>
            </a:br>
            <a:r>
              <a:rPr b="0" lang="en-IN" sz="2800" strike="noStrike" u="none">
                <a:solidFill>
                  <a:srgbClr val="ffffff"/>
                </a:solidFill>
                <a:effectLst/>
                <a:uFillTx/>
                <a:latin typeface="Tahoma"/>
              </a:rPr>
              <a:t>continued</a:t>
            </a:r>
            <a:endParaRPr b="0" lang="en-IN" sz="2800" strike="noStrike" u="none">
              <a:solidFill>
                <a:srgbClr val="ffffff"/>
              </a:solidFill>
              <a:effectLst/>
              <a:uFillTx/>
              <a:latin typeface="Tahoma"/>
            </a:endParaRPr>
          </a:p>
        </p:txBody>
      </p:sp>
      <p:sp>
        <p:nvSpPr>
          <p:cNvPr id="89" name="PlaceHolder 2"/>
          <p:cNvSpPr>
            <a:spLocks noGrp="1"/>
          </p:cNvSpPr>
          <p:nvPr>
            <p:ph/>
          </p:nvPr>
        </p:nvSpPr>
        <p:spPr>
          <a:xfrm>
            <a:off x="685800" y="1486080"/>
            <a:ext cx="7772400" cy="5371920"/>
          </a:xfrm>
          <a:prstGeom prst="rect">
            <a:avLst/>
          </a:prstGeom>
          <a:noFill/>
          <a:ln w="0">
            <a:noFill/>
          </a:ln>
        </p:spPr>
        <p:txBody>
          <a:bodyPr lIns="50760" rIns="132120" tIns="50760" bIns="50760" anchor="t">
            <a:normAutofit/>
          </a:bodyPr>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Bold"/>
                <a:ea typeface="Tahoma Bold"/>
              </a:rPr>
              <a:t>Written request from the individual administering the federal or state health care program</a:t>
            </a:r>
            <a:endParaRPr b="0" lang="en-IN" sz="2400" strike="noStrike" u="none">
              <a:solidFill>
                <a:srgbClr val="ffffff"/>
              </a:solidFill>
              <a:effectLst/>
              <a:uFillTx/>
              <a:latin typeface="Tahoma"/>
            </a:endParaRPr>
          </a:p>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Bold"/>
                <a:ea typeface="Tahoma Bold"/>
              </a:rPr>
              <a:t>Limited geographical area</a:t>
            </a:r>
            <a:endParaRPr b="0" lang="en-IN" sz="2400" strike="noStrike" u="none">
              <a:solidFill>
                <a:srgbClr val="ffffff"/>
              </a:solidFill>
              <a:effectLst/>
              <a:uFillTx/>
              <a:latin typeface="Tahoma"/>
            </a:endParaRPr>
          </a:p>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Bold"/>
                <a:ea typeface="Tahoma Bold"/>
              </a:rPr>
              <a:t>Exclusion remains in effect elsewhere</a:t>
            </a:r>
            <a:endParaRPr b="0" lang="en-IN" sz="2400" strike="noStrike" u="none">
              <a:solidFill>
                <a:srgbClr val="ffffff"/>
              </a:solidFill>
              <a:effectLst/>
              <a:uFillTx/>
              <a:latin typeface="Tahoma"/>
            </a:endParaRPr>
          </a:p>
          <a:p>
            <a:pPr marL="382680" indent="0">
              <a:lnSpc>
                <a:spcPct val="9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Bold"/>
                <a:ea typeface="Tahoma Bold"/>
              </a:rPr>
              <a:t>Program that requested waiver must contact OIG immediately if basis for waiver no longer exists</a:t>
            </a:r>
            <a:endParaRPr b="0" lang="en-IN" sz="2400" strike="noStrike" u="none">
              <a:solidFill>
                <a:srgbClr val="ffffff"/>
              </a:solidFill>
              <a:effectLst/>
              <a:uFillTx/>
              <a:latin typeface="Tahoma"/>
            </a:endParaRPr>
          </a:p>
        </p:txBody>
      </p:sp>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Waivers</a:t>
            </a:r>
            <a:endParaRPr b="0" lang="en-IN" sz="4400" strike="noStrike" u="none">
              <a:solidFill>
                <a:srgbClr val="ffffff"/>
              </a:solidFill>
              <a:effectLst/>
              <a:uFillTx/>
              <a:latin typeface="Tahoma"/>
            </a:endParaRPr>
          </a:p>
        </p:txBody>
      </p:sp>
      <p:sp>
        <p:nvSpPr>
          <p:cNvPr id="91"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Waiver may be granted under sections 1128(a)(1), (a)(3) and (a) (4) if the subject is the:</a:t>
            </a:r>
            <a:endParaRPr b="0" lang="en-IN" sz="2400" strike="noStrike" u="none">
              <a:solidFill>
                <a:srgbClr val="ffffff"/>
              </a:solidFill>
              <a:effectLst/>
              <a:uFillTx/>
              <a:latin typeface="Tahoma"/>
            </a:endParaRPr>
          </a:p>
          <a:p>
            <a:pPr lvl="1" marL="7318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Sole community physician</a:t>
            </a:r>
            <a:endParaRPr b="0" lang="en-IN" sz="20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Sole source of essential specialized services in the community</a:t>
            </a:r>
            <a:endParaRPr b="0" lang="en-IN" sz="2000" strike="noStrike" u="none">
              <a:solidFill>
                <a:srgbClr val="ffffff"/>
              </a:solidFill>
              <a:effectLst/>
              <a:uFillTx/>
              <a:latin typeface="Tahoma"/>
            </a:endParaRPr>
          </a:p>
          <a:p>
            <a:pPr lvl="1" marL="7318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sng">
                <a:solidFill>
                  <a:srgbClr val="ffffff"/>
                </a:solidFill>
                <a:effectLst/>
                <a:uFillTx/>
                <a:latin typeface="Tahoma"/>
              </a:rPr>
              <a:t>No waiver under section 1128(a) (2)</a:t>
            </a:r>
            <a:endParaRPr b="0" lang="en-IN" sz="2800" strike="noStrike" u="none">
              <a:solidFill>
                <a:srgbClr val="ffffff"/>
              </a:solidFill>
              <a:effectLst/>
              <a:uFillTx/>
              <a:latin typeface="Tahoma"/>
            </a:endParaRPr>
          </a:p>
          <a:p>
            <a:pPr lvl="1" marL="7318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ff"/>
                </a:solidFill>
                <a:effectLst/>
                <a:uFillTx/>
                <a:latin typeface="Tahoma"/>
              </a:rPr>
              <a:t>Waiver may be granted under section 1128(b) if:</a:t>
            </a:r>
            <a:endParaRPr b="0" lang="en-IN" sz="2400" strike="noStrike" u="none">
              <a:solidFill>
                <a:srgbClr val="ffffff"/>
              </a:solidFill>
              <a:effectLst/>
              <a:uFillTx/>
              <a:latin typeface="Tahoma"/>
            </a:endParaRPr>
          </a:p>
          <a:p>
            <a:pPr lvl="1" marL="73188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ffffff"/>
                </a:solidFill>
                <a:effectLst/>
                <a:uFillTx/>
                <a:latin typeface="Tahoma"/>
              </a:rPr>
              <a:t>The OIG determines that imposition of exclusion is not in the public’s interest</a:t>
            </a:r>
            <a:endParaRPr b="0" lang="en-IN" sz="20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1A0CE1C0-2538-4B83-8C79-C3C32406E6DB}" type="slidenum">
              <a:t>39</a:t>
            </a:fld>
          </a:p>
        </p:txBody>
      </p:sp>
    </p:spTree>
  </p:cSld>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STATE EXCLUSIONS</a:t>
            </a:r>
            <a:endParaRPr b="0" lang="en-IN" sz="4400" strike="noStrike" u="none">
              <a:solidFill>
                <a:srgbClr val="ffffff"/>
              </a:solidFill>
              <a:effectLst/>
              <a:uFillTx/>
              <a:latin typeface="Tahoma"/>
            </a:endParaRPr>
          </a:p>
        </p:txBody>
      </p:sp>
      <p:sp>
        <p:nvSpPr>
          <p:cNvPr id="9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Defined by state statute and regulation</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Not reciprocal </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Require specific action by a state to follow up on  exclusion by another state</a:t>
            </a:r>
            <a:endParaRPr b="0" lang="en-IN" sz="3200" strike="noStrike" u="none">
              <a:solidFill>
                <a:srgbClr val="ffffff"/>
              </a:solidFill>
              <a:effectLst/>
              <a:uFillTx/>
              <a:latin typeface="Tahoma"/>
            </a:endParaRPr>
          </a:p>
        </p:txBody>
      </p:sp>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SAMPLE OIG EXCLUSION CASES-CIVIL MONEY PENALTIES</a:t>
            </a:r>
            <a:endParaRPr b="0" lang="en-IN" sz="4000" strike="noStrike" u="none">
              <a:solidFill>
                <a:srgbClr val="ffffff"/>
              </a:solidFill>
              <a:effectLst/>
              <a:uFillTx/>
              <a:latin typeface="Tahoma"/>
            </a:endParaRPr>
          </a:p>
        </p:txBody>
      </p:sp>
      <p:sp>
        <p:nvSpPr>
          <p:cNvPr id="95"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04-29-2010 </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After it self-disclosed conduct to the OIG, LRG Healthcare d/b/a Lakes Region General Hospital (LRGH), New Hampshire, agreed to pay $42,900 for allegedly violating the Civil Monetary Penalties Law. The OIG alleged that LRGH employed an individual that it knew or should have known was excluded from participation in federal health care programs. </a:t>
            </a:r>
            <a:endParaRPr b="0" lang="en-IN" sz="2800" strike="noStrike" u="none">
              <a:solidFill>
                <a:srgbClr val="ffffff"/>
              </a:solidFill>
              <a:effectLst/>
              <a:uFillTx/>
              <a:latin typeface="Tahoma"/>
            </a:endParaRPr>
          </a:p>
        </p:txBody>
      </p:sp>
    </p:spTree>
  </p:cSld>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SAMPLE OIG EXCLUSION CASES-CIVIL MONEY PENALTIES</a:t>
            </a:r>
            <a:endParaRPr b="0" lang="en-IN" sz="4000" strike="noStrike" u="none">
              <a:solidFill>
                <a:srgbClr val="ffffff"/>
              </a:solidFill>
              <a:effectLst/>
              <a:uFillTx/>
              <a:latin typeface="Tahoma"/>
            </a:endParaRPr>
          </a:p>
        </p:txBody>
      </p:sp>
      <p:sp>
        <p:nvSpPr>
          <p:cNvPr id="97"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07-17-2009 </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After it self-disclosed conduct to the OIG, a cardiac catheterization provider agreed to pay $15,133 for allegedly violating the Civil Monetary Penalties Law. The OIG alleged that the provider employed an individual that it knew or should have known was excluded from participation in federal health care programs. </a:t>
            </a:r>
            <a:endParaRPr b="0" lang="en-IN" sz="2800" strike="noStrike" u="none">
              <a:solidFill>
                <a:srgbClr val="ffffff"/>
              </a:solidFill>
              <a:effectLst/>
              <a:uFillTx/>
              <a:latin typeface="Tahoma"/>
            </a:endParaRPr>
          </a:p>
        </p:txBody>
      </p:sp>
    </p:spTree>
  </p:cSld>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SAMPLE OIG EXCLUSION CASES-CIVIL MONEY PENALTIES</a:t>
            </a:r>
            <a:endParaRPr b="0" lang="en-IN" sz="4000" strike="noStrike" u="none">
              <a:solidFill>
                <a:srgbClr val="ffffff"/>
              </a:solidFill>
              <a:effectLst/>
              <a:uFillTx/>
              <a:latin typeface="Tahoma"/>
            </a:endParaRPr>
          </a:p>
        </p:txBody>
      </p:sp>
      <p:sp>
        <p:nvSpPr>
          <p:cNvPr id="99"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03-11-2009 </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After it self-disclosed conduct to the OIG, Walgreen Louisiana Co. (Walgreen), Louisiana, agreed to pay $1,053,775 for allegedly violating the Civil Monetary Penalties Law. The OIG alleged that Walgreen employed an individual that Walgreen knew or should have known was excluded from participation in federal health care programs. </a:t>
            </a:r>
            <a:endParaRPr b="0" lang="en-IN" sz="2800" strike="noStrike" u="none">
              <a:solidFill>
                <a:srgbClr val="ffffff"/>
              </a:solidFill>
              <a:effectLst/>
              <a:uFillTx/>
              <a:latin typeface="Tahoma"/>
            </a:endParaRPr>
          </a:p>
        </p:txBody>
      </p:sp>
    </p:spTree>
  </p:cSld>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SAMPLE OIG EXCLUSION CASES-CIVIL MONEY PENALTIES</a:t>
            </a:r>
            <a:endParaRPr b="0" lang="en-IN" sz="4000" strike="noStrike" u="none">
              <a:solidFill>
                <a:srgbClr val="ffffff"/>
              </a:solidFill>
              <a:effectLst/>
              <a:uFillTx/>
              <a:latin typeface="Tahoma"/>
            </a:endParaRPr>
          </a:p>
        </p:txBody>
      </p:sp>
      <p:sp>
        <p:nvSpPr>
          <p:cNvPr id="101"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03-25-2009 </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After it self-disclosed conduct to the OIG, St. Mary Medical Center (SMMC), Pennsylvania, agreed to pay $172,617 for allegedly violating the Civil Monetary Penalties Law. The OIG alleged that SMMC employed an individual that SMMC knew or should have known was excluded from participation in federal health care programs</a:t>
            </a:r>
            <a:endParaRPr b="0" lang="en-IN" sz="2800" strike="noStrike" u="none">
              <a:solidFill>
                <a:srgbClr val="ffffff"/>
              </a:solidFill>
              <a:effectLst/>
              <a:uFillTx/>
              <a:latin typeface="Tahoma"/>
            </a:endParaRPr>
          </a:p>
        </p:txBody>
      </p:sp>
    </p:spTree>
  </p:cSld>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SAMPLE OIG EXCLUSION CASES-CIVIL MONEY PENALTIES</a:t>
            </a:r>
            <a:endParaRPr b="0" lang="en-IN" sz="4000" strike="noStrike" u="none">
              <a:solidFill>
                <a:srgbClr val="ffffff"/>
              </a:solidFill>
              <a:effectLst/>
              <a:uFillTx/>
              <a:latin typeface="Tahoma"/>
            </a:endParaRPr>
          </a:p>
        </p:txBody>
      </p:sp>
      <p:sp>
        <p:nvSpPr>
          <p:cNvPr id="103"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12-29-2008 </a:t>
            </a:r>
            <a:endParaRPr b="0" lang="en-IN" sz="3200" strike="noStrike" u="none">
              <a:solidFill>
                <a:srgbClr val="ffffff"/>
              </a:solidFill>
              <a:effectLst/>
              <a:uFillTx/>
              <a:latin typeface="Tahoma"/>
            </a:endParaRPr>
          </a:p>
          <a:p>
            <a:pPr lvl="1" marL="782640" indent="-285840">
              <a:spcBef>
                <a:spcPts val="700"/>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ffffff"/>
                </a:solidFill>
                <a:effectLst/>
                <a:uFillTx/>
                <a:latin typeface="Tahoma"/>
              </a:rPr>
              <a:t>Haven Nursing Home, Inc. (Haven), Maryland, agreed to pay $90,921 for allegedly violating the Civil Monetary Penalties Law. The OIG alleged that Haven employed an individual that Haven knew or should have known was excluded from participation in federal health care programs. </a:t>
            </a:r>
            <a:endParaRPr b="0" lang="en-IN" sz="2800" strike="noStrike" u="none">
              <a:solidFill>
                <a:srgbClr val="ffffff"/>
              </a:solidFill>
              <a:effectLst/>
              <a:uFillTx/>
              <a:latin typeface="Tahoma"/>
            </a:endParaRPr>
          </a:p>
        </p:txBody>
      </p:sp>
    </p:spTree>
  </p:cSld>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Connecticut Excluded Provider Project-(DOJ/HHS)</a:t>
            </a:r>
            <a:endParaRPr b="0" lang="en-IN" sz="4000" strike="noStrike" u="none">
              <a:solidFill>
                <a:srgbClr val="ffffff"/>
              </a:solidFill>
              <a:effectLst/>
              <a:uFillTx/>
              <a:latin typeface="Tahoma"/>
            </a:endParaRPr>
          </a:p>
        </p:txBody>
      </p:sp>
      <p:sp>
        <p:nvSpPr>
          <p:cNvPr id="105"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July 2009, </a:t>
            </a:r>
            <a:r>
              <a:rPr b="0" lang="en-IN" sz="1800" strike="noStrike" u="none">
                <a:solidFill>
                  <a:srgbClr val="ffffff"/>
                </a:solidFill>
                <a:effectLst/>
                <a:uFillTx/>
                <a:latin typeface="Tahoma Bold"/>
                <a:ea typeface="Tahoma Bold"/>
              </a:rPr>
              <a:t>RELIANCE HOUSE</a:t>
            </a:r>
            <a:r>
              <a:rPr b="0" lang="en-IN" sz="1800" strike="noStrike" u="none">
                <a:solidFill>
                  <a:srgbClr val="ffffff"/>
                </a:solidFill>
                <a:effectLst/>
                <a:uFillTx/>
                <a:latin typeface="Tahoma"/>
              </a:rPr>
              <a:t>, a behavioral healthcare provider, agreed to pay $5,723.  </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August 2009, </a:t>
            </a:r>
            <a:r>
              <a:rPr b="0" lang="en-IN" sz="1800" strike="noStrike" u="none">
                <a:solidFill>
                  <a:srgbClr val="ffffff"/>
                </a:solidFill>
                <a:effectLst/>
                <a:uFillTx/>
                <a:latin typeface="Tahoma Bold"/>
                <a:ea typeface="Tahoma Bold"/>
              </a:rPr>
              <a:t>GREENTREE MANOR</a:t>
            </a:r>
            <a:r>
              <a:rPr b="0" lang="en-IN" sz="1800" strike="noStrike" u="none">
                <a:solidFill>
                  <a:srgbClr val="ffffff"/>
                </a:solidFill>
                <a:effectLst/>
                <a:uFillTx/>
                <a:latin typeface="Tahoma"/>
              </a:rPr>
              <a:t>, a skilled nursing and rehabilitation center, agreed to pay $14,979.  </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September 2009, </a:t>
            </a:r>
            <a:r>
              <a:rPr b="0" lang="en-IN" sz="1800" strike="noStrike" u="none">
                <a:solidFill>
                  <a:srgbClr val="ffffff"/>
                </a:solidFill>
                <a:effectLst/>
                <a:uFillTx/>
                <a:latin typeface="Tahoma Bold"/>
                <a:ea typeface="Tahoma Bold"/>
              </a:rPr>
              <a:t>STONINGTON INSTITUTE</a:t>
            </a:r>
            <a:r>
              <a:rPr b="0" lang="en-IN" sz="1800" strike="noStrike" u="none">
                <a:solidFill>
                  <a:srgbClr val="ffffff"/>
                </a:solidFill>
                <a:effectLst/>
                <a:uFillTx/>
                <a:latin typeface="Tahoma"/>
              </a:rPr>
              <a:t>, a behavioral healthcare provider, agreed to pay $21,430.  </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January 2010, </a:t>
            </a:r>
            <a:r>
              <a:rPr b="0" lang="en-IN" sz="1800" strike="noStrike" u="none">
                <a:solidFill>
                  <a:srgbClr val="ffffff"/>
                </a:solidFill>
                <a:effectLst/>
                <a:uFillTx/>
                <a:latin typeface="Tahoma Bold"/>
                <a:ea typeface="Tahoma Bold"/>
              </a:rPr>
              <a:t>GROTON REGENCY</a:t>
            </a:r>
            <a:r>
              <a:rPr b="0" lang="en-IN" sz="1800" strike="noStrike" u="none">
                <a:solidFill>
                  <a:srgbClr val="ffffff"/>
                </a:solidFill>
                <a:effectLst/>
                <a:uFillTx/>
                <a:latin typeface="Tahoma"/>
              </a:rPr>
              <a:t>, a skilled nursing and rehabilitation center agreed to pay $42,363.</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Bold"/>
                <a:ea typeface="Tahoma Bold"/>
              </a:rPr>
              <a:t>March, </a:t>
            </a:r>
            <a:r>
              <a:rPr b="0" lang="en-IN" sz="1800" strike="noStrike" u="none">
                <a:solidFill>
                  <a:srgbClr val="ffffff"/>
                </a:solidFill>
                <a:effectLst/>
                <a:uFillTx/>
                <a:latin typeface="Tahoma"/>
              </a:rPr>
              <a:t>2010</a:t>
            </a:r>
            <a:r>
              <a:rPr b="0" lang="en-IN" sz="1800" strike="noStrike" u="none">
                <a:solidFill>
                  <a:srgbClr val="ffffff"/>
                </a:solidFill>
                <a:effectLst/>
                <a:uFillTx/>
                <a:latin typeface="Tahoma Bold"/>
                <a:ea typeface="Tahoma Bold"/>
              </a:rPr>
              <a:t>, THE MAY INSTITUTE</a:t>
            </a:r>
            <a:r>
              <a:rPr b="0" lang="en-IN" sz="1800" strike="noStrike" u="none">
                <a:solidFill>
                  <a:srgbClr val="ffffff"/>
                </a:solidFill>
                <a:effectLst/>
                <a:uFillTx/>
                <a:latin typeface="Tahoma"/>
              </a:rPr>
              <a:t>, a behavioral health care provider, agreed to pay $109,689 for services performed by two individuals who had been excluded from Medicare and Medicaid.   </a:t>
            </a:r>
            <a:endParaRPr b="0" lang="en-IN" sz="1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800" strike="noStrike" u="none">
                <a:solidFill>
                  <a:srgbClr val="ffffff"/>
                </a:solidFill>
                <a:effectLst/>
                <a:uFillTx/>
                <a:latin typeface="Tahoma"/>
              </a:rPr>
              <a:t>“In each of these cases, the facility agreed to resolve allegations that it violated the False Claims Act by submitting or causing to be submitted claims to federal health care programs for services performed by an individual who had been previously excluded from Medicare and Medicaid.” </a:t>
            </a:r>
            <a:endParaRPr b="0" lang="en-IN" sz="1800" strike="noStrike" u="none">
              <a:solidFill>
                <a:srgbClr val="ffffff"/>
              </a:solidFill>
              <a:effectLst/>
              <a:uFillTx/>
              <a:latin typeface="Tahoma"/>
            </a:endParaRPr>
          </a:p>
        </p:txBody>
      </p:sp>
    </p:spTree>
  </p:cSld>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0"/>
            <a:ext cx="8229600" cy="196848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CMS ON EXCLUSION DUTIES OF STATE PROGRAM INTEGRITY AGENCIES SMDL-09-001</a:t>
            </a:r>
            <a:endParaRPr b="0" lang="en-IN" sz="4000" strike="noStrike" u="none">
              <a:solidFill>
                <a:srgbClr val="ffffff"/>
              </a:solidFill>
              <a:effectLst/>
              <a:uFillTx/>
              <a:latin typeface="Tahoma"/>
            </a:endParaRPr>
          </a:p>
        </p:txBody>
      </p:sp>
      <p:sp>
        <p:nvSpPr>
          <p:cNvPr id="107" name="PlaceHolder 2"/>
          <p:cNvSpPr>
            <a:spLocks noGrp="1"/>
          </p:cNvSpPr>
          <p:nvPr>
            <p:ph/>
          </p:nvPr>
        </p:nvSpPr>
        <p:spPr>
          <a:xfrm>
            <a:off x="457200" y="2209680"/>
            <a:ext cx="8229600" cy="464832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Because it is prohibited by federal law from doing so, CMS shall make no payments to states for any amount expended for items or services (other than an emergency item or service not provided in a hospital emergency room) furnished under the plan by an individual or entity while being excluded from participation (unless the claim for payment meets an exception listed in 42 CFR section 1001.1901(c)). Any such payments actually claimed for federal financial participation constitute an overpayment under sections 1903(d)(2)(A) and 1903(i)(2) of the Act, and are therefore subject to recoupment.</a:t>
            </a:r>
            <a:r>
              <a:rPr b="0" lang="en-IN" sz="2400" strike="noStrike" u="none">
                <a:solidFill>
                  <a:srgbClr val="ffffff"/>
                </a:solidFill>
                <a:effectLst/>
                <a:uFillTx/>
                <a:latin typeface="Tahoma"/>
              </a:rPr>
              <a:t> </a:t>
            </a:r>
            <a:endParaRPr b="0" lang="en-IN" sz="2400" strike="noStrike" u="none">
              <a:solidFill>
                <a:srgbClr val="ffffff"/>
              </a:solidFill>
              <a:effectLst/>
              <a:uFillTx/>
              <a:latin typeface="Tahoma"/>
            </a:endParaRPr>
          </a:p>
        </p:txBody>
      </p:sp>
    </p:spTree>
  </p:cSld>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63360"/>
            <a:ext cx="8229600" cy="184176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HOW ?</a:t>
            </a:r>
            <a:endParaRPr b="0" lang="en-IN" sz="4400" strike="noStrike" u="none">
              <a:solidFill>
                <a:srgbClr val="ffffff"/>
              </a:solidFill>
              <a:effectLst/>
              <a:uFillTx/>
              <a:latin typeface="Tahoma"/>
            </a:endParaRPr>
          </a:p>
        </p:txBody>
      </p:sp>
      <p:sp>
        <p:nvSpPr>
          <p:cNvPr id="109" name="PlaceHolder 2"/>
          <p:cNvSpPr>
            <a:spLocks noGrp="1"/>
          </p:cNvSpPr>
          <p:nvPr>
            <p:ph/>
          </p:nvPr>
        </p:nvSpPr>
        <p:spPr>
          <a:xfrm>
            <a:off x="457200" y="1905120"/>
            <a:ext cx="8229600" cy="4952880"/>
          </a:xfrm>
          <a:prstGeom prst="rect">
            <a:avLst/>
          </a:prstGeom>
          <a:noFill/>
          <a:ln w="0">
            <a:noFill/>
          </a:ln>
        </p:spPr>
        <p:txBody>
          <a:bodyPr lIns="50760" rIns="13212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Should providers check exclusion lists?</a:t>
            </a:r>
            <a:endParaRPr b="0" lang="en-IN" sz="3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Often should they check?</a:t>
            </a:r>
            <a:endParaRPr b="0" lang="en-IN" sz="3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Should providers confirm name match?</a:t>
            </a:r>
            <a:endParaRPr b="0" lang="en-IN" sz="3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Disclose services provided or ordered by excluded person?</a:t>
            </a:r>
            <a:endParaRPr b="0" lang="en-IN" sz="3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Should states notify CMS and OIG?</a:t>
            </a:r>
            <a:endParaRPr b="0" lang="en-IN" sz="32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ffffff"/>
                </a:solidFill>
                <a:effectLst/>
                <a:uFillTx/>
                <a:latin typeface="Tahoma"/>
              </a:rPr>
              <a:t>What about state and other governmental entities? School boards?</a:t>
            </a:r>
            <a:endParaRPr b="0" lang="en-IN" sz="3200" strike="noStrike" u="none">
              <a:solidFill>
                <a:srgbClr val="ffffff"/>
              </a:solidFill>
              <a:effectLst/>
              <a:uFillTx/>
              <a:latin typeface="Tahoma"/>
            </a:endParaRPr>
          </a:p>
        </p:txBody>
      </p:sp>
    </p:spTree>
  </p:cSld>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PROVIDER COMPLIANCE EXPECTATIONS (knew or should have known)</a:t>
            </a:r>
            <a:endParaRPr b="0" lang="en-IN" sz="4000" strike="noStrike" u="none">
              <a:solidFill>
                <a:srgbClr val="ffffff"/>
              </a:solidFill>
              <a:effectLst/>
              <a:uFillTx/>
              <a:latin typeface="Tahoma"/>
            </a:endParaRPr>
          </a:p>
        </p:txBody>
      </p:sp>
      <p:sp>
        <p:nvSpPr>
          <p:cNvPr id="111"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Check 3 exclusion lists for each new hire.</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Check 3 exclusion lists for contractors.</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Check 3 exclusion lists for referral sources.</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Check 3 exclusion lists once each month for updates. </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Require contractors to conduct similar checks on their employees and contractors.</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Report each verified  hit on current employees and current contractors from any of  three exclusion lists to OMIG through disclosure protocol.</a:t>
            </a:r>
            <a:endParaRPr b="0" lang="en-IN" sz="2400" strike="noStrike" u="none">
              <a:solidFill>
                <a:srgbClr val="ffffff"/>
              </a:solidFill>
              <a:effectLst/>
              <a:uFillTx/>
              <a:latin typeface="Tahoma"/>
            </a:endParaRPr>
          </a:p>
          <a:p>
            <a:pPr marL="382680" indent="-343080">
              <a:lnSpc>
                <a:spcPct val="9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ffffff"/>
                </a:solidFill>
                <a:effectLst/>
                <a:uFillTx/>
                <a:latin typeface="Tahoma"/>
              </a:rPr>
              <a:t>Be prepared to review process as 1/1/11 approaches.</a:t>
            </a:r>
            <a:endParaRPr b="0" lang="en-IN" sz="24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B83CAEBF-FD1B-4BD3-A612-757156582043}" type="slidenum">
              <a:t>49</a:t>
            </a:fld>
          </a:p>
        </p:txBody>
      </p:sp>
    </p:spTree>
  </p:cSld>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0"/>
            <a:ext cx="8229600" cy="1968480"/>
          </a:xfrm>
          <a:prstGeom prst="rect">
            <a:avLst/>
          </a:prstGeom>
          <a:noFill/>
          <a:ln w="0">
            <a:noFill/>
          </a:ln>
        </p:spPr>
        <p:txBody>
          <a:bodyPr lIns="50760" rIns="13212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FREE STUFF FROM New York- OMIG Web site-WWW.OMIG.State.ny.us</a:t>
            </a:r>
            <a:endParaRPr b="0" lang="en-IN" sz="4000" strike="noStrike" u="none">
              <a:solidFill>
                <a:srgbClr val="ffffff"/>
              </a:solidFill>
              <a:effectLst/>
              <a:uFillTx/>
              <a:latin typeface="Tahoma"/>
            </a:endParaRPr>
          </a:p>
        </p:txBody>
      </p:sp>
      <p:sp>
        <p:nvSpPr>
          <p:cNvPr id="113" name="PlaceHolder 2"/>
          <p:cNvSpPr>
            <a:spLocks noGrp="1"/>
          </p:cNvSpPr>
          <p:nvPr>
            <p:ph/>
          </p:nvPr>
        </p:nvSpPr>
        <p:spPr>
          <a:xfrm>
            <a:off x="380880" y="2133360"/>
            <a:ext cx="8229600" cy="4724280"/>
          </a:xfrm>
          <a:prstGeom prst="rect">
            <a:avLst/>
          </a:prstGeom>
          <a:noFill/>
          <a:ln w="0">
            <a:noFill/>
          </a:ln>
        </p:spPr>
        <p:txBody>
          <a:bodyPr lIns="50760" rIns="132120" tIns="50760" bIns="50760" anchor="t">
            <a:normAutofit lnSpcReduction="9999"/>
          </a:bodyPr>
          <a:p>
            <a:pPr marL="382680" indent="0">
              <a:lnSpc>
                <a:spcPct val="80000"/>
              </a:lnSpc>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Model compliance programs-hospitals, managed care (coming soon)</a:t>
            </a:r>
            <a:endParaRPr b="0" lang="en-IN" sz="2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Nearly 2,000 provider audit reports, detailing findings in specific industry </a:t>
            </a:r>
            <a:endParaRPr b="0" lang="en-IN" sz="2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Work plan issued 4/24/09-shared with other states and CMS, OIG (2010-11 work plan forthcomng)</a:t>
            </a:r>
            <a:endParaRPr b="0" lang="en-IN" sz="2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Listserv (sign up via Web site: www.omig.state.ny.us)</a:t>
            </a:r>
            <a:endParaRPr b="0" lang="en-IN" sz="2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New York excluded provider list </a:t>
            </a:r>
            <a:endParaRPr b="0" lang="en-IN" sz="2700" strike="noStrike" u="none">
              <a:solidFill>
                <a:srgbClr val="ffffff"/>
              </a:solidFill>
              <a:effectLst/>
              <a:uFillTx/>
              <a:latin typeface="Tahoma"/>
            </a:endParaRPr>
          </a:p>
          <a:p>
            <a:pPr marL="382680" indent="-343080">
              <a:lnSpc>
                <a:spcPct val="80000"/>
              </a:lnSpc>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700" strike="noStrike" u="none">
                <a:solidFill>
                  <a:srgbClr val="ffffff"/>
                </a:solidFill>
                <a:effectLst/>
                <a:uFillTx/>
                <a:latin typeface="Tahoma"/>
              </a:rPr>
              <a:t>Disclosure protocol </a:t>
            </a:r>
            <a:endParaRPr b="0" lang="en-IN" sz="2700" strike="noStrike" u="none">
              <a:solidFill>
                <a:srgbClr val="ffffff"/>
              </a:solidFill>
              <a:effectLst/>
              <a:uFillTx/>
              <a:latin typeface="Tahoma"/>
            </a:endParaRPr>
          </a:p>
        </p:txBody>
      </p:sp>
    </p:spTree>
  </p:cSld>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ffffff"/>
                </a:solidFill>
                <a:effectLst/>
                <a:uFillTx/>
                <a:latin typeface="Tahoma"/>
              </a:rPr>
              <a:t>THANKS TO OMIG STAFF WHO MADE THIS WEBINAR POSSIBLE</a:t>
            </a:r>
            <a:endParaRPr b="0" lang="en-IN" sz="4000" strike="noStrike" u="none">
              <a:solidFill>
                <a:srgbClr val="ffffff"/>
              </a:solidFill>
              <a:effectLst/>
              <a:uFillTx/>
              <a:latin typeface="Tahoma"/>
            </a:endParaRPr>
          </a:p>
        </p:txBody>
      </p:sp>
      <p:sp>
        <p:nvSpPr>
          <p:cNvPr id="115"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700+ participating sites</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Wanda Fischer</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Bill Scialdo</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Steve Chartier</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Jason Moreland </a:t>
            </a:r>
            <a:endParaRPr b="0" lang="en-IN" sz="32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22BB3032-446F-445D-85F8-7AD0705E04BC}" type="slidenum">
              <a:t>51</a:t>
            </a:fld>
          </a:p>
        </p:txBody>
      </p:sp>
    </p:spTree>
  </p:cSld>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63360"/>
            <a:ext cx="8229600" cy="1841760"/>
          </a:xfrm>
          <a:prstGeom prst="rect">
            <a:avLst/>
          </a:prstGeom>
          <a:noFill/>
          <a:ln w="0">
            <a:noFill/>
          </a:ln>
        </p:spPr>
        <p:txBody>
          <a:bodyPr lIns="50760" rIns="90000" tIns="50760" bIns="50760" anchor="ctr">
            <a:noAutofit/>
          </a:bodyPr>
          <a:p>
            <a:pPr marL="396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ffffff"/>
                </a:solidFill>
                <a:effectLst/>
                <a:uFillTx/>
                <a:latin typeface="Tahoma"/>
              </a:rPr>
              <a:t>QUESTION TIME</a:t>
            </a:r>
            <a:endParaRPr b="0" lang="en-IN" sz="4400" strike="noStrike" u="none">
              <a:solidFill>
                <a:srgbClr val="ffffff"/>
              </a:solidFill>
              <a:effectLst/>
              <a:uFillTx/>
              <a:latin typeface="Tahoma"/>
            </a:endParaRPr>
          </a:p>
        </p:txBody>
      </p:sp>
      <p:sp>
        <p:nvSpPr>
          <p:cNvPr id="117" name="PlaceHolder 2"/>
          <p:cNvSpPr>
            <a:spLocks noGrp="1"/>
          </p:cNvSpPr>
          <p:nvPr>
            <p:ph/>
          </p:nvPr>
        </p:nvSpPr>
        <p:spPr>
          <a:xfrm>
            <a:off x="457200" y="1905120"/>
            <a:ext cx="8229600" cy="4952880"/>
          </a:xfrm>
          <a:prstGeom prst="rect">
            <a:avLst/>
          </a:prstGeom>
          <a:noFill/>
          <a:ln w="0">
            <a:noFill/>
          </a:ln>
        </p:spPr>
        <p:txBody>
          <a:bodyPr lIns="50760" rIns="90000" tIns="50760" bIns="50760" anchor="t">
            <a:normAutofit/>
          </a:bodyPr>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Basis for Q/A</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Answers to be posted on OMIG Web site (</a:t>
            </a:r>
            <a:r>
              <a:rPr b="0" lang="en-US" sz="3200" strike="noStrike" u="sng">
                <a:solidFill>
                  <a:srgbClr val="009999"/>
                </a:solidFill>
                <a:effectLst/>
                <a:uFillTx/>
                <a:latin typeface="Tahoma"/>
                <a:hlinkClick r:id="rId2"/>
              </a:rPr>
              <a:t>www.omig.state.ny.us</a:t>
            </a:r>
            <a:r>
              <a:rPr b="0" lang="en-US" sz="3200" strike="noStrike" u="none">
                <a:solidFill>
                  <a:srgbClr val="ffffff"/>
                </a:solidFill>
                <a:effectLst/>
                <a:uFillTx/>
                <a:latin typeface="Tahoma"/>
              </a:rPr>
              <a:t>)</a:t>
            </a:r>
            <a:endParaRPr b="0" lang="en-IN" sz="3200" strike="noStrike" u="none">
              <a:solidFill>
                <a:srgbClr val="ffffff"/>
              </a:solidFill>
              <a:effectLst/>
              <a:uFillTx/>
              <a:latin typeface="Tahoma"/>
            </a:endParaRPr>
          </a:p>
          <a:p>
            <a:pPr marL="382680" indent="-343080">
              <a:spcBef>
                <a:spcPts val="799"/>
              </a:spcBef>
              <a:buClr>
                <a:srgbClr val="ffcc00"/>
              </a:buClr>
              <a:buSzPct val="120000"/>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trike="noStrike" u="none">
                <a:solidFill>
                  <a:srgbClr val="ffffff"/>
                </a:solidFill>
                <a:effectLst/>
                <a:uFillTx/>
                <a:latin typeface="Tahoma"/>
              </a:rPr>
              <a:t>Next Webinar: July 14, 2010</a:t>
            </a:r>
            <a:endParaRPr b="0" lang="en-IN" sz="3200" strike="noStrike" u="none">
              <a:solidFill>
                <a:srgbClr val="ffffff"/>
              </a:solidFill>
              <a:effectLst/>
              <a:uFillTx/>
              <a:latin typeface="Tahoma"/>
            </a:endParaRPr>
          </a:p>
        </p:txBody>
      </p:sp>
      <p:sp>
        <p:nvSpPr>
          <p:cNvPr id="4" name="PlaceHolder 3"/>
          <p:cNvSpPr>
            <a:spLocks noGrp="1"/>
          </p:cNvSpPr>
          <p:nvPr>
            <p:ph type="sldNum" idx="1"/>
          </p:nvPr>
        </p:nvSpPr>
        <p:spPr/>
        <p:txBody>
          <a:bodyPr/>
          <a:p>
            <a:fld id="{3DF90A6D-F241-4B07-AECA-294A81FCC987}" type="slidenum">
              <a:t>52</a:t>
            </a:fld>
          </a:p>
        </p:txBody>
      </p:sp>
    </p:spTree>
  </p:cSld>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328</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James Sheehan</dc:creator>
  <dc:description/>
  <cp:keywords/>
  <dc:language>en-IN</dc:language>
  <cp:lastModifiedBy>Wanda Fischer</cp:lastModifiedBy>
  <dcterms:modified xsi:type="dcterms:W3CDTF">2010-06-08T09:09:49Z</dcterms:modified>
  <cp:revision>14</cp:revision>
  <dc:subject/>
  <dc:title>EXCLUDED PERSONS AND PROVIDERS-TAG MEETING 3/16/10</dc:title>
</cp:coreProperties>
</file>