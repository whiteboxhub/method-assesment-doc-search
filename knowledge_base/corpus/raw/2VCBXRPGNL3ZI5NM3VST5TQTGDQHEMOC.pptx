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/>
  <p:notesSz cx="7008813" cy="9294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87280"/>
            <a:ext cx="8229600" cy="758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400" strike="noStrike" u="none">
                <a:solidFill>
                  <a:srgbClr val="333399"/>
                </a:solidFill>
                <a:effectLst/>
                <a:uFillTx/>
                <a:latin typeface="Verdana"/>
              </a:rPr>
              <a:t>Click to edit the title text format</a:t>
            </a:r>
            <a:endParaRPr b="1" lang="en-IN" sz="3400" strike="noStrike" u="none">
              <a:solidFill>
                <a:srgbClr val="333399"/>
              </a:solidFill>
              <a:effectLst/>
              <a:uFillTx/>
              <a:latin typeface="Verdana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170000"/>
            <a:ext cx="8229600" cy="501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Click to edit the outline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3040" indent="-285840">
              <a:spcBef>
                <a:spcPts val="601"/>
              </a:spcBef>
              <a:buClr>
                <a:srgbClr val="000000"/>
              </a:buClr>
              <a:buFont typeface="Verdan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Second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2" marL="1143000" indent="-228600">
              <a:spcBef>
                <a:spcPts val="601"/>
              </a:spcBef>
              <a:buClr>
                <a:srgbClr val="000000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3" marL="1600200" indent="-228600">
              <a:spcBef>
                <a:spcPts val="601"/>
              </a:spcBef>
              <a:buClr>
                <a:srgbClr val="000000"/>
              </a:buClr>
              <a:buFont typeface="Verdan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Fourth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4" marL="2057400" indent="-228600">
              <a:spcBef>
                <a:spcPts val="601"/>
              </a:spcBef>
              <a:buClr>
                <a:srgbClr val="000000"/>
              </a:buClr>
              <a:buFont typeface="Verdan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Fifth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5" marL="2057400" indent="-228600">
              <a:spcBef>
                <a:spcPts val="601"/>
              </a:spcBef>
              <a:buClr>
                <a:srgbClr val="000000"/>
              </a:buClr>
              <a:buFont typeface="Verdan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Sixth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6" marL="2057400" indent="-228600">
              <a:spcBef>
                <a:spcPts val="601"/>
              </a:spcBef>
              <a:buClr>
                <a:srgbClr val="000000"/>
              </a:buClr>
              <a:buFont typeface="Verdan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Seventh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"/>
          <p:cNvSpPr/>
          <p:nvPr/>
        </p:nvSpPr>
        <p:spPr>
          <a:xfrm>
            <a:off x="-296640" y="6541920"/>
            <a:ext cx="9936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A21436D-4107-441B-8180-4DC563E6E05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87280"/>
            <a:ext cx="8229600" cy="758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400" strike="noStrike" u="none">
                <a:solidFill>
                  <a:srgbClr val="333399"/>
                </a:solidFill>
                <a:effectLst/>
                <a:uFillTx/>
                <a:latin typeface="Verdana"/>
              </a:rPr>
              <a:t>Click to edit the title text format</a:t>
            </a:r>
            <a:endParaRPr b="1" lang="en-IN" sz="3400" strike="noStrike" u="none">
              <a:solidFill>
                <a:srgbClr val="333399"/>
              </a:solidFill>
              <a:effectLst/>
              <a:uFillTx/>
              <a:latin typeface="Verdana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170000"/>
            <a:ext cx="8229600" cy="501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Click to edit the outline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3040" indent="-285840">
              <a:spcBef>
                <a:spcPts val="601"/>
              </a:spcBef>
              <a:buClr>
                <a:srgbClr val="000000"/>
              </a:buClr>
              <a:buFont typeface="Verdan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Second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2" marL="1143000" indent="-228600">
              <a:spcBef>
                <a:spcPts val="601"/>
              </a:spcBef>
              <a:buClr>
                <a:srgbClr val="000000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3" marL="1600200" indent="-228600">
              <a:spcBef>
                <a:spcPts val="601"/>
              </a:spcBef>
              <a:buClr>
                <a:srgbClr val="000000"/>
              </a:buClr>
              <a:buFont typeface="Verdan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Fourth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4" marL="2057400" indent="-228600">
              <a:spcBef>
                <a:spcPts val="601"/>
              </a:spcBef>
              <a:buClr>
                <a:srgbClr val="000000"/>
              </a:buClr>
              <a:buFont typeface="Verdan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Fifth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5" marL="2057400" indent="-228600">
              <a:spcBef>
                <a:spcPts val="601"/>
              </a:spcBef>
              <a:buClr>
                <a:srgbClr val="000000"/>
              </a:buClr>
              <a:buFont typeface="Verdan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Sixth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6" marL="2057400" indent="-228600">
              <a:spcBef>
                <a:spcPts val="601"/>
              </a:spcBef>
              <a:buClr>
                <a:srgbClr val="000000"/>
              </a:buClr>
              <a:buFont typeface="Verdan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Seventh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"/>
          <p:cNvSpPr/>
          <p:nvPr/>
        </p:nvSpPr>
        <p:spPr>
          <a:xfrm>
            <a:off x="-296640" y="6541920"/>
            <a:ext cx="9936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235BF63-A2BA-4FCE-AEDC-6D3AA1CE4E9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87280"/>
            <a:ext cx="8229600" cy="758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400" strike="noStrike" u="none">
                <a:solidFill>
                  <a:srgbClr val="333399"/>
                </a:solidFill>
                <a:effectLst/>
                <a:uFillTx/>
                <a:latin typeface="Verdana"/>
              </a:rPr>
              <a:t>Click to edit the title text format</a:t>
            </a:r>
            <a:endParaRPr b="1" lang="en-IN" sz="3400" strike="noStrike" u="none">
              <a:solidFill>
                <a:srgbClr val="333399"/>
              </a:solidFill>
              <a:effectLst/>
              <a:uFillTx/>
              <a:latin typeface="Verdana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170000"/>
            <a:ext cx="8229600" cy="501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Click to edit the outline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3040" indent="-285840">
              <a:spcBef>
                <a:spcPts val="601"/>
              </a:spcBef>
              <a:buClr>
                <a:srgbClr val="000000"/>
              </a:buClr>
              <a:buFont typeface="Verdan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Second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2" marL="1143000" indent="-228600">
              <a:spcBef>
                <a:spcPts val="601"/>
              </a:spcBef>
              <a:buClr>
                <a:srgbClr val="000000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3" marL="1600200" indent="-228600">
              <a:spcBef>
                <a:spcPts val="601"/>
              </a:spcBef>
              <a:buClr>
                <a:srgbClr val="000000"/>
              </a:buClr>
              <a:buFont typeface="Verdan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Fourth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4" marL="2057400" indent="-228600">
              <a:spcBef>
                <a:spcPts val="601"/>
              </a:spcBef>
              <a:buClr>
                <a:srgbClr val="000000"/>
              </a:buClr>
              <a:buFont typeface="Verdan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Fifth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5" marL="2057400" indent="-228600">
              <a:spcBef>
                <a:spcPts val="601"/>
              </a:spcBef>
              <a:buClr>
                <a:srgbClr val="000000"/>
              </a:buClr>
              <a:buFont typeface="Verdan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Sixth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6" marL="2057400" indent="-228600">
              <a:spcBef>
                <a:spcPts val="601"/>
              </a:spcBef>
              <a:buClr>
                <a:srgbClr val="000000"/>
              </a:buClr>
              <a:buFont typeface="Verdan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Seventh Outline Level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"/>
          <p:cNvSpPr/>
          <p:nvPr/>
        </p:nvSpPr>
        <p:spPr>
          <a:xfrm>
            <a:off x="-296640" y="6541920"/>
            <a:ext cx="9936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6F6FF5E-FE2C-414C-96B3-D7DCE00F10D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85800" y="144756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400" strike="noStrike" u="none">
                <a:solidFill>
                  <a:srgbClr val="333399"/>
                </a:solidFill>
                <a:effectLst/>
                <a:uFillTx/>
                <a:latin typeface="Verdana"/>
              </a:rPr>
              <a:t>Click to edit the title text format</a:t>
            </a:r>
            <a:endParaRPr b="1" lang="en-IN" sz="3400" strike="noStrike" u="none">
              <a:solidFill>
                <a:srgbClr val="333399"/>
              </a:solidFill>
              <a:effectLst/>
              <a:uFillTx/>
              <a:latin typeface="Verdana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10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11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12"/>
          </p:nvPr>
        </p:nvSpPr>
        <p:spPr>
          <a:xfrm>
            <a:off x="6857640" y="653364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-296640" y="6541920"/>
            <a:ext cx="9936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3F6C8D5-27A1-4BC7-915B-3EACDE5D25E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Click to edit the outline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457200" indent="0" algn="ctr"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Second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2" marL="914400" algn="ctr">
              <a:spcBef>
                <a:spcPts val="400"/>
              </a:spcBef>
              <a:buClr>
                <a:srgbClr val="000000"/>
              </a:buClr>
              <a:buFont typeface="Verdan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Third Outline Level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3" marL="1371600" algn="ctr">
              <a:spcBef>
                <a:spcPts val="349"/>
              </a:spcBef>
              <a:buClr>
                <a:srgbClr val="000000"/>
              </a:buClr>
              <a:buFont typeface="Verdan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Fourth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4" marL="1828800" algn="ctr">
              <a:spcBef>
                <a:spcPts val="349"/>
              </a:spcBef>
              <a:buClr>
                <a:srgbClr val="000000"/>
              </a:buClr>
              <a:buFont typeface="Verdan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Fifth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5" marL="1828800">
              <a:spcBef>
                <a:spcPts val="349"/>
              </a:spcBef>
              <a:buClr>
                <a:srgbClr val="000000"/>
              </a:buClr>
              <a:buFont typeface="Verdan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Sixth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6" marL="1828800">
              <a:spcBef>
                <a:spcPts val="349"/>
              </a:spcBef>
              <a:buClr>
                <a:srgbClr val="000000"/>
              </a:buClr>
              <a:buFont typeface="Verdan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Seventh Outline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90144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400" strike="noStrike" u="none">
                <a:solidFill>
                  <a:srgbClr val="333399"/>
                </a:solidFill>
                <a:effectLst/>
                <a:uFillTx/>
                <a:latin typeface="Verdana"/>
              </a:rPr>
              <a:t>NGATS Weather </a:t>
            </a:r>
            <a:br>
              <a:rPr sz="3400"/>
            </a:br>
            <a:r>
              <a:rPr b="1" lang="en-IN" sz="3400" strike="noStrike" u="none">
                <a:solidFill>
                  <a:srgbClr val="333399"/>
                </a:solidFill>
                <a:effectLst/>
                <a:uFillTx/>
                <a:latin typeface="Verdana"/>
              </a:rPr>
              <a:t>Concept of Operations</a:t>
            </a:r>
            <a:endParaRPr b="1" lang="en-IN" sz="3400" strike="noStrike" u="none">
              <a:solidFill>
                <a:srgbClr val="333399"/>
              </a:solidFill>
              <a:effectLst/>
              <a:uFillTx/>
              <a:latin typeface="Verdana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ubTitle"/>
          </p:nvPr>
        </p:nvSpPr>
        <p:spPr>
          <a:xfrm>
            <a:off x="212760" y="2705040"/>
            <a:ext cx="8686800" cy="70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333399"/>
                </a:solidFill>
                <a:effectLst/>
                <a:uFillTx/>
                <a:latin typeface="Verdana"/>
              </a:rPr>
              <a:t>JPDO Weather IPT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indent="0" algn="ctr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24" name=""/>
          <p:cNvSpPr/>
          <p:nvPr/>
        </p:nvSpPr>
        <p:spPr>
          <a:xfrm>
            <a:off x="5638680" y="3200400"/>
            <a:ext cx="3505320" cy="251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114480" indent="-114480">
              <a:lnSpc>
                <a:spcPct val="100000"/>
              </a:lnSpc>
              <a:spcBef>
                <a:spcPts val="349"/>
              </a:spcBef>
              <a:spcAft>
                <a:spcPts val="176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CFEE39-DBB7-400E-978C-27F02A1F905D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87280"/>
            <a:ext cx="8229600" cy="758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400" strike="noStrike" u="none">
                <a:solidFill>
                  <a:srgbClr val="333399"/>
                </a:solidFill>
                <a:effectLst/>
                <a:uFillTx/>
                <a:latin typeface="Verdana"/>
              </a:rPr>
              <a:t>JPDO Recent Publications</a:t>
            </a:r>
            <a:endParaRPr b="1" lang="en-IN" sz="3400" strike="noStrike" u="none">
              <a:solidFill>
                <a:srgbClr val="333399"/>
              </a:solidFill>
              <a:effectLst/>
              <a:uFillTx/>
              <a:latin typeface="Verdana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170000"/>
            <a:ext cx="8229600" cy="501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0"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Concept of Operations for 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marL="343080" indent="-34308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   the Next Generation Air Transportation System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3040" indent="-285840">
              <a:spcBef>
                <a:spcPts val="499"/>
              </a:spcBef>
              <a:buClr>
                <a:srgbClr val="000000"/>
              </a:buClr>
              <a:buFont typeface="Verdan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Draft Version 0.2; July 24, 2006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3040" indent="-28584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    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Next Generation Air Transportation System Weather Concept of Operations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3040" indent="-285840">
              <a:spcBef>
                <a:spcPts val="499"/>
              </a:spcBef>
              <a:buClr>
                <a:srgbClr val="000000"/>
              </a:buClr>
              <a:buFont typeface="Verdan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Version 1.0; May 13, 2006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3040" indent="0"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3040" indent="-28584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Both documents available for download and comment: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3040" indent="-28584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         [http://techhangar.jpdo.aero/]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E70EF4-B895-43A8-A4AB-4FCC03A7625C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>
            <a:off x="371520" y="2206800"/>
            <a:ext cx="822960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372960" y="74520"/>
            <a:ext cx="8229600" cy="85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spcBef>
                <a:spcPts val="8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400" strike="noStrike" u="none">
                <a:solidFill>
                  <a:srgbClr val="333399"/>
                </a:solidFill>
                <a:effectLst/>
                <a:uFillTx/>
                <a:latin typeface="Verdana"/>
              </a:rPr>
              <a:t>2025 NGATS Concept</a:t>
            </a:r>
            <a:endParaRPr b="0" lang="en-IN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NGATS21_25_Flattened_2000x" descr=""/>
          <p:cNvPicPr/>
          <p:nvPr/>
        </p:nvPicPr>
        <p:blipFill>
          <a:blip r:embed="rId2"/>
          <a:stretch/>
        </p:blipFill>
        <p:spPr>
          <a:xfrm>
            <a:off x="4411800" y="1281240"/>
            <a:ext cx="4647960" cy="375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"/>
          <p:cNvSpPr/>
          <p:nvPr/>
        </p:nvSpPr>
        <p:spPr>
          <a:xfrm>
            <a:off x="195120" y="3757680"/>
            <a:ext cx="4483080" cy="218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25360" indent="-225360">
              <a:lnSpc>
                <a:spcPct val="125000"/>
              </a:lnSpc>
              <a:buClr>
                <a:srgbClr val="000066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66"/>
                </a:solidFill>
                <a:effectLst/>
                <a:uFillTx/>
                <a:latin typeface="Verdana"/>
                <a:ea typeface="Arial"/>
              </a:rPr>
              <a:t> </a:t>
            </a:r>
            <a:r>
              <a:rPr b="1" lang="en-IN" sz="1400" strike="noStrike" u="none">
                <a:solidFill>
                  <a:srgbClr val="333399"/>
                </a:solidFill>
                <a:effectLst/>
                <a:uFillTx/>
                <a:latin typeface="Verdana"/>
                <a:ea typeface="Arial"/>
              </a:rPr>
              <a:t> </a:t>
            </a:r>
            <a:r>
              <a:rPr b="1" lang="en-IN" sz="1400" strike="noStrike" u="none">
                <a:solidFill>
                  <a:srgbClr val="000066"/>
                </a:solidFill>
                <a:effectLst/>
                <a:uFillTx/>
                <a:latin typeface="Verdana"/>
                <a:ea typeface="Arial"/>
              </a:rPr>
              <a:t>Net-Enabled Information Access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5360" indent="-225360">
              <a:lnSpc>
                <a:spcPct val="125000"/>
              </a:lnSpc>
              <a:buClr>
                <a:srgbClr val="000066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66"/>
                </a:solidFill>
                <a:effectLst/>
                <a:uFillTx/>
                <a:latin typeface="Verdana"/>
                <a:ea typeface="Arial"/>
              </a:rPr>
              <a:t>  </a:t>
            </a:r>
            <a:r>
              <a:rPr b="1" lang="en-IN" sz="1400" strike="noStrike" u="sng">
                <a:solidFill>
                  <a:srgbClr val="008000"/>
                </a:solidFill>
                <a:effectLst/>
                <a:uFillTx/>
                <a:latin typeface="Verdana"/>
                <a:ea typeface="Arial"/>
              </a:rPr>
              <a:t>Performance-Based Ops &amp; Services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5360" indent="-225360">
              <a:lnSpc>
                <a:spcPct val="125000"/>
              </a:lnSpc>
              <a:buClr>
                <a:srgbClr val="008000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8000"/>
                </a:solidFill>
                <a:effectLst/>
                <a:uFillTx/>
                <a:latin typeface="Verdana"/>
                <a:ea typeface="Arial"/>
              </a:rPr>
              <a:t>  </a:t>
            </a:r>
            <a:r>
              <a:rPr b="1" lang="en-IN" sz="1400" strike="noStrike" u="none">
                <a:solidFill>
                  <a:srgbClr val="000066"/>
                </a:solidFill>
                <a:effectLst/>
                <a:uFillTx/>
                <a:latin typeface="Verdana"/>
                <a:ea typeface="Arial"/>
              </a:rPr>
              <a:t>Weather-Assimilated Decision Making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5360" indent="-225360">
              <a:lnSpc>
                <a:spcPct val="125000"/>
              </a:lnSpc>
              <a:buClr>
                <a:srgbClr val="000066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66"/>
                </a:solidFill>
                <a:effectLst/>
                <a:uFillTx/>
                <a:latin typeface="Verdana"/>
                <a:ea typeface="Arial"/>
              </a:rPr>
              <a:t>  Layered, Adaptive Security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5360" indent="-225360">
              <a:lnSpc>
                <a:spcPct val="125000"/>
              </a:lnSpc>
              <a:buClr>
                <a:srgbClr val="000066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66"/>
                </a:solidFill>
                <a:effectLst/>
                <a:uFillTx/>
                <a:latin typeface="Verdana"/>
                <a:ea typeface="Arial"/>
              </a:rPr>
              <a:t>  Broad-Area Precision Navigation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5360" indent="-225360">
              <a:lnSpc>
                <a:spcPct val="125000"/>
              </a:lnSpc>
              <a:buClr>
                <a:srgbClr val="000066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66"/>
                </a:solidFill>
                <a:effectLst/>
                <a:uFillTx/>
                <a:latin typeface="Verdana"/>
                <a:ea typeface="Arial"/>
              </a:rPr>
              <a:t>  Trajectory-Based Aircraft Operations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5360" indent="-225360">
              <a:lnSpc>
                <a:spcPct val="125000"/>
              </a:lnSpc>
              <a:buClr>
                <a:srgbClr val="000066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66"/>
                </a:solidFill>
                <a:effectLst/>
                <a:uFillTx/>
                <a:latin typeface="Verdana"/>
                <a:ea typeface="Arial"/>
              </a:rPr>
              <a:t>  </a:t>
            </a:r>
            <a:r>
              <a:rPr b="1" lang="en-IN" sz="1400" strike="noStrike" u="none">
                <a:solidFill>
                  <a:srgbClr val="000000"/>
                </a:solidFill>
                <a:effectLst/>
                <a:uFillTx/>
                <a:latin typeface="Verdana"/>
                <a:ea typeface="Arial"/>
              </a:rPr>
              <a:t>“Equivalent Visual” Operations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5360" indent="-225360">
              <a:lnSpc>
                <a:spcPct val="125000"/>
              </a:lnSpc>
              <a:spcBef>
                <a:spcPts val="437"/>
              </a:spcBef>
              <a:buClr>
                <a:srgbClr val="008000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8000"/>
                </a:solidFill>
                <a:effectLst/>
                <a:uFillTx/>
                <a:latin typeface="Verdana"/>
                <a:ea typeface="Arial"/>
              </a:rPr>
              <a:t> </a:t>
            </a:r>
            <a:r>
              <a:rPr b="1" lang="en-IN" sz="1400" strike="noStrike" u="none">
                <a:solidFill>
                  <a:srgbClr val="000066"/>
                </a:solidFill>
                <a:effectLst/>
                <a:uFillTx/>
                <a:latin typeface="Verdana"/>
                <a:ea typeface="Arial"/>
              </a:rPr>
              <a:t> “Super Density” Operations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44640" y="3376440"/>
            <a:ext cx="22302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IN" sz="1800" strike="noStrike" u="none">
                <a:solidFill>
                  <a:srgbClr val="800000"/>
                </a:solidFill>
                <a:effectLst/>
                <a:uFillTx/>
                <a:latin typeface="Verdana"/>
                <a:ea typeface="Arial"/>
              </a:rPr>
              <a:t>Key Capabilities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46440" y="1116000"/>
            <a:ext cx="27964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IN" sz="1800" strike="noStrike" u="none">
                <a:solidFill>
                  <a:srgbClr val="800000"/>
                </a:solidFill>
                <a:effectLst/>
                <a:uFillTx/>
                <a:latin typeface="Verdana"/>
                <a:ea typeface="Arial"/>
              </a:rPr>
              <a:t>Operating Principles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208080" y="1471680"/>
            <a:ext cx="3860640" cy="17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25360" indent="-225360">
              <a:lnSpc>
                <a:spcPct val="125000"/>
              </a:lnSpc>
              <a:buClr>
                <a:srgbClr val="000066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66"/>
                </a:solidFill>
                <a:effectLst/>
                <a:uFillTx/>
                <a:latin typeface="Verdana"/>
                <a:ea typeface="Arial"/>
              </a:rPr>
              <a:t>  “It’s about the users…”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5360" indent="-225360">
              <a:lnSpc>
                <a:spcPct val="125000"/>
              </a:lnSpc>
              <a:buClr>
                <a:srgbClr val="000066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66"/>
                </a:solidFill>
                <a:effectLst/>
                <a:uFillTx/>
                <a:latin typeface="Verdana"/>
                <a:ea typeface="Arial"/>
              </a:rPr>
              <a:t>  System-wide transformation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5360" indent="-225360">
              <a:lnSpc>
                <a:spcPct val="125000"/>
              </a:lnSpc>
              <a:buClr>
                <a:srgbClr val="000066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66"/>
                </a:solidFill>
                <a:effectLst/>
                <a:uFillTx/>
                <a:latin typeface="Verdana"/>
                <a:ea typeface="Arial"/>
              </a:rPr>
              <a:t>  Prognostic approach to safety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5360" indent="-225360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66"/>
                </a:solidFill>
                <a:effectLst/>
                <a:uFillTx/>
                <a:latin typeface="Verdana"/>
                <a:ea typeface="Arial"/>
              </a:rPr>
              <a:t>      assessment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5360" indent="-225360">
              <a:lnSpc>
                <a:spcPct val="100000"/>
              </a:lnSpc>
              <a:spcBef>
                <a:spcPts val="437"/>
              </a:spcBef>
              <a:buClr>
                <a:srgbClr val="000066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66"/>
                </a:solidFill>
                <a:effectLst/>
                <a:uFillTx/>
                <a:latin typeface="Verdana"/>
                <a:ea typeface="Arial"/>
              </a:rPr>
              <a:t>  Globally harmonized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5360" indent="-225360">
              <a:lnSpc>
                <a:spcPct val="100000"/>
              </a:lnSpc>
              <a:spcBef>
                <a:spcPts val="437"/>
              </a:spcBef>
              <a:buClr>
                <a:srgbClr val="000066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66"/>
                </a:solidFill>
                <a:effectLst/>
                <a:uFillTx/>
                <a:latin typeface="Verdana"/>
                <a:ea typeface="Arial"/>
              </a:rPr>
              <a:t>  Environmentally compatible to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5360" indent="-22536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000066"/>
                </a:solidFill>
                <a:effectLst/>
                <a:uFillTx/>
                <a:latin typeface="Verdana"/>
                <a:ea typeface="Arial"/>
              </a:rPr>
              <a:t>      enable continued growth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D3F1F0-ACAD-4BBA-BB2A-371C47A915E4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80960" y="270000"/>
            <a:ext cx="8229600" cy="758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333399"/>
                </a:solidFill>
                <a:effectLst/>
                <a:uFillTx/>
                <a:latin typeface="Verdana"/>
              </a:rPr>
              <a:t>Weather Concept Philosophy</a:t>
            </a:r>
            <a:endParaRPr b="1" lang="en-IN" sz="2800" strike="noStrike" u="none">
              <a:solidFill>
                <a:srgbClr val="333399"/>
              </a:solidFill>
              <a:effectLst/>
              <a:uFillTx/>
              <a:latin typeface="Verdan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380520" y="1731960"/>
            <a:ext cx="8487000" cy="151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168480">
              <a:lnSpc>
                <a:spcPct val="100000"/>
              </a:lnSpc>
              <a:spcBef>
                <a:spcPts val="15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Our charge is NOT about the weather …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marL="343080" indent="-168480">
              <a:lnSpc>
                <a:spcPct val="100000"/>
              </a:lnSpc>
              <a:spcBef>
                <a:spcPts val="15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	</a:t>
            </a:r>
            <a:r>
              <a:rPr b="1" lang="en-IN" sz="24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	</a:t>
            </a:r>
            <a:r>
              <a:rPr b="1" lang="en-IN" sz="24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Rather, it is about the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36" name=""/>
          <p:cNvSpPr/>
          <p:nvPr/>
        </p:nvSpPr>
        <p:spPr>
          <a:xfrm>
            <a:off x="1981080" y="2828880"/>
            <a:ext cx="6303960" cy="22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IN" sz="2800" strike="noStrike" u="none">
                <a:solidFill>
                  <a:srgbClr val="008080"/>
                </a:solidFill>
                <a:effectLst/>
                <a:uFillTx/>
                <a:latin typeface="Arial"/>
              </a:rPr>
              <a:t>Identification and effective use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IN" sz="2800" strike="noStrike" u="none">
                <a:solidFill>
                  <a:srgbClr val="008080"/>
                </a:solidFill>
                <a:effectLst/>
                <a:uFillTx/>
                <a:latin typeface="Arial"/>
              </a:rPr>
              <a:t>of weather information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IN" sz="2800" strike="noStrike" u="none">
                <a:solidFill>
                  <a:srgbClr val="008080"/>
                </a:solidFill>
                <a:effectLst/>
                <a:uFillTx/>
                <a:latin typeface="Arial"/>
              </a:rPr>
              <a:t>(and supporting capabilities)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IN" sz="2800" strike="noStrike" u="none">
                <a:solidFill>
                  <a:srgbClr val="008080"/>
                </a:solidFill>
                <a:effectLst/>
                <a:uFillTx/>
                <a:latin typeface="Arial"/>
              </a:rPr>
              <a:t>to mitigate weather impacts</a:t>
            </a:r>
            <a:r>
              <a:rPr b="1" i="1" lang="en-IN" sz="2800" strike="noStrike" u="none">
                <a:solidFill>
                  <a:srgbClr val="008080"/>
                </a:solidFill>
                <a:effectLst/>
                <a:uFillTx/>
                <a:latin typeface="Arial"/>
              </a:rPr>
              <a:t>	</a:t>
            </a:r>
            <a:r>
              <a:rPr b="1" i="1" lang="en-IN" sz="2800" strike="noStrike" u="none">
                <a:solidFill>
                  <a:srgbClr val="008080"/>
                </a:solidFill>
                <a:effectLst/>
                <a:uFillTx/>
                <a:latin typeface="Arial"/>
              </a:rPr>
              <a:t>   on NGATS operations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5A7D21-2618-4E49-BC34-6E1D7F6CFE23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01600"/>
            <a:ext cx="8229600" cy="758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333399"/>
                </a:solidFill>
                <a:effectLst/>
                <a:uFillTx/>
                <a:latin typeface="Verdana"/>
              </a:rPr>
              <a:t>Weather Concept Scope/Approach</a:t>
            </a:r>
            <a:endParaRPr b="1" lang="en-IN" sz="2800" strike="noStrike" u="none">
              <a:solidFill>
                <a:srgbClr val="333399"/>
              </a:solidFill>
              <a:effectLst/>
              <a:uFillTx/>
              <a:latin typeface="Verdana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289080" y="966960"/>
            <a:ext cx="8550000" cy="538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99"/>
              </a:spcBef>
              <a:buClr>
                <a:srgbClr val="000000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Scope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Verdan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2025 concepts for Weather Support (future vision)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2" marL="1143000" indent="-228600">
              <a:spcBef>
                <a:spcPts val="349"/>
              </a:spcBef>
              <a:buClr>
                <a:srgbClr val="000000"/>
              </a:buClr>
              <a:buFont typeface="Verdan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Starting point for inter-IPT discussions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2" marL="1143000" indent="-228600">
              <a:spcBef>
                <a:spcPts val="349"/>
              </a:spcBef>
              <a:buClr>
                <a:srgbClr val="000000"/>
              </a:buClr>
              <a:buFont typeface="Verdan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First step in NGATS weather functional analysis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marL="343080" indent="-343080">
              <a:spcBef>
                <a:spcPts val="499"/>
              </a:spcBef>
              <a:buClr>
                <a:srgbClr val="000000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Approach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Verdan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Analyzed NGATS 2025 Operating Principles and Key Capabilities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3040" indent="-285840">
              <a:spcBef>
                <a:spcPts val="451"/>
              </a:spcBef>
              <a:buClr>
                <a:srgbClr val="008000"/>
              </a:buClr>
              <a:buFont typeface="Verdan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8000"/>
                </a:solidFill>
                <a:effectLst/>
                <a:uFillTx/>
                <a:latin typeface="Verdana"/>
              </a:rPr>
              <a:t>Identified Weather Implications/Impacts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3040" indent="-285840">
              <a:spcBef>
                <a:spcPts val="451"/>
              </a:spcBef>
              <a:buClr>
                <a:srgbClr val="008000"/>
              </a:buClr>
              <a:buFont typeface="Verdan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8000"/>
                </a:solidFill>
                <a:effectLst/>
                <a:uFillTx/>
                <a:latin typeface="Verdana"/>
              </a:rPr>
              <a:t>Established resulting Operating Principles for NGATS Weather Support Concepts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Verdan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Developed Weather Concept Details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marL="343080" indent="-343080">
              <a:spcBef>
                <a:spcPts val="499"/>
              </a:spcBef>
              <a:buClr>
                <a:srgbClr val="000000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To Follow…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Verdan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Transition “Road Map”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2" marL="1143000" indent="-228600">
              <a:spcBef>
                <a:spcPts val="349"/>
              </a:spcBef>
              <a:buClr>
                <a:srgbClr val="000000"/>
              </a:buClr>
              <a:buFont typeface="Verdan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Transition plan for Weather Support - current NAS to 2025 Concept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3040" indent="-285840">
              <a:spcBef>
                <a:spcPts val="451"/>
              </a:spcBef>
              <a:buClr>
                <a:srgbClr val="000000"/>
              </a:buClr>
              <a:buFont typeface="Verdan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Complementary products: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2" marL="1143000" indent="-228600">
              <a:spcBef>
                <a:spcPts val="349"/>
              </a:spcBef>
              <a:buClr>
                <a:srgbClr val="000000"/>
              </a:buClr>
              <a:buFont typeface="Verdan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Weather System Requirements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2" marL="1143000" indent="-228600">
              <a:spcBef>
                <a:spcPts val="349"/>
              </a:spcBef>
              <a:buClr>
                <a:srgbClr val="000000"/>
              </a:buClr>
              <a:buFont typeface="Verdan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Supporting R&amp;D Requirements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A9D273-4055-4D38-9056-F79FB31B8481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87280"/>
            <a:ext cx="8229600" cy="758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000" strike="noStrike" u="none">
                <a:solidFill>
                  <a:srgbClr val="333399"/>
                </a:solidFill>
                <a:effectLst/>
                <a:uFillTx/>
                <a:latin typeface="Verdana"/>
              </a:rPr>
              <a:t>Weather Implications/Impacts AMDAR Data Access</a:t>
            </a:r>
            <a:endParaRPr b="1" lang="en-IN" sz="3000" strike="noStrike" u="none">
              <a:solidFill>
                <a:srgbClr val="333399"/>
              </a:solidFill>
              <a:effectLst/>
              <a:uFillTx/>
              <a:latin typeface="Verdana"/>
            </a:endParaRPr>
          </a:p>
        </p:txBody>
      </p:sp>
      <p:sp>
        <p:nvSpPr>
          <p:cNvPr id="40" name=""/>
          <p:cNvSpPr/>
          <p:nvPr/>
        </p:nvSpPr>
        <p:spPr>
          <a:xfrm>
            <a:off x="7175520" y="5397480"/>
            <a:ext cx="1270080" cy="304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456840" y="1170000"/>
            <a:ext cx="8381880" cy="501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Section 2.3 (Performance-Based Services)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spcAft>
                <a:spcPts val="100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“… enables a definition of service tiers and allows the government to move from equipment-based regulations to performance-based regulations.”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Verdan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2.3.1:  Aircraft are capable of receiving </a:t>
            </a:r>
            <a:r>
              <a:rPr b="0" lang="en-IN" sz="2000" strike="noStrike" u="none">
                <a:solidFill>
                  <a:srgbClr val="008000"/>
                </a:solidFill>
                <a:effectLst/>
                <a:uFillTx/>
                <a:latin typeface="Verdana"/>
              </a:rPr>
              <a:t>and transmitting weather information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Verdan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2.3.2:  </a:t>
            </a:r>
            <a:r>
              <a:rPr b="0" lang="en-IN" sz="2000" strike="noStrike" u="none">
                <a:solidFill>
                  <a:srgbClr val="008000"/>
                </a:solidFill>
                <a:effectLst/>
                <a:uFillTx/>
                <a:latin typeface="Verdana"/>
              </a:rPr>
              <a:t>Weather sensors included in Performance-Based Services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“… At a minimum, in addition to accurately providing its 4-D geospatial position, aircraft provide in situ winds, temperature, relative humidity, turbulence and icing information.  Aircraft may also measure non-weather phenomena (e.g., volcanic ash), utilize forward or down looking remote weather sensors, and carry dosimeters to measure the radiation environment which is affected by space weather activity.”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DCB376-951F-4440-A01C-E25BE5E82C54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6840" y="376200"/>
            <a:ext cx="8356680" cy="711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333399"/>
                </a:solidFill>
                <a:effectLst/>
                <a:uFillTx/>
                <a:latin typeface="Verdana"/>
              </a:rPr>
              <a:t>Weather Concept Operating Principles AMDAR Data Access</a:t>
            </a:r>
            <a:endParaRPr b="1" lang="en-IN" sz="2800" strike="noStrike" u="none">
              <a:solidFill>
                <a:srgbClr val="333399"/>
              </a:solidFill>
              <a:effectLst/>
              <a:uFillTx/>
              <a:latin typeface="Verdana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457200" y="1339920"/>
            <a:ext cx="8153280" cy="439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0"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marL="343080" indent="0"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44" name=""/>
          <p:cNvSpPr/>
          <p:nvPr/>
        </p:nvSpPr>
        <p:spPr>
          <a:xfrm>
            <a:off x="574560" y="1177920"/>
            <a:ext cx="8379000" cy="457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457200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Operating principles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38080" indent="-380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Verdan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Derived from the analysis of the implications/impacts of weather from the NGATS 2025 Concept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38080" indent="-380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Verdan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Grouped into five (5) categories: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38080" indent="-380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Verdan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19320" indent="-30492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Verdana"/>
              <a:buAutoNum type="arabicPeriod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Policy and Organization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19320" indent="-304920">
              <a:lnSpc>
                <a:spcPct val="100000"/>
              </a:lnSpc>
              <a:spcBef>
                <a:spcPts val="1250"/>
              </a:spcBef>
              <a:buClr>
                <a:srgbClr val="008000"/>
              </a:buClr>
              <a:buFont typeface="Verdana"/>
              <a:buAutoNum type="arabicPeriod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8000"/>
                </a:solidFill>
                <a:effectLst/>
                <a:uFillTx/>
                <a:latin typeface="Verdana"/>
              </a:rPr>
              <a:t>Data Collection and Access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19320" indent="-304920">
              <a:lnSpc>
                <a:spcPct val="100000"/>
              </a:lnSpc>
              <a:spcBef>
                <a:spcPts val="1250"/>
              </a:spcBef>
              <a:buClr>
                <a:srgbClr val="000000"/>
              </a:buClr>
              <a:buFont typeface="Verdana"/>
              <a:buAutoNum type="arabicPeriod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Products and Decision Oriented Tools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19320" indent="-304920">
              <a:lnSpc>
                <a:spcPct val="100000"/>
              </a:lnSpc>
              <a:spcBef>
                <a:spcPts val="1250"/>
              </a:spcBef>
              <a:buClr>
                <a:srgbClr val="000000"/>
              </a:buClr>
              <a:buFont typeface="Verdana"/>
              <a:buAutoNum type="arabicPeriod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Integration and Procedures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19320" indent="-304920">
              <a:lnSpc>
                <a:spcPct val="100000"/>
              </a:lnSpc>
              <a:spcBef>
                <a:spcPts val="1250"/>
              </a:spcBef>
              <a:buClr>
                <a:srgbClr val="000000"/>
              </a:buClr>
              <a:buFont typeface="Verdana"/>
              <a:buAutoNum type="arabicPeriod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Enhanced Aircraft Capabilities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51433C-E783-4DE6-B7A7-743C6C66B05C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6840" y="376200"/>
            <a:ext cx="8356680" cy="711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333399"/>
                </a:solidFill>
                <a:effectLst/>
                <a:uFillTx/>
                <a:latin typeface="Verdana"/>
              </a:rPr>
              <a:t>Data Collection and Access </a:t>
            </a:r>
            <a:br>
              <a:rPr sz="2800"/>
            </a:br>
            <a:r>
              <a:rPr b="1" lang="en-IN" sz="2800" strike="noStrike" u="none">
                <a:solidFill>
                  <a:srgbClr val="333399"/>
                </a:solidFill>
                <a:effectLst/>
                <a:uFillTx/>
                <a:latin typeface="Verdana"/>
              </a:rPr>
              <a:t>AMDAR Data Access</a:t>
            </a:r>
            <a:endParaRPr b="1" lang="en-IN" sz="2800" strike="noStrike" u="none">
              <a:solidFill>
                <a:srgbClr val="333399"/>
              </a:solidFill>
              <a:effectLst/>
              <a:uFillTx/>
              <a:latin typeface="Verdana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457200" y="1339920"/>
            <a:ext cx="8153280" cy="439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0"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marL="343080" indent="0"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47" name=""/>
          <p:cNvSpPr/>
          <p:nvPr/>
        </p:nvSpPr>
        <p:spPr>
          <a:xfrm>
            <a:off x="231840" y="1276200"/>
            <a:ext cx="8569440" cy="49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457200" indent="-4572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Section 3.2.d:  Aircraft “Performance-Based Service” includes data link capability for: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38080" indent="-380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Verdana"/>
              <a:buAutoNum type="arabicParenR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Accessing and processing in-flight updates to NGATS weather products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38080" indent="-380880">
              <a:lnSpc>
                <a:spcPct val="100000"/>
              </a:lnSpc>
              <a:spcBef>
                <a:spcPts val="499"/>
              </a:spcBef>
              <a:buClr>
                <a:srgbClr val="008000"/>
              </a:buClr>
              <a:buFont typeface="Verdana"/>
              <a:buAutoNum type="arabicParenR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8000"/>
                </a:solidFill>
                <a:effectLst/>
                <a:uFillTx/>
                <a:latin typeface="Verdana"/>
              </a:rPr>
              <a:t>Transmitting and receiving aircraft weather data generated through on-board automation such as the Meteorological Data collection and Reporting System (MDCRS) or Tropospheric Airborne Meteorological Data Reporting (TAMDAR) type systems.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38080" indent="-380880"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19320" indent="-304920">
              <a:lnSpc>
                <a:spcPct val="100000"/>
              </a:lnSpc>
              <a:spcBef>
                <a:spcPts val="451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Note:  UAS platforms are used to gather such in-flight data.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8F3BDB-15DF-4FE7-87A3-E4D10B1F9953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87280"/>
            <a:ext cx="8229600" cy="758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400" strike="noStrike" u="none">
                <a:solidFill>
                  <a:srgbClr val="333399"/>
                </a:solidFill>
                <a:effectLst/>
                <a:uFillTx/>
                <a:latin typeface="Verdana"/>
              </a:rPr>
              <a:t>Summary</a:t>
            </a:r>
            <a:endParaRPr b="1" lang="en-IN" sz="3400" strike="noStrike" u="none">
              <a:solidFill>
                <a:srgbClr val="333399"/>
              </a:solidFill>
              <a:effectLst/>
              <a:uFillTx/>
              <a:latin typeface="Verdana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170000"/>
            <a:ext cx="8229600" cy="501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601"/>
              </a:spcBef>
              <a:buClr>
                <a:srgbClr val="000000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Under NGATS (Section 2.3.2):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3040" indent="-28584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743040" indent="-28584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   “Fully capable aircraft have a standardized set of weather sensors/algorithms to provide weather data to other users directly and via the [NGATS] 4-D Weather.  Weather data from aircraft are valuable inputs to the [NGATS] 4-D Weather for providing advice and warning to nearby aircraft, and for providing input and verification for weather forecast products. …”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4D653D-3357-485B-95BB-4A68F9AAA6C2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>
            <a:off x="2502000" y="2552760"/>
            <a:ext cx="426708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BACK-Up Slides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971FB2-75CC-4349-BBD7-C9F3C7DC30DD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/>
          <p:nvPr/>
        </p:nvSpPr>
        <p:spPr>
          <a:xfrm>
            <a:off x="0" y="5307120"/>
            <a:ext cx="9144000" cy="1739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533520" y="277920"/>
            <a:ext cx="822960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333399"/>
                </a:solidFill>
                <a:effectLst/>
                <a:uFillTx/>
                <a:latin typeface="Verdana"/>
              </a:rPr>
              <a:t>Weather CONOPS:  </a:t>
            </a:r>
            <a:br>
              <a:rPr sz="2800"/>
            </a:br>
            <a:r>
              <a:rPr b="1" lang="en-IN" sz="2800" strike="noStrike" u="none">
                <a:solidFill>
                  <a:srgbClr val="333399"/>
                </a:solidFill>
                <a:effectLst/>
                <a:uFillTx/>
                <a:latin typeface="Verdana"/>
              </a:rPr>
              <a:t>Aviation Weather Information Access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2147760" y="1190520"/>
            <a:ext cx="4645080" cy="347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" descr=""/>
          <p:cNvPicPr/>
          <p:nvPr/>
        </p:nvPicPr>
        <p:blipFill>
          <a:blip r:embed="rId2"/>
          <a:stretch/>
        </p:blipFill>
        <p:spPr>
          <a:xfrm>
            <a:off x="423720" y="1160640"/>
            <a:ext cx="8315640" cy="569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Cloud"/>
          <p:cNvSpPr/>
          <p:nvPr/>
        </p:nvSpPr>
        <p:spPr>
          <a:xfrm>
            <a:off x="1312920" y="1633680"/>
            <a:ext cx="5057640" cy="3450960"/>
          </a:xfrm>
          <a:custGeom>
            <a:avLst/>
            <a:gdLst>
              <a:gd name="textAreaLeft" fmla="*/ 696960 w 5057640"/>
              <a:gd name="textAreaRight" fmla="*/ 4001040 w 5057640"/>
              <a:gd name="textAreaTop" fmla="*/ 520920 h 3450960"/>
              <a:gd name="textAreaBottom" fmla="*/ 2769840 h 3450960"/>
              <a:gd name="GluePoint1X" fmla="*/ 67 w 21597"/>
              <a:gd name="GluePoint1Y" fmla="*/ 10800 h 21597"/>
              <a:gd name="GluePoint2X" fmla="*/ 10800 w 21597"/>
              <a:gd name="GluePoint2Y" fmla="*/ 21577 h 21597"/>
              <a:gd name="GluePoint3X" fmla="*/ 21582 w 21597"/>
              <a:gd name="GluePoint3Y" fmla="*/ 10800 h 21597"/>
              <a:gd name="GluePoint4X" fmla="*/ 10800 w 21597"/>
              <a:gd name="GluePoint4Y" fmla="*/ 1235 h 2159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597" h="21597">
                <a:moveTo>
                  <a:pt x="1950" y="7181"/>
                </a:moveTo>
                <a:arcTo wR="2173" hR="2973" stAng="-5658579" swAng="-9151131"/>
                <a:lnTo>
                  <a:pt x="1063" y="12669"/>
                </a:lnTo>
                <a:arcTo wR="2180" hR="2959" stAng="-7692391" swAng="-8804134"/>
                <a:lnTo>
                  <a:pt x="2898" y="17649"/>
                </a:lnTo>
                <a:arcTo wR="3860" hR="5272" stAng="8517219" swAng="-4542661"/>
                <a:lnTo>
                  <a:pt x="8229" y="19550"/>
                </a:lnTo>
                <a:arcTo wR="3376" hR="4608" stAng="8257449" swAng="-6910353"/>
                <a:lnTo>
                  <a:pt x="14271" y="18350"/>
                </a:lnTo>
                <a:arcTo wR="2893" hR="3934" stAng="6879501" swAng="-6842000"/>
                <a:lnTo>
                  <a:pt x="18689" y="15036"/>
                </a:lnTo>
                <a:arcTo wR="3388" hR="4610" stAng="5040105" swAng="-7816140"/>
                <a:lnTo>
                  <a:pt x="20889" y="7662"/>
                </a:lnTo>
                <a:arcTo wR="2667" hR="3637" stAng="1819082" swAng="-6541615"/>
                <a:lnTo>
                  <a:pt x="19149" y="2713"/>
                </a:lnTo>
                <a:arcTo wR="2429" hR="3298" stAng="-824660" swAng="-7034504"/>
                <a:lnTo>
                  <a:pt x="14910" y="1170"/>
                </a:lnTo>
                <a:arcTo wR="2183" hR="2973" stAng="-2765094" swAng="-5983381"/>
                <a:lnTo>
                  <a:pt x="11229" y="1694"/>
                </a:lnTo>
                <a:arcTo wR="2667" hR="3634" stAng="-3249429" swAng="-5396714"/>
                <a:lnTo>
                  <a:pt x="6995" y="2602"/>
                </a:lnTo>
                <a:arcTo wR="3377" hR="4595" stAng="-4002417" swAng="-7426832"/>
                <a:close/>
              </a:path>
              <a:path fill="none" w="21597" h="21597">
                <a:moveTo>
                  <a:pt x="1075" y="12703"/>
                </a:moveTo>
                <a:arcTo wR="2173" hR="2973" stAng="6790290" swAng="-1585770"/>
              </a:path>
              <a:path fill="none" w="21597" h="21597">
                <a:moveTo>
                  <a:pt x="2909" y="17630"/>
                </a:moveTo>
                <a:arcTo wR="2180" hR="2959" stAng="5103476" swAng="-686848"/>
              </a:path>
              <a:path fill="none" w="21597" h="21597">
                <a:moveTo>
                  <a:pt x="7895" y="18680"/>
                </a:moveTo>
                <a:arcTo wR="3376" hR="4608" stAng="9102315" swAng="-844866"/>
              </a:path>
              <a:path fill="none" w="21597" h="21597">
                <a:moveTo>
                  <a:pt x="14267" y="18325"/>
                </a:moveTo>
                <a:arcTo wR="3376" hR="4608" stAng="1347097" swAng="-959901"/>
              </a:path>
              <a:path fill="none" w="21597" h="21597">
                <a:moveTo>
                  <a:pt x="18695" y="15045"/>
                </a:moveTo>
                <a:arcTo wR="2893" hR="3934" stAng="37501" swAng="-4255042"/>
              </a:path>
              <a:path fill="none" w="21597" h="21597">
                <a:moveTo>
                  <a:pt x="20165" y="8999"/>
                </a:moveTo>
                <a:arcTo wR="2667" hR="3637" stAng="3484172" swAng="-1665090"/>
              </a:path>
              <a:path fill="none" w="21597" h="21597">
                <a:moveTo>
                  <a:pt x="19187" y="3345"/>
                </a:moveTo>
                <a:arcTo wR="2429" hR="3298" stAng="66874" swAng="-891534"/>
              </a:path>
              <a:path fill="none" w="21597" h="21597">
                <a:moveTo>
                  <a:pt x="14906" y="1165"/>
                </a:moveTo>
                <a:arcTo wR="2429" hR="3298" stAng="-7859165" swAng="-1091722"/>
              </a:path>
              <a:path fill="none" w="21597" h="21597">
                <a:moveTo>
                  <a:pt x="11222" y="1646"/>
                </a:moveTo>
                <a:arcTo wR="2183" hR="2973" stAng="-8748475" swAng="-1061181"/>
              </a:path>
              <a:path fill="none" w="21597" h="21597">
                <a:moveTo>
                  <a:pt x="7645" y="3277"/>
                </a:moveTo>
                <a:arcTo wR="3377" hR="4595" stAng="-3263256" swAng="-739161"/>
              </a:path>
              <a:path fill="none" w="21597" h="21597">
                <a:moveTo>
                  <a:pt x="1943" y="7186"/>
                </a:moveTo>
                <a:arcTo wR="3377" hR="4595" stAng="10170751" swAng="-711490"/>
              </a:path>
            </a:pathLst>
          </a:custGeom>
          <a:noFill/>
          <a:ln w="28440">
            <a:solidFill>
              <a:srgbClr val="333399"/>
            </a:solidFill>
            <a:miter/>
          </a:ln>
          <a:effectLst>
            <a:outerShdw dist="107932" dir="2700000" blurRad="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Cloud"/>
          <p:cNvSpPr/>
          <p:nvPr/>
        </p:nvSpPr>
        <p:spPr>
          <a:xfrm>
            <a:off x="5545080" y="1417680"/>
            <a:ext cx="3330720" cy="2232000"/>
          </a:xfrm>
          <a:custGeom>
            <a:avLst/>
            <a:gdLst>
              <a:gd name="textAreaLeft" fmla="*/ 459000 w 3330720"/>
              <a:gd name="textAreaRight" fmla="*/ 2634840 w 3330720"/>
              <a:gd name="textAreaTop" fmla="*/ 336960 h 2232000"/>
              <a:gd name="textAreaBottom" fmla="*/ 1791720 h 2232000"/>
              <a:gd name="GluePoint1X" fmla="*/ 67 w 21597"/>
              <a:gd name="GluePoint1Y" fmla="*/ 10800 h 21597"/>
              <a:gd name="GluePoint2X" fmla="*/ 10800 w 21597"/>
              <a:gd name="GluePoint2Y" fmla="*/ 21577 h 21597"/>
              <a:gd name="GluePoint3X" fmla="*/ 21582 w 21597"/>
              <a:gd name="GluePoint3Y" fmla="*/ 10800 h 21597"/>
              <a:gd name="GluePoint4X" fmla="*/ 10800 w 21597"/>
              <a:gd name="GluePoint4Y" fmla="*/ 1235 h 2159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597" h="21597">
                <a:moveTo>
                  <a:pt x="1950" y="7181"/>
                </a:moveTo>
                <a:arcTo wR="2173" hR="2973" stAng="-5658579" swAng="-9151131"/>
                <a:lnTo>
                  <a:pt x="1063" y="12669"/>
                </a:lnTo>
                <a:arcTo wR="2180" hR="2959" stAng="-7692391" swAng="-8804134"/>
                <a:lnTo>
                  <a:pt x="2898" y="17649"/>
                </a:lnTo>
                <a:arcTo wR="3860" hR="5272" stAng="8517219" swAng="-4542661"/>
                <a:lnTo>
                  <a:pt x="8229" y="19550"/>
                </a:lnTo>
                <a:arcTo wR="3376" hR="4608" stAng="8257449" swAng="-6910353"/>
                <a:lnTo>
                  <a:pt x="14271" y="18350"/>
                </a:lnTo>
                <a:arcTo wR="2893" hR="3934" stAng="6879501" swAng="-6842000"/>
                <a:lnTo>
                  <a:pt x="18689" y="15036"/>
                </a:lnTo>
                <a:arcTo wR="3388" hR="4610" stAng="5040105" swAng="-7816140"/>
                <a:lnTo>
                  <a:pt x="20889" y="7662"/>
                </a:lnTo>
                <a:arcTo wR="2667" hR="3637" stAng="1819082" swAng="-6541615"/>
                <a:lnTo>
                  <a:pt x="19149" y="2713"/>
                </a:lnTo>
                <a:arcTo wR="2429" hR="3298" stAng="-824660" swAng="-7034504"/>
                <a:lnTo>
                  <a:pt x="14910" y="1170"/>
                </a:lnTo>
                <a:arcTo wR="2183" hR="2973" stAng="-2765094" swAng="-5983381"/>
                <a:lnTo>
                  <a:pt x="11229" y="1694"/>
                </a:lnTo>
                <a:arcTo wR="2667" hR="3634" stAng="-3249429" swAng="-5396714"/>
                <a:lnTo>
                  <a:pt x="6995" y="2602"/>
                </a:lnTo>
                <a:arcTo wR="3377" hR="4595" stAng="-4002417" swAng="-7426832"/>
                <a:close/>
              </a:path>
              <a:path fill="none" w="21597" h="21597">
                <a:moveTo>
                  <a:pt x="1075" y="12703"/>
                </a:moveTo>
                <a:arcTo wR="2173" hR="2973" stAng="6790290" swAng="-1585770"/>
              </a:path>
              <a:path fill="none" w="21597" h="21597">
                <a:moveTo>
                  <a:pt x="2909" y="17630"/>
                </a:moveTo>
                <a:arcTo wR="2180" hR="2959" stAng="5103476" swAng="-686848"/>
              </a:path>
              <a:path fill="none" w="21597" h="21597">
                <a:moveTo>
                  <a:pt x="7895" y="18680"/>
                </a:moveTo>
                <a:arcTo wR="3376" hR="4608" stAng="9102315" swAng="-844866"/>
              </a:path>
              <a:path fill="none" w="21597" h="21597">
                <a:moveTo>
                  <a:pt x="14267" y="18325"/>
                </a:moveTo>
                <a:arcTo wR="3376" hR="4608" stAng="1347097" swAng="-959901"/>
              </a:path>
              <a:path fill="none" w="21597" h="21597">
                <a:moveTo>
                  <a:pt x="18695" y="15045"/>
                </a:moveTo>
                <a:arcTo wR="2893" hR="3934" stAng="37501" swAng="-4255042"/>
              </a:path>
              <a:path fill="none" w="21597" h="21597">
                <a:moveTo>
                  <a:pt x="20165" y="8999"/>
                </a:moveTo>
                <a:arcTo wR="2667" hR="3637" stAng="3484172" swAng="-1665090"/>
              </a:path>
              <a:path fill="none" w="21597" h="21597">
                <a:moveTo>
                  <a:pt x="19187" y="3345"/>
                </a:moveTo>
                <a:arcTo wR="2429" hR="3298" stAng="66874" swAng="-891534"/>
              </a:path>
              <a:path fill="none" w="21597" h="21597">
                <a:moveTo>
                  <a:pt x="14906" y="1165"/>
                </a:moveTo>
                <a:arcTo wR="2429" hR="3298" stAng="-7859165" swAng="-1091722"/>
              </a:path>
              <a:path fill="none" w="21597" h="21597">
                <a:moveTo>
                  <a:pt x="11222" y="1646"/>
                </a:moveTo>
                <a:arcTo wR="2183" hR="2973" stAng="-8748475" swAng="-1061181"/>
              </a:path>
              <a:path fill="none" w="21597" h="21597">
                <a:moveTo>
                  <a:pt x="7645" y="3277"/>
                </a:moveTo>
                <a:arcTo wR="3377" hR="4595" stAng="-3263256" swAng="-739161"/>
              </a:path>
              <a:path fill="none" w="21597" h="21597">
                <a:moveTo>
                  <a:pt x="1943" y="7186"/>
                </a:moveTo>
                <a:arcTo wR="3377" hR="4595" stAng="10170751" swAng="-711490"/>
              </a:path>
            </a:pathLst>
          </a:custGeom>
          <a:noFill/>
          <a:ln w="28440">
            <a:solidFill>
              <a:srgbClr val="008000"/>
            </a:solidFill>
            <a:miter/>
          </a:ln>
          <a:effectLst>
            <a:outerShdw dist="107932" dir="2700000" blurRad="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Cloud"/>
          <p:cNvSpPr/>
          <p:nvPr/>
        </p:nvSpPr>
        <p:spPr>
          <a:xfrm>
            <a:off x="2567160" y="4778280"/>
            <a:ext cx="3216240" cy="2156040"/>
          </a:xfrm>
          <a:custGeom>
            <a:avLst/>
            <a:gdLst>
              <a:gd name="textAreaLeft" fmla="*/ 443160 w 3216240"/>
              <a:gd name="textAreaRight" fmla="*/ 2544480 w 3216240"/>
              <a:gd name="textAreaTop" fmla="*/ 325440 h 2156040"/>
              <a:gd name="textAreaBottom" fmla="*/ 1730520 h 2156040"/>
              <a:gd name="GluePoint1X" fmla="*/ 67 w 21597"/>
              <a:gd name="GluePoint1Y" fmla="*/ 10800 h 21597"/>
              <a:gd name="GluePoint2X" fmla="*/ 10800 w 21597"/>
              <a:gd name="GluePoint2Y" fmla="*/ 21577 h 21597"/>
              <a:gd name="GluePoint3X" fmla="*/ 21582 w 21597"/>
              <a:gd name="GluePoint3Y" fmla="*/ 10800 h 21597"/>
              <a:gd name="GluePoint4X" fmla="*/ 10800 w 21597"/>
              <a:gd name="GluePoint4Y" fmla="*/ 1235 h 2159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597" h="21597">
                <a:moveTo>
                  <a:pt x="1950" y="7181"/>
                </a:moveTo>
                <a:arcTo wR="2173" hR="2973" stAng="-5658579" swAng="-9151131"/>
                <a:lnTo>
                  <a:pt x="1063" y="12669"/>
                </a:lnTo>
                <a:arcTo wR="2180" hR="2959" stAng="-7692391" swAng="-8804134"/>
                <a:lnTo>
                  <a:pt x="2898" y="17649"/>
                </a:lnTo>
                <a:arcTo wR="3860" hR="5272" stAng="8517219" swAng="-4542661"/>
                <a:lnTo>
                  <a:pt x="8229" y="19550"/>
                </a:lnTo>
                <a:arcTo wR="3376" hR="4608" stAng="8257449" swAng="-6910353"/>
                <a:lnTo>
                  <a:pt x="14271" y="18350"/>
                </a:lnTo>
                <a:arcTo wR="2893" hR="3934" stAng="6879501" swAng="-6842000"/>
                <a:lnTo>
                  <a:pt x="18689" y="15036"/>
                </a:lnTo>
                <a:arcTo wR="3388" hR="4610" stAng="5040105" swAng="-7816140"/>
                <a:lnTo>
                  <a:pt x="20889" y="7662"/>
                </a:lnTo>
                <a:arcTo wR="2667" hR="3637" stAng="1819082" swAng="-6541615"/>
                <a:lnTo>
                  <a:pt x="19149" y="2713"/>
                </a:lnTo>
                <a:arcTo wR="2429" hR="3298" stAng="-824660" swAng="-7034504"/>
                <a:lnTo>
                  <a:pt x="14910" y="1170"/>
                </a:lnTo>
                <a:arcTo wR="2183" hR="2973" stAng="-2765094" swAng="-5983381"/>
                <a:lnTo>
                  <a:pt x="11229" y="1694"/>
                </a:lnTo>
                <a:arcTo wR="2667" hR="3634" stAng="-3249429" swAng="-5396714"/>
                <a:lnTo>
                  <a:pt x="6995" y="2602"/>
                </a:lnTo>
                <a:arcTo wR="3377" hR="4595" stAng="-4002417" swAng="-7426832"/>
                <a:close/>
              </a:path>
              <a:path fill="none" w="21597" h="21597">
                <a:moveTo>
                  <a:pt x="1075" y="12703"/>
                </a:moveTo>
                <a:arcTo wR="2173" hR="2973" stAng="6790290" swAng="-1585770"/>
              </a:path>
              <a:path fill="none" w="21597" h="21597">
                <a:moveTo>
                  <a:pt x="2909" y="17630"/>
                </a:moveTo>
                <a:arcTo wR="2180" hR="2959" stAng="5103476" swAng="-686848"/>
              </a:path>
              <a:path fill="none" w="21597" h="21597">
                <a:moveTo>
                  <a:pt x="7895" y="18680"/>
                </a:moveTo>
                <a:arcTo wR="3376" hR="4608" stAng="9102315" swAng="-844866"/>
              </a:path>
              <a:path fill="none" w="21597" h="21597">
                <a:moveTo>
                  <a:pt x="14267" y="18325"/>
                </a:moveTo>
                <a:arcTo wR="3376" hR="4608" stAng="1347097" swAng="-959901"/>
              </a:path>
              <a:path fill="none" w="21597" h="21597">
                <a:moveTo>
                  <a:pt x="18695" y="15045"/>
                </a:moveTo>
                <a:arcTo wR="2893" hR="3934" stAng="37501" swAng="-4255042"/>
              </a:path>
              <a:path fill="none" w="21597" h="21597">
                <a:moveTo>
                  <a:pt x="20165" y="8999"/>
                </a:moveTo>
                <a:arcTo wR="2667" hR="3637" stAng="3484172" swAng="-1665090"/>
              </a:path>
              <a:path fill="none" w="21597" h="21597">
                <a:moveTo>
                  <a:pt x="19187" y="3345"/>
                </a:moveTo>
                <a:arcTo wR="2429" hR="3298" stAng="66874" swAng="-891534"/>
              </a:path>
              <a:path fill="none" w="21597" h="21597">
                <a:moveTo>
                  <a:pt x="14906" y="1165"/>
                </a:moveTo>
                <a:arcTo wR="2429" hR="3298" stAng="-7859165" swAng="-1091722"/>
              </a:path>
              <a:path fill="none" w="21597" h="21597">
                <a:moveTo>
                  <a:pt x="11222" y="1646"/>
                </a:moveTo>
                <a:arcTo wR="2183" hR="2973" stAng="-8748475" swAng="-1061181"/>
              </a:path>
              <a:path fill="none" w="21597" h="21597">
                <a:moveTo>
                  <a:pt x="7645" y="3277"/>
                </a:moveTo>
                <a:arcTo wR="3377" hR="4595" stAng="-3263256" swAng="-739161"/>
              </a:path>
              <a:path fill="none" w="21597" h="21597">
                <a:moveTo>
                  <a:pt x="1943" y="7186"/>
                </a:moveTo>
                <a:arcTo wR="3377" hR="4595" stAng="10170751" swAng="-711490"/>
              </a:path>
            </a:pathLst>
          </a:custGeom>
          <a:noFill/>
          <a:ln w="28440">
            <a:solidFill>
              <a:srgbClr val="008000"/>
            </a:solidFill>
            <a:miter/>
          </a:ln>
          <a:effectLst>
            <a:outerShdw dist="107932" dir="2700000" blurRad="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635040" y="5029200"/>
            <a:ext cx="1816200" cy="73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Constantly Updated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Includes Probability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Forecasts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 flipV="1">
            <a:off x="2387520" y="4266720"/>
            <a:ext cx="1295640" cy="800280"/>
          </a:xfrm>
          <a:prstGeom prst="line">
            <a:avLst/>
          </a:prstGeom>
          <a:ln w="2844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062830-468C-4887-B851-0DC81DBF5D5F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/>
          <p:nvPr/>
        </p:nvSpPr>
        <p:spPr>
          <a:xfrm>
            <a:off x="533520" y="277920"/>
            <a:ext cx="822960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333399"/>
                </a:solidFill>
                <a:effectLst/>
                <a:uFillTx/>
                <a:latin typeface="Verdana"/>
              </a:rPr>
              <a:t>Weather CONOPS:  Air Traffic Support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0" y="5118120"/>
            <a:ext cx="9144000" cy="1739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2"/>
          <a:stretch/>
        </p:blipFill>
        <p:spPr>
          <a:xfrm>
            <a:off x="225360" y="1446120"/>
            <a:ext cx="8667720" cy="500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Cloud"/>
          <p:cNvSpPr/>
          <p:nvPr/>
        </p:nvSpPr>
        <p:spPr>
          <a:xfrm>
            <a:off x="1359000" y="3386160"/>
            <a:ext cx="2933640" cy="2079720"/>
          </a:xfrm>
          <a:custGeom>
            <a:avLst/>
            <a:gdLst>
              <a:gd name="textAreaLeft" fmla="*/ 404280 w 2933640"/>
              <a:gd name="textAreaRight" fmla="*/ 2320920 w 2933640"/>
              <a:gd name="textAreaTop" fmla="*/ 313920 h 2079720"/>
              <a:gd name="textAreaBottom" fmla="*/ 1669320 h 2079720"/>
              <a:gd name="GluePoint1X" fmla="*/ 67 w 21597"/>
              <a:gd name="GluePoint1Y" fmla="*/ 10800 h 21597"/>
              <a:gd name="GluePoint2X" fmla="*/ 10800 w 21597"/>
              <a:gd name="GluePoint2Y" fmla="*/ 21577 h 21597"/>
              <a:gd name="GluePoint3X" fmla="*/ 21582 w 21597"/>
              <a:gd name="GluePoint3Y" fmla="*/ 10800 h 21597"/>
              <a:gd name="GluePoint4X" fmla="*/ 10800 w 21597"/>
              <a:gd name="GluePoint4Y" fmla="*/ 1235 h 2159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597" h="21597">
                <a:moveTo>
                  <a:pt x="1950" y="7181"/>
                </a:moveTo>
                <a:arcTo wR="2173" hR="2973" stAng="-5658579" swAng="-9151131"/>
                <a:lnTo>
                  <a:pt x="1063" y="12669"/>
                </a:lnTo>
                <a:arcTo wR="2180" hR="2959" stAng="-7692391" swAng="-8804134"/>
                <a:lnTo>
                  <a:pt x="2898" y="17649"/>
                </a:lnTo>
                <a:arcTo wR="3860" hR="5272" stAng="8517219" swAng="-4542661"/>
                <a:lnTo>
                  <a:pt x="8229" y="19550"/>
                </a:lnTo>
                <a:arcTo wR="3376" hR="4608" stAng="8257449" swAng="-6910353"/>
                <a:lnTo>
                  <a:pt x="14271" y="18350"/>
                </a:lnTo>
                <a:arcTo wR="2893" hR="3934" stAng="6879501" swAng="-6842000"/>
                <a:lnTo>
                  <a:pt x="18689" y="15036"/>
                </a:lnTo>
                <a:arcTo wR="3388" hR="4610" stAng="5040105" swAng="-7816140"/>
                <a:lnTo>
                  <a:pt x="20889" y="7662"/>
                </a:lnTo>
                <a:arcTo wR="2667" hR="3637" stAng="1819082" swAng="-6541615"/>
                <a:lnTo>
                  <a:pt x="19149" y="2713"/>
                </a:lnTo>
                <a:arcTo wR="2429" hR="3298" stAng="-824660" swAng="-7034504"/>
                <a:lnTo>
                  <a:pt x="14910" y="1170"/>
                </a:lnTo>
                <a:arcTo wR="2183" hR="2973" stAng="-2765094" swAng="-5983381"/>
                <a:lnTo>
                  <a:pt x="11229" y="1694"/>
                </a:lnTo>
                <a:arcTo wR="2667" hR="3634" stAng="-3249429" swAng="-5396714"/>
                <a:lnTo>
                  <a:pt x="6995" y="2602"/>
                </a:lnTo>
                <a:arcTo wR="3377" hR="4595" stAng="-4002417" swAng="-7426832"/>
                <a:close/>
              </a:path>
              <a:path fill="none" w="21597" h="21597">
                <a:moveTo>
                  <a:pt x="1075" y="12703"/>
                </a:moveTo>
                <a:arcTo wR="2173" hR="2973" stAng="6790290" swAng="-1585770"/>
              </a:path>
              <a:path fill="none" w="21597" h="21597">
                <a:moveTo>
                  <a:pt x="2909" y="17630"/>
                </a:moveTo>
                <a:arcTo wR="2180" hR="2959" stAng="5103476" swAng="-686848"/>
              </a:path>
              <a:path fill="none" w="21597" h="21597">
                <a:moveTo>
                  <a:pt x="7895" y="18680"/>
                </a:moveTo>
                <a:arcTo wR="3376" hR="4608" stAng="9102315" swAng="-844866"/>
              </a:path>
              <a:path fill="none" w="21597" h="21597">
                <a:moveTo>
                  <a:pt x="14267" y="18325"/>
                </a:moveTo>
                <a:arcTo wR="3376" hR="4608" stAng="1347097" swAng="-959901"/>
              </a:path>
              <a:path fill="none" w="21597" h="21597">
                <a:moveTo>
                  <a:pt x="18695" y="15045"/>
                </a:moveTo>
                <a:arcTo wR="2893" hR="3934" stAng="37501" swAng="-4255042"/>
              </a:path>
              <a:path fill="none" w="21597" h="21597">
                <a:moveTo>
                  <a:pt x="20165" y="8999"/>
                </a:moveTo>
                <a:arcTo wR="2667" hR="3637" stAng="3484172" swAng="-1665090"/>
              </a:path>
              <a:path fill="none" w="21597" h="21597">
                <a:moveTo>
                  <a:pt x="19187" y="3345"/>
                </a:moveTo>
                <a:arcTo wR="2429" hR="3298" stAng="66874" swAng="-891534"/>
              </a:path>
              <a:path fill="none" w="21597" h="21597">
                <a:moveTo>
                  <a:pt x="14906" y="1165"/>
                </a:moveTo>
                <a:arcTo wR="2429" hR="3298" stAng="-7859165" swAng="-1091722"/>
              </a:path>
              <a:path fill="none" w="21597" h="21597">
                <a:moveTo>
                  <a:pt x="11222" y="1646"/>
                </a:moveTo>
                <a:arcTo wR="2183" hR="2973" stAng="-8748475" swAng="-1061181"/>
              </a:path>
              <a:path fill="none" w="21597" h="21597">
                <a:moveTo>
                  <a:pt x="7645" y="3277"/>
                </a:moveTo>
                <a:arcTo wR="3377" hR="4595" stAng="-3263256" swAng="-739161"/>
              </a:path>
              <a:path fill="none" w="21597" h="21597">
                <a:moveTo>
                  <a:pt x="1943" y="7186"/>
                </a:moveTo>
                <a:arcTo wR="3377" hR="4595" stAng="10170751" swAng="-711490"/>
              </a:path>
            </a:pathLst>
          </a:custGeom>
          <a:noFill/>
          <a:ln w="38160">
            <a:solidFill>
              <a:srgbClr val="333399"/>
            </a:solidFill>
            <a:miter/>
          </a:ln>
          <a:effectLst>
            <a:outerShdw dist="107932" dir="2700000" blurRad="0" rotWithShape="0">
              <a:srgbClr val="80808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09A26B-76B6-4CA8-B461-5CE7D624FA23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6044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2005-02-14T08:23:35Z</dcterms:created>
  <dc:creator>Conops Team</dc:creator>
  <dc:description/>
  <dc:language>en-IN</dc:language>
  <cp:lastModifiedBy>Sandra Schmidt</cp:lastModifiedBy>
  <dcterms:modified xsi:type="dcterms:W3CDTF">2006-09-06T15:52:39Z</dcterms:modified>
  <cp:revision>167</cp:revision>
  <dc:subject/>
  <dc:title>Weather IPT Concept of Operations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