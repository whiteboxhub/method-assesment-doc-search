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media/image1.png" ContentType="image/png"/>
  <Override PartName="/ppt/media/image2.png" ContentType="image/png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/>
  <p:notesSz cx="6858000" cy="91186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06440" y="2282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000" strike="noStrike" u="none">
                <a:solidFill>
                  <a:srgbClr val="000000"/>
                </a:solidFill>
                <a:effectLst/>
                <a:uFillTx/>
                <a:latin typeface="Comic Sans MS"/>
              </a:rPr>
              <a:t>Click to edit the title text format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6840" y="1885680"/>
            <a:ext cx="8178840" cy="417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cc00"/>
              </a:buClr>
              <a:buFont typeface="Monotype Sorts" charset="2"/>
              <a:buChar char="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omic Sans MS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lvl="1" marL="743040" indent="-285840">
              <a:spcBef>
                <a:spcPts val="799"/>
              </a:spcBef>
              <a:buClr>
                <a:srgbClr val="ffcc00"/>
              </a:buClr>
              <a:buFont typeface="Monotype Sorts" charset="2"/>
              <a:buChar char="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omic Sans MS"/>
              </a:rPr>
              <a:t>Second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lvl="2" marL="1143000" indent="-228600">
              <a:spcBef>
                <a:spcPts val="799"/>
              </a:spcBef>
              <a:buClr>
                <a:srgbClr val="ffcc00"/>
              </a:buClr>
              <a:buFont typeface="Monotype Sorts" charset="2"/>
              <a:buChar char="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omic Sans MS"/>
              </a:rPr>
              <a:t>Third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lvl="3" marL="1600200" indent="-228600">
              <a:spcBef>
                <a:spcPts val="799"/>
              </a:spcBef>
              <a:buClr>
                <a:srgbClr val="ffcc00"/>
              </a:buClr>
              <a:buFont typeface="Comic Sans MS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omic Sans MS"/>
              </a:rPr>
              <a:t>Fourth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lvl="4" marL="2057400" indent="-228600">
              <a:spcBef>
                <a:spcPts val="799"/>
              </a:spcBef>
              <a:buClr>
                <a:srgbClr val="ffcc00"/>
              </a:buClr>
              <a:buFont typeface="Comic Sans MS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omic Sans MS"/>
              </a:rPr>
              <a:t>Fifth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Comic Sans MS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omic Sans MS"/>
              </a:rPr>
              <a:t>Sixth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Comic Sans MS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omic Sans MS"/>
              </a:rPr>
              <a:t>Seventh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31640" y="622944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spcBef>
                <a:spcPts val="876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trike="noStrike" u="none">
                <a:solidFill>
                  <a:srgbClr val="5e574e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spcBef>
                <a:spcPts val="876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5e574e"/>
                </a:solidFill>
                <a:effectLst/>
                <a:uFillTx/>
                <a:latin typeface="Arial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2944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lnSpc>
                <a:spcPct val="100000"/>
              </a:lnSpc>
              <a:spcBef>
                <a:spcPts val="876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trike="noStrike" u="none">
                <a:solidFill>
                  <a:srgbClr val="5e574e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876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5e574e"/>
                </a:solidFill>
                <a:effectLst/>
                <a:uFillTx/>
                <a:latin typeface="Arial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730920" y="622944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spcBef>
                <a:spcPts val="876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trike="noStrike" u="none">
                <a:solidFill>
                  <a:srgbClr val="5e574e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876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974DF4E-60F0-48C3-B718-9560A824B6F5}" type="slidenum">
              <a:rPr b="0" lang="en-IN" sz="1400" strike="noStrike" u="none">
                <a:solidFill>
                  <a:srgbClr val="5e574e"/>
                </a:solidFill>
                <a:effectLst/>
                <a:uFillTx/>
                <a:latin typeface="Arial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" name="paint" descr=""/>
          <p:cNvPicPr/>
          <p:nvPr/>
        </p:nvPicPr>
        <p:blipFill>
          <a:blip r:embed="rId2"/>
          <a:stretch/>
        </p:blipFill>
        <p:spPr>
          <a:xfrm>
            <a:off x="914400" y="1314360"/>
            <a:ext cx="8229600" cy="3841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06440" y="2282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000" strike="noStrike" u="none">
                <a:solidFill>
                  <a:srgbClr val="000000"/>
                </a:solidFill>
                <a:effectLst/>
                <a:uFillTx/>
                <a:latin typeface="Comic Sans MS"/>
              </a:rPr>
              <a:t>Click to edit the title text format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6840" y="1885680"/>
            <a:ext cx="8178840" cy="417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cc00"/>
              </a:buClr>
              <a:buFont typeface="Monotype Sorts" charset="2"/>
              <a:buChar char="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omic Sans MS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lvl="1" marL="743040" indent="-285840">
              <a:spcBef>
                <a:spcPts val="799"/>
              </a:spcBef>
              <a:buClr>
                <a:srgbClr val="ffcc00"/>
              </a:buClr>
              <a:buFont typeface="Monotype Sorts" charset="2"/>
              <a:buChar char="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omic Sans MS"/>
              </a:rPr>
              <a:t>Second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lvl="2" marL="1143000" indent="-228600">
              <a:spcBef>
                <a:spcPts val="799"/>
              </a:spcBef>
              <a:buClr>
                <a:srgbClr val="ffcc00"/>
              </a:buClr>
              <a:buFont typeface="Monotype Sorts" charset="2"/>
              <a:buChar char="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omic Sans MS"/>
              </a:rPr>
              <a:t>Third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lvl="3" marL="1600200" indent="-228600">
              <a:spcBef>
                <a:spcPts val="799"/>
              </a:spcBef>
              <a:buClr>
                <a:srgbClr val="ffcc00"/>
              </a:buClr>
              <a:buFont typeface="Comic Sans MS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omic Sans MS"/>
              </a:rPr>
              <a:t>Fourth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lvl="4" marL="2057400" indent="-228600">
              <a:spcBef>
                <a:spcPts val="799"/>
              </a:spcBef>
              <a:buClr>
                <a:srgbClr val="ffcc00"/>
              </a:buClr>
              <a:buFont typeface="Comic Sans MS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omic Sans MS"/>
              </a:rPr>
              <a:t>Fifth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Comic Sans MS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omic Sans MS"/>
              </a:rPr>
              <a:t>Sixth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Comic Sans MS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omic Sans MS"/>
              </a:rPr>
              <a:t>Seventh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31640" y="622944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spcBef>
                <a:spcPts val="876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trike="noStrike" u="none">
                <a:solidFill>
                  <a:srgbClr val="5e574e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spcBef>
                <a:spcPts val="876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5e574e"/>
                </a:solidFill>
                <a:effectLst/>
                <a:uFillTx/>
                <a:latin typeface="Arial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22944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lnSpc>
                <a:spcPct val="100000"/>
              </a:lnSpc>
              <a:spcBef>
                <a:spcPts val="876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trike="noStrike" u="none">
                <a:solidFill>
                  <a:srgbClr val="5e574e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876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5e574e"/>
                </a:solidFill>
                <a:effectLst/>
                <a:uFillTx/>
                <a:latin typeface="Arial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730920" y="622944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spcBef>
                <a:spcPts val="876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trike="noStrike" u="none">
                <a:solidFill>
                  <a:srgbClr val="5e574e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876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F21B80D-B3C8-4B81-BB3F-9864E043F20D}" type="slidenum">
              <a:rPr b="0" lang="en-IN" sz="1400" strike="noStrike" u="none">
                <a:solidFill>
                  <a:srgbClr val="5e574e"/>
                </a:solidFill>
                <a:effectLst/>
                <a:uFillTx/>
                <a:latin typeface="Arial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" name="paint" descr=""/>
          <p:cNvPicPr/>
          <p:nvPr/>
        </p:nvPicPr>
        <p:blipFill>
          <a:blip r:embed="rId2"/>
          <a:stretch/>
        </p:blipFill>
        <p:spPr>
          <a:xfrm>
            <a:off x="914400" y="1314360"/>
            <a:ext cx="8229600" cy="3841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06440" y="2282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000" strike="noStrike" u="none">
                <a:solidFill>
                  <a:srgbClr val="000000"/>
                </a:solidFill>
                <a:effectLst/>
                <a:uFillTx/>
                <a:latin typeface="Comic Sans MS"/>
              </a:rPr>
              <a:t>Click to edit the title text format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6840" y="1885680"/>
            <a:ext cx="8178840" cy="417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cc00"/>
              </a:buClr>
              <a:buFont typeface="Monotype Sorts" charset="2"/>
              <a:buChar char="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omic Sans MS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lvl="1" marL="743040" indent="-285840">
              <a:spcBef>
                <a:spcPts val="799"/>
              </a:spcBef>
              <a:buClr>
                <a:srgbClr val="ffcc00"/>
              </a:buClr>
              <a:buFont typeface="Monotype Sorts" charset="2"/>
              <a:buChar char="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omic Sans MS"/>
              </a:rPr>
              <a:t>Second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lvl="2" marL="1143000" indent="-228600">
              <a:spcBef>
                <a:spcPts val="799"/>
              </a:spcBef>
              <a:buClr>
                <a:srgbClr val="ffcc00"/>
              </a:buClr>
              <a:buFont typeface="Monotype Sorts" charset="2"/>
              <a:buChar char="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omic Sans MS"/>
              </a:rPr>
              <a:t>Third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lvl="3" marL="1600200" indent="-228600">
              <a:spcBef>
                <a:spcPts val="799"/>
              </a:spcBef>
              <a:buClr>
                <a:srgbClr val="ffcc00"/>
              </a:buClr>
              <a:buFont typeface="Comic Sans MS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omic Sans MS"/>
              </a:rPr>
              <a:t>Fourth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lvl="4" marL="2057400" indent="-228600">
              <a:spcBef>
                <a:spcPts val="799"/>
              </a:spcBef>
              <a:buClr>
                <a:srgbClr val="ffcc00"/>
              </a:buClr>
              <a:buFont typeface="Comic Sans MS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omic Sans MS"/>
              </a:rPr>
              <a:t>Fifth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Comic Sans MS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omic Sans MS"/>
              </a:rPr>
              <a:t>Sixth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Comic Sans MS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Comic Sans MS"/>
              </a:rPr>
              <a:t>Seventh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31640" y="622944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spcBef>
                <a:spcPts val="876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trike="noStrike" u="none">
                <a:solidFill>
                  <a:srgbClr val="5e574e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spcBef>
                <a:spcPts val="876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5e574e"/>
                </a:solidFill>
                <a:effectLst/>
                <a:uFillTx/>
                <a:latin typeface="Arial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22944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lnSpc>
                <a:spcPct val="100000"/>
              </a:lnSpc>
              <a:spcBef>
                <a:spcPts val="876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trike="noStrike" u="none">
                <a:solidFill>
                  <a:srgbClr val="5e574e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876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5e574e"/>
                </a:solidFill>
                <a:effectLst/>
                <a:uFillTx/>
                <a:latin typeface="Arial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730920" y="622944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spcBef>
                <a:spcPts val="876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trike="noStrike" u="none">
                <a:solidFill>
                  <a:srgbClr val="5e574e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876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F3A1403-F848-4785-B175-6F7C16382630}" type="slidenum">
              <a:rPr b="0" lang="en-IN" sz="1400" strike="noStrike" u="none">
                <a:solidFill>
                  <a:srgbClr val="5e574e"/>
                </a:solidFill>
                <a:effectLst/>
                <a:uFillTx/>
                <a:latin typeface="Arial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7" name="paint" descr=""/>
          <p:cNvPicPr/>
          <p:nvPr/>
        </p:nvPicPr>
        <p:blipFill>
          <a:blip r:embed="rId2"/>
          <a:stretch/>
        </p:blipFill>
        <p:spPr>
          <a:xfrm>
            <a:off x="914400" y="1314360"/>
            <a:ext cx="8229600" cy="3841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" descr=""/>
          <p:cNvPicPr/>
          <p:nvPr/>
        </p:nvPicPr>
        <p:blipFill>
          <a:blip r:embed="rId1"/>
          <a:stretch/>
        </p:blipFill>
        <p:spPr>
          <a:xfrm>
            <a:off x="1295280" y="1876320"/>
            <a:ext cx="6986880" cy="4219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"/>
          <p:cNvSpPr/>
          <p:nvPr/>
        </p:nvSpPr>
        <p:spPr>
          <a:xfrm>
            <a:off x="457200" y="304920"/>
            <a:ext cx="8229600" cy="91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5400" strike="noStrike" u="none">
                <a:solidFill>
                  <a:srgbClr val="ff0000"/>
                </a:solidFill>
                <a:effectLst/>
                <a:uFillTx/>
                <a:latin typeface="Times New Roman"/>
              </a:rPr>
              <a:t>Rebuild Massachusetts</a:t>
            </a:r>
            <a:endParaRPr b="0" lang="en-IN" sz="5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447920" y="457200"/>
            <a:ext cx="624816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800" strike="noStrike" u="none">
                <a:solidFill>
                  <a:srgbClr val="009900"/>
                </a:solidFill>
                <a:effectLst/>
                <a:uFillTx/>
                <a:latin typeface="Comic Sans MS"/>
              </a:rPr>
              <a:t>Program Support</a:t>
            </a:r>
            <a:endParaRPr b="0" lang="en-IN" sz="48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685440" y="1676160"/>
            <a:ext cx="8077320" cy="434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110000"/>
              </a:lnSpc>
              <a:spcBef>
                <a:spcPts val="799"/>
              </a:spcBef>
              <a:buClr>
                <a:srgbClr val="ffcc00"/>
              </a:buClr>
              <a:buFont typeface="Monotype Sorts" charset="2"/>
              <a:buChar char="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99"/>
                </a:solidFill>
                <a:effectLst/>
                <a:uFillTx/>
                <a:latin typeface="Comic Sans MS"/>
              </a:rPr>
              <a:t>Massachusetts Division of Energy Resources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>
              <a:lnSpc>
                <a:spcPct val="120000"/>
              </a:lnSpc>
              <a:spcBef>
                <a:spcPts val="799"/>
              </a:spcBef>
              <a:buClr>
                <a:srgbClr val="ffcc00"/>
              </a:buClr>
              <a:buFont typeface="Monotype Sorts" charset="2"/>
              <a:buChar char="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99"/>
                </a:solidFill>
                <a:effectLst/>
                <a:uFillTx/>
                <a:latin typeface="Comic Sans MS"/>
              </a:rPr>
              <a:t>Northeast Energy Efficiency Council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>
              <a:lnSpc>
                <a:spcPct val="130000"/>
              </a:lnSpc>
              <a:spcBef>
                <a:spcPts val="799"/>
              </a:spcBef>
              <a:buClr>
                <a:srgbClr val="ffcc00"/>
              </a:buClr>
              <a:buFont typeface="Monotype Sorts" charset="2"/>
              <a:buChar char="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99"/>
                </a:solidFill>
                <a:effectLst/>
                <a:uFillTx/>
                <a:latin typeface="Comic Sans MS"/>
              </a:rPr>
              <a:t>Investor-owned Utilities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>
              <a:lnSpc>
                <a:spcPct val="130000"/>
              </a:lnSpc>
              <a:spcBef>
                <a:spcPts val="799"/>
              </a:spcBef>
              <a:buClr>
                <a:srgbClr val="ffcc00"/>
              </a:buClr>
              <a:buFont typeface="Monotype Sorts" charset="2"/>
              <a:buChar char="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99"/>
                </a:solidFill>
                <a:effectLst/>
                <a:uFillTx/>
                <a:latin typeface="Comic Sans MS"/>
              </a:rPr>
              <a:t>Massachusetts Department of Housing and Community Development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22" name=""/>
          <p:cNvGrpSpPr/>
          <p:nvPr/>
        </p:nvGrpSpPr>
        <p:grpSpPr>
          <a:xfrm>
            <a:off x="152280" y="380880"/>
            <a:ext cx="1447920" cy="762120"/>
            <a:chOff x="152280" y="380880"/>
            <a:chExt cx="1447920" cy="762120"/>
          </a:xfrm>
        </p:grpSpPr>
        <p:pic>
          <p:nvPicPr>
            <p:cNvPr id="23" name="" descr=""/>
            <p:cNvPicPr/>
            <p:nvPr/>
          </p:nvPicPr>
          <p:blipFill>
            <a:blip r:embed="rId1"/>
            <a:stretch/>
          </p:blipFill>
          <p:spPr>
            <a:xfrm>
              <a:off x="252360" y="380880"/>
              <a:ext cx="1212840" cy="6271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4" name=""/>
            <p:cNvSpPr/>
            <p:nvPr/>
          </p:nvSpPr>
          <p:spPr>
            <a:xfrm>
              <a:off x="152280" y="954000"/>
              <a:ext cx="1447920" cy="18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000" strike="noStrike" u="none">
                  <a:solidFill>
                    <a:srgbClr val="ff0000"/>
                  </a:solidFill>
                  <a:effectLst/>
                  <a:uFillTx/>
                  <a:latin typeface="Technical"/>
                </a:rPr>
                <a:t>Rebuild Massachusetts</a:t>
              </a:r>
              <a:endParaRPr b="0" lang="en-IN" sz="10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p:transition>
    <p:strips dir="ld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104840" y="228240"/>
            <a:ext cx="693432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5400" strike="noStrike" u="none">
                <a:solidFill>
                  <a:srgbClr val="009900"/>
                </a:solidFill>
                <a:effectLst/>
                <a:uFillTx/>
                <a:latin typeface="Comic Sans MS"/>
              </a:rPr>
              <a:t>Target Sectors</a:t>
            </a:r>
            <a:endParaRPr b="0" lang="en-IN" sz="54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837720" y="1885680"/>
            <a:ext cx="7797960" cy="417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130000"/>
              </a:lnSpc>
              <a:spcBef>
                <a:spcPts val="1100"/>
              </a:spcBef>
              <a:buClr>
                <a:srgbClr val="ffcc00"/>
              </a:buClr>
              <a:buFont typeface="Monotype Sorts" charset="2"/>
              <a:buChar char="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000099"/>
                </a:solidFill>
                <a:effectLst/>
                <a:uFillTx/>
                <a:latin typeface="Comic Sans MS"/>
              </a:rPr>
              <a:t>Affordable Housing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>
              <a:lnSpc>
                <a:spcPct val="130000"/>
              </a:lnSpc>
              <a:spcBef>
                <a:spcPts val="1100"/>
              </a:spcBef>
              <a:buClr>
                <a:srgbClr val="ffcc00"/>
              </a:buClr>
              <a:buFont typeface="Monotype Sorts" charset="2"/>
              <a:buChar char="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000099"/>
                </a:solidFill>
                <a:effectLst/>
                <a:uFillTx/>
                <a:latin typeface="Comic Sans MS"/>
              </a:rPr>
              <a:t>K-12 Schools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>
              <a:lnSpc>
                <a:spcPct val="130000"/>
              </a:lnSpc>
              <a:spcBef>
                <a:spcPts val="1100"/>
              </a:spcBef>
              <a:buClr>
                <a:srgbClr val="ffcc00"/>
              </a:buClr>
              <a:buFont typeface="Monotype Sorts" charset="2"/>
              <a:buChar char="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000099"/>
                </a:solidFill>
                <a:effectLst/>
                <a:uFillTx/>
                <a:latin typeface="Comic Sans MS"/>
              </a:rPr>
              <a:t>Economic Development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27" name=""/>
          <p:cNvGrpSpPr/>
          <p:nvPr/>
        </p:nvGrpSpPr>
        <p:grpSpPr>
          <a:xfrm>
            <a:off x="152280" y="380880"/>
            <a:ext cx="1447920" cy="762120"/>
            <a:chOff x="152280" y="380880"/>
            <a:chExt cx="1447920" cy="762120"/>
          </a:xfrm>
        </p:grpSpPr>
        <p:pic>
          <p:nvPicPr>
            <p:cNvPr id="28" name="" descr=""/>
            <p:cNvPicPr/>
            <p:nvPr/>
          </p:nvPicPr>
          <p:blipFill>
            <a:blip r:embed="rId1"/>
            <a:stretch/>
          </p:blipFill>
          <p:spPr>
            <a:xfrm>
              <a:off x="252360" y="380880"/>
              <a:ext cx="1212840" cy="6271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9" name=""/>
            <p:cNvSpPr/>
            <p:nvPr/>
          </p:nvSpPr>
          <p:spPr>
            <a:xfrm>
              <a:off x="152280" y="954000"/>
              <a:ext cx="1447920" cy="18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000" strike="noStrike" u="none">
                  <a:solidFill>
                    <a:srgbClr val="ff0000"/>
                  </a:solidFill>
                  <a:effectLst/>
                  <a:uFillTx/>
                  <a:latin typeface="Technical"/>
                </a:rPr>
                <a:t>Rebuild Massachusetts</a:t>
              </a:r>
              <a:endParaRPr b="0" lang="en-IN" sz="10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p:transition>
    <p:cover dir="d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333440" y="457200"/>
            <a:ext cx="647712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800" strike="noStrike" u="none">
                <a:solidFill>
                  <a:srgbClr val="009900"/>
                </a:solidFill>
                <a:effectLst/>
                <a:uFillTx/>
                <a:latin typeface="Comic Sans MS"/>
              </a:rPr>
              <a:t>Focus </a:t>
            </a:r>
            <a:endParaRPr b="0" lang="en-IN" sz="48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685440" y="1676160"/>
            <a:ext cx="8077320" cy="434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110000"/>
              </a:lnSpc>
              <a:spcBef>
                <a:spcPts val="1001"/>
              </a:spcBef>
              <a:buClr>
                <a:srgbClr val="ffcc00"/>
              </a:buClr>
              <a:buFont typeface="Monotype Sorts" charset="2"/>
              <a:buChar char="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000" strike="noStrike" u="none">
                <a:solidFill>
                  <a:srgbClr val="000099"/>
                </a:solidFill>
                <a:effectLst/>
                <a:uFillTx/>
                <a:latin typeface="Comic Sans MS"/>
              </a:rPr>
              <a:t>Energy Conservation is a means to: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lvl="1" marL="743040" indent="-285840">
              <a:lnSpc>
                <a:spcPct val="110000"/>
              </a:lnSpc>
              <a:spcBef>
                <a:spcPts val="901"/>
              </a:spcBef>
              <a:buClr>
                <a:srgbClr val="ffcc00"/>
              </a:buClr>
              <a:buFont typeface="Monotype Sorts" charset="2"/>
              <a:buChar char="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600" strike="noStrike" u="none">
                <a:solidFill>
                  <a:srgbClr val="000099"/>
                </a:solidFill>
                <a:effectLst/>
                <a:uFillTx/>
                <a:latin typeface="Comic Sans MS"/>
              </a:rPr>
              <a:t>Save money to reinvest in other areas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lvl="1" marL="743040" indent="-285840">
              <a:lnSpc>
                <a:spcPct val="110000"/>
              </a:lnSpc>
              <a:spcBef>
                <a:spcPts val="901"/>
              </a:spcBef>
              <a:buClr>
                <a:srgbClr val="ffcc00"/>
              </a:buClr>
              <a:buFont typeface="Monotype Sorts" charset="2"/>
              <a:buChar char="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600" strike="noStrike" u="none">
                <a:solidFill>
                  <a:srgbClr val="000099"/>
                </a:solidFill>
                <a:effectLst/>
                <a:uFillTx/>
                <a:latin typeface="Comic Sans MS"/>
              </a:rPr>
              <a:t>Conserve natural resources for a cleaner environment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32" name=""/>
          <p:cNvGrpSpPr/>
          <p:nvPr/>
        </p:nvGrpSpPr>
        <p:grpSpPr>
          <a:xfrm>
            <a:off x="152280" y="380880"/>
            <a:ext cx="1447920" cy="762120"/>
            <a:chOff x="152280" y="380880"/>
            <a:chExt cx="1447920" cy="762120"/>
          </a:xfrm>
        </p:grpSpPr>
        <p:pic>
          <p:nvPicPr>
            <p:cNvPr id="33" name="" descr=""/>
            <p:cNvPicPr/>
            <p:nvPr/>
          </p:nvPicPr>
          <p:blipFill>
            <a:blip r:embed="rId1"/>
            <a:stretch/>
          </p:blipFill>
          <p:spPr>
            <a:xfrm>
              <a:off x="252360" y="380880"/>
              <a:ext cx="1212840" cy="6271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4" name=""/>
            <p:cNvSpPr/>
            <p:nvPr/>
          </p:nvSpPr>
          <p:spPr>
            <a:xfrm>
              <a:off x="152280" y="954000"/>
              <a:ext cx="1447920" cy="18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000" strike="noStrike" u="none">
                  <a:solidFill>
                    <a:srgbClr val="ff0000"/>
                  </a:solidFill>
                  <a:effectLst/>
                  <a:uFillTx/>
                  <a:latin typeface="Technical"/>
                </a:rPr>
                <a:t>Rebuild Massachusetts</a:t>
              </a:r>
              <a:endParaRPr b="0" lang="en-IN" sz="10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p:transition>
    <p:fade thruBlk="true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/>
          </p:nvPr>
        </p:nvSpPr>
        <p:spPr>
          <a:xfrm>
            <a:off x="1447560" y="1885680"/>
            <a:ext cx="7188120" cy="417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140000"/>
              </a:lnSpc>
              <a:spcBef>
                <a:spcPts val="1100"/>
              </a:spcBef>
              <a:buClr>
                <a:srgbClr val="ffcc00"/>
              </a:buClr>
              <a:buFont typeface="Monotype Sorts" charset="2"/>
              <a:buChar char="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000099"/>
                </a:solidFill>
                <a:effectLst/>
                <a:uFillTx/>
                <a:latin typeface="Comic Sans MS"/>
              </a:rPr>
              <a:t>Find Local ‘Champion’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>
              <a:lnSpc>
                <a:spcPct val="140000"/>
              </a:lnSpc>
              <a:spcBef>
                <a:spcPts val="1100"/>
              </a:spcBef>
              <a:buClr>
                <a:srgbClr val="ffcc00"/>
              </a:buClr>
              <a:buFont typeface="Monotype Sorts" charset="2"/>
              <a:buChar char="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000099"/>
                </a:solidFill>
                <a:effectLst/>
                <a:uFillTx/>
                <a:latin typeface="Comic Sans MS"/>
              </a:rPr>
              <a:t>Form a Partnership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>
              <a:lnSpc>
                <a:spcPct val="140000"/>
              </a:lnSpc>
              <a:spcBef>
                <a:spcPts val="1100"/>
              </a:spcBef>
              <a:buClr>
                <a:srgbClr val="ffcc00"/>
              </a:buClr>
              <a:buFont typeface="Monotype Sorts" charset="2"/>
              <a:buChar char="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000099"/>
                </a:solidFill>
                <a:effectLst/>
                <a:uFillTx/>
                <a:latin typeface="Comic Sans MS"/>
              </a:rPr>
              <a:t>Provide Support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0">
              <a:lnSpc>
                <a:spcPct val="140000"/>
              </a:lnSpc>
              <a:spcBef>
                <a:spcPts val="11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36" name=""/>
          <p:cNvGrpSpPr/>
          <p:nvPr/>
        </p:nvGrpSpPr>
        <p:grpSpPr>
          <a:xfrm>
            <a:off x="152280" y="380880"/>
            <a:ext cx="1447920" cy="762120"/>
            <a:chOff x="152280" y="380880"/>
            <a:chExt cx="1447920" cy="762120"/>
          </a:xfrm>
        </p:grpSpPr>
        <p:pic>
          <p:nvPicPr>
            <p:cNvPr id="37" name="" descr=""/>
            <p:cNvPicPr/>
            <p:nvPr/>
          </p:nvPicPr>
          <p:blipFill>
            <a:blip r:embed="rId1"/>
            <a:stretch/>
          </p:blipFill>
          <p:spPr>
            <a:xfrm>
              <a:off x="252360" y="380880"/>
              <a:ext cx="1212840" cy="6271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8" name=""/>
            <p:cNvSpPr/>
            <p:nvPr/>
          </p:nvSpPr>
          <p:spPr>
            <a:xfrm>
              <a:off x="152280" y="954000"/>
              <a:ext cx="1447920" cy="18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000" strike="noStrike" u="none">
                  <a:solidFill>
                    <a:srgbClr val="ff0000"/>
                  </a:solidFill>
                  <a:effectLst/>
                  <a:uFillTx/>
                  <a:latin typeface="Technical"/>
                </a:rPr>
                <a:t>Rebuild Massachusetts</a:t>
              </a:r>
              <a:endParaRPr b="0" lang="en-IN" sz="10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39" name=""/>
          <p:cNvSpPr/>
          <p:nvPr/>
        </p:nvSpPr>
        <p:spPr>
          <a:xfrm>
            <a:off x="1676520" y="228600"/>
            <a:ext cx="5790960" cy="11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800" strike="noStrike" u="none">
                <a:solidFill>
                  <a:srgbClr val="009900"/>
                </a:solidFill>
                <a:effectLst/>
                <a:uFillTx/>
                <a:latin typeface="Comic Sans MS"/>
              </a:rPr>
              <a:t>Program Strategy</a:t>
            </a:r>
            <a:endParaRPr b="0" lang="en-IN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>
    <p:split dir="in" orient="horz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"/>
          <p:cNvGrpSpPr/>
          <p:nvPr/>
        </p:nvGrpSpPr>
        <p:grpSpPr>
          <a:xfrm>
            <a:off x="152280" y="380880"/>
            <a:ext cx="1447920" cy="762120"/>
            <a:chOff x="152280" y="380880"/>
            <a:chExt cx="1447920" cy="762120"/>
          </a:xfrm>
        </p:grpSpPr>
        <p:pic>
          <p:nvPicPr>
            <p:cNvPr id="41" name="" descr=""/>
            <p:cNvPicPr/>
            <p:nvPr/>
          </p:nvPicPr>
          <p:blipFill>
            <a:blip r:embed="rId1"/>
            <a:stretch/>
          </p:blipFill>
          <p:spPr>
            <a:xfrm>
              <a:off x="252360" y="380880"/>
              <a:ext cx="1212840" cy="6271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2" name=""/>
            <p:cNvSpPr/>
            <p:nvPr/>
          </p:nvSpPr>
          <p:spPr>
            <a:xfrm>
              <a:off x="152280" y="954000"/>
              <a:ext cx="1447920" cy="18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000" strike="noStrike" u="none">
                  <a:solidFill>
                    <a:srgbClr val="ff0000"/>
                  </a:solidFill>
                  <a:effectLst/>
                  <a:uFillTx/>
                  <a:latin typeface="Technical"/>
                </a:rPr>
                <a:t>Rebuild Massachusetts</a:t>
              </a:r>
              <a:endParaRPr b="0" lang="en-IN" sz="10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43" name=""/>
          <p:cNvSpPr/>
          <p:nvPr/>
        </p:nvSpPr>
        <p:spPr>
          <a:xfrm>
            <a:off x="1523880" y="228600"/>
            <a:ext cx="6248520" cy="11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6000" strike="noStrike" u="none">
                <a:solidFill>
                  <a:srgbClr val="009900"/>
                </a:solidFill>
                <a:effectLst/>
                <a:uFillTx/>
                <a:latin typeface="Comic Sans MS"/>
              </a:rPr>
              <a:t>Partnership</a:t>
            </a:r>
            <a:endParaRPr b="0" lang="en-IN" sz="6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1"/>
          <p:cNvSpPr>
            <a:spLocks noGrp="1"/>
          </p:cNvSpPr>
          <p:nvPr>
            <p:ph/>
          </p:nvPr>
        </p:nvSpPr>
        <p:spPr>
          <a:xfrm>
            <a:off x="457200" y="1981080"/>
            <a:ext cx="4013280" cy="4191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110000"/>
              </a:lnSpc>
              <a:spcBef>
                <a:spcPts val="1100"/>
              </a:spcBef>
              <a:buClr>
                <a:srgbClr val="ffcc00"/>
              </a:buClr>
              <a:buFont typeface="Monotype Sorts" charset="2"/>
              <a:buChar char="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000099"/>
                </a:solidFill>
                <a:effectLst/>
                <a:uFillTx/>
                <a:latin typeface="Comic Sans MS"/>
              </a:rPr>
              <a:t>Goals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>
              <a:lnSpc>
                <a:spcPct val="110000"/>
              </a:lnSpc>
              <a:spcBef>
                <a:spcPts val="1100"/>
              </a:spcBef>
              <a:buClr>
                <a:srgbClr val="ffcc00"/>
              </a:buClr>
              <a:buFont typeface="Monotype Sorts" charset="2"/>
              <a:buChar char="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000099"/>
                </a:solidFill>
                <a:effectLst/>
                <a:uFillTx/>
                <a:latin typeface="Comic Sans MS"/>
              </a:rPr>
              <a:t>Action Plan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>
              <a:lnSpc>
                <a:spcPct val="110000"/>
              </a:lnSpc>
              <a:spcBef>
                <a:spcPts val="1100"/>
              </a:spcBef>
              <a:buClr>
                <a:srgbClr val="ffcc00"/>
              </a:buClr>
              <a:buFont typeface="Monotype Sorts" charset="2"/>
              <a:buChar char="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000099"/>
                </a:solidFill>
                <a:effectLst/>
                <a:uFillTx/>
                <a:latin typeface="Comic Sans MS"/>
              </a:rPr>
              <a:t>Projects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0">
              <a:lnSpc>
                <a:spcPct val="110000"/>
              </a:lnSpc>
              <a:spcBef>
                <a:spcPts val="11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4622760" y="1981080"/>
            <a:ext cx="4013280" cy="4191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110000"/>
              </a:lnSpc>
              <a:spcBef>
                <a:spcPts val="1100"/>
              </a:spcBef>
              <a:buClr>
                <a:srgbClr val="ffcc00"/>
              </a:buClr>
              <a:buFont typeface="Monotype Sorts" charset="2"/>
              <a:buChar char="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000099"/>
                </a:solidFill>
                <a:effectLst/>
                <a:uFillTx/>
                <a:latin typeface="Comic Sans MS"/>
              </a:rPr>
              <a:t>Financing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>
              <a:lnSpc>
                <a:spcPct val="110000"/>
              </a:lnSpc>
              <a:spcBef>
                <a:spcPts val="1100"/>
              </a:spcBef>
              <a:buClr>
                <a:srgbClr val="ffcc00"/>
              </a:buClr>
              <a:buFont typeface="Monotype Sorts" charset="2"/>
              <a:buChar char="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000099"/>
                </a:solidFill>
                <a:effectLst/>
                <a:uFillTx/>
                <a:latin typeface="Comic Sans MS"/>
              </a:rPr>
              <a:t>Commission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>
              <a:lnSpc>
                <a:spcPct val="110000"/>
              </a:lnSpc>
              <a:spcBef>
                <a:spcPts val="1100"/>
              </a:spcBef>
              <a:buClr>
                <a:srgbClr val="ffcc00"/>
              </a:buClr>
              <a:buFont typeface="Monotype Sorts" charset="2"/>
              <a:buChar char="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000099"/>
                </a:solidFill>
                <a:effectLst/>
                <a:uFillTx/>
                <a:latin typeface="Comic Sans MS"/>
              </a:rPr>
              <a:t>Performance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</p:spTree>
  </p:cSld>
  <p:transition>
    <p:zoom dir="in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939960" y="228240"/>
            <a:ext cx="726408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800" strike="noStrike" u="none">
                <a:solidFill>
                  <a:srgbClr val="009900"/>
                </a:solidFill>
                <a:effectLst/>
                <a:uFillTx/>
                <a:latin typeface="Comic Sans MS"/>
              </a:rPr>
              <a:t>Program Assistance</a:t>
            </a:r>
            <a:endParaRPr b="0" lang="en-IN" sz="48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761760" y="1905120"/>
            <a:ext cx="8001000" cy="4038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lnSpcReduction="9999"/>
          </a:bodyPr>
          <a:p>
            <a:pPr marL="343080" indent="-343080">
              <a:lnSpc>
                <a:spcPct val="120000"/>
              </a:lnSpc>
              <a:spcBef>
                <a:spcPts val="1250"/>
              </a:spcBef>
              <a:buClr>
                <a:srgbClr val="ffcc00"/>
              </a:buClr>
              <a:buFont typeface="Monotype Sorts" charset="2"/>
              <a:buChar char="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5000" strike="noStrike" u="none">
                <a:solidFill>
                  <a:srgbClr val="000099"/>
                </a:solidFill>
                <a:effectLst/>
                <a:uFillTx/>
                <a:latin typeface="Comic Sans MS"/>
              </a:rPr>
              <a:t>Tools</a:t>
            </a:r>
            <a:endParaRPr b="0" lang="en-IN" sz="50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>
              <a:lnSpc>
                <a:spcPct val="120000"/>
              </a:lnSpc>
              <a:spcBef>
                <a:spcPts val="1250"/>
              </a:spcBef>
              <a:buClr>
                <a:srgbClr val="ffcc00"/>
              </a:buClr>
              <a:buFont typeface="Monotype Sorts" charset="2"/>
              <a:buChar char="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5000" strike="noStrike" u="none">
                <a:solidFill>
                  <a:srgbClr val="000099"/>
                </a:solidFill>
                <a:effectLst/>
                <a:uFillTx/>
                <a:latin typeface="Comic Sans MS"/>
              </a:rPr>
              <a:t>Technical Resources</a:t>
            </a:r>
            <a:endParaRPr b="0" lang="en-IN" sz="50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>
              <a:lnSpc>
                <a:spcPct val="120000"/>
              </a:lnSpc>
              <a:spcBef>
                <a:spcPts val="1250"/>
              </a:spcBef>
              <a:buClr>
                <a:srgbClr val="ffcc00"/>
              </a:buClr>
              <a:buFont typeface="Monotype Sorts" charset="2"/>
              <a:buChar char="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5000" strike="noStrike" u="none">
                <a:solidFill>
                  <a:srgbClr val="000099"/>
                </a:solidFill>
                <a:effectLst/>
                <a:uFillTx/>
                <a:latin typeface="Comic Sans MS"/>
              </a:rPr>
              <a:t>Develop Success Stories</a:t>
            </a:r>
            <a:endParaRPr b="0" lang="en-IN" sz="50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0">
              <a:lnSpc>
                <a:spcPct val="120000"/>
              </a:lnSpc>
              <a:spcBef>
                <a:spcPts val="125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50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48" name=""/>
          <p:cNvGrpSpPr/>
          <p:nvPr/>
        </p:nvGrpSpPr>
        <p:grpSpPr>
          <a:xfrm>
            <a:off x="152280" y="380880"/>
            <a:ext cx="1447920" cy="762120"/>
            <a:chOff x="152280" y="380880"/>
            <a:chExt cx="1447920" cy="762120"/>
          </a:xfrm>
        </p:grpSpPr>
        <p:pic>
          <p:nvPicPr>
            <p:cNvPr id="49" name="" descr=""/>
            <p:cNvPicPr/>
            <p:nvPr/>
          </p:nvPicPr>
          <p:blipFill>
            <a:blip r:embed="rId1"/>
            <a:stretch/>
          </p:blipFill>
          <p:spPr>
            <a:xfrm>
              <a:off x="252360" y="380880"/>
              <a:ext cx="1212840" cy="6271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0" name=""/>
            <p:cNvSpPr/>
            <p:nvPr/>
          </p:nvSpPr>
          <p:spPr>
            <a:xfrm>
              <a:off x="152280" y="954000"/>
              <a:ext cx="1447920" cy="18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000" strike="noStrike" u="none">
                  <a:solidFill>
                    <a:srgbClr val="ff0000"/>
                  </a:solidFill>
                  <a:effectLst/>
                  <a:uFillTx/>
                  <a:latin typeface="Technical"/>
                </a:rPr>
                <a:t>Rebuild Massachusetts</a:t>
              </a:r>
              <a:endParaRPr b="0" lang="en-IN" sz="10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p:transition spd="med">
    <p:cover dir="r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"/>
          <p:cNvGrpSpPr/>
          <p:nvPr/>
        </p:nvGrpSpPr>
        <p:grpSpPr>
          <a:xfrm>
            <a:off x="1600200" y="2666880"/>
            <a:ext cx="1295280" cy="1143000"/>
            <a:chOff x="1600200" y="2666880"/>
            <a:chExt cx="1295280" cy="1143000"/>
          </a:xfrm>
        </p:grpSpPr>
        <p:sp>
          <p:nvSpPr>
            <p:cNvPr id="52" name=""/>
            <p:cNvSpPr/>
            <p:nvPr/>
          </p:nvSpPr>
          <p:spPr>
            <a:xfrm>
              <a:off x="2514600" y="3124080"/>
              <a:ext cx="380880" cy="228600"/>
            </a:xfrm>
            <a:prstGeom prst="rightArrow">
              <a:avLst>
                <a:gd name="adj1" fmla="val 50000"/>
                <a:gd name="adj2" fmla="val 41654"/>
              </a:avLst>
            </a:prstGeom>
            <a:solidFill>
              <a:srgbClr val="99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grpSp>
          <p:nvGrpSpPr>
            <p:cNvPr id="53" name=""/>
            <p:cNvGrpSpPr/>
            <p:nvPr/>
          </p:nvGrpSpPr>
          <p:grpSpPr>
            <a:xfrm>
              <a:off x="1600200" y="2666880"/>
              <a:ext cx="1143000" cy="1143000"/>
              <a:chOff x="1600200" y="2666880"/>
              <a:chExt cx="1143000" cy="1143000"/>
            </a:xfrm>
          </p:grpSpPr>
          <p:sp>
            <p:nvSpPr>
              <p:cNvPr id="54" name=""/>
              <p:cNvSpPr/>
              <p:nvPr/>
            </p:nvSpPr>
            <p:spPr>
              <a:xfrm>
                <a:off x="1600200" y="2666880"/>
                <a:ext cx="1143000" cy="1143000"/>
              </a:xfrm>
              <a:prstGeom prst="ellipse">
                <a:avLst/>
              </a:prstGeom>
              <a:solidFill>
                <a:srgbClr val="99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5" name=""/>
              <p:cNvSpPr/>
              <p:nvPr/>
            </p:nvSpPr>
            <p:spPr>
              <a:xfrm>
                <a:off x="1689120" y="2779560"/>
                <a:ext cx="1018800" cy="916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IN" sz="18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rPr>
                  <a:t>Set</a:t>
                </a:r>
                <a:endParaRPr b="0" lang="en-IN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IN" sz="18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rPr>
                  <a:t>Realistic</a:t>
                </a:r>
                <a:endParaRPr b="0" lang="en-IN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IN" sz="18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rPr>
                  <a:t>Goal</a:t>
                </a:r>
                <a:endParaRPr b="0" lang="en-IN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</p:grpSp>
      <p:grpSp>
        <p:nvGrpSpPr>
          <p:cNvPr id="56" name=""/>
          <p:cNvGrpSpPr/>
          <p:nvPr/>
        </p:nvGrpSpPr>
        <p:grpSpPr>
          <a:xfrm>
            <a:off x="2438280" y="3886200"/>
            <a:ext cx="2057400" cy="1174680"/>
            <a:chOff x="2438280" y="3886200"/>
            <a:chExt cx="2057400" cy="1174680"/>
          </a:xfrm>
        </p:grpSpPr>
        <p:sp>
          <p:nvSpPr>
            <p:cNvPr id="57" name=""/>
            <p:cNvSpPr/>
            <p:nvPr/>
          </p:nvSpPr>
          <p:spPr>
            <a:xfrm rot="16200000">
              <a:off x="3352680" y="3962160"/>
              <a:ext cx="380880" cy="228600"/>
            </a:xfrm>
            <a:prstGeom prst="rightArrow">
              <a:avLst>
                <a:gd name="adj1" fmla="val 50000"/>
                <a:gd name="adj2" fmla="val 41654"/>
              </a:avLst>
            </a:prstGeom>
            <a:solidFill>
              <a:srgbClr val="99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8" name=""/>
            <p:cNvSpPr/>
            <p:nvPr/>
          </p:nvSpPr>
          <p:spPr>
            <a:xfrm>
              <a:off x="2438280" y="4106880"/>
              <a:ext cx="2057400" cy="954000"/>
            </a:xfrm>
            <a:prstGeom prst="ellipse">
              <a:avLst/>
            </a:prstGeom>
            <a:solidFill>
              <a:srgbClr val="99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9" name=""/>
            <p:cNvSpPr/>
            <p:nvPr/>
          </p:nvSpPr>
          <p:spPr>
            <a:xfrm>
              <a:off x="2440080" y="4227480"/>
              <a:ext cx="2053800" cy="64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Maintain Energy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Accounting System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60" name=""/>
          <p:cNvGrpSpPr/>
          <p:nvPr/>
        </p:nvGrpSpPr>
        <p:grpSpPr>
          <a:xfrm>
            <a:off x="3048120" y="2485800"/>
            <a:ext cx="1447560" cy="1249560"/>
            <a:chOff x="3048120" y="2485800"/>
            <a:chExt cx="1447560" cy="1249560"/>
          </a:xfrm>
        </p:grpSpPr>
        <p:sp>
          <p:nvSpPr>
            <p:cNvPr id="61" name=""/>
            <p:cNvSpPr/>
            <p:nvPr/>
          </p:nvSpPr>
          <p:spPr>
            <a:xfrm rot="18612600">
              <a:off x="3961800" y="2590560"/>
              <a:ext cx="380880" cy="228600"/>
            </a:xfrm>
            <a:prstGeom prst="rightArrow">
              <a:avLst>
                <a:gd name="adj1" fmla="val 50000"/>
                <a:gd name="adj2" fmla="val 41654"/>
              </a:avLst>
            </a:prstGeom>
            <a:solidFill>
              <a:srgbClr val="99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2" name=""/>
            <p:cNvSpPr/>
            <p:nvPr/>
          </p:nvSpPr>
          <p:spPr>
            <a:xfrm>
              <a:off x="3048120" y="2600280"/>
              <a:ext cx="1447560" cy="1135080"/>
            </a:xfrm>
            <a:prstGeom prst="ellipse">
              <a:avLst/>
            </a:prstGeom>
            <a:solidFill>
              <a:srgbClr val="99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3" name=""/>
            <p:cNvSpPr/>
            <p:nvPr/>
          </p:nvSpPr>
          <p:spPr>
            <a:xfrm>
              <a:off x="3224520" y="2706840"/>
              <a:ext cx="1113840" cy="916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Estimate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Potential 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Savings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64" name=""/>
          <p:cNvGrpSpPr/>
          <p:nvPr/>
        </p:nvGrpSpPr>
        <p:grpSpPr>
          <a:xfrm>
            <a:off x="4114800" y="1752480"/>
            <a:ext cx="1523880" cy="947880"/>
            <a:chOff x="4114800" y="1752480"/>
            <a:chExt cx="1523880" cy="947880"/>
          </a:xfrm>
        </p:grpSpPr>
        <p:sp>
          <p:nvSpPr>
            <p:cNvPr id="65" name=""/>
            <p:cNvSpPr/>
            <p:nvPr/>
          </p:nvSpPr>
          <p:spPr>
            <a:xfrm>
              <a:off x="5257800" y="2057400"/>
              <a:ext cx="380880" cy="228600"/>
            </a:xfrm>
            <a:prstGeom prst="rightArrow">
              <a:avLst>
                <a:gd name="adj1" fmla="val 50000"/>
                <a:gd name="adj2" fmla="val 41654"/>
              </a:avLst>
            </a:prstGeom>
            <a:solidFill>
              <a:srgbClr val="99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6" name=""/>
            <p:cNvSpPr/>
            <p:nvPr/>
          </p:nvSpPr>
          <p:spPr>
            <a:xfrm>
              <a:off x="4114800" y="1752480"/>
              <a:ext cx="1371600" cy="947880"/>
            </a:xfrm>
            <a:prstGeom prst="ellipse">
              <a:avLst/>
            </a:prstGeom>
            <a:solidFill>
              <a:srgbClr val="99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7" name=""/>
            <p:cNvSpPr/>
            <p:nvPr/>
          </p:nvSpPr>
          <p:spPr>
            <a:xfrm>
              <a:off x="4264560" y="1868400"/>
              <a:ext cx="1107000" cy="64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Prioritize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Targets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68" name=""/>
          <p:cNvGrpSpPr/>
          <p:nvPr/>
        </p:nvGrpSpPr>
        <p:grpSpPr>
          <a:xfrm>
            <a:off x="5791320" y="1600200"/>
            <a:ext cx="1478520" cy="1084320"/>
            <a:chOff x="5791320" y="1600200"/>
            <a:chExt cx="1478520" cy="1084320"/>
          </a:xfrm>
        </p:grpSpPr>
        <p:sp>
          <p:nvSpPr>
            <p:cNvPr id="69" name=""/>
            <p:cNvSpPr/>
            <p:nvPr/>
          </p:nvSpPr>
          <p:spPr>
            <a:xfrm rot="2128800">
              <a:off x="6857640" y="2362320"/>
              <a:ext cx="380880" cy="228600"/>
            </a:xfrm>
            <a:prstGeom prst="rightArrow">
              <a:avLst>
                <a:gd name="adj1" fmla="val 50000"/>
                <a:gd name="adj2" fmla="val 41654"/>
              </a:avLst>
            </a:prstGeom>
            <a:solidFill>
              <a:srgbClr val="99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0" name=""/>
            <p:cNvSpPr/>
            <p:nvPr/>
          </p:nvSpPr>
          <p:spPr>
            <a:xfrm>
              <a:off x="5791320" y="1600200"/>
              <a:ext cx="1447560" cy="1084320"/>
            </a:xfrm>
            <a:prstGeom prst="ellipse">
              <a:avLst/>
            </a:prstGeom>
            <a:solidFill>
              <a:srgbClr val="99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1" name=""/>
            <p:cNvSpPr/>
            <p:nvPr/>
          </p:nvSpPr>
          <p:spPr>
            <a:xfrm>
              <a:off x="5808600" y="1797120"/>
              <a:ext cx="1374480" cy="64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Collect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Information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72" name=""/>
          <p:cNvGrpSpPr/>
          <p:nvPr/>
        </p:nvGrpSpPr>
        <p:grpSpPr>
          <a:xfrm>
            <a:off x="7086600" y="2438280"/>
            <a:ext cx="1676160" cy="1143000"/>
            <a:chOff x="7086600" y="2438280"/>
            <a:chExt cx="1676160" cy="1143000"/>
          </a:xfrm>
        </p:grpSpPr>
        <p:sp>
          <p:nvSpPr>
            <p:cNvPr id="73" name=""/>
            <p:cNvSpPr/>
            <p:nvPr/>
          </p:nvSpPr>
          <p:spPr>
            <a:xfrm flipV="1" rot="5400000">
              <a:off x="7696080" y="3276360"/>
              <a:ext cx="380880" cy="228600"/>
            </a:xfrm>
            <a:prstGeom prst="rightArrow">
              <a:avLst>
                <a:gd name="adj1" fmla="val 50000"/>
                <a:gd name="adj2" fmla="val 41654"/>
              </a:avLst>
            </a:prstGeom>
            <a:solidFill>
              <a:srgbClr val="99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4" name=""/>
            <p:cNvSpPr/>
            <p:nvPr/>
          </p:nvSpPr>
          <p:spPr>
            <a:xfrm>
              <a:off x="7086600" y="2438280"/>
              <a:ext cx="1676160" cy="990720"/>
            </a:xfrm>
            <a:prstGeom prst="ellipse">
              <a:avLst/>
            </a:prstGeom>
            <a:solidFill>
              <a:srgbClr val="99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5" name=""/>
            <p:cNvSpPr/>
            <p:nvPr/>
          </p:nvSpPr>
          <p:spPr>
            <a:xfrm>
              <a:off x="7178760" y="2606400"/>
              <a:ext cx="1418400" cy="64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Set Program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Objectives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76" name=""/>
          <p:cNvGrpSpPr/>
          <p:nvPr/>
        </p:nvGrpSpPr>
        <p:grpSpPr>
          <a:xfrm>
            <a:off x="6705720" y="3657600"/>
            <a:ext cx="1981080" cy="1314000"/>
            <a:chOff x="6705720" y="3657600"/>
            <a:chExt cx="1981080" cy="1314000"/>
          </a:xfrm>
        </p:grpSpPr>
        <p:sp>
          <p:nvSpPr>
            <p:cNvPr id="77" name=""/>
            <p:cNvSpPr/>
            <p:nvPr/>
          </p:nvSpPr>
          <p:spPr>
            <a:xfrm rot="6085200">
              <a:off x="7390800" y="4647960"/>
              <a:ext cx="380880" cy="228600"/>
            </a:xfrm>
            <a:prstGeom prst="rightArrow">
              <a:avLst>
                <a:gd name="adj1" fmla="val 50000"/>
                <a:gd name="adj2" fmla="val 41654"/>
              </a:avLst>
            </a:prstGeom>
            <a:solidFill>
              <a:srgbClr val="99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grpSp>
          <p:nvGrpSpPr>
            <p:cNvPr id="78" name=""/>
            <p:cNvGrpSpPr/>
            <p:nvPr/>
          </p:nvGrpSpPr>
          <p:grpSpPr>
            <a:xfrm>
              <a:off x="6705720" y="3657600"/>
              <a:ext cx="1981080" cy="1143000"/>
              <a:chOff x="6705720" y="3657600"/>
              <a:chExt cx="1981080" cy="1143000"/>
            </a:xfrm>
          </p:grpSpPr>
          <p:sp>
            <p:nvSpPr>
              <p:cNvPr id="79" name=""/>
              <p:cNvSpPr/>
              <p:nvPr/>
            </p:nvSpPr>
            <p:spPr>
              <a:xfrm>
                <a:off x="6705720" y="3657600"/>
                <a:ext cx="1981080" cy="1143000"/>
              </a:xfrm>
              <a:prstGeom prst="ellipse">
                <a:avLst/>
              </a:prstGeom>
              <a:solidFill>
                <a:srgbClr val="99cc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0" name=""/>
              <p:cNvSpPr/>
              <p:nvPr/>
            </p:nvSpPr>
            <p:spPr>
              <a:xfrm>
                <a:off x="6751800" y="3829320"/>
                <a:ext cx="1882080" cy="916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IN" sz="18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rPr>
                  <a:t>Prioritize/Choose</a:t>
                </a:r>
                <a:endParaRPr b="0" lang="en-IN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IN" sz="18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rPr>
                  <a:t>Projects </a:t>
                </a:r>
                <a:endParaRPr b="0" lang="en-IN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  <a:p>
                <a:pPr algn="ctr"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IN" sz="18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rPr>
                  <a:t>to Implement</a:t>
                </a:r>
                <a:endParaRPr b="0" lang="en-IN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</p:grpSp>
      <p:grpSp>
        <p:nvGrpSpPr>
          <p:cNvPr id="81" name=""/>
          <p:cNvGrpSpPr/>
          <p:nvPr/>
        </p:nvGrpSpPr>
        <p:grpSpPr>
          <a:xfrm>
            <a:off x="5029200" y="5410080"/>
            <a:ext cx="1600200" cy="1067040"/>
            <a:chOff x="5029200" y="5410080"/>
            <a:chExt cx="1600200" cy="1067040"/>
          </a:xfrm>
        </p:grpSpPr>
        <p:sp>
          <p:nvSpPr>
            <p:cNvPr id="82" name=""/>
            <p:cNvSpPr/>
            <p:nvPr/>
          </p:nvSpPr>
          <p:spPr>
            <a:xfrm flipH="1">
              <a:off x="5029200" y="5791320"/>
              <a:ext cx="380880" cy="228600"/>
            </a:xfrm>
            <a:prstGeom prst="rightArrow">
              <a:avLst>
                <a:gd name="adj1" fmla="val 50000"/>
                <a:gd name="adj2" fmla="val 41654"/>
              </a:avLst>
            </a:prstGeom>
            <a:solidFill>
              <a:srgbClr val="99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3" name=""/>
            <p:cNvSpPr/>
            <p:nvPr/>
          </p:nvSpPr>
          <p:spPr>
            <a:xfrm>
              <a:off x="5257800" y="5410080"/>
              <a:ext cx="1371600" cy="1067040"/>
            </a:xfrm>
            <a:prstGeom prst="ellipse">
              <a:avLst/>
            </a:prstGeom>
            <a:solidFill>
              <a:srgbClr val="99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4" name=""/>
            <p:cNvSpPr/>
            <p:nvPr/>
          </p:nvSpPr>
          <p:spPr>
            <a:xfrm>
              <a:off x="5392440" y="5562720"/>
              <a:ext cx="1082880" cy="64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Barriers/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Solutions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85" name=""/>
          <p:cNvGrpSpPr/>
          <p:nvPr/>
        </p:nvGrpSpPr>
        <p:grpSpPr>
          <a:xfrm>
            <a:off x="3657600" y="5150160"/>
            <a:ext cx="1295280" cy="1025280"/>
            <a:chOff x="3657600" y="5150160"/>
            <a:chExt cx="1295280" cy="1025280"/>
          </a:xfrm>
        </p:grpSpPr>
        <p:sp>
          <p:nvSpPr>
            <p:cNvPr id="86" name=""/>
            <p:cNvSpPr/>
            <p:nvPr/>
          </p:nvSpPr>
          <p:spPr>
            <a:xfrm rot="14624400">
              <a:off x="3885840" y="5257440"/>
              <a:ext cx="381240" cy="228600"/>
            </a:xfrm>
            <a:prstGeom prst="rightArrow">
              <a:avLst>
                <a:gd name="adj1" fmla="val 50000"/>
                <a:gd name="adj2" fmla="val 41693"/>
              </a:avLst>
            </a:prstGeom>
            <a:solidFill>
              <a:srgbClr val="99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7" name=""/>
            <p:cNvSpPr/>
            <p:nvPr/>
          </p:nvSpPr>
          <p:spPr>
            <a:xfrm>
              <a:off x="3657600" y="5337000"/>
              <a:ext cx="1295280" cy="838440"/>
            </a:xfrm>
            <a:prstGeom prst="ellipse">
              <a:avLst/>
            </a:prstGeom>
            <a:solidFill>
              <a:srgbClr val="99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8" name=""/>
            <p:cNvSpPr/>
            <p:nvPr/>
          </p:nvSpPr>
          <p:spPr>
            <a:xfrm>
              <a:off x="3789720" y="5429160"/>
              <a:ext cx="1056600" cy="64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Monitor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Program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89" name=""/>
          <p:cNvSpPr/>
          <p:nvPr/>
        </p:nvSpPr>
        <p:spPr>
          <a:xfrm>
            <a:off x="1676520" y="228600"/>
            <a:ext cx="5790960" cy="11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5400" strike="noStrike" u="none">
                <a:solidFill>
                  <a:srgbClr val="009900"/>
                </a:solidFill>
                <a:effectLst/>
                <a:uFillTx/>
                <a:latin typeface="Comic Sans MS"/>
              </a:rPr>
              <a:t>Summary</a:t>
            </a:r>
            <a:endParaRPr b="0" lang="en-IN" sz="5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90" name=""/>
          <p:cNvGrpSpPr/>
          <p:nvPr/>
        </p:nvGrpSpPr>
        <p:grpSpPr>
          <a:xfrm>
            <a:off x="152280" y="380880"/>
            <a:ext cx="1447920" cy="762120"/>
            <a:chOff x="152280" y="380880"/>
            <a:chExt cx="1447920" cy="762120"/>
          </a:xfrm>
        </p:grpSpPr>
        <p:pic>
          <p:nvPicPr>
            <p:cNvPr id="91" name="" descr=""/>
            <p:cNvPicPr/>
            <p:nvPr/>
          </p:nvPicPr>
          <p:blipFill>
            <a:blip r:embed="rId1"/>
            <a:stretch/>
          </p:blipFill>
          <p:spPr>
            <a:xfrm>
              <a:off x="252360" y="380880"/>
              <a:ext cx="1212840" cy="6271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2" name=""/>
            <p:cNvSpPr/>
            <p:nvPr/>
          </p:nvSpPr>
          <p:spPr>
            <a:xfrm>
              <a:off x="152280" y="954000"/>
              <a:ext cx="1447920" cy="18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000" strike="noStrike" u="none">
                  <a:solidFill>
                    <a:srgbClr val="ff0000"/>
                  </a:solidFill>
                  <a:effectLst/>
                  <a:uFillTx/>
                  <a:latin typeface="Technical"/>
                </a:rPr>
                <a:t>Rebuild Massachusetts</a:t>
              </a:r>
              <a:endParaRPr b="0" lang="en-IN" sz="10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93" name=""/>
          <p:cNvGrpSpPr/>
          <p:nvPr/>
        </p:nvGrpSpPr>
        <p:grpSpPr>
          <a:xfrm>
            <a:off x="228600" y="2743200"/>
            <a:ext cx="1371600" cy="914400"/>
            <a:chOff x="228600" y="2743200"/>
            <a:chExt cx="1371600" cy="914400"/>
          </a:xfrm>
        </p:grpSpPr>
        <p:sp>
          <p:nvSpPr>
            <p:cNvPr id="94" name=""/>
            <p:cNvSpPr/>
            <p:nvPr/>
          </p:nvSpPr>
          <p:spPr>
            <a:xfrm>
              <a:off x="228600" y="2743200"/>
              <a:ext cx="1219320" cy="914400"/>
            </a:xfrm>
            <a:prstGeom prst="ellipse">
              <a:avLst/>
            </a:prstGeom>
            <a:solidFill>
              <a:srgbClr val="99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5" name=""/>
            <p:cNvSpPr/>
            <p:nvPr/>
          </p:nvSpPr>
          <p:spPr>
            <a:xfrm>
              <a:off x="366480" y="2895480"/>
              <a:ext cx="981000" cy="64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Recruit 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Support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6" name=""/>
            <p:cNvSpPr/>
            <p:nvPr/>
          </p:nvSpPr>
          <p:spPr>
            <a:xfrm>
              <a:off x="1219320" y="3124080"/>
              <a:ext cx="380880" cy="228600"/>
            </a:xfrm>
            <a:prstGeom prst="rightArrow">
              <a:avLst>
                <a:gd name="adj1" fmla="val 50000"/>
                <a:gd name="adj2" fmla="val 41654"/>
              </a:avLst>
            </a:prstGeom>
            <a:solidFill>
              <a:srgbClr val="99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97" name=""/>
          <p:cNvGrpSpPr/>
          <p:nvPr/>
        </p:nvGrpSpPr>
        <p:grpSpPr>
          <a:xfrm>
            <a:off x="6629400" y="5029200"/>
            <a:ext cx="1523880" cy="990720"/>
            <a:chOff x="6629400" y="5029200"/>
            <a:chExt cx="1523880" cy="990720"/>
          </a:xfrm>
        </p:grpSpPr>
        <p:sp>
          <p:nvSpPr>
            <p:cNvPr id="98" name=""/>
            <p:cNvSpPr/>
            <p:nvPr/>
          </p:nvSpPr>
          <p:spPr>
            <a:xfrm>
              <a:off x="6781680" y="5029200"/>
              <a:ext cx="1371600" cy="990720"/>
            </a:xfrm>
            <a:prstGeom prst="ellipse">
              <a:avLst/>
            </a:prstGeom>
            <a:solidFill>
              <a:srgbClr val="99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9" name=""/>
            <p:cNvSpPr/>
            <p:nvPr/>
          </p:nvSpPr>
          <p:spPr>
            <a:xfrm>
              <a:off x="6866280" y="5181480"/>
              <a:ext cx="1208880" cy="64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Determine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Funding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0" name=""/>
            <p:cNvSpPr/>
            <p:nvPr/>
          </p:nvSpPr>
          <p:spPr>
            <a:xfrm flipH="1" flipV="1">
              <a:off x="6629400" y="5562000"/>
              <a:ext cx="380880" cy="228600"/>
            </a:xfrm>
            <a:prstGeom prst="rightArrow">
              <a:avLst>
                <a:gd name="adj1" fmla="val 50000"/>
                <a:gd name="adj2" fmla="val 41654"/>
              </a:avLst>
            </a:prstGeom>
            <a:solidFill>
              <a:srgbClr val="99cc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939960" y="228240"/>
            <a:ext cx="726408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800" strike="noStrike" u="none">
                <a:solidFill>
                  <a:srgbClr val="009900"/>
                </a:solidFill>
                <a:effectLst/>
                <a:uFillTx/>
                <a:latin typeface="Comic Sans MS"/>
              </a:rPr>
              <a:t>Examples</a:t>
            </a:r>
            <a:endParaRPr b="0" lang="en-IN" sz="48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1752480" y="1905120"/>
            <a:ext cx="6477120" cy="4038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120000"/>
              </a:lnSpc>
              <a:spcBef>
                <a:spcPts val="1199"/>
              </a:spcBef>
              <a:buClr>
                <a:srgbClr val="ffcc00"/>
              </a:buClr>
              <a:buFont typeface="Monotype Sorts" charset="2"/>
              <a:buChar char="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trike="noStrike" u="none">
                <a:solidFill>
                  <a:srgbClr val="000099"/>
                </a:solidFill>
                <a:effectLst/>
                <a:uFillTx/>
                <a:latin typeface="Comic Sans MS"/>
              </a:rPr>
              <a:t>Barnstable County</a:t>
            </a:r>
            <a:endParaRPr b="0" lang="en-IN" sz="48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>
              <a:lnSpc>
                <a:spcPct val="120000"/>
              </a:lnSpc>
              <a:spcBef>
                <a:spcPts val="1199"/>
              </a:spcBef>
              <a:buClr>
                <a:srgbClr val="ffcc00"/>
              </a:buClr>
              <a:buFont typeface="Monotype Sorts" charset="2"/>
              <a:buChar char="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trike="noStrike" u="none">
                <a:solidFill>
                  <a:srgbClr val="000099"/>
                </a:solidFill>
                <a:effectLst/>
                <a:uFillTx/>
                <a:latin typeface="Comic Sans MS"/>
              </a:rPr>
              <a:t>Medford</a:t>
            </a:r>
            <a:endParaRPr b="0" lang="en-IN" sz="48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-343080">
              <a:lnSpc>
                <a:spcPct val="120000"/>
              </a:lnSpc>
              <a:spcBef>
                <a:spcPts val="1199"/>
              </a:spcBef>
              <a:buClr>
                <a:srgbClr val="ffcc00"/>
              </a:buClr>
              <a:buFont typeface="Monotype Sorts" charset="2"/>
              <a:buChar char="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trike="noStrike" u="none">
                <a:solidFill>
                  <a:srgbClr val="000099"/>
                </a:solidFill>
                <a:effectLst/>
                <a:uFillTx/>
                <a:latin typeface="Comic Sans MS"/>
              </a:rPr>
              <a:t>Boston</a:t>
            </a:r>
            <a:endParaRPr b="0" lang="en-IN" sz="48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  <a:p>
            <a:pPr marL="343080" indent="0">
              <a:lnSpc>
                <a:spcPct val="120000"/>
              </a:lnSpc>
              <a:spcBef>
                <a:spcPts val="11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800" strike="noStrike" u="none">
              <a:solidFill>
                <a:srgbClr val="000000"/>
              </a:solidFill>
              <a:effectLst/>
              <a:uFillTx/>
              <a:latin typeface="Comic Sans MS"/>
            </a:endParaRPr>
          </a:p>
        </p:txBody>
      </p:sp>
      <p:grpSp>
        <p:nvGrpSpPr>
          <p:cNvPr id="103" name=""/>
          <p:cNvGrpSpPr/>
          <p:nvPr/>
        </p:nvGrpSpPr>
        <p:grpSpPr>
          <a:xfrm>
            <a:off x="152280" y="380880"/>
            <a:ext cx="1447920" cy="762120"/>
            <a:chOff x="152280" y="380880"/>
            <a:chExt cx="1447920" cy="762120"/>
          </a:xfrm>
        </p:grpSpPr>
        <p:pic>
          <p:nvPicPr>
            <p:cNvPr id="104" name="" descr=""/>
            <p:cNvPicPr/>
            <p:nvPr/>
          </p:nvPicPr>
          <p:blipFill>
            <a:blip r:embed="rId1"/>
            <a:stretch/>
          </p:blipFill>
          <p:spPr>
            <a:xfrm>
              <a:off x="252360" y="380880"/>
              <a:ext cx="1212840" cy="6271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5" name=""/>
            <p:cNvSpPr/>
            <p:nvPr/>
          </p:nvSpPr>
          <p:spPr>
            <a:xfrm>
              <a:off x="152280" y="954000"/>
              <a:ext cx="1447920" cy="18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000" strike="noStrike" u="none">
                  <a:solidFill>
                    <a:srgbClr val="ff0000"/>
                  </a:solidFill>
                  <a:effectLst/>
                  <a:uFillTx/>
                  <a:latin typeface="Technical"/>
                </a:rPr>
                <a:t>Rebuild Massachusetts</a:t>
              </a:r>
              <a:endParaRPr b="0" lang="en-IN" sz="10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p:transition spd="med">
    <p:fade thruBlk="true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"/>
          <p:cNvSpPr/>
          <p:nvPr/>
        </p:nvSpPr>
        <p:spPr>
          <a:xfrm>
            <a:off x="1676520" y="228600"/>
            <a:ext cx="5790960" cy="11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800" strike="noStrike" u="none">
                <a:solidFill>
                  <a:srgbClr val="009900"/>
                </a:solidFill>
                <a:effectLst/>
                <a:uFillTx/>
                <a:latin typeface="Comic Sans MS"/>
              </a:rPr>
              <a:t>Information</a:t>
            </a:r>
            <a:endParaRPr b="0" lang="en-IN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07" name=""/>
          <p:cNvGrpSpPr/>
          <p:nvPr/>
        </p:nvGrpSpPr>
        <p:grpSpPr>
          <a:xfrm>
            <a:off x="152280" y="380880"/>
            <a:ext cx="1447920" cy="762120"/>
            <a:chOff x="152280" y="380880"/>
            <a:chExt cx="1447920" cy="762120"/>
          </a:xfrm>
        </p:grpSpPr>
        <p:pic>
          <p:nvPicPr>
            <p:cNvPr id="108" name="" descr=""/>
            <p:cNvPicPr/>
            <p:nvPr/>
          </p:nvPicPr>
          <p:blipFill>
            <a:blip r:embed="rId1"/>
            <a:stretch/>
          </p:blipFill>
          <p:spPr>
            <a:xfrm>
              <a:off x="252360" y="380880"/>
              <a:ext cx="1212840" cy="6271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9" name=""/>
            <p:cNvSpPr/>
            <p:nvPr/>
          </p:nvSpPr>
          <p:spPr>
            <a:xfrm>
              <a:off x="152280" y="954000"/>
              <a:ext cx="1447920" cy="18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000" strike="noStrike" u="none">
                  <a:solidFill>
                    <a:srgbClr val="ff0000"/>
                  </a:solidFill>
                  <a:effectLst/>
                  <a:uFillTx/>
                  <a:latin typeface="Technical"/>
                </a:rPr>
                <a:t>Rebuild Massachusetts</a:t>
              </a:r>
              <a:endParaRPr b="0" lang="en-IN" sz="10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10" name=""/>
          <p:cNvSpPr/>
          <p:nvPr/>
        </p:nvSpPr>
        <p:spPr>
          <a:xfrm>
            <a:off x="398520" y="2546280"/>
            <a:ext cx="8410320" cy="16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600" strike="noStrike" u="none">
                <a:solidFill>
                  <a:srgbClr val="000099"/>
                </a:solidFill>
                <a:effectLst/>
                <a:uFillTx/>
                <a:latin typeface="Comic Sans MS"/>
              </a:rPr>
              <a:t>www.mass.gov/doer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600" strike="noStrike" u="none">
                <a:solidFill>
                  <a:srgbClr val="000099"/>
                </a:solidFill>
                <a:effectLst/>
                <a:uFillTx/>
                <a:latin typeface="Comic Sans MS"/>
              </a:rPr>
              <a:t>www.eere.energy.gov/buildings/rebuild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>
    <p:pull dir="r"/>
  </p:transition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1357</TotalTime>
  <Application>LibreOffice/25.2.3.2$Windows_X86_64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2002-01-02T13:49:19Z</dcterms:created>
  <dc:creator>emchugh</dc:creator>
  <dc:description/>
  <dc:language>en-IN</dc:language>
  <cp:lastModifiedBy>emchugh</cp:lastModifiedBy>
  <cp:lastPrinted>2003-03-31T10:04:29Z</cp:lastPrinted>
  <dcterms:modified xsi:type="dcterms:W3CDTF">2003-04-16T13:18:45Z</dcterms:modified>
  <cp:revision>20</cp:revision>
  <dc:subject/>
  <dc:title>No Slide Title</dc:title>
</cp:coreProperties>
</file>